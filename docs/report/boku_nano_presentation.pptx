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19200" y="2309400"/>
            <a:ext cx="3807972" cy="59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4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Boku-nano</a:t>
            </a:r>
            <a:endParaRPr lang="en-US" sz="4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19200" y="3651120"/>
            <a:ext cx="1130220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制限された日本語から</a:t>
            </a:r>
            <a:r>
              <a:rPr lang="en-US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の関数を生成する小型言語モデル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619200" y="4127400"/>
            <a:ext cx="1693674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r>
              <a:rPr lang="en-US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SLM</a:t>
            </a:r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" name=""/>
          <p:cNvSpPr/>
          <p:nvPr/>
        </p:nvSpPr>
        <p:spPr>
          <a:xfrm>
            <a:off x="590400" y="6572160"/>
            <a:ext cx="11011320" cy="285840"/>
          </a:xfrm>
          <a:custGeom>
            <a:avLst/>
            <a:gdLst/>
            <a:ahLst/>
            <a:rect l="0" t="0" r="r" b="b"/>
            <a:pathLst>
              <a:path w="30587" h="794">
                <a:moveTo>
                  <a:pt x="0" y="794"/>
                </a:moveTo>
                <a:lnTo>
                  <a:pt x="0" y="291"/>
                </a:lnTo>
                <a:cubicBezTo>
                  <a:pt x="0" y="272"/>
                  <a:pt x="2" y="253"/>
                  <a:pt x="6" y="234"/>
                </a:cubicBezTo>
                <a:cubicBezTo>
                  <a:pt x="9" y="215"/>
                  <a:pt x="15" y="197"/>
                  <a:pt x="22" y="179"/>
                </a:cubicBezTo>
                <a:cubicBezTo>
                  <a:pt x="29" y="162"/>
                  <a:pt x="38" y="145"/>
                  <a:pt x="49" y="129"/>
                </a:cubicBezTo>
                <a:cubicBezTo>
                  <a:pt x="60" y="113"/>
                  <a:pt x="72" y="99"/>
                  <a:pt x="85" y="85"/>
                </a:cubicBezTo>
                <a:cubicBezTo>
                  <a:pt x="99" y="71"/>
                  <a:pt x="113" y="59"/>
                  <a:pt x="129" y="49"/>
                </a:cubicBezTo>
                <a:cubicBezTo>
                  <a:pt x="145" y="38"/>
                  <a:pt x="162" y="29"/>
                  <a:pt x="180" y="22"/>
                </a:cubicBezTo>
                <a:cubicBezTo>
                  <a:pt x="197" y="15"/>
                  <a:pt x="215" y="9"/>
                  <a:pt x="234" y="5"/>
                </a:cubicBezTo>
                <a:cubicBezTo>
                  <a:pt x="253" y="2"/>
                  <a:pt x="272" y="0"/>
                  <a:pt x="291" y="0"/>
                </a:cubicBezTo>
                <a:lnTo>
                  <a:pt x="30296" y="0"/>
                </a:lnTo>
                <a:cubicBezTo>
                  <a:pt x="30315" y="0"/>
                  <a:pt x="30334" y="2"/>
                  <a:pt x="30352" y="5"/>
                </a:cubicBezTo>
                <a:cubicBezTo>
                  <a:pt x="30371" y="9"/>
                  <a:pt x="30389" y="15"/>
                  <a:pt x="30407" y="22"/>
                </a:cubicBezTo>
                <a:cubicBezTo>
                  <a:pt x="30425" y="29"/>
                  <a:pt x="30442" y="38"/>
                  <a:pt x="30457" y="49"/>
                </a:cubicBezTo>
                <a:cubicBezTo>
                  <a:pt x="30473" y="59"/>
                  <a:pt x="30488" y="71"/>
                  <a:pt x="30502" y="85"/>
                </a:cubicBezTo>
                <a:cubicBezTo>
                  <a:pt x="30515" y="99"/>
                  <a:pt x="30527" y="113"/>
                  <a:pt x="30538" y="129"/>
                </a:cubicBezTo>
                <a:cubicBezTo>
                  <a:pt x="30548" y="145"/>
                  <a:pt x="30557" y="162"/>
                  <a:pt x="30565" y="179"/>
                </a:cubicBezTo>
                <a:cubicBezTo>
                  <a:pt x="30572" y="197"/>
                  <a:pt x="30577" y="215"/>
                  <a:pt x="30581" y="234"/>
                </a:cubicBezTo>
                <a:cubicBezTo>
                  <a:pt x="30585" y="253"/>
                  <a:pt x="30587" y="272"/>
                  <a:pt x="30587" y="291"/>
                </a:cubicBezTo>
                <a:lnTo>
                  <a:pt x="30587" y="794"/>
                </a:lnTo>
                <a:lnTo>
                  <a:pt x="0" y="794"/>
                </a:lnTo>
                <a:close/>
              </a:path>
            </a:pathLst>
          </a:custGeom>
          <a:solidFill>
            <a:srgbClr val="F4F6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90400" y="497160"/>
            <a:ext cx="114111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Boku-nano</a:t>
            </a:r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：制限された日本語から</a:t>
            </a:r>
            <a:r>
              <a:rPr lang="en-US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の関数を生成する小型言語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90400" y="916200"/>
            <a:ext cx="2799468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モデル（</a:t>
            </a:r>
            <a:r>
              <a:rPr lang="en-US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SLM</a:t>
            </a:r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90400" y="1487520"/>
            <a:ext cx="634455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3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種類の整数リスト操作を扱う、小型言語モデルをフルスクラッチ学習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590400" y="1974240"/>
            <a:ext cx="835038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1" u="none" strike="noStrike">
                <a:solidFill>
                  <a:srgbClr val="334155"/>
                </a:solidFill>
                <a:effectLst/>
                <a:uFillTx/>
                <a:latin typeface="Hiragino Sans"/>
                <a:ea typeface="Hiragino Sans"/>
              </a:rPr>
              <a:t>使うとき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90400" y="4384080"/>
            <a:ext cx="1669248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1" u="none" strike="noStrike">
                <a:solidFill>
                  <a:srgbClr val="334155"/>
                </a:solidFill>
                <a:effectLst/>
                <a:uFillTx/>
                <a:latin typeface="Hiragino Sans"/>
                <a:ea typeface="Hiragino Sans"/>
              </a:rPr>
              <a:t>作り方と確かめ方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" name=""/>
          <p:cNvSpPr/>
          <p:nvPr/>
        </p:nvSpPr>
        <p:spPr>
          <a:xfrm>
            <a:off x="590400" y="2352600"/>
            <a:ext cx="3353040" cy="1752840"/>
          </a:xfrm>
          <a:custGeom>
            <a:avLst/>
            <a:gdLst/>
            <a:ahLst/>
            <a:rect l="0" t="0" r="r" b="b"/>
            <a:pathLst>
              <a:path w="9314" h="4869">
                <a:moveTo>
                  <a:pt x="0" y="4499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7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0" y="0"/>
                </a:cubicBezTo>
                <a:lnTo>
                  <a:pt x="8944" y="0"/>
                </a:lnTo>
                <a:cubicBezTo>
                  <a:pt x="8968" y="0"/>
                  <a:pt x="8992" y="2"/>
                  <a:pt x="9016" y="7"/>
                </a:cubicBezTo>
                <a:cubicBezTo>
                  <a:pt x="9040" y="12"/>
                  <a:pt x="9063" y="19"/>
                  <a:pt x="9086" y="28"/>
                </a:cubicBezTo>
                <a:cubicBezTo>
                  <a:pt x="9108" y="37"/>
                  <a:pt x="9129" y="49"/>
                  <a:pt x="9150" y="62"/>
                </a:cubicBezTo>
                <a:cubicBezTo>
                  <a:pt x="9170" y="76"/>
                  <a:pt x="9189" y="91"/>
                  <a:pt x="9206" y="108"/>
                </a:cubicBezTo>
                <a:cubicBezTo>
                  <a:pt x="9223" y="125"/>
                  <a:pt x="9238" y="144"/>
                  <a:pt x="9252" y="164"/>
                </a:cubicBezTo>
                <a:cubicBezTo>
                  <a:pt x="9265" y="185"/>
                  <a:pt x="9277" y="206"/>
                  <a:pt x="9286" y="228"/>
                </a:cubicBezTo>
                <a:cubicBezTo>
                  <a:pt x="9295" y="251"/>
                  <a:pt x="9302" y="274"/>
                  <a:pt x="9307" y="298"/>
                </a:cubicBezTo>
                <a:cubicBezTo>
                  <a:pt x="9312" y="322"/>
                  <a:pt x="9314" y="346"/>
                  <a:pt x="9314" y="370"/>
                </a:cubicBezTo>
                <a:lnTo>
                  <a:pt x="9314" y="4499"/>
                </a:lnTo>
                <a:cubicBezTo>
                  <a:pt x="9314" y="4523"/>
                  <a:pt x="9312" y="4547"/>
                  <a:pt x="9307" y="4571"/>
                </a:cubicBezTo>
                <a:cubicBezTo>
                  <a:pt x="9302" y="4595"/>
                  <a:pt x="9295" y="4618"/>
                  <a:pt x="9286" y="4640"/>
                </a:cubicBezTo>
                <a:cubicBezTo>
                  <a:pt x="9277" y="4663"/>
                  <a:pt x="9265" y="4684"/>
                  <a:pt x="9252" y="4704"/>
                </a:cubicBezTo>
                <a:cubicBezTo>
                  <a:pt x="9238" y="4725"/>
                  <a:pt x="9223" y="4743"/>
                  <a:pt x="9206" y="4761"/>
                </a:cubicBezTo>
                <a:cubicBezTo>
                  <a:pt x="9189" y="4778"/>
                  <a:pt x="9170" y="4793"/>
                  <a:pt x="9150" y="4807"/>
                </a:cubicBezTo>
                <a:cubicBezTo>
                  <a:pt x="9129" y="4820"/>
                  <a:pt x="9108" y="4832"/>
                  <a:pt x="9086" y="4841"/>
                </a:cubicBezTo>
                <a:cubicBezTo>
                  <a:pt x="9063" y="4850"/>
                  <a:pt x="9040" y="4857"/>
                  <a:pt x="9016" y="4862"/>
                </a:cubicBezTo>
                <a:cubicBezTo>
                  <a:pt x="8992" y="4867"/>
                  <a:pt x="8968" y="4869"/>
                  <a:pt x="8944" y="4869"/>
                </a:cubicBezTo>
                <a:lnTo>
                  <a:pt x="370" y="4869"/>
                </a:lnTo>
                <a:cubicBezTo>
                  <a:pt x="346" y="4869"/>
                  <a:pt x="322" y="4867"/>
                  <a:pt x="298" y="4862"/>
                </a:cubicBezTo>
                <a:cubicBezTo>
                  <a:pt x="274" y="4857"/>
                  <a:pt x="251" y="4850"/>
                  <a:pt x="229" y="4841"/>
                </a:cubicBezTo>
                <a:cubicBezTo>
                  <a:pt x="206" y="4832"/>
                  <a:pt x="185" y="4820"/>
                  <a:pt x="165" y="4807"/>
                </a:cubicBezTo>
                <a:cubicBezTo>
                  <a:pt x="144" y="4793"/>
                  <a:pt x="126" y="4778"/>
                  <a:pt x="108" y="4761"/>
                </a:cubicBezTo>
                <a:cubicBezTo>
                  <a:pt x="91" y="4743"/>
                  <a:pt x="76" y="4725"/>
                  <a:pt x="62" y="4704"/>
                </a:cubicBezTo>
                <a:cubicBezTo>
                  <a:pt x="49" y="4684"/>
                  <a:pt x="37" y="4663"/>
                  <a:pt x="28" y="4640"/>
                </a:cubicBezTo>
                <a:cubicBezTo>
                  <a:pt x="19" y="4618"/>
                  <a:pt x="12" y="4595"/>
                  <a:pt x="7" y="4571"/>
                </a:cubicBezTo>
                <a:cubicBezTo>
                  <a:pt x="2" y="4547"/>
                  <a:pt x="0" y="4523"/>
                  <a:pt x="0" y="4499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62120" y="6693120"/>
            <a:ext cx="1123938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評価結果は「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操作・最大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操作」という限定された範囲でのものです。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Web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デモの自由な日本語入力は、別モデルで決められた文型に整えてから 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-nano 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に渡します。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81200" y="2529000"/>
            <a:ext cx="168456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① 日本語の指示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81200" y="2905560"/>
            <a:ext cx="156243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から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81200" y="3134160"/>
            <a:ext cx="148708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偶数だけを残し、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81200" y="3372120"/>
            <a:ext cx="17172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各要素に </a:t>
            </a:r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81200" y="3610440"/>
            <a:ext cx="164647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solve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関数を書いて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81200" y="3797280"/>
            <a:ext cx="198306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決められた操作・文型の範囲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" name=""/>
          <p:cNvSpPr/>
          <p:nvPr/>
        </p:nvSpPr>
        <p:spPr>
          <a:xfrm>
            <a:off x="4419360" y="2352600"/>
            <a:ext cx="3353040" cy="1752840"/>
          </a:xfrm>
          <a:custGeom>
            <a:avLst/>
            <a:gdLst/>
            <a:ahLst/>
            <a:rect l="0" t="0" r="r" b="b"/>
            <a:pathLst>
              <a:path w="9314" h="4869">
                <a:moveTo>
                  <a:pt x="0" y="4499"/>
                </a:moveTo>
                <a:lnTo>
                  <a:pt x="0" y="370"/>
                </a:lnTo>
                <a:cubicBezTo>
                  <a:pt x="0" y="346"/>
                  <a:pt x="3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1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lnTo>
                  <a:pt x="8944" y="0"/>
                </a:lnTo>
                <a:cubicBezTo>
                  <a:pt x="8968" y="0"/>
                  <a:pt x="8992" y="2"/>
                  <a:pt x="9016" y="7"/>
                </a:cubicBezTo>
                <a:cubicBezTo>
                  <a:pt x="9040" y="12"/>
                  <a:pt x="9063" y="19"/>
                  <a:pt x="9086" y="28"/>
                </a:cubicBezTo>
                <a:cubicBezTo>
                  <a:pt x="9108" y="37"/>
                  <a:pt x="9130" y="49"/>
                  <a:pt x="9150" y="62"/>
                </a:cubicBezTo>
                <a:cubicBezTo>
                  <a:pt x="9170" y="76"/>
                  <a:pt x="9189" y="91"/>
                  <a:pt x="9206" y="108"/>
                </a:cubicBezTo>
                <a:cubicBezTo>
                  <a:pt x="9223" y="125"/>
                  <a:pt x="9239" y="144"/>
                  <a:pt x="9252" y="164"/>
                </a:cubicBezTo>
                <a:cubicBezTo>
                  <a:pt x="9266" y="185"/>
                  <a:pt x="9277" y="206"/>
                  <a:pt x="9286" y="228"/>
                </a:cubicBezTo>
                <a:cubicBezTo>
                  <a:pt x="9296" y="251"/>
                  <a:pt x="9303" y="274"/>
                  <a:pt x="9307" y="298"/>
                </a:cubicBezTo>
                <a:cubicBezTo>
                  <a:pt x="9312" y="322"/>
                  <a:pt x="9314" y="346"/>
                  <a:pt x="9314" y="370"/>
                </a:cubicBezTo>
                <a:lnTo>
                  <a:pt x="9314" y="4499"/>
                </a:lnTo>
                <a:cubicBezTo>
                  <a:pt x="9314" y="4523"/>
                  <a:pt x="9312" y="4547"/>
                  <a:pt x="9307" y="4571"/>
                </a:cubicBezTo>
                <a:cubicBezTo>
                  <a:pt x="9303" y="4595"/>
                  <a:pt x="9296" y="4618"/>
                  <a:pt x="9286" y="4640"/>
                </a:cubicBezTo>
                <a:cubicBezTo>
                  <a:pt x="9277" y="4663"/>
                  <a:pt x="9266" y="4684"/>
                  <a:pt x="9252" y="4704"/>
                </a:cubicBezTo>
                <a:cubicBezTo>
                  <a:pt x="9239" y="4725"/>
                  <a:pt x="9223" y="4743"/>
                  <a:pt x="9206" y="4761"/>
                </a:cubicBezTo>
                <a:cubicBezTo>
                  <a:pt x="9189" y="4778"/>
                  <a:pt x="9170" y="4793"/>
                  <a:pt x="9150" y="4807"/>
                </a:cubicBezTo>
                <a:cubicBezTo>
                  <a:pt x="9130" y="4820"/>
                  <a:pt x="9108" y="4832"/>
                  <a:pt x="9086" y="4841"/>
                </a:cubicBezTo>
                <a:cubicBezTo>
                  <a:pt x="9063" y="4850"/>
                  <a:pt x="9040" y="4857"/>
                  <a:pt x="9016" y="4862"/>
                </a:cubicBezTo>
                <a:cubicBezTo>
                  <a:pt x="8992" y="4867"/>
                  <a:pt x="8968" y="4869"/>
                  <a:pt x="8944" y="4869"/>
                </a:cubicBezTo>
                <a:lnTo>
                  <a:pt x="371" y="4869"/>
                </a:lnTo>
                <a:cubicBezTo>
                  <a:pt x="346" y="4869"/>
                  <a:pt x="322" y="4867"/>
                  <a:pt x="298" y="4862"/>
                </a:cubicBezTo>
                <a:cubicBezTo>
                  <a:pt x="274" y="4857"/>
                  <a:pt x="251" y="4850"/>
                  <a:pt x="229" y="4841"/>
                </a:cubicBezTo>
                <a:cubicBezTo>
                  <a:pt x="206" y="4832"/>
                  <a:pt x="185" y="4820"/>
                  <a:pt x="165" y="4807"/>
                </a:cubicBezTo>
                <a:cubicBezTo>
                  <a:pt x="145" y="4793"/>
                  <a:pt x="126" y="4778"/>
                  <a:pt x="109" y="4761"/>
                </a:cubicBezTo>
                <a:cubicBezTo>
                  <a:pt x="91" y="4743"/>
                  <a:pt x="76" y="4725"/>
                  <a:pt x="63" y="4704"/>
                </a:cubicBezTo>
                <a:cubicBezTo>
                  <a:pt x="49" y="4684"/>
                  <a:pt x="38" y="4663"/>
                  <a:pt x="28" y="4640"/>
                </a:cubicBezTo>
                <a:cubicBezTo>
                  <a:pt x="19" y="4618"/>
                  <a:pt x="12" y="4595"/>
                  <a:pt x="7" y="4571"/>
                </a:cubicBezTo>
                <a:cubicBezTo>
                  <a:pt x="3" y="4547"/>
                  <a:pt x="0" y="4523"/>
                  <a:pt x="0" y="4499"/>
                </a:cubicBezTo>
                <a:close/>
              </a:path>
            </a:pathLst>
          </a:custGeom>
          <a:solidFill>
            <a:srgbClr val="E9E7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057560" y="3093120"/>
            <a:ext cx="340722" cy="29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320" b="0" u="none" strike="noStrike">
                <a:solidFill>
                  <a:srgbClr val="45556A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10160" y="2529000"/>
            <a:ext cx="159555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② Boku-nano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610160" y="2905560"/>
            <a:ext cx="141132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パラメータ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610160" y="3210480"/>
            <a:ext cx="244632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Decoder-only Transformer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610160" y="3797280"/>
            <a:ext cx="1830708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指示を読み、コードを生成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" name=""/>
          <p:cNvSpPr/>
          <p:nvPr/>
        </p:nvSpPr>
        <p:spPr>
          <a:xfrm>
            <a:off x="8248320" y="2352600"/>
            <a:ext cx="3353400" cy="1752840"/>
          </a:xfrm>
          <a:custGeom>
            <a:avLst/>
            <a:gdLst/>
            <a:ahLst/>
            <a:rect l="0" t="0" r="r" b="b"/>
            <a:pathLst>
              <a:path w="9315" h="4869">
                <a:moveTo>
                  <a:pt x="0" y="4499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2" y="2"/>
                  <a:pt x="347" y="0"/>
                  <a:pt x="372" y="0"/>
                </a:cubicBezTo>
                <a:lnTo>
                  <a:pt x="8944" y="0"/>
                </a:lnTo>
                <a:cubicBezTo>
                  <a:pt x="8969" y="0"/>
                  <a:pt x="8993" y="2"/>
                  <a:pt x="9017" y="7"/>
                </a:cubicBezTo>
                <a:cubicBezTo>
                  <a:pt x="9040" y="12"/>
                  <a:pt x="9064" y="19"/>
                  <a:pt x="9086" y="28"/>
                </a:cubicBezTo>
                <a:cubicBezTo>
                  <a:pt x="9109" y="37"/>
                  <a:pt x="9130" y="49"/>
                  <a:pt x="9150" y="62"/>
                </a:cubicBezTo>
                <a:cubicBezTo>
                  <a:pt x="9170" y="76"/>
                  <a:pt x="9189" y="91"/>
                  <a:pt x="9206" y="108"/>
                </a:cubicBezTo>
                <a:cubicBezTo>
                  <a:pt x="9223" y="125"/>
                  <a:pt x="9239" y="144"/>
                  <a:pt x="9252" y="164"/>
                </a:cubicBezTo>
                <a:cubicBezTo>
                  <a:pt x="9266" y="185"/>
                  <a:pt x="9277" y="206"/>
                  <a:pt x="9287" y="228"/>
                </a:cubicBezTo>
                <a:cubicBezTo>
                  <a:pt x="9296" y="251"/>
                  <a:pt x="9303" y="274"/>
                  <a:pt x="9308" y="298"/>
                </a:cubicBezTo>
                <a:cubicBezTo>
                  <a:pt x="9312" y="322"/>
                  <a:pt x="9315" y="346"/>
                  <a:pt x="9315" y="370"/>
                </a:cubicBezTo>
                <a:lnTo>
                  <a:pt x="9315" y="4499"/>
                </a:lnTo>
                <a:cubicBezTo>
                  <a:pt x="9315" y="4523"/>
                  <a:pt x="9312" y="4547"/>
                  <a:pt x="9308" y="4571"/>
                </a:cubicBezTo>
                <a:cubicBezTo>
                  <a:pt x="9303" y="4595"/>
                  <a:pt x="9296" y="4618"/>
                  <a:pt x="9287" y="4640"/>
                </a:cubicBezTo>
                <a:cubicBezTo>
                  <a:pt x="9277" y="4663"/>
                  <a:pt x="9266" y="4684"/>
                  <a:pt x="9252" y="4704"/>
                </a:cubicBezTo>
                <a:cubicBezTo>
                  <a:pt x="9239" y="4725"/>
                  <a:pt x="9223" y="4743"/>
                  <a:pt x="9206" y="4761"/>
                </a:cubicBezTo>
                <a:cubicBezTo>
                  <a:pt x="9189" y="4778"/>
                  <a:pt x="9170" y="4793"/>
                  <a:pt x="9150" y="4807"/>
                </a:cubicBezTo>
                <a:cubicBezTo>
                  <a:pt x="9130" y="4820"/>
                  <a:pt x="9109" y="4832"/>
                  <a:pt x="9086" y="4841"/>
                </a:cubicBezTo>
                <a:cubicBezTo>
                  <a:pt x="9064" y="4850"/>
                  <a:pt x="9040" y="4857"/>
                  <a:pt x="9017" y="4862"/>
                </a:cubicBezTo>
                <a:cubicBezTo>
                  <a:pt x="8993" y="4867"/>
                  <a:pt x="8969" y="4869"/>
                  <a:pt x="8944" y="4869"/>
                </a:cubicBezTo>
                <a:lnTo>
                  <a:pt x="372" y="4869"/>
                </a:lnTo>
                <a:cubicBezTo>
                  <a:pt x="347" y="4869"/>
                  <a:pt x="322" y="4867"/>
                  <a:pt x="299" y="4862"/>
                </a:cubicBezTo>
                <a:cubicBezTo>
                  <a:pt x="275" y="4857"/>
                  <a:pt x="252" y="4850"/>
                  <a:pt x="229" y="4841"/>
                </a:cubicBezTo>
                <a:cubicBezTo>
                  <a:pt x="207" y="4832"/>
                  <a:pt x="185" y="4820"/>
                  <a:pt x="165" y="4807"/>
                </a:cubicBezTo>
                <a:cubicBezTo>
                  <a:pt x="145" y="4793"/>
                  <a:pt x="126" y="4778"/>
                  <a:pt x="109" y="4761"/>
                </a:cubicBezTo>
                <a:cubicBezTo>
                  <a:pt x="92" y="4743"/>
                  <a:pt x="76" y="4725"/>
                  <a:pt x="63" y="4704"/>
                </a:cubicBezTo>
                <a:cubicBezTo>
                  <a:pt x="49" y="4684"/>
                  <a:pt x="38" y="4663"/>
                  <a:pt x="29" y="4640"/>
                </a:cubicBezTo>
                <a:cubicBezTo>
                  <a:pt x="19" y="4618"/>
                  <a:pt x="12" y="4595"/>
                  <a:pt x="8" y="4571"/>
                </a:cubicBezTo>
                <a:cubicBezTo>
                  <a:pt x="3" y="4547"/>
                  <a:pt x="0" y="4523"/>
                  <a:pt x="0" y="4499"/>
                </a:cubicBezTo>
                <a:close/>
              </a:path>
            </a:pathLst>
          </a:custGeom>
          <a:solidFill>
            <a:srgbClr val="E9F5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886520" y="3093120"/>
            <a:ext cx="340722" cy="29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320" b="0" u="none" strike="noStrike">
                <a:solidFill>
                  <a:srgbClr val="45556A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439120" y="2529000"/>
            <a:ext cx="191226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③ Python 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の関数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8496360" y="2915280"/>
            <a:ext cx="168705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13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def solve(xs, k):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8496360" y="3210840"/>
            <a:ext cx="2480274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13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return [x + k for x in xs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" name=""/>
          <p:cNvSpPr/>
          <p:nvPr/>
        </p:nvSpPr>
        <p:spPr>
          <a:xfrm>
            <a:off x="590400" y="5095800"/>
            <a:ext cx="11011320" cy="38520"/>
          </a:xfrm>
          <a:custGeom>
            <a:avLst/>
            <a:gdLst/>
            <a:ahLst/>
            <a:rect l="0" t="0" r="r" b="b"/>
            <a:pathLst>
              <a:path w="30587" h="107">
                <a:moveTo>
                  <a:pt x="0" y="0"/>
                </a:moveTo>
                <a:lnTo>
                  <a:pt x="30587" y="0"/>
                </a:lnTo>
                <a:lnTo>
                  <a:pt x="3058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CED7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8496360" y="3420360"/>
            <a:ext cx="1389384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13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if x % 2 == 0]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666720" y="542340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意味を定義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66720" y="5762880"/>
            <a:ext cx="148253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操作を最大</a:t>
            </a:r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" name=""/>
          <p:cNvSpPr/>
          <p:nvPr/>
        </p:nvSpPr>
        <p:spPr>
          <a:xfrm>
            <a:off x="1609560" y="49147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5"/>
                  <a:pt x="896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8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1" y="18"/>
                  <a:pt x="447" y="11"/>
                </a:cubicBezTo>
                <a:cubicBezTo>
                  <a:pt x="483" y="4"/>
                  <a:pt x="519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2" y="448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2877A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66720" y="6054840"/>
            <a:ext cx="1830708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順序も含めて組み合わせる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73592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467160" y="542340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教材を作る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467160" y="576288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日本語指示と正解コード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" name=""/>
          <p:cNvSpPr/>
          <p:nvPr/>
        </p:nvSpPr>
        <p:spPr>
          <a:xfrm>
            <a:off x="4410000" y="49147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4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8"/>
                  <a:pt x="188" y="975"/>
                  <a:pt x="162" y="950"/>
                </a:cubicBezTo>
                <a:cubicBezTo>
                  <a:pt x="137" y="924"/>
                  <a:pt x="114" y="896"/>
                  <a:pt x="93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3" y="248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6" y="28"/>
                  <a:pt x="411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2877A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467160" y="6054840"/>
            <a:ext cx="1603836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訓練データ 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53636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267600" y="5423400"/>
            <a:ext cx="131527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モデルを学習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267600" y="576288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トークナイザもモデルも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" name=""/>
          <p:cNvSpPr/>
          <p:nvPr/>
        </p:nvSpPr>
        <p:spPr>
          <a:xfrm>
            <a:off x="7210080" y="4914720"/>
            <a:ext cx="400680" cy="400320"/>
          </a:xfrm>
          <a:custGeom>
            <a:avLst/>
            <a:gdLst/>
            <a:ahLst/>
            <a:rect l="0" t="0" r="r" b="b"/>
            <a:pathLst>
              <a:path w="1113" h="1112">
                <a:moveTo>
                  <a:pt x="1113" y="557"/>
                </a:moveTo>
                <a:cubicBezTo>
                  <a:pt x="1113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9" y="896"/>
                  <a:pt x="976" y="924"/>
                  <a:pt x="950" y="950"/>
                </a:cubicBezTo>
                <a:cubicBezTo>
                  <a:pt x="924" y="975"/>
                  <a:pt x="896" y="998"/>
                  <a:pt x="866" y="1019"/>
                </a:cubicBezTo>
                <a:cubicBezTo>
                  <a:pt x="835" y="1039"/>
                  <a:pt x="803" y="1056"/>
                  <a:pt x="770" y="1070"/>
                </a:cubicBezTo>
                <a:cubicBezTo>
                  <a:pt x="736" y="1084"/>
                  <a:pt x="701" y="1094"/>
                  <a:pt x="665" y="1102"/>
                </a:cubicBezTo>
                <a:cubicBezTo>
                  <a:pt x="630" y="1109"/>
                  <a:pt x="594" y="1112"/>
                  <a:pt x="557" y="1112"/>
                </a:cubicBezTo>
                <a:cubicBezTo>
                  <a:pt x="520" y="1112"/>
                  <a:pt x="483" y="1109"/>
                  <a:pt x="448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10" y="1056"/>
                  <a:pt x="278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4" y="835"/>
                  <a:pt x="57" y="803"/>
                  <a:pt x="43" y="769"/>
                </a:cubicBezTo>
                <a:cubicBezTo>
                  <a:pt x="29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9" y="378"/>
                  <a:pt x="43" y="344"/>
                </a:cubicBezTo>
                <a:cubicBezTo>
                  <a:pt x="57" y="310"/>
                  <a:pt x="74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8" y="73"/>
                  <a:pt x="310" y="56"/>
                  <a:pt x="343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3" y="4"/>
                  <a:pt x="520" y="0"/>
                  <a:pt x="557" y="0"/>
                </a:cubicBezTo>
                <a:cubicBezTo>
                  <a:pt x="594" y="0"/>
                  <a:pt x="630" y="4"/>
                  <a:pt x="665" y="11"/>
                </a:cubicBezTo>
                <a:cubicBezTo>
                  <a:pt x="701" y="18"/>
                  <a:pt x="736" y="28"/>
                  <a:pt x="770" y="42"/>
                </a:cubicBezTo>
                <a:cubicBezTo>
                  <a:pt x="803" y="56"/>
                  <a:pt x="835" y="73"/>
                  <a:pt x="866" y="94"/>
                </a:cubicBezTo>
                <a:cubicBezTo>
                  <a:pt x="896" y="114"/>
                  <a:pt x="924" y="137"/>
                  <a:pt x="950" y="163"/>
                </a:cubicBezTo>
                <a:cubicBezTo>
                  <a:pt x="976" y="189"/>
                  <a:pt x="999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5" y="412"/>
                  <a:pt x="1102" y="448"/>
                </a:cubicBezTo>
                <a:cubicBezTo>
                  <a:pt x="1109" y="484"/>
                  <a:pt x="1113" y="520"/>
                  <a:pt x="1113" y="557"/>
                </a:cubicBezTo>
                <a:close/>
              </a:path>
            </a:pathLst>
          </a:custGeom>
          <a:solidFill>
            <a:srgbClr val="745DB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267600" y="6054840"/>
            <a:ext cx="1677942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既存の重みを使わず学習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33680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9067680" y="5423400"/>
            <a:ext cx="131527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実行して評価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067680" y="576288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生成コードの動作を確認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" name=""/>
          <p:cNvSpPr/>
          <p:nvPr/>
        </p:nvSpPr>
        <p:spPr>
          <a:xfrm>
            <a:off x="10010520" y="49147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9" y="896"/>
                  <a:pt x="976" y="924"/>
                  <a:pt x="950" y="950"/>
                </a:cubicBezTo>
                <a:cubicBezTo>
                  <a:pt x="924" y="975"/>
                  <a:pt x="896" y="998"/>
                  <a:pt x="866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4" y="835"/>
                  <a:pt x="56" y="803"/>
                  <a:pt x="42" y="769"/>
                </a:cubicBezTo>
                <a:cubicBezTo>
                  <a:pt x="29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9" y="378"/>
                  <a:pt x="42" y="344"/>
                </a:cubicBezTo>
                <a:cubicBezTo>
                  <a:pt x="56" y="310"/>
                  <a:pt x="74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6" y="94"/>
                </a:cubicBezTo>
                <a:cubicBezTo>
                  <a:pt x="896" y="114"/>
                  <a:pt x="924" y="137"/>
                  <a:pt x="950" y="163"/>
                </a:cubicBezTo>
                <a:cubicBezTo>
                  <a:pt x="976" y="189"/>
                  <a:pt x="999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5" y="412"/>
                  <a:pt x="1102" y="448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3B946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9067680" y="6054840"/>
            <a:ext cx="1759086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84,180 / 84,550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問 合格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13724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" name=""/>
          <p:cNvSpPr/>
          <p:nvPr/>
        </p:nvSpPr>
        <p:spPr>
          <a:xfrm>
            <a:off x="59040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" name=""/>
          <p:cNvSpPr/>
          <p:nvPr/>
        </p:nvSpPr>
        <p:spPr>
          <a:xfrm>
            <a:off x="601956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" name=""/>
          <p:cNvSpPr/>
          <p:nvPr/>
        </p:nvSpPr>
        <p:spPr>
          <a:xfrm>
            <a:off x="59040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" name=""/>
          <p:cNvSpPr/>
          <p:nvPr/>
        </p:nvSpPr>
        <p:spPr>
          <a:xfrm>
            <a:off x="595080" y="2338200"/>
            <a:ext cx="5267880" cy="686160"/>
          </a:xfrm>
          <a:custGeom>
            <a:avLst/>
            <a:gdLst/>
            <a:ahLst/>
            <a:rect l="0" t="0" r="r" b="b"/>
            <a:pathLst>
              <a:path w="14633" h="1906">
                <a:moveTo>
                  <a:pt x="0" y="0"/>
                </a:moveTo>
                <a:lnTo>
                  <a:pt x="14633" y="0"/>
                </a:lnTo>
                <a:lnTo>
                  <a:pt x="14633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" name=""/>
          <p:cNvSpPr/>
          <p:nvPr/>
        </p:nvSpPr>
        <p:spPr>
          <a:xfrm>
            <a:off x="601956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E9F5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" name=""/>
          <p:cNvSpPr/>
          <p:nvPr/>
        </p:nvSpPr>
        <p:spPr>
          <a:xfrm>
            <a:off x="6024240" y="2338200"/>
            <a:ext cx="5267880" cy="686160"/>
          </a:xfrm>
          <a:custGeom>
            <a:avLst/>
            <a:gdLst/>
            <a:ahLst/>
            <a:rect l="0" t="0" r="r" b="b"/>
            <a:pathLst>
              <a:path w="14633" h="1906">
                <a:moveTo>
                  <a:pt x="0" y="0"/>
                </a:moveTo>
                <a:lnTo>
                  <a:pt x="14633" y="0"/>
                </a:lnTo>
                <a:lnTo>
                  <a:pt x="14633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" name=""/>
          <p:cNvSpPr/>
          <p:nvPr/>
        </p:nvSpPr>
        <p:spPr>
          <a:xfrm>
            <a:off x="59040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" name=""/>
          <p:cNvSpPr/>
          <p:nvPr/>
        </p:nvSpPr>
        <p:spPr>
          <a:xfrm>
            <a:off x="601956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" name=""/>
          <p:cNvSpPr/>
          <p:nvPr/>
        </p:nvSpPr>
        <p:spPr>
          <a:xfrm>
            <a:off x="59040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1F6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" name=""/>
          <p:cNvSpPr/>
          <p:nvPr/>
        </p:nvSpPr>
        <p:spPr>
          <a:xfrm>
            <a:off x="595080" y="3033360"/>
            <a:ext cx="5267880" cy="591120"/>
          </a:xfrm>
          <a:custGeom>
            <a:avLst/>
            <a:gdLst/>
            <a:ahLst/>
            <a:rect l="0" t="0" r="r" b="b"/>
            <a:pathLst>
              <a:path w="14633" h="1642">
                <a:moveTo>
                  <a:pt x="0" y="0"/>
                </a:moveTo>
                <a:lnTo>
                  <a:pt x="14633" y="0"/>
                </a:lnTo>
                <a:lnTo>
                  <a:pt x="14633" y="1642"/>
                </a:lnTo>
                <a:lnTo>
                  <a:pt x="0" y="164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" name=""/>
          <p:cNvSpPr/>
          <p:nvPr/>
        </p:nvSpPr>
        <p:spPr>
          <a:xfrm>
            <a:off x="601956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1F8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" name=""/>
          <p:cNvSpPr/>
          <p:nvPr/>
        </p:nvSpPr>
        <p:spPr>
          <a:xfrm>
            <a:off x="6024240" y="3033360"/>
            <a:ext cx="5267880" cy="591120"/>
          </a:xfrm>
          <a:custGeom>
            <a:avLst/>
            <a:gdLst/>
            <a:ahLst/>
            <a:rect l="0" t="0" r="r" b="b"/>
            <a:pathLst>
              <a:path w="14633" h="1642">
                <a:moveTo>
                  <a:pt x="0" y="0"/>
                </a:moveTo>
                <a:lnTo>
                  <a:pt x="14633" y="0"/>
                </a:lnTo>
                <a:lnTo>
                  <a:pt x="14633" y="1642"/>
                </a:lnTo>
                <a:lnTo>
                  <a:pt x="0" y="164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" name=""/>
          <p:cNvSpPr/>
          <p:nvPr/>
        </p:nvSpPr>
        <p:spPr>
          <a:xfrm>
            <a:off x="59040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" name=""/>
          <p:cNvSpPr/>
          <p:nvPr/>
        </p:nvSpPr>
        <p:spPr>
          <a:xfrm>
            <a:off x="601956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" name=""/>
          <p:cNvSpPr/>
          <p:nvPr/>
        </p:nvSpPr>
        <p:spPr>
          <a:xfrm>
            <a:off x="59040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1F6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" name=""/>
          <p:cNvSpPr/>
          <p:nvPr/>
        </p:nvSpPr>
        <p:spPr>
          <a:xfrm>
            <a:off x="595080" y="3633480"/>
            <a:ext cx="5267880" cy="600480"/>
          </a:xfrm>
          <a:custGeom>
            <a:avLst/>
            <a:gdLst/>
            <a:ahLst/>
            <a:rect l="0" t="0" r="r" b="b"/>
            <a:pathLst>
              <a:path w="14633" h="1668">
                <a:moveTo>
                  <a:pt x="0" y="0"/>
                </a:moveTo>
                <a:lnTo>
                  <a:pt x="14633" y="0"/>
                </a:lnTo>
                <a:lnTo>
                  <a:pt x="14633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" name=""/>
          <p:cNvSpPr/>
          <p:nvPr/>
        </p:nvSpPr>
        <p:spPr>
          <a:xfrm>
            <a:off x="601956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1F8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" name=""/>
          <p:cNvSpPr/>
          <p:nvPr/>
        </p:nvSpPr>
        <p:spPr>
          <a:xfrm>
            <a:off x="6024240" y="3633480"/>
            <a:ext cx="5267880" cy="600480"/>
          </a:xfrm>
          <a:custGeom>
            <a:avLst/>
            <a:gdLst/>
            <a:ahLst/>
            <a:rect l="0" t="0" r="r" b="b"/>
            <a:pathLst>
              <a:path w="14633" h="1668">
                <a:moveTo>
                  <a:pt x="0" y="0"/>
                </a:moveTo>
                <a:lnTo>
                  <a:pt x="14633" y="0"/>
                </a:lnTo>
                <a:lnTo>
                  <a:pt x="14633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90400" y="977040"/>
            <a:ext cx="2077866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課題と狙い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90400" y="1813320"/>
            <a:ext cx="7785270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抽出や順序の変更など、</a:t>
            </a:r>
            <a:r>
              <a:rPr lang="ja-JP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対象を</a:t>
            </a:r>
            <a:r>
              <a:rPr lang="en-US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種類の操作に限定</a:t>
            </a:r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0560" y="2545560"/>
            <a:ext cx="148170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範囲を絞る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219720" y="2545560"/>
            <a:ext cx="17781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目指すモデル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0560" y="3209760"/>
            <a:ext cx="437515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あらかじめ定めた整数リストの操作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219720" y="3209760"/>
            <a:ext cx="464880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学生一人でもフルスクラッチで作れる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0560" y="3809880"/>
            <a:ext cx="382867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操作を組み合わせて処理を表す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219720" y="3809880"/>
            <a:ext cx="336168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小規模言語モデル（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SLM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90400" y="4557600"/>
            <a:ext cx="2538648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7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別の用途への応用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90400" y="5213520"/>
            <a:ext cx="5214744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関数の組み合わせで表せる処理なら、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90400" y="5613480"/>
            <a:ext cx="8159940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同じ考え方を </a:t>
            </a:r>
            <a:r>
              <a:rPr lang="en-US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NPC</a:t>
            </a:r>
            <a:r>
              <a:rPr lang="ja-JP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の挙動などにも応用できる可能性</a:t>
            </a:r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がある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85840" y="239760"/>
            <a:ext cx="122378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1.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課題と狙い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" name=""/>
          <p:cNvSpPr/>
          <p:nvPr/>
        </p:nvSpPr>
        <p:spPr>
          <a:xfrm>
            <a:off x="595080" y="2728800"/>
            <a:ext cx="11001960" cy="2229120"/>
          </a:xfrm>
          <a:custGeom>
            <a:avLst/>
            <a:gdLst/>
            <a:ahLst/>
            <a:rect l="0" t="0" r="r" b="b"/>
            <a:pathLst>
              <a:path w="30561" h="6192">
                <a:moveTo>
                  <a:pt x="0" y="604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5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7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8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6047"/>
                </a:lnTo>
                <a:cubicBezTo>
                  <a:pt x="30561" y="6056"/>
                  <a:pt x="30560" y="6066"/>
                  <a:pt x="30558" y="6075"/>
                </a:cubicBezTo>
                <a:cubicBezTo>
                  <a:pt x="30556" y="6084"/>
                  <a:pt x="30553" y="6093"/>
                  <a:pt x="30549" y="6102"/>
                </a:cubicBezTo>
                <a:cubicBezTo>
                  <a:pt x="30546" y="6111"/>
                  <a:pt x="30541" y="6119"/>
                  <a:pt x="30536" y="6127"/>
                </a:cubicBezTo>
                <a:cubicBezTo>
                  <a:pt x="30531" y="6135"/>
                  <a:pt x="30525" y="6143"/>
                  <a:pt x="30518" y="6149"/>
                </a:cubicBezTo>
                <a:cubicBezTo>
                  <a:pt x="30511" y="6156"/>
                  <a:pt x="30504" y="6162"/>
                  <a:pt x="30496" y="6168"/>
                </a:cubicBezTo>
                <a:cubicBezTo>
                  <a:pt x="30488" y="6173"/>
                  <a:pt x="30480" y="6177"/>
                  <a:pt x="30471" y="6181"/>
                </a:cubicBezTo>
                <a:cubicBezTo>
                  <a:pt x="30462" y="6185"/>
                  <a:pt x="30453" y="6187"/>
                  <a:pt x="30443" y="6189"/>
                </a:cubicBezTo>
                <a:cubicBezTo>
                  <a:pt x="30434" y="6191"/>
                  <a:pt x="30425" y="6192"/>
                  <a:pt x="30415" y="6192"/>
                </a:cubicBezTo>
                <a:lnTo>
                  <a:pt x="146" y="6192"/>
                </a:lnTo>
                <a:cubicBezTo>
                  <a:pt x="136" y="6192"/>
                  <a:pt x="127" y="6191"/>
                  <a:pt x="117" y="6189"/>
                </a:cubicBezTo>
                <a:cubicBezTo>
                  <a:pt x="108" y="6187"/>
                  <a:pt x="99" y="6185"/>
                  <a:pt x="90" y="6181"/>
                </a:cubicBezTo>
                <a:cubicBezTo>
                  <a:pt x="81" y="6177"/>
                  <a:pt x="73" y="6173"/>
                  <a:pt x="65" y="6168"/>
                </a:cubicBezTo>
                <a:cubicBezTo>
                  <a:pt x="57" y="6162"/>
                  <a:pt x="50" y="6156"/>
                  <a:pt x="43" y="6149"/>
                </a:cubicBezTo>
                <a:cubicBezTo>
                  <a:pt x="36" y="6143"/>
                  <a:pt x="30" y="6135"/>
                  <a:pt x="25" y="6127"/>
                </a:cubicBezTo>
                <a:cubicBezTo>
                  <a:pt x="19" y="6119"/>
                  <a:pt x="15" y="6111"/>
                  <a:pt x="11" y="6102"/>
                </a:cubicBezTo>
                <a:cubicBezTo>
                  <a:pt x="8" y="6093"/>
                  <a:pt x="5" y="6084"/>
                  <a:pt x="3" y="6075"/>
                </a:cubicBezTo>
                <a:cubicBezTo>
                  <a:pt x="1" y="6066"/>
                  <a:pt x="0" y="6056"/>
                  <a:pt x="0" y="6047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" name=""/>
          <p:cNvSpPr/>
          <p:nvPr/>
        </p:nvSpPr>
        <p:spPr>
          <a:xfrm>
            <a:off x="595080" y="2728800"/>
            <a:ext cx="11001960" cy="2229120"/>
          </a:xfrm>
          <a:custGeom>
            <a:avLst/>
            <a:gdLst/>
            <a:ahLst/>
            <a:rect l="0" t="0" r="r" b="b"/>
            <a:pathLst>
              <a:path w="30561" h="6192">
                <a:moveTo>
                  <a:pt x="0" y="604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5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7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8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6047"/>
                </a:lnTo>
                <a:cubicBezTo>
                  <a:pt x="30561" y="6056"/>
                  <a:pt x="30560" y="6066"/>
                  <a:pt x="30558" y="6075"/>
                </a:cubicBezTo>
                <a:cubicBezTo>
                  <a:pt x="30556" y="6084"/>
                  <a:pt x="30553" y="6093"/>
                  <a:pt x="30549" y="6102"/>
                </a:cubicBezTo>
                <a:cubicBezTo>
                  <a:pt x="30546" y="6111"/>
                  <a:pt x="30541" y="6119"/>
                  <a:pt x="30536" y="6127"/>
                </a:cubicBezTo>
                <a:cubicBezTo>
                  <a:pt x="30531" y="6135"/>
                  <a:pt x="30525" y="6143"/>
                  <a:pt x="30518" y="6149"/>
                </a:cubicBezTo>
                <a:cubicBezTo>
                  <a:pt x="30511" y="6156"/>
                  <a:pt x="30504" y="6162"/>
                  <a:pt x="30496" y="6168"/>
                </a:cubicBezTo>
                <a:cubicBezTo>
                  <a:pt x="30488" y="6173"/>
                  <a:pt x="30480" y="6177"/>
                  <a:pt x="30471" y="6181"/>
                </a:cubicBezTo>
                <a:cubicBezTo>
                  <a:pt x="30462" y="6185"/>
                  <a:pt x="30453" y="6187"/>
                  <a:pt x="30443" y="6189"/>
                </a:cubicBezTo>
                <a:cubicBezTo>
                  <a:pt x="30434" y="6191"/>
                  <a:pt x="30425" y="6192"/>
                  <a:pt x="30415" y="6192"/>
                </a:cubicBezTo>
                <a:lnTo>
                  <a:pt x="146" y="6192"/>
                </a:lnTo>
                <a:cubicBezTo>
                  <a:pt x="136" y="6192"/>
                  <a:pt x="127" y="6191"/>
                  <a:pt x="117" y="6189"/>
                </a:cubicBezTo>
                <a:cubicBezTo>
                  <a:pt x="108" y="6187"/>
                  <a:pt x="99" y="6185"/>
                  <a:pt x="90" y="6181"/>
                </a:cubicBezTo>
                <a:cubicBezTo>
                  <a:pt x="81" y="6177"/>
                  <a:pt x="73" y="6173"/>
                  <a:pt x="65" y="6168"/>
                </a:cubicBezTo>
                <a:cubicBezTo>
                  <a:pt x="57" y="6162"/>
                  <a:pt x="50" y="6156"/>
                  <a:pt x="43" y="6149"/>
                </a:cubicBezTo>
                <a:cubicBezTo>
                  <a:pt x="36" y="6143"/>
                  <a:pt x="30" y="6135"/>
                  <a:pt x="25" y="6127"/>
                </a:cubicBezTo>
                <a:cubicBezTo>
                  <a:pt x="19" y="6119"/>
                  <a:pt x="15" y="6111"/>
                  <a:pt x="11" y="6102"/>
                </a:cubicBezTo>
                <a:cubicBezTo>
                  <a:pt x="8" y="6093"/>
                  <a:pt x="5" y="6084"/>
                  <a:pt x="3" y="6075"/>
                </a:cubicBezTo>
                <a:cubicBezTo>
                  <a:pt x="1" y="6066"/>
                  <a:pt x="0" y="6056"/>
                  <a:pt x="0" y="6047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90400" y="1405440"/>
            <a:ext cx="339107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の具体例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590400" y="2221560"/>
            <a:ext cx="640499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日本語：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偶数だけを残して、各要素に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09640" y="2911320"/>
            <a:ext cx="2517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{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09640" y="3225600"/>
            <a:ext cx="227989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"sequence"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809640" y="3549600"/>
            <a:ext cx="379927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{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"filter"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729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"even"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]},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09640" y="3863880"/>
            <a:ext cx="334346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{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"map"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729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"add_k"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809640" y="4178160"/>
            <a:ext cx="45664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]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09640" y="4502160"/>
            <a:ext cx="2517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}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90400" y="5193360"/>
            <a:ext cx="688440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偶数の抽出 → 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を加える、という処理の順序を保存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85840" y="239760"/>
            <a:ext cx="279408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学習を成立させるための工夫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180548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90400" y="500760"/>
            <a:ext cx="8790876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から訓練データを自動生成・検証する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" name=""/>
          <p:cNvSpPr/>
          <p:nvPr/>
        </p:nvSpPr>
        <p:spPr>
          <a:xfrm>
            <a:off x="2990520" y="1180800"/>
            <a:ext cx="6210720" cy="1191240"/>
          </a:xfrm>
          <a:custGeom>
            <a:avLst/>
            <a:gdLst/>
            <a:ahLst/>
            <a:rect l="0" t="0" r="r" b="b"/>
            <a:pathLst>
              <a:path w="17252" h="3309">
                <a:moveTo>
                  <a:pt x="0" y="3123"/>
                </a:moveTo>
                <a:lnTo>
                  <a:pt x="0" y="186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6"/>
                  <a:pt x="15" y="115"/>
                </a:cubicBezTo>
                <a:cubicBezTo>
                  <a:pt x="19" y="103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3" y="38"/>
                  <a:pt x="83" y="32"/>
                </a:cubicBezTo>
                <a:cubicBezTo>
                  <a:pt x="93" y="25"/>
                  <a:pt x="104" y="19"/>
                  <a:pt x="115" y="14"/>
                </a:cubicBezTo>
                <a:cubicBezTo>
                  <a:pt x="126" y="10"/>
                  <a:pt x="138" y="6"/>
                  <a:pt x="149" y="4"/>
                </a:cubicBezTo>
                <a:cubicBezTo>
                  <a:pt x="161" y="2"/>
                  <a:pt x="173" y="0"/>
                  <a:pt x="186" y="0"/>
                </a:cubicBezTo>
                <a:lnTo>
                  <a:pt x="17067" y="0"/>
                </a:lnTo>
                <a:cubicBezTo>
                  <a:pt x="17079" y="0"/>
                  <a:pt x="17091" y="2"/>
                  <a:pt x="17103" y="4"/>
                </a:cubicBezTo>
                <a:cubicBezTo>
                  <a:pt x="17115" y="6"/>
                  <a:pt x="17127" y="10"/>
                  <a:pt x="17138" y="14"/>
                </a:cubicBezTo>
                <a:cubicBezTo>
                  <a:pt x="17149" y="19"/>
                  <a:pt x="17160" y="25"/>
                  <a:pt x="17170" y="32"/>
                </a:cubicBezTo>
                <a:cubicBezTo>
                  <a:pt x="17180" y="38"/>
                  <a:pt x="17189" y="46"/>
                  <a:pt x="17198" y="55"/>
                </a:cubicBezTo>
                <a:cubicBezTo>
                  <a:pt x="17207" y="63"/>
                  <a:pt x="17214" y="73"/>
                  <a:pt x="17221" y="83"/>
                </a:cubicBezTo>
                <a:cubicBezTo>
                  <a:pt x="17228" y="93"/>
                  <a:pt x="17233" y="103"/>
                  <a:pt x="17238" y="115"/>
                </a:cubicBezTo>
                <a:cubicBezTo>
                  <a:pt x="17243" y="126"/>
                  <a:pt x="17246" y="137"/>
                  <a:pt x="17249" y="149"/>
                </a:cubicBezTo>
                <a:cubicBezTo>
                  <a:pt x="17251" y="161"/>
                  <a:pt x="17252" y="173"/>
                  <a:pt x="17252" y="186"/>
                </a:cubicBezTo>
                <a:lnTo>
                  <a:pt x="17252" y="3123"/>
                </a:lnTo>
                <a:cubicBezTo>
                  <a:pt x="17252" y="3136"/>
                  <a:pt x="17251" y="3148"/>
                  <a:pt x="17249" y="3160"/>
                </a:cubicBezTo>
                <a:cubicBezTo>
                  <a:pt x="17246" y="3171"/>
                  <a:pt x="17243" y="3183"/>
                  <a:pt x="17238" y="3194"/>
                </a:cubicBezTo>
                <a:cubicBezTo>
                  <a:pt x="17233" y="3206"/>
                  <a:pt x="17228" y="3216"/>
                  <a:pt x="17221" y="3226"/>
                </a:cubicBezTo>
                <a:cubicBezTo>
                  <a:pt x="17214" y="3236"/>
                  <a:pt x="17207" y="3246"/>
                  <a:pt x="17198" y="3254"/>
                </a:cubicBezTo>
                <a:cubicBezTo>
                  <a:pt x="17189" y="3263"/>
                  <a:pt x="17180" y="3271"/>
                  <a:pt x="17170" y="3277"/>
                </a:cubicBezTo>
                <a:cubicBezTo>
                  <a:pt x="17160" y="3284"/>
                  <a:pt x="17149" y="3290"/>
                  <a:pt x="17138" y="3295"/>
                </a:cubicBezTo>
                <a:cubicBezTo>
                  <a:pt x="17127" y="3299"/>
                  <a:pt x="17115" y="3303"/>
                  <a:pt x="17103" y="3305"/>
                </a:cubicBezTo>
                <a:cubicBezTo>
                  <a:pt x="17091" y="3307"/>
                  <a:pt x="17079" y="3309"/>
                  <a:pt x="17067" y="3309"/>
                </a:cubicBezTo>
                <a:lnTo>
                  <a:pt x="186" y="3309"/>
                </a:lnTo>
                <a:cubicBezTo>
                  <a:pt x="173" y="3309"/>
                  <a:pt x="161" y="3307"/>
                  <a:pt x="149" y="3305"/>
                </a:cubicBezTo>
                <a:cubicBezTo>
                  <a:pt x="138" y="3303"/>
                  <a:pt x="126" y="3299"/>
                  <a:pt x="115" y="3295"/>
                </a:cubicBezTo>
                <a:cubicBezTo>
                  <a:pt x="104" y="3290"/>
                  <a:pt x="93" y="3284"/>
                  <a:pt x="83" y="3277"/>
                </a:cubicBezTo>
                <a:cubicBezTo>
                  <a:pt x="73" y="3271"/>
                  <a:pt x="63" y="3263"/>
                  <a:pt x="55" y="3254"/>
                </a:cubicBezTo>
                <a:cubicBezTo>
                  <a:pt x="46" y="3246"/>
                  <a:pt x="38" y="3236"/>
                  <a:pt x="32" y="3226"/>
                </a:cubicBezTo>
                <a:cubicBezTo>
                  <a:pt x="25" y="3216"/>
                  <a:pt x="19" y="3206"/>
                  <a:pt x="15" y="3194"/>
                </a:cubicBezTo>
                <a:cubicBezTo>
                  <a:pt x="10" y="3183"/>
                  <a:pt x="6" y="3171"/>
                  <a:pt x="4" y="3160"/>
                </a:cubicBezTo>
                <a:cubicBezTo>
                  <a:pt x="2" y="3148"/>
                  <a:pt x="0" y="3136"/>
                  <a:pt x="0" y="3123"/>
                </a:cubicBezTo>
                <a:close/>
              </a:path>
            </a:pathLst>
          </a:custGeom>
          <a:solidFill>
            <a:srgbClr val="F0E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" name=""/>
          <p:cNvSpPr/>
          <p:nvPr/>
        </p:nvSpPr>
        <p:spPr>
          <a:xfrm>
            <a:off x="2990520" y="1180800"/>
            <a:ext cx="6210720" cy="1191240"/>
          </a:xfrm>
          <a:custGeom>
            <a:avLst/>
            <a:gdLst/>
            <a:ahLst/>
            <a:rect l="0" t="0" r="r" b="b"/>
            <a:pathLst>
              <a:path w="17252" h="3309">
                <a:moveTo>
                  <a:pt x="0" y="3123"/>
                </a:moveTo>
                <a:lnTo>
                  <a:pt x="0" y="186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6"/>
                  <a:pt x="15" y="115"/>
                </a:cubicBezTo>
                <a:cubicBezTo>
                  <a:pt x="19" y="103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3" y="38"/>
                  <a:pt x="83" y="32"/>
                </a:cubicBezTo>
                <a:cubicBezTo>
                  <a:pt x="93" y="25"/>
                  <a:pt x="104" y="19"/>
                  <a:pt x="115" y="14"/>
                </a:cubicBezTo>
                <a:cubicBezTo>
                  <a:pt x="126" y="10"/>
                  <a:pt x="138" y="6"/>
                  <a:pt x="149" y="4"/>
                </a:cubicBezTo>
                <a:cubicBezTo>
                  <a:pt x="161" y="2"/>
                  <a:pt x="173" y="0"/>
                  <a:pt x="186" y="0"/>
                </a:cubicBezTo>
                <a:lnTo>
                  <a:pt x="17067" y="0"/>
                </a:lnTo>
                <a:cubicBezTo>
                  <a:pt x="17079" y="0"/>
                  <a:pt x="17091" y="2"/>
                  <a:pt x="17103" y="4"/>
                </a:cubicBezTo>
                <a:cubicBezTo>
                  <a:pt x="17115" y="6"/>
                  <a:pt x="17127" y="10"/>
                  <a:pt x="17138" y="14"/>
                </a:cubicBezTo>
                <a:cubicBezTo>
                  <a:pt x="17149" y="19"/>
                  <a:pt x="17160" y="25"/>
                  <a:pt x="17170" y="32"/>
                </a:cubicBezTo>
                <a:cubicBezTo>
                  <a:pt x="17180" y="38"/>
                  <a:pt x="17189" y="46"/>
                  <a:pt x="17198" y="55"/>
                </a:cubicBezTo>
                <a:cubicBezTo>
                  <a:pt x="17207" y="63"/>
                  <a:pt x="17214" y="73"/>
                  <a:pt x="17221" y="83"/>
                </a:cubicBezTo>
                <a:cubicBezTo>
                  <a:pt x="17228" y="93"/>
                  <a:pt x="17233" y="103"/>
                  <a:pt x="17238" y="115"/>
                </a:cubicBezTo>
                <a:cubicBezTo>
                  <a:pt x="17243" y="126"/>
                  <a:pt x="17246" y="137"/>
                  <a:pt x="17249" y="149"/>
                </a:cubicBezTo>
                <a:cubicBezTo>
                  <a:pt x="17251" y="161"/>
                  <a:pt x="17252" y="173"/>
                  <a:pt x="17252" y="186"/>
                </a:cubicBezTo>
                <a:lnTo>
                  <a:pt x="17252" y="3123"/>
                </a:lnTo>
                <a:cubicBezTo>
                  <a:pt x="17252" y="3136"/>
                  <a:pt x="17251" y="3148"/>
                  <a:pt x="17249" y="3160"/>
                </a:cubicBezTo>
                <a:cubicBezTo>
                  <a:pt x="17246" y="3171"/>
                  <a:pt x="17243" y="3183"/>
                  <a:pt x="17238" y="3194"/>
                </a:cubicBezTo>
                <a:cubicBezTo>
                  <a:pt x="17233" y="3206"/>
                  <a:pt x="17228" y="3216"/>
                  <a:pt x="17221" y="3226"/>
                </a:cubicBezTo>
                <a:cubicBezTo>
                  <a:pt x="17214" y="3236"/>
                  <a:pt x="17207" y="3246"/>
                  <a:pt x="17198" y="3254"/>
                </a:cubicBezTo>
                <a:cubicBezTo>
                  <a:pt x="17189" y="3263"/>
                  <a:pt x="17180" y="3271"/>
                  <a:pt x="17170" y="3277"/>
                </a:cubicBezTo>
                <a:cubicBezTo>
                  <a:pt x="17160" y="3284"/>
                  <a:pt x="17149" y="3290"/>
                  <a:pt x="17138" y="3295"/>
                </a:cubicBezTo>
                <a:cubicBezTo>
                  <a:pt x="17127" y="3299"/>
                  <a:pt x="17115" y="3303"/>
                  <a:pt x="17103" y="3305"/>
                </a:cubicBezTo>
                <a:cubicBezTo>
                  <a:pt x="17091" y="3307"/>
                  <a:pt x="17079" y="3309"/>
                  <a:pt x="17067" y="3309"/>
                </a:cubicBezTo>
                <a:lnTo>
                  <a:pt x="186" y="3309"/>
                </a:lnTo>
                <a:cubicBezTo>
                  <a:pt x="173" y="3309"/>
                  <a:pt x="161" y="3307"/>
                  <a:pt x="149" y="3305"/>
                </a:cubicBezTo>
                <a:cubicBezTo>
                  <a:pt x="138" y="3303"/>
                  <a:pt x="126" y="3299"/>
                  <a:pt x="115" y="3295"/>
                </a:cubicBezTo>
                <a:cubicBezTo>
                  <a:pt x="104" y="3290"/>
                  <a:pt x="93" y="3284"/>
                  <a:pt x="83" y="3277"/>
                </a:cubicBezTo>
                <a:cubicBezTo>
                  <a:pt x="73" y="3271"/>
                  <a:pt x="63" y="3263"/>
                  <a:pt x="55" y="3254"/>
                </a:cubicBezTo>
                <a:cubicBezTo>
                  <a:pt x="46" y="3246"/>
                  <a:pt x="38" y="3236"/>
                  <a:pt x="32" y="3226"/>
                </a:cubicBezTo>
                <a:cubicBezTo>
                  <a:pt x="25" y="3216"/>
                  <a:pt x="19" y="3206"/>
                  <a:pt x="15" y="3194"/>
                </a:cubicBezTo>
                <a:cubicBezTo>
                  <a:pt x="10" y="3183"/>
                  <a:pt x="6" y="3171"/>
                  <a:pt x="4" y="3160"/>
                </a:cubicBezTo>
                <a:cubicBezTo>
                  <a:pt x="2" y="3148"/>
                  <a:pt x="0" y="3136"/>
                  <a:pt x="0" y="3123"/>
                </a:cubicBezTo>
                <a:close/>
              </a:path>
            </a:pathLst>
          </a:custGeom>
          <a:noFill/>
          <a:ln w="18720">
            <a:solidFill>
              <a:srgbClr val="8A79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85840" y="239760"/>
            <a:ext cx="279408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学習を成立させるための工夫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4654080" y="1302480"/>
            <a:ext cx="332276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共通の処理の定義：意味</a:t>
            </a:r>
            <a:r>
              <a:rPr lang="en-US" sz="1729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191040" y="1622160"/>
            <a:ext cx="1655172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{</a:t>
            </a:r>
            <a:r>
              <a:rPr lang="en-US" sz="135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"sequence"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191040" y="1841040"/>
            <a:ext cx="49638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{</a:t>
            </a:r>
            <a:r>
              <a:rPr lang="en-US" sz="135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"filter"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350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"even"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]}, {</a:t>
            </a:r>
            <a:r>
              <a:rPr lang="en-US" sz="135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"map"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350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"add_k"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" name=""/>
          <p:cNvSpPr/>
          <p:nvPr/>
        </p:nvSpPr>
        <p:spPr>
          <a:xfrm>
            <a:off x="6095880" y="2381040"/>
            <a:ext cx="28800" cy="209880"/>
          </a:xfrm>
          <a:custGeom>
            <a:avLst/>
            <a:gdLst/>
            <a:ahLst/>
            <a:rect l="0" t="0" r="r" b="b"/>
            <a:pathLst>
              <a:path w="80" h="583">
                <a:moveTo>
                  <a:pt x="0" y="0"/>
                </a:moveTo>
                <a:lnTo>
                  <a:pt x="80" y="0"/>
                </a:lnTo>
                <a:lnTo>
                  <a:pt x="80" y="583"/>
                </a:lnTo>
                <a:lnTo>
                  <a:pt x="0" y="583"/>
                </a:lnTo>
                <a:lnTo>
                  <a:pt x="0" y="0"/>
                </a:lnTo>
                <a:close/>
              </a:path>
            </a:pathLst>
          </a:custGeom>
          <a:solidFill>
            <a:srgbClr val="69778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" name=""/>
          <p:cNvSpPr/>
          <p:nvPr/>
        </p:nvSpPr>
        <p:spPr>
          <a:xfrm>
            <a:off x="3247920" y="2590560"/>
            <a:ext cx="5696280" cy="29160"/>
          </a:xfrm>
          <a:custGeom>
            <a:avLst/>
            <a:gdLst/>
            <a:ahLst/>
            <a:rect l="0" t="0" r="r" b="b"/>
            <a:pathLst>
              <a:path w="15823" h="81">
                <a:moveTo>
                  <a:pt x="0" y="0"/>
                </a:moveTo>
                <a:lnTo>
                  <a:pt x="15823" y="0"/>
                </a:lnTo>
                <a:lnTo>
                  <a:pt x="1582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69778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" name=""/>
          <p:cNvSpPr/>
          <p:nvPr/>
        </p:nvSpPr>
        <p:spPr>
          <a:xfrm>
            <a:off x="595080" y="2881080"/>
            <a:ext cx="5305680" cy="3638880"/>
          </a:xfrm>
          <a:custGeom>
            <a:avLst/>
            <a:gdLst/>
            <a:ahLst/>
            <a:rect l="0" t="0" r="r" b="b"/>
            <a:pathLst>
              <a:path w="14738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1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8" y="186"/>
                  <a:pt x="14738" y="199"/>
                </a:cubicBezTo>
                <a:lnTo>
                  <a:pt x="14738" y="9910"/>
                </a:lnTo>
                <a:cubicBezTo>
                  <a:pt x="14738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1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7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solidFill>
            <a:srgbClr val="EDF5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" name=""/>
          <p:cNvSpPr/>
          <p:nvPr/>
        </p:nvSpPr>
        <p:spPr>
          <a:xfrm>
            <a:off x="595080" y="2881080"/>
            <a:ext cx="5305680" cy="3638880"/>
          </a:xfrm>
          <a:custGeom>
            <a:avLst/>
            <a:gdLst/>
            <a:ahLst/>
            <a:rect l="0" t="0" r="r" b="b"/>
            <a:pathLst>
              <a:path w="14738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1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8" y="186"/>
                  <a:pt x="14738" y="199"/>
                </a:cubicBezTo>
                <a:lnTo>
                  <a:pt x="14738" y="9910"/>
                </a:lnTo>
                <a:cubicBezTo>
                  <a:pt x="14738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1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7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noFill/>
          <a:ln w="9360">
            <a:solidFill>
              <a:srgbClr val="9EBED7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" name=""/>
          <p:cNvSpPr/>
          <p:nvPr/>
        </p:nvSpPr>
        <p:spPr>
          <a:xfrm>
            <a:off x="790560" y="4867200"/>
            <a:ext cx="4915080" cy="9720"/>
          </a:xfrm>
          <a:custGeom>
            <a:avLst/>
            <a:gdLst/>
            <a:ahLst/>
            <a:rect l="0" t="0" r="r" b="b"/>
            <a:pathLst>
              <a:path w="13653" h="27">
                <a:moveTo>
                  <a:pt x="0" y="0"/>
                </a:moveTo>
                <a:lnTo>
                  <a:pt x="13653" y="0"/>
                </a:lnTo>
                <a:lnTo>
                  <a:pt x="1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7CD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191040" y="2050560"/>
            <a:ext cx="237222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90560" y="304668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日本語の指示文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90560" y="348048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生成の手順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90560" y="3844800"/>
            <a:ext cx="406009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Qwen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で各操作の日本語表現を生成。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" name=""/>
          <p:cNvSpPr/>
          <p:nvPr/>
        </p:nvSpPr>
        <p:spPr>
          <a:xfrm>
            <a:off x="790560" y="4466880"/>
            <a:ext cx="1476720" cy="295920"/>
          </a:xfrm>
          <a:custGeom>
            <a:avLst/>
            <a:gdLst/>
            <a:ahLst/>
            <a:rect l="0" t="0" r="r" b="b"/>
            <a:pathLst>
              <a:path w="4102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1"/>
                  <a:pt x="148" y="0"/>
                  <a:pt x="158" y="0"/>
                </a:cubicBezTo>
                <a:lnTo>
                  <a:pt x="3942" y="0"/>
                </a:lnTo>
                <a:cubicBezTo>
                  <a:pt x="3952" y="0"/>
                  <a:pt x="3964" y="1"/>
                  <a:pt x="3974" y="4"/>
                </a:cubicBezTo>
                <a:cubicBezTo>
                  <a:pt x="3984" y="6"/>
                  <a:pt x="3994" y="9"/>
                  <a:pt x="4004" y="13"/>
                </a:cubicBezTo>
                <a:cubicBezTo>
                  <a:pt x="4013" y="17"/>
                  <a:pt x="4022" y="21"/>
                  <a:pt x="4031" y="27"/>
                </a:cubicBezTo>
                <a:cubicBezTo>
                  <a:pt x="4040" y="33"/>
                  <a:pt x="4048" y="40"/>
                  <a:pt x="4055" y="47"/>
                </a:cubicBezTo>
                <a:cubicBezTo>
                  <a:pt x="4062" y="54"/>
                  <a:pt x="4069" y="62"/>
                  <a:pt x="4075" y="71"/>
                </a:cubicBezTo>
                <a:cubicBezTo>
                  <a:pt x="4081" y="80"/>
                  <a:pt x="4086" y="89"/>
                  <a:pt x="4089" y="98"/>
                </a:cubicBezTo>
                <a:cubicBezTo>
                  <a:pt x="4093" y="108"/>
                  <a:pt x="4096" y="118"/>
                  <a:pt x="4099" y="128"/>
                </a:cubicBezTo>
                <a:cubicBezTo>
                  <a:pt x="4101" y="138"/>
                  <a:pt x="4102" y="149"/>
                  <a:pt x="4102" y="159"/>
                </a:cubicBezTo>
                <a:lnTo>
                  <a:pt x="4102" y="663"/>
                </a:lnTo>
                <a:cubicBezTo>
                  <a:pt x="4102" y="673"/>
                  <a:pt x="4101" y="684"/>
                  <a:pt x="4099" y="694"/>
                </a:cubicBezTo>
                <a:cubicBezTo>
                  <a:pt x="4096" y="704"/>
                  <a:pt x="4093" y="714"/>
                  <a:pt x="4089" y="724"/>
                </a:cubicBezTo>
                <a:cubicBezTo>
                  <a:pt x="4086" y="733"/>
                  <a:pt x="4081" y="742"/>
                  <a:pt x="4075" y="751"/>
                </a:cubicBezTo>
                <a:cubicBezTo>
                  <a:pt x="4069" y="760"/>
                  <a:pt x="4062" y="768"/>
                  <a:pt x="4055" y="775"/>
                </a:cubicBezTo>
                <a:cubicBezTo>
                  <a:pt x="4048" y="783"/>
                  <a:pt x="4040" y="789"/>
                  <a:pt x="4031" y="795"/>
                </a:cubicBezTo>
                <a:cubicBezTo>
                  <a:pt x="4022" y="801"/>
                  <a:pt x="4013" y="806"/>
                  <a:pt x="4004" y="810"/>
                </a:cubicBezTo>
                <a:cubicBezTo>
                  <a:pt x="3994" y="814"/>
                  <a:pt x="3984" y="817"/>
                  <a:pt x="3974" y="819"/>
                </a:cubicBezTo>
                <a:cubicBezTo>
                  <a:pt x="3964" y="821"/>
                  <a:pt x="3952" y="822"/>
                  <a:pt x="3942" y="822"/>
                </a:cubicBezTo>
                <a:lnTo>
                  <a:pt x="158" y="822"/>
                </a:lnTo>
                <a:cubicBezTo>
                  <a:pt x="148" y="822"/>
                  <a:pt x="138" y="821"/>
                  <a:pt x="127" y="819"/>
                </a:cubicBezTo>
                <a:cubicBezTo>
                  <a:pt x="117" y="817"/>
                  <a:pt x="107" y="814"/>
                  <a:pt x="98" y="810"/>
                </a:cubicBezTo>
                <a:cubicBezTo>
                  <a:pt x="88" y="806"/>
                  <a:pt x="79" y="801"/>
                  <a:pt x="70" y="795"/>
                </a:cubicBezTo>
                <a:cubicBezTo>
                  <a:pt x="61" y="789"/>
                  <a:pt x="53" y="783"/>
                  <a:pt x="46" y="775"/>
                </a:cubicBezTo>
                <a:cubicBezTo>
                  <a:pt x="39" y="768"/>
                  <a:pt x="32" y="760"/>
                  <a:pt x="26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90560" y="4168440"/>
            <a:ext cx="38588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の順に結合し、テンプレートの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864360" y="4504320"/>
            <a:ext cx="1533042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{operations}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270160" y="449244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をルールベースで埋める。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90560" y="5033160"/>
            <a:ext cx="6582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90560" y="5387760"/>
            <a:ext cx="37578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と整数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を受け取り、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90560" y="5702040"/>
            <a:ext cx="398061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偶数だけを残し、各要素に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90560" y="6016320"/>
            <a:ext cx="324865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" name=""/>
          <p:cNvSpPr/>
          <p:nvPr/>
        </p:nvSpPr>
        <p:spPr>
          <a:xfrm>
            <a:off x="6291000" y="2881080"/>
            <a:ext cx="5306040" cy="3638880"/>
          </a:xfrm>
          <a:custGeom>
            <a:avLst/>
            <a:gdLst/>
            <a:ahLst/>
            <a:rect l="0" t="0" r="r" b="b"/>
            <a:pathLst>
              <a:path w="14739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2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9" y="186"/>
                  <a:pt x="14739" y="199"/>
                </a:cubicBezTo>
                <a:lnTo>
                  <a:pt x="14739" y="9910"/>
                </a:lnTo>
                <a:cubicBezTo>
                  <a:pt x="14739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2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8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solidFill>
            <a:srgbClr val="EEF7F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" name=""/>
          <p:cNvSpPr/>
          <p:nvPr/>
        </p:nvSpPr>
        <p:spPr>
          <a:xfrm>
            <a:off x="6291000" y="2881080"/>
            <a:ext cx="5306040" cy="3638880"/>
          </a:xfrm>
          <a:custGeom>
            <a:avLst/>
            <a:gdLst/>
            <a:ahLst/>
            <a:rect l="0" t="0" r="r" b="b"/>
            <a:pathLst>
              <a:path w="14739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2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9" y="186"/>
                  <a:pt x="14739" y="199"/>
                </a:cubicBezTo>
                <a:lnTo>
                  <a:pt x="14739" y="9910"/>
                </a:lnTo>
                <a:cubicBezTo>
                  <a:pt x="14739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2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8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noFill/>
          <a:ln w="9360">
            <a:solidFill>
              <a:srgbClr val="91B99E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" name=""/>
          <p:cNvSpPr/>
          <p:nvPr/>
        </p:nvSpPr>
        <p:spPr>
          <a:xfrm>
            <a:off x="6486480" y="4867200"/>
            <a:ext cx="4915080" cy="9720"/>
          </a:xfrm>
          <a:custGeom>
            <a:avLst/>
            <a:gdLst/>
            <a:ahLst/>
            <a:rect l="0" t="0" r="r" b="b"/>
            <a:pathLst>
              <a:path w="13653" h="27">
                <a:moveTo>
                  <a:pt x="0" y="0"/>
                </a:moveTo>
                <a:lnTo>
                  <a:pt x="13653" y="0"/>
                </a:lnTo>
                <a:lnTo>
                  <a:pt x="1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4D1B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105000" y="25200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6486480" y="3046680"/>
            <a:ext cx="306567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検証済みの</a:t>
            </a:r>
            <a:r>
              <a:rPr lang="en-US" sz="180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0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コード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486480" y="348048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生成の手順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86480" y="3844800"/>
            <a:ext cx="403981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の操作を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コードへ変換。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486480" y="416844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構文を確認し、実行結果を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486480" y="4492440"/>
            <a:ext cx="432257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参照インタプリタの期待値と照合する。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486480" y="5033160"/>
            <a:ext cx="6582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6486480" y="5367600"/>
            <a:ext cx="235069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def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5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solve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(xs, k):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6486480" y="5672160"/>
            <a:ext cx="401000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[x + k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486480" y="5967360"/>
            <a:ext cx="359517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   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% </a:t>
            </a:r>
            <a:r>
              <a:rPr lang="en-US" sz="15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2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== </a:t>
            </a:r>
            <a:r>
              <a:rPr lang="en-US" sz="15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8800920" y="25200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" name=""/>
          <p:cNvSpPr/>
          <p:nvPr/>
        </p:nvSpPr>
        <p:spPr>
          <a:xfrm>
            <a:off x="599760" y="239076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" name=""/>
          <p:cNvSpPr/>
          <p:nvPr/>
        </p:nvSpPr>
        <p:spPr>
          <a:xfrm>
            <a:off x="4086000" y="239076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" name=""/>
          <p:cNvSpPr/>
          <p:nvPr/>
        </p:nvSpPr>
        <p:spPr>
          <a:xfrm>
            <a:off x="5505120" y="239076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" name=""/>
          <p:cNvSpPr/>
          <p:nvPr/>
        </p:nvSpPr>
        <p:spPr>
          <a:xfrm>
            <a:off x="599760" y="239076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" name=""/>
          <p:cNvSpPr/>
          <p:nvPr/>
        </p:nvSpPr>
        <p:spPr>
          <a:xfrm>
            <a:off x="4086000" y="239076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" name=""/>
          <p:cNvSpPr/>
          <p:nvPr/>
        </p:nvSpPr>
        <p:spPr>
          <a:xfrm>
            <a:off x="5505120" y="239076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" name=""/>
          <p:cNvSpPr/>
          <p:nvPr/>
        </p:nvSpPr>
        <p:spPr>
          <a:xfrm>
            <a:off x="599760" y="285732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" name=""/>
          <p:cNvSpPr/>
          <p:nvPr/>
        </p:nvSpPr>
        <p:spPr>
          <a:xfrm>
            <a:off x="4086000" y="285732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" name=""/>
          <p:cNvSpPr/>
          <p:nvPr/>
        </p:nvSpPr>
        <p:spPr>
          <a:xfrm>
            <a:off x="5505120" y="285732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" name=""/>
          <p:cNvSpPr/>
          <p:nvPr/>
        </p:nvSpPr>
        <p:spPr>
          <a:xfrm>
            <a:off x="599760" y="3323880"/>
            <a:ext cx="3486600" cy="467280"/>
          </a:xfrm>
          <a:custGeom>
            <a:avLst/>
            <a:gdLst/>
            <a:ahLst/>
            <a:rect l="0" t="0" r="r" b="b"/>
            <a:pathLst>
              <a:path w="9685" h="1298">
                <a:moveTo>
                  <a:pt x="0" y="0"/>
                </a:moveTo>
                <a:lnTo>
                  <a:pt x="9685" y="0"/>
                </a:lnTo>
                <a:lnTo>
                  <a:pt x="968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" name=""/>
          <p:cNvSpPr/>
          <p:nvPr/>
        </p:nvSpPr>
        <p:spPr>
          <a:xfrm>
            <a:off x="4086000" y="3323880"/>
            <a:ext cx="1419480" cy="467280"/>
          </a:xfrm>
          <a:custGeom>
            <a:avLst/>
            <a:gdLst/>
            <a:ahLst/>
            <a:rect l="0" t="0" r="r" b="b"/>
            <a:pathLst>
              <a:path w="3943" h="1298">
                <a:moveTo>
                  <a:pt x="0" y="0"/>
                </a:moveTo>
                <a:lnTo>
                  <a:pt x="3943" y="0"/>
                </a:lnTo>
                <a:lnTo>
                  <a:pt x="394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" name=""/>
          <p:cNvSpPr/>
          <p:nvPr/>
        </p:nvSpPr>
        <p:spPr>
          <a:xfrm>
            <a:off x="5505120" y="3323880"/>
            <a:ext cx="6096600" cy="467280"/>
          </a:xfrm>
          <a:custGeom>
            <a:avLst/>
            <a:gdLst/>
            <a:ahLst/>
            <a:rect l="0" t="0" r="r" b="b"/>
            <a:pathLst>
              <a:path w="16935" h="1298">
                <a:moveTo>
                  <a:pt x="0" y="0"/>
                </a:moveTo>
                <a:lnTo>
                  <a:pt x="16935" y="0"/>
                </a:lnTo>
                <a:lnTo>
                  <a:pt x="1693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" name=""/>
          <p:cNvSpPr/>
          <p:nvPr/>
        </p:nvSpPr>
        <p:spPr>
          <a:xfrm>
            <a:off x="599760" y="379080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" name=""/>
          <p:cNvSpPr/>
          <p:nvPr/>
        </p:nvSpPr>
        <p:spPr>
          <a:xfrm>
            <a:off x="4086000" y="379080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" name=""/>
          <p:cNvSpPr/>
          <p:nvPr/>
        </p:nvSpPr>
        <p:spPr>
          <a:xfrm>
            <a:off x="5505120" y="379080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" name=""/>
          <p:cNvSpPr/>
          <p:nvPr/>
        </p:nvSpPr>
        <p:spPr>
          <a:xfrm>
            <a:off x="599760" y="4257360"/>
            <a:ext cx="3486600" cy="467280"/>
          </a:xfrm>
          <a:custGeom>
            <a:avLst/>
            <a:gdLst/>
            <a:ahLst/>
            <a:rect l="0" t="0" r="r" b="b"/>
            <a:pathLst>
              <a:path w="9685" h="1298">
                <a:moveTo>
                  <a:pt x="0" y="0"/>
                </a:moveTo>
                <a:lnTo>
                  <a:pt x="9685" y="0"/>
                </a:lnTo>
                <a:lnTo>
                  <a:pt x="968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" name=""/>
          <p:cNvSpPr/>
          <p:nvPr/>
        </p:nvSpPr>
        <p:spPr>
          <a:xfrm>
            <a:off x="4086000" y="4257360"/>
            <a:ext cx="1419480" cy="467280"/>
          </a:xfrm>
          <a:custGeom>
            <a:avLst/>
            <a:gdLst/>
            <a:ahLst/>
            <a:rect l="0" t="0" r="r" b="b"/>
            <a:pathLst>
              <a:path w="3943" h="1298">
                <a:moveTo>
                  <a:pt x="0" y="0"/>
                </a:moveTo>
                <a:lnTo>
                  <a:pt x="3943" y="0"/>
                </a:lnTo>
                <a:lnTo>
                  <a:pt x="394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" name=""/>
          <p:cNvSpPr/>
          <p:nvPr/>
        </p:nvSpPr>
        <p:spPr>
          <a:xfrm>
            <a:off x="5505120" y="4257360"/>
            <a:ext cx="6096600" cy="467280"/>
          </a:xfrm>
          <a:custGeom>
            <a:avLst/>
            <a:gdLst/>
            <a:ahLst/>
            <a:rect l="0" t="0" r="r" b="b"/>
            <a:pathLst>
              <a:path w="16935" h="1298">
                <a:moveTo>
                  <a:pt x="0" y="0"/>
                </a:moveTo>
                <a:lnTo>
                  <a:pt x="16935" y="0"/>
                </a:lnTo>
                <a:lnTo>
                  <a:pt x="1693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" name=""/>
          <p:cNvSpPr/>
          <p:nvPr/>
        </p:nvSpPr>
        <p:spPr>
          <a:xfrm>
            <a:off x="590400" y="23810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" name=""/>
          <p:cNvSpPr/>
          <p:nvPr/>
        </p:nvSpPr>
        <p:spPr>
          <a:xfrm>
            <a:off x="590400" y="238104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" name=""/>
          <p:cNvSpPr/>
          <p:nvPr/>
        </p:nvSpPr>
        <p:spPr>
          <a:xfrm>
            <a:off x="4076640" y="23810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" name=""/>
          <p:cNvSpPr/>
          <p:nvPr/>
        </p:nvSpPr>
        <p:spPr>
          <a:xfrm>
            <a:off x="4086000" y="2381040"/>
            <a:ext cx="1419480" cy="10080"/>
          </a:xfrm>
          <a:custGeom>
            <a:avLst/>
            <a:gdLst/>
            <a:ahLst/>
            <a:rect l="0" t="0" r="r" b="b"/>
            <a:pathLst>
              <a:path w="3943" h="28">
                <a:moveTo>
                  <a:pt x="0" y="0"/>
                </a:moveTo>
                <a:lnTo>
                  <a:pt x="3943" y="0"/>
                </a:lnTo>
                <a:lnTo>
                  <a:pt x="3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" name=""/>
          <p:cNvSpPr/>
          <p:nvPr/>
        </p:nvSpPr>
        <p:spPr>
          <a:xfrm>
            <a:off x="5495760" y="23810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" name=""/>
          <p:cNvSpPr/>
          <p:nvPr/>
        </p:nvSpPr>
        <p:spPr>
          <a:xfrm>
            <a:off x="5505120" y="2381040"/>
            <a:ext cx="6096600" cy="10080"/>
          </a:xfrm>
          <a:custGeom>
            <a:avLst/>
            <a:gdLst/>
            <a:ahLst/>
            <a:rect l="0" t="0" r="r" b="b"/>
            <a:pathLst>
              <a:path w="16935" h="28">
                <a:moveTo>
                  <a:pt x="0" y="0"/>
                </a:moveTo>
                <a:lnTo>
                  <a:pt x="16935" y="0"/>
                </a:lnTo>
                <a:lnTo>
                  <a:pt x="169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" name=""/>
          <p:cNvSpPr/>
          <p:nvPr/>
        </p:nvSpPr>
        <p:spPr>
          <a:xfrm>
            <a:off x="11591640" y="23810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" name=""/>
          <p:cNvSpPr/>
          <p:nvPr/>
        </p:nvSpPr>
        <p:spPr>
          <a:xfrm>
            <a:off x="590400" y="284796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" name=""/>
          <p:cNvSpPr/>
          <p:nvPr/>
        </p:nvSpPr>
        <p:spPr>
          <a:xfrm>
            <a:off x="4086000" y="2847960"/>
            <a:ext cx="1419480" cy="9720"/>
          </a:xfrm>
          <a:custGeom>
            <a:avLst/>
            <a:gdLst/>
            <a:ahLst/>
            <a:rect l="0" t="0" r="r" b="b"/>
            <a:pathLst>
              <a:path w="3943" h="27">
                <a:moveTo>
                  <a:pt x="0" y="0"/>
                </a:moveTo>
                <a:lnTo>
                  <a:pt x="3943" y="0"/>
                </a:lnTo>
                <a:lnTo>
                  <a:pt x="3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" name=""/>
          <p:cNvSpPr/>
          <p:nvPr/>
        </p:nvSpPr>
        <p:spPr>
          <a:xfrm>
            <a:off x="5505120" y="2847960"/>
            <a:ext cx="6096600" cy="9720"/>
          </a:xfrm>
          <a:custGeom>
            <a:avLst/>
            <a:gdLst/>
            <a:ahLst/>
            <a:rect l="0" t="0" r="r" b="b"/>
            <a:pathLst>
              <a:path w="16935" h="27">
                <a:moveTo>
                  <a:pt x="0" y="0"/>
                </a:moveTo>
                <a:lnTo>
                  <a:pt x="16935" y="0"/>
                </a:lnTo>
                <a:lnTo>
                  <a:pt x="169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" name=""/>
          <p:cNvSpPr/>
          <p:nvPr/>
        </p:nvSpPr>
        <p:spPr>
          <a:xfrm>
            <a:off x="590400" y="285732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" name=""/>
          <p:cNvSpPr/>
          <p:nvPr/>
        </p:nvSpPr>
        <p:spPr>
          <a:xfrm>
            <a:off x="4076640" y="285732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" name=""/>
          <p:cNvSpPr/>
          <p:nvPr/>
        </p:nvSpPr>
        <p:spPr>
          <a:xfrm>
            <a:off x="5495760" y="285732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" name=""/>
          <p:cNvSpPr/>
          <p:nvPr/>
        </p:nvSpPr>
        <p:spPr>
          <a:xfrm>
            <a:off x="11591640" y="285732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" name=""/>
          <p:cNvSpPr/>
          <p:nvPr/>
        </p:nvSpPr>
        <p:spPr>
          <a:xfrm>
            <a:off x="590400" y="332388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" name=""/>
          <p:cNvSpPr/>
          <p:nvPr/>
        </p:nvSpPr>
        <p:spPr>
          <a:xfrm>
            <a:off x="590400" y="331452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" name=""/>
          <p:cNvSpPr/>
          <p:nvPr/>
        </p:nvSpPr>
        <p:spPr>
          <a:xfrm>
            <a:off x="4076640" y="332388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" name=""/>
          <p:cNvSpPr/>
          <p:nvPr/>
        </p:nvSpPr>
        <p:spPr>
          <a:xfrm>
            <a:off x="4086000" y="3314520"/>
            <a:ext cx="1419480" cy="9720"/>
          </a:xfrm>
          <a:custGeom>
            <a:avLst/>
            <a:gdLst/>
            <a:ahLst/>
            <a:rect l="0" t="0" r="r" b="b"/>
            <a:pathLst>
              <a:path w="3943" h="27">
                <a:moveTo>
                  <a:pt x="0" y="0"/>
                </a:moveTo>
                <a:lnTo>
                  <a:pt x="3943" y="0"/>
                </a:lnTo>
                <a:lnTo>
                  <a:pt x="3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" name=""/>
          <p:cNvSpPr/>
          <p:nvPr/>
        </p:nvSpPr>
        <p:spPr>
          <a:xfrm>
            <a:off x="5495760" y="332388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" name=""/>
          <p:cNvSpPr/>
          <p:nvPr/>
        </p:nvSpPr>
        <p:spPr>
          <a:xfrm>
            <a:off x="5505120" y="3314520"/>
            <a:ext cx="6096600" cy="9720"/>
          </a:xfrm>
          <a:custGeom>
            <a:avLst/>
            <a:gdLst/>
            <a:ahLst/>
            <a:rect l="0" t="0" r="r" b="b"/>
            <a:pathLst>
              <a:path w="16935" h="27">
                <a:moveTo>
                  <a:pt x="0" y="0"/>
                </a:moveTo>
                <a:lnTo>
                  <a:pt x="16935" y="0"/>
                </a:lnTo>
                <a:lnTo>
                  <a:pt x="169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" name=""/>
          <p:cNvSpPr/>
          <p:nvPr/>
        </p:nvSpPr>
        <p:spPr>
          <a:xfrm>
            <a:off x="11591640" y="332388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" name=""/>
          <p:cNvSpPr/>
          <p:nvPr/>
        </p:nvSpPr>
        <p:spPr>
          <a:xfrm>
            <a:off x="590400" y="3790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" name=""/>
          <p:cNvSpPr/>
          <p:nvPr/>
        </p:nvSpPr>
        <p:spPr>
          <a:xfrm>
            <a:off x="590400" y="378108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" name=""/>
          <p:cNvSpPr/>
          <p:nvPr/>
        </p:nvSpPr>
        <p:spPr>
          <a:xfrm>
            <a:off x="4076640" y="3790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" name=""/>
          <p:cNvSpPr/>
          <p:nvPr/>
        </p:nvSpPr>
        <p:spPr>
          <a:xfrm>
            <a:off x="4086000" y="3781080"/>
            <a:ext cx="1419480" cy="10080"/>
          </a:xfrm>
          <a:custGeom>
            <a:avLst/>
            <a:gdLst/>
            <a:ahLst/>
            <a:rect l="0" t="0" r="r" b="b"/>
            <a:pathLst>
              <a:path w="3943" h="28">
                <a:moveTo>
                  <a:pt x="0" y="0"/>
                </a:moveTo>
                <a:lnTo>
                  <a:pt x="3943" y="0"/>
                </a:lnTo>
                <a:lnTo>
                  <a:pt x="3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" name=""/>
          <p:cNvSpPr/>
          <p:nvPr/>
        </p:nvSpPr>
        <p:spPr>
          <a:xfrm>
            <a:off x="5495760" y="3790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" name=""/>
          <p:cNvSpPr/>
          <p:nvPr/>
        </p:nvSpPr>
        <p:spPr>
          <a:xfrm>
            <a:off x="5505120" y="3781080"/>
            <a:ext cx="6096600" cy="10080"/>
          </a:xfrm>
          <a:custGeom>
            <a:avLst/>
            <a:gdLst/>
            <a:ahLst/>
            <a:rect l="0" t="0" r="r" b="b"/>
            <a:pathLst>
              <a:path w="16935" h="28">
                <a:moveTo>
                  <a:pt x="0" y="0"/>
                </a:moveTo>
                <a:lnTo>
                  <a:pt x="16935" y="0"/>
                </a:lnTo>
                <a:lnTo>
                  <a:pt x="169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" name=""/>
          <p:cNvSpPr/>
          <p:nvPr/>
        </p:nvSpPr>
        <p:spPr>
          <a:xfrm>
            <a:off x="11591640" y="379080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" name=""/>
          <p:cNvSpPr/>
          <p:nvPr/>
        </p:nvSpPr>
        <p:spPr>
          <a:xfrm>
            <a:off x="590400" y="4257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" name=""/>
          <p:cNvSpPr/>
          <p:nvPr/>
        </p:nvSpPr>
        <p:spPr>
          <a:xfrm>
            <a:off x="590400" y="424800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" name=""/>
          <p:cNvSpPr/>
          <p:nvPr/>
        </p:nvSpPr>
        <p:spPr>
          <a:xfrm>
            <a:off x="4076640" y="4257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" name=""/>
          <p:cNvSpPr/>
          <p:nvPr/>
        </p:nvSpPr>
        <p:spPr>
          <a:xfrm>
            <a:off x="4086000" y="4248000"/>
            <a:ext cx="1419480" cy="9720"/>
          </a:xfrm>
          <a:custGeom>
            <a:avLst/>
            <a:gdLst/>
            <a:ahLst/>
            <a:rect l="0" t="0" r="r" b="b"/>
            <a:pathLst>
              <a:path w="3943" h="27">
                <a:moveTo>
                  <a:pt x="0" y="0"/>
                </a:moveTo>
                <a:lnTo>
                  <a:pt x="3943" y="0"/>
                </a:lnTo>
                <a:lnTo>
                  <a:pt x="3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" name=""/>
          <p:cNvSpPr/>
          <p:nvPr/>
        </p:nvSpPr>
        <p:spPr>
          <a:xfrm>
            <a:off x="5495760" y="4257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" name=""/>
          <p:cNvSpPr/>
          <p:nvPr/>
        </p:nvSpPr>
        <p:spPr>
          <a:xfrm>
            <a:off x="5505120" y="4248000"/>
            <a:ext cx="6096600" cy="9720"/>
          </a:xfrm>
          <a:custGeom>
            <a:avLst/>
            <a:gdLst/>
            <a:ahLst/>
            <a:rect l="0" t="0" r="r" b="b"/>
            <a:pathLst>
              <a:path w="16935" h="27">
                <a:moveTo>
                  <a:pt x="0" y="0"/>
                </a:moveTo>
                <a:lnTo>
                  <a:pt x="16935" y="0"/>
                </a:lnTo>
                <a:lnTo>
                  <a:pt x="169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" name=""/>
          <p:cNvSpPr/>
          <p:nvPr/>
        </p:nvSpPr>
        <p:spPr>
          <a:xfrm>
            <a:off x="11591640" y="42573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" name=""/>
          <p:cNvSpPr/>
          <p:nvPr/>
        </p:nvSpPr>
        <p:spPr>
          <a:xfrm>
            <a:off x="590400" y="471456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" name=""/>
          <p:cNvSpPr/>
          <p:nvPr/>
        </p:nvSpPr>
        <p:spPr>
          <a:xfrm>
            <a:off x="4086000" y="4714560"/>
            <a:ext cx="1419480" cy="10080"/>
          </a:xfrm>
          <a:custGeom>
            <a:avLst/>
            <a:gdLst/>
            <a:ahLst/>
            <a:rect l="0" t="0" r="r" b="b"/>
            <a:pathLst>
              <a:path w="3943" h="28">
                <a:moveTo>
                  <a:pt x="0" y="0"/>
                </a:moveTo>
                <a:lnTo>
                  <a:pt x="3943" y="0"/>
                </a:lnTo>
                <a:lnTo>
                  <a:pt x="3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" name=""/>
          <p:cNvSpPr/>
          <p:nvPr/>
        </p:nvSpPr>
        <p:spPr>
          <a:xfrm>
            <a:off x="5505120" y="4714560"/>
            <a:ext cx="6096600" cy="10080"/>
          </a:xfrm>
          <a:custGeom>
            <a:avLst/>
            <a:gdLst/>
            <a:ahLst/>
            <a:rect l="0" t="0" r="r" b="b"/>
            <a:pathLst>
              <a:path w="16935" h="28">
                <a:moveTo>
                  <a:pt x="0" y="0"/>
                </a:moveTo>
                <a:lnTo>
                  <a:pt x="16935" y="0"/>
                </a:lnTo>
                <a:lnTo>
                  <a:pt x="169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90400" y="1614960"/>
            <a:ext cx="472829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扱う範囲は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種類の操作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23960" y="25038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687200" y="2503800"/>
            <a:ext cx="113974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操作数 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23960" y="297072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条件に合う数を残す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72760" y="2970720"/>
            <a:ext cx="34610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630400" y="2970720"/>
            <a:ext cx="43581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偶数、奇数、正の値、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より大きい値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723960" y="343728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一つずつ値を変える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222880" y="343728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30400" y="3437280"/>
            <a:ext cx="37421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倍、絶対値、二乗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23960" y="390420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順序を変える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222880" y="390420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630400" y="3904200"/>
            <a:ext cx="36812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昇順、降順、現在の順序の反転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23960" y="437076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一部を取り出す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222880" y="437076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630400" y="4370760"/>
            <a:ext cx="3367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先頭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個、末尾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個、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個おき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90400" y="4974480"/>
            <a:ext cx="761014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最大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操作を組み合わせる、限定されたコード生成課題。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4" name=""/>
          <p:cNvSpPr/>
          <p:nvPr/>
        </p:nvSpPr>
        <p:spPr>
          <a:xfrm>
            <a:off x="599760" y="235260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5" name=""/>
          <p:cNvSpPr/>
          <p:nvPr/>
        </p:nvSpPr>
        <p:spPr>
          <a:xfrm>
            <a:off x="3390840" y="235260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6" name=""/>
          <p:cNvSpPr/>
          <p:nvPr/>
        </p:nvSpPr>
        <p:spPr>
          <a:xfrm>
            <a:off x="6086160" y="235260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7" name=""/>
          <p:cNvSpPr/>
          <p:nvPr/>
        </p:nvSpPr>
        <p:spPr>
          <a:xfrm>
            <a:off x="599760" y="235260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8" name=""/>
          <p:cNvSpPr/>
          <p:nvPr/>
        </p:nvSpPr>
        <p:spPr>
          <a:xfrm>
            <a:off x="3390840" y="235260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9" name=""/>
          <p:cNvSpPr/>
          <p:nvPr/>
        </p:nvSpPr>
        <p:spPr>
          <a:xfrm>
            <a:off x="6086160" y="235260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0" name=""/>
          <p:cNvSpPr/>
          <p:nvPr/>
        </p:nvSpPr>
        <p:spPr>
          <a:xfrm>
            <a:off x="599760" y="2828880"/>
            <a:ext cx="2791440" cy="486000"/>
          </a:xfrm>
          <a:custGeom>
            <a:avLst/>
            <a:gdLst/>
            <a:ahLst/>
            <a:rect l="0" t="0" r="r" b="b"/>
            <a:pathLst>
              <a:path w="7754" h="1350">
                <a:moveTo>
                  <a:pt x="0" y="0"/>
                </a:moveTo>
                <a:lnTo>
                  <a:pt x="7754" y="0"/>
                </a:lnTo>
                <a:lnTo>
                  <a:pt x="775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1" name=""/>
          <p:cNvSpPr/>
          <p:nvPr/>
        </p:nvSpPr>
        <p:spPr>
          <a:xfrm>
            <a:off x="3390840" y="2828880"/>
            <a:ext cx="2695680" cy="486000"/>
          </a:xfrm>
          <a:custGeom>
            <a:avLst/>
            <a:gdLst/>
            <a:ahLst/>
            <a:rect l="0" t="0" r="r" b="b"/>
            <a:pathLst>
              <a:path w="7488" h="1350">
                <a:moveTo>
                  <a:pt x="0" y="0"/>
                </a:moveTo>
                <a:lnTo>
                  <a:pt x="7488" y="0"/>
                </a:lnTo>
                <a:lnTo>
                  <a:pt x="748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2" name=""/>
          <p:cNvSpPr/>
          <p:nvPr/>
        </p:nvSpPr>
        <p:spPr>
          <a:xfrm>
            <a:off x="6086160" y="2828880"/>
            <a:ext cx="5515560" cy="486000"/>
          </a:xfrm>
          <a:custGeom>
            <a:avLst/>
            <a:gdLst/>
            <a:ahLst/>
            <a:rect l="0" t="0" r="r" b="b"/>
            <a:pathLst>
              <a:path w="15321" h="1350">
                <a:moveTo>
                  <a:pt x="0" y="0"/>
                </a:moveTo>
                <a:lnTo>
                  <a:pt x="15321" y="0"/>
                </a:lnTo>
                <a:lnTo>
                  <a:pt x="1532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3" name=""/>
          <p:cNvSpPr/>
          <p:nvPr/>
        </p:nvSpPr>
        <p:spPr>
          <a:xfrm>
            <a:off x="599760" y="331452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4" name=""/>
          <p:cNvSpPr/>
          <p:nvPr/>
        </p:nvSpPr>
        <p:spPr>
          <a:xfrm>
            <a:off x="3390840" y="331452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5" name=""/>
          <p:cNvSpPr/>
          <p:nvPr/>
        </p:nvSpPr>
        <p:spPr>
          <a:xfrm>
            <a:off x="6086160" y="331452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6" name=""/>
          <p:cNvSpPr/>
          <p:nvPr/>
        </p:nvSpPr>
        <p:spPr>
          <a:xfrm>
            <a:off x="599760" y="3790800"/>
            <a:ext cx="2791440" cy="486000"/>
          </a:xfrm>
          <a:custGeom>
            <a:avLst/>
            <a:gdLst/>
            <a:ahLst/>
            <a:rect l="0" t="0" r="r" b="b"/>
            <a:pathLst>
              <a:path w="7754" h="1350">
                <a:moveTo>
                  <a:pt x="0" y="0"/>
                </a:moveTo>
                <a:lnTo>
                  <a:pt x="7754" y="0"/>
                </a:lnTo>
                <a:lnTo>
                  <a:pt x="775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7" name=""/>
          <p:cNvSpPr/>
          <p:nvPr/>
        </p:nvSpPr>
        <p:spPr>
          <a:xfrm>
            <a:off x="3390840" y="3790800"/>
            <a:ext cx="2695680" cy="486000"/>
          </a:xfrm>
          <a:custGeom>
            <a:avLst/>
            <a:gdLst/>
            <a:ahLst/>
            <a:rect l="0" t="0" r="r" b="b"/>
            <a:pathLst>
              <a:path w="7488" h="1350">
                <a:moveTo>
                  <a:pt x="0" y="0"/>
                </a:moveTo>
                <a:lnTo>
                  <a:pt x="7488" y="0"/>
                </a:lnTo>
                <a:lnTo>
                  <a:pt x="748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8" name=""/>
          <p:cNvSpPr/>
          <p:nvPr/>
        </p:nvSpPr>
        <p:spPr>
          <a:xfrm>
            <a:off x="6086160" y="3790800"/>
            <a:ext cx="5515560" cy="486000"/>
          </a:xfrm>
          <a:custGeom>
            <a:avLst/>
            <a:gdLst/>
            <a:ahLst/>
            <a:rect l="0" t="0" r="r" b="b"/>
            <a:pathLst>
              <a:path w="15321" h="1350">
                <a:moveTo>
                  <a:pt x="0" y="0"/>
                </a:moveTo>
                <a:lnTo>
                  <a:pt x="15321" y="0"/>
                </a:lnTo>
                <a:lnTo>
                  <a:pt x="1532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9" name=""/>
          <p:cNvSpPr/>
          <p:nvPr/>
        </p:nvSpPr>
        <p:spPr>
          <a:xfrm>
            <a:off x="599760" y="427644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0" name=""/>
          <p:cNvSpPr/>
          <p:nvPr/>
        </p:nvSpPr>
        <p:spPr>
          <a:xfrm>
            <a:off x="3390840" y="427644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1" name=""/>
          <p:cNvSpPr/>
          <p:nvPr/>
        </p:nvSpPr>
        <p:spPr>
          <a:xfrm>
            <a:off x="6086160" y="427644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2" name=""/>
          <p:cNvSpPr/>
          <p:nvPr/>
        </p:nvSpPr>
        <p:spPr>
          <a:xfrm>
            <a:off x="590400" y="23428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3" name=""/>
          <p:cNvSpPr/>
          <p:nvPr/>
        </p:nvSpPr>
        <p:spPr>
          <a:xfrm>
            <a:off x="590400" y="234288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4" name=""/>
          <p:cNvSpPr/>
          <p:nvPr/>
        </p:nvSpPr>
        <p:spPr>
          <a:xfrm>
            <a:off x="3390840" y="23428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5" name=""/>
          <p:cNvSpPr/>
          <p:nvPr/>
        </p:nvSpPr>
        <p:spPr>
          <a:xfrm>
            <a:off x="3400200" y="234288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6" name=""/>
          <p:cNvSpPr/>
          <p:nvPr/>
        </p:nvSpPr>
        <p:spPr>
          <a:xfrm>
            <a:off x="6086160" y="23428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7" name=""/>
          <p:cNvSpPr/>
          <p:nvPr/>
        </p:nvSpPr>
        <p:spPr>
          <a:xfrm>
            <a:off x="6095880" y="234288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8" name=""/>
          <p:cNvSpPr/>
          <p:nvPr/>
        </p:nvSpPr>
        <p:spPr>
          <a:xfrm>
            <a:off x="11591640" y="23428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9" name=""/>
          <p:cNvSpPr/>
          <p:nvPr/>
        </p:nvSpPr>
        <p:spPr>
          <a:xfrm>
            <a:off x="590400" y="282888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0" name=""/>
          <p:cNvSpPr/>
          <p:nvPr/>
        </p:nvSpPr>
        <p:spPr>
          <a:xfrm>
            <a:off x="3400200" y="282888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1" name=""/>
          <p:cNvSpPr/>
          <p:nvPr/>
        </p:nvSpPr>
        <p:spPr>
          <a:xfrm>
            <a:off x="6095880" y="282888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2" name=""/>
          <p:cNvSpPr/>
          <p:nvPr/>
        </p:nvSpPr>
        <p:spPr>
          <a:xfrm>
            <a:off x="590400" y="28382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3" name=""/>
          <p:cNvSpPr/>
          <p:nvPr/>
        </p:nvSpPr>
        <p:spPr>
          <a:xfrm>
            <a:off x="3390840" y="28382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4" name=""/>
          <p:cNvSpPr/>
          <p:nvPr/>
        </p:nvSpPr>
        <p:spPr>
          <a:xfrm>
            <a:off x="6086160" y="28382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5" name=""/>
          <p:cNvSpPr/>
          <p:nvPr/>
        </p:nvSpPr>
        <p:spPr>
          <a:xfrm>
            <a:off x="11591640" y="28382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6" name=""/>
          <p:cNvSpPr/>
          <p:nvPr/>
        </p:nvSpPr>
        <p:spPr>
          <a:xfrm>
            <a:off x="590400" y="3314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7" name=""/>
          <p:cNvSpPr/>
          <p:nvPr/>
        </p:nvSpPr>
        <p:spPr>
          <a:xfrm>
            <a:off x="590400" y="330516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8" name=""/>
          <p:cNvSpPr/>
          <p:nvPr/>
        </p:nvSpPr>
        <p:spPr>
          <a:xfrm>
            <a:off x="3390840" y="3314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9" name=""/>
          <p:cNvSpPr/>
          <p:nvPr/>
        </p:nvSpPr>
        <p:spPr>
          <a:xfrm>
            <a:off x="3400200" y="330516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0" name=""/>
          <p:cNvSpPr/>
          <p:nvPr/>
        </p:nvSpPr>
        <p:spPr>
          <a:xfrm>
            <a:off x="6086160" y="3314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1" name=""/>
          <p:cNvSpPr/>
          <p:nvPr/>
        </p:nvSpPr>
        <p:spPr>
          <a:xfrm>
            <a:off x="6095880" y="330516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2" name=""/>
          <p:cNvSpPr/>
          <p:nvPr/>
        </p:nvSpPr>
        <p:spPr>
          <a:xfrm>
            <a:off x="11591640" y="3314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3" name=""/>
          <p:cNvSpPr/>
          <p:nvPr/>
        </p:nvSpPr>
        <p:spPr>
          <a:xfrm>
            <a:off x="590400" y="380016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4" name=""/>
          <p:cNvSpPr/>
          <p:nvPr/>
        </p:nvSpPr>
        <p:spPr>
          <a:xfrm>
            <a:off x="590400" y="379080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5" name=""/>
          <p:cNvSpPr/>
          <p:nvPr/>
        </p:nvSpPr>
        <p:spPr>
          <a:xfrm>
            <a:off x="3390840" y="380016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6" name=""/>
          <p:cNvSpPr/>
          <p:nvPr/>
        </p:nvSpPr>
        <p:spPr>
          <a:xfrm>
            <a:off x="3400200" y="379080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7" name=""/>
          <p:cNvSpPr/>
          <p:nvPr/>
        </p:nvSpPr>
        <p:spPr>
          <a:xfrm>
            <a:off x="6086160" y="380016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8" name=""/>
          <p:cNvSpPr/>
          <p:nvPr/>
        </p:nvSpPr>
        <p:spPr>
          <a:xfrm>
            <a:off x="6095880" y="379080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9" name=""/>
          <p:cNvSpPr/>
          <p:nvPr/>
        </p:nvSpPr>
        <p:spPr>
          <a:xfrm>
            <a:off x="11591640" y="380016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0" name=""/>
          <p:cNvSpPr/>
          <p:nvPr/>
        </p:nvSpPr>
        <p:spPr>
          <a:xfrm>
            <a:off x="590400" y="427644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1" name=""/>
          <p:cNvSpPr/>
          <p:nvPr/>
        </p:nvSpPr>
        <p:spPr>
          <a:xfrm>
            <a:off x="590400" y="426708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2" name=""/>
          <p:cNvSpPr/>
          <p:nvPr/>
        </p:nvSpPr>
        <p:spPr>
          <a:xfrm>
            <a:off x="3390840" y="427644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3" name=""/>
          <p:cNvSpPr/>
          <p:nvPr/>
        </p:nvSpPr>
        <p:spPr>
          <a:xfrm>
            <a:off x="3400200" y="426708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4" name=""/>
          <p:cNvSpPr/>
          <p:nvPr/>
        </p:nvSpPr>
        <p:spPr>
          <a:xfrm>
            <a:off x="6086160" y="427644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5" name=""/>
          <p:cNvSpPr/>
          <p:nvPr/>
        </p:nvSpPr>
        <p:spPr>
          <a:xfrm>
            <a:off x="6095880" y="426708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6" name=""/>
          <p:cNvSpPr/>
          <p:nvPr/>
        </p:nvSpPr>
        <p:spPr>
          <a:xfrm>
            <a:off x="11591640" y="427644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7" name=""/>
          <p:cNvSpPr/>
          <p:nvPr/>
        </p:nvSpPr>
        <p:spPr>
          <a:xfrm>
            <a:off x="590400" y="475272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8" name=""/>
          <p:cNvSpPr/>
          <p:nvPr/>
        </p:nvSpPr>
        <p:spPr>
          <a:xfrm>
            <a:off x="3400200" y="475272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9" name=""/>
          <p:cNvSpPr/>
          <p:nvPr/>
        </p:nvSpPr>
        <p:spPr>
          <a:xfrm>
            <a:off x="6095880" y="475272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0400" y="158652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同じ意味から、日本語とコードを作る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3960" y="2467080"/>
            <a:ext cx="54772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段階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521160" y="2467080"/>
            <a:ext cx="109461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作るもの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219720" y="2467080"/>
            <a:ext cx="27406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23960" y="2952720"/>
            <a:ext cx="200583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① 意味を決める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3521160" y="2952720"/>
            <a:ext cx="218799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操作と順序の記録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6219720" y="2952720"/>
            <a:ext cx="398599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偶数を残す。その後、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23960" y="3429000"/>
            <a:ext cx="173217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② 指示を作る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521160" y="3429000"/>
            <a:ext cx="164109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日本語の説明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219720" y="3429000"/>
            <a:ext cx="480612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偶数だけを残して、各要素に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723960" y="3914640"/>
            <a:ext cx="173217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③ 正解を作る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3521160" y="3914640"/>
            <a:ext cx="176902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コード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219720" y="3914640"/>
            <a:ext cx="397233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指示どおりに処理する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723960" y="4390920"/>
            <a:ext cx="227907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④ 動作を確認する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521160" y="4390920"/>
            <a:ext cx="218799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入力と出力の比較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219720" y="4390920"/>
            <a:ext cx="355501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参照実装と結果が一致するか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0400" y="5012280"/>
            <a:ext cx="56283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指示と正解を、一つの意味に対応付ける。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1" name=""/>
          <p:cNvSpPr/>
          <p:nvPr/>
        </p:nvSpPr>
        <p:spPr>
          <a:xfrm>
            <a:off x="599760" y="267624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2" name=""/>
          <p:cNvSpPr/>
          <p:nvPr/>
        </p:nvSpPr>
        <p:spPr>
          <a:xfrm>
            <a:off x="3095280" y="267624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3" name=""/>
          <p:cNvSpPr/>
          <p:nvPr/>
        </p:nvSpPr>
        <p:spPr>
          <a:xfrm>
            <a:off x="8600760" y="267624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4" name=""/>
          <p:cNvSpPr/>
          <p:nvPr/>
        </p:nvSpPr>
        <p:spPr>
          <a:xfrm>
            <a:off x="599760" y="267624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5" name=""/>
          <p:cNvSpPr/>
          <p:nvPr/>
        </p:nvSpPr>
        <p:spPr>
          <a:xfrm>
            <a:off x="3095280" y="267624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6" name=""/>
          <p:cNvSpPr/>
          <p:nvPr/>
        </p:nvSpPr>
        <p:spPr>
          <a:xfrm>
            <a:off x="8600760" y="267624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7" name=""/>
          <p:cNvSpPr/>
          <p:nvPr/>
        </p:nvSpPr>
        <p:spPr>
          <a:xfrm>
            <a:off x="599760" y="3143160"/>
            <a:ext cx="2495880" cy="466920"/>
          </a:xfrm>
          <a:custGeom>
            <a:avLst/>
            <a:gdLst/>
            <a:ahLst/>
            <a:rect l="0" t="0" r="r" b="b"/>
            <a:pathLst>
              <a:path w="6933" h="1297">
                <a:moveTo>
                  <a:pt x="0" y="0"/>
                </a:moveTo>
                <a:lnTo>
                  <a:pt x="6933" y="0"/>
                </a:lnTo>
                <a:lnTo>
                  <a:pt x="693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8" name=""/>
          <p:cNvSpPr/>
          <p:nvPr/>
        </p:nvSpPr>
        <p:spPr>
          <a:xfrm>
            <a:off x="3095280" y="3143160"/>
            <a:ext cx="5505840" cy="466920"/>
          </a:xfrm>
          <a:custGeom>
            <a:avLst/>
            <a:gdLst/>
            <a:ahLst/>
            <a:rect l="0" t="0" r="r" b="b"/>
            <a:pathLst>
              <a:path w="15294" h="1297">
                <a:moveTo>
                  <a:pt x="0" y="0"/>
                </a:moveTo>
                <a:lnTo>
                  <a:pt x="15294" y="0"/>
                </a:lnTo>
                <a:lnTo>
                  <a:pt x="1529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9" name=""/>
          <p:cNvSpPr/>
          <p:nvPr/>
        </p:nvSpPr>
        <p:spPr>
          <a:xfrm>
            <a:off x="8600760" y="3143160"/>
            <a:ext cx="3000960" cy="466920"/>
          </a:xfrm>
          <a:custGeom>
            <a:avLst/>
            <a:gdLst/>
            <a:ahLst/>
            <a:rect l="0" t="0" r="r" b="b"/>
            <a:pathLst>
              <a:path w="8336" h="1297">
                <a:moveTo>
                  <a:pt x="0" y="0"/>
                </a:moveTo>
                <a:lnTo>
                  <a:pt x="8336" y="0"/>
                </a:lnTo>
                <a:lnTo>
                  <a:pt x="8336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0" name=""/>
          <p:cNvSpPr/>
          <p:nvPr/>
        </p:nvSpPr>
        <p:spPr>
          <a:xfrm>
            <a:off x="599760" y="360972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1" name=""/>
          <p:cNvSpPr/>
          <p:nvPr/>
        </p:nvSpPr>
        <p:spPr>
          <a:xfrm>
            <a:off x="3095280" y="360972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2" name=""/>
          <p:cNvSpPr/>
          <p:nvPr/>
        </p:nvSpPr>
        <p:spPr>
          <a:xfrm>
            <a:off x="8600760" y="360972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3" name=""/>
          <p:cNvSpPr/>
          <p:nvPr/>
        </p:nvSpPr>
        <p:spPr>
          <a:xfrm>
            <a:off x="599760" y="4076640"/>
            <a:ext cx="2495880" cy="466920"/>
          </a:xfrm>
          <a:custGeom>
            <a:avLst/>
            <a:gdLst/>
            <a:ahLst/>
            <a:rect l="0" t="0" r="r" b="b"/>
            <a:pathLst>
              <a:path w="6933" h="1297">
                <a:moveTo>
                  <a:pt x="0" y="0"/>
                </a:moveTo>
                <a:lnTo>
                  <a:pt x="6933" y="0"/>
                </a:lnTo>
                <a:lnTo>
                  <a:pt x="693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4" name=""/>
          <p:cNvSpPr/>
          <p:nvPr/>
        </p:nvSpPr>
        <p:spPr>
          <a:xfrm>
            <a:off x="3095280" y="4076640"/>
            <a:ext cx="5505840" cy="466920"/>
          </a:xfrm>
          <a:custGeom>
            <a:avLst/>
            <a:gdLst/>
            <a:ahLst/>
            <a:rect l="0" t="0" r="r" b="b"/>
            <a:pathLst>
              <a:path w="15294" h="1297">
                <a:moveTo>
                  <a:pt x="0" y="0"/>
                </a:moveTo>
                <a:lnTo>
                  <a:pt x="15294" y="0"/>
                </a:lnTo>
                <a:lnTo>
                  <a:pt x="1529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5" name=""/>
          <p:cNvSpPr/>
          <p:nvPr/>
        </p:nvSpPr>
        <p:spPr>
          <a:xfrm>
            <a:off x="8600760" y="4076640"/>
            <a:ext cx="3000960" cy="466920"/>
          </a:xfrm>
          <a:custGeom>
            <a:avLst/>
            <a:gdLst/>
            <a:ahLst/>
            <a:rect l="0" t="0" r="r" b="b"/>
            <a:pathLst>
              <a:path w="8336" h="1297">
                <a:moveTo>
                  <a:pt x="0" y="0"/>
                </a:moveTo>
                <a:lnTo>
                  <a:pt x="8336" y="0"/>
                </a:lnTo>
                <a:lnTo>
                  <a:pt x="8336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6" name=""/>
          <p:cNvSpPr/>
          <p:nvPr/>
        </p:nvSpPr>
        <p:spPr>
          <a:xfrm>
            <a:off x="599760" y="454320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7" name=""/>
          <p:cNvSpPr/>
          <p:nvPr/>
        </p:nvSpPr>
        <p:spPr>
          <a:xfrm>
            <a:off x="3095280" y="454320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8" name=""/>
          <p:cNvSpPr/>
          <p:nvPr/>
        </p:nvSpPr>
        <p:spPr>
          <a:xfrm>
            <a:off x="8600760" y="454320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9" name=""/>
          <p:cNvSpPr/>
          <p:nvPr/>
        </p:nvSpPr>
        <p:spPr>
          <a:xfrm>
            <a:off x="59040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0" name=""/>
          <p:cNvSpPr/>
          <p:nvPr/>
        </p:nvSpPr>
        <p:spPr>
          <a:xfrm>
            <a:off x="590400" y="266688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1" name=""/>
          <p:cNvSpPr/>
          <p:nvPr/>
        </p:nvSpPr>
        <p:spPr>
          <a:xfrm>
            <a:off x="309528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2" name=""/>
          <p:cNvSpPr/>
          <p:nvPr/>
        </p:nvSpPr>
        <p:spPr>
          <a:xfrm>
            <a:off x="3105000" y="266688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3" name=""/>
          <p:cNvSpPr/>
          <p:nvPr/>
        </p:nvSpPr>
        <p:spPr>
          <a:xfrm>
            <a:off x="860076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4" name=""/>
          <p:cNvSpPr/>
          <p:nvPr/>
        </p:nvSpPr>
        <p:spPr>
          <a:xfrm>
            <a:off x="8610480" y="2666880"/>
            <a:ext cx="2991240" cy="9720"/>
          </a:xfrm>
          <a:custGeom>
            <a:avLst/>
            <a:gdLst/>
            <a:ahLst/>
            <a:rect l="0" t="0" r="r" b="b"/>
            <a:pathLst>
              <a:path w="8309" h="27">
                <a:moveTo>
                  <a:pt x="0" y="0"/>
                </a:moveTo>
                <a:lnTo>
                  <a:pt x="8309" y="0"/>
                </a:lnTo>
                <a:lnTo>
                  <a:pt x="83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5" name=""/>
          <p:cNvSpPr/>
          <p:nvPr/>
        </p:nvSpPr>
        <p:spPr>
          <a:xfrm>
            <a:off x="115916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6" name=""/>
          <p:cNvSpPr/>
          <p:nvPr/>
        </p:nvSpPr>
        <p:spPr>
          <a:xfrm>
            <a:off x="590400" y="313344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7" name=""/>
          <p:cNvSpPr/>
          <p:nvPr/>
        </p:nvSpPr>
        <p:spPr>
          <a:xfrm>
            <a:off x="3105000" y="313344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8" name=""/>
          <p:cNvSpPr/>
          <p:nvPr/>
        </p:nvSpPr>
        <p:spPr>
          <a:xfrm>
            <a:off x="8610480" y="3133440"/>
            <a:ext cx="2991240" cy="10080"/>
          </a:xfrm>
          <a:custGeom>
            <a:avLst/>
            <a:gdLst/>
            <a:ahLst/>
            <a:rect l="0" t="0" r="r" b="b"/>
            <a:pathLst>
              <a:path w="8309" h="28">
                <a:moveTo>
                  <a:pt x="0" y="0"/>
                </a:moveTo>
                <a:lnTo>
                  <a:pt x="8309" y="0"/>
                </a:lnTo>
                <a:lnTo>
                  <a:pt x="83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9" name=""/>
          <p:cNvSpPr/>
          <p:nvPr/>
        </p:nvSpPr>
        <p:spPr>
          <a:xfrm>
            <a:off x="59040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0" name=""/>
          <p:cNvSpPr/>
          <p:nvPr/>
        </p:nvSpPr>
        <p:spPr>
          <a:xfrm>
            <a:off x="309528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1" name=""/>
          <p:cNvSpPr/>
          <p:nvPr/>
        </p:nvSpPr>
        <p:spPr>
          <a:xfrm>
            <a:off x="860076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2" name=""/>
          <p:cNvSpPr/>
          <p:nvPr/>
        </p:nvSpPr>
        <p:spPr>
          <a:xfrm>
            <a:off x="1159164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3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4" name=""/>
          <p:cNvSpPr/>
          <p:nvPr/>
        </p:nvSpPr>
        <p:spPr>
          <a:xfrm>
            <a:off x="590400" y="360036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5" name=""/>
          <p:cNvSpPr/>
          <p:nvPr/>
        </p:nvSpPr>
        <p:spPr>
          <a:xfrm>
            <a:off x="309528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6" name=""/>
          <p:cNvSpPr/>
          <p:nvPr/>
        </p:nvSpPr>
        <p:spPr>
          <a:xfrm>
            <a:off x="3105000" y="360036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7" name=""/>
          <p:cNvSpPr/>
          <p:nvPr/>
        </p:nvSpPr>
        <p:spPr>
          <a:xfrm>
            <a:off x="860076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8" name=""/>
          <p:cNvSpPr/>
          <p:nvPr/>
        </p:nvSpPr>
        <p:spPr>
          <a:xfrm>
            <a:off x="8610480" y="3600360"/>
            <a:ext cx="2991240" cy="9720"/>
          </a:xfrm>
          <a:custGeom>
            <a:avLst/>
            <a:gdLst/>
            <a:ahLst/>
            <a:rect l="0" t="0" r="r" b="b"/>
            <a:pathLst>
              <a:path w="8309" h="27">
                <a:moveTo>
                  <a:pt x="0" y="0"/>
                </a:moveTo>
                <a:lnTo>
                  <a:pt x="8309" y="0"/>
                </a:lnTo>
                <a:lnTo>
                  <a:pt x="83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9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0" name=""/>
          <p:cNvSpPr/>
          <p:nvPr/>
        </p:nvSpPr>
        <p:spPr>
          <a:xfrm>
            <a:off x="59040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1" name=""/>
          <p:cNvSpPr/>
          <p:nvPr/>
        </p:nvSpPr>
        <p:spPr>
          <a:xfrm>
            <a:off x="590400" y="406692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2" name=""/>
          <p:cNvSpPr/>
          <p:nvPr/>
        </p:nvSpPr>
        <p:spPr>
          <a:xfrm>
            <a:off x="309528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3" name=""/>
          <p:cNvSpPr/>
          <p:nvPr/>
        </p:nvSpPr>
        <p:spPr>
          <a:xfrm>
            <a:off x="3105000" y="406692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4" name=""/>
          <p:cNvSpPr/>
          <p:nvPr/>
        </p:nvSpPr>
        <p:spPr>
          <a:xfrm>
            <a:off x="860076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5" name=""/>
          <p:cNvSpPr/>
          <p:nvPr/>
        </p:nvSpPr>
        <p:spPr>
          <a:xfrm>
            <a:off x="8610480" y="4066920"/>
            <a:ext cx="2991240" cy="10080"/>
          </a:xfrm>
          <a:custGeom>
            <a:avLst/>
            <a:gdLst/>
            <a:ahLst/>
            <a:rect l="0" t="0" r="r" b="b"/>
            <a:pathLst>
              <a:path w="8309" h="28">
                <a:moveTo>
                  <a:pt x="0" y="0"/>
                </a:moveTo>
                <a:lnTo>
                  <a:pt x="8309" y="0"/>
                </a:lnTo>
                <a:lnTo>
                  <a:pt x="83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6" name=""/>
          <p:cNvSpPr/>
          <p:nvPr/>
        </p:nvSpPr>
        <p:spPr>
          <a:xfrm>
            <a:off x="1159164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7" name=""/>
          <p:cNvSpPr/>
          <p:nvPr/>
        </p:nvSpPr>
        <p:spPr>
          <a:xfrm>
            <a:off x="590400" y="45432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8" name=""/>
          <p:cNvSpPr/>
          <p:nvPr/>
        </p:nvSpPr>
        <p:spPr>
          <a:xfrm>
            <a:off x="590400" y="453384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9" name=""/>
          <p:cNvSpPr/>
          <p:nvPr/>
        </p:nvSpPr>
        <p:spPr>
          <a:xfrm>
            <a:off x="309528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0" name=""/>
          <p:cNvSpPr/>
          <p:nvPr/>
        </p:nvSpPr>
        <p:spPr>
          <a:xfrm>
            <a:off x="3105000" y="453384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1" name=""/>
          <p:cNvSpPr/>
          <p:nvPr/>
        </p:nvSpPr>
        <p:spPr>
          <a:xfrm>
            <a:off x="860076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2" name=""/>
          <p:cNvSpPr/>
          <p:nvPr/>
        </p:nvSpPr>
        <p:spPr>
          <a:xfrm>
            <a:off x="8610480" y="4533840"/>
            <a:ext cx="2991240" cy="9720"/>
          </a:xfrm>
          <a:custGeom>
            <a:avLst/>
            <a:gdLst/>
            <a:ahLst/>
            <a:rect l="0" t="0" r="r" b="b"/>
            <a:pathLst>
              <a:path w="8309" h="27">
                <a:moveTo>
                  <a:pt x="0" y="0"/>
                </a:moveTo>
                <a:lnTo>
                  <a:pt x="8309" y="0"/>
                </a:lnTo>
                <a:lnTo>
                  <a:pt x="83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3" name=""/>
          <p:cNvSpPr/>
          <p:nvPr/>
        </p:nvSpPr>
        <p:spPr>
          <a:xfrm>
            <a:off x="1159164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4" name=""/>
          <p:cNvSpPr/>
          <p:nvPr/>
        </p:nvSpPr>
        <p:spPr>
          <a:xfrm>
            <a:off x="590400" y="500040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5" name=""/>
          <p:cNvSpPr/>
          <p:nvPr/>
        </p:nvSpPr>
        <p:spPr>
          <a:xfrm>
            <a:off x="3105000" y="500040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6" name=""/>
          <p:cNvSpPr/>
          <p:nvPr/>
        </p:nvSpPr>
        <p:spPr>
          <a:xfrm>
            <a:off x="8610480" y="5000400"/>
            <a:ext cx="2991240" cy="10080"/>
          </a:xfrm>
          <a:custGeom>
            <a:avLst/>
            <a:gdLst/>
            <a:ahLst/>
            <a:rect l="0" t="0" r="r" b="b"/>
            <a:pathLst>
              <a:path w="8309" h="28">
                <a:moveTo>
                  <a:pt x="0" y="0"/>
                </a:moveTo>
                <a:lnTo>
                  <a:pt x="8309" y="0"/>
                </a:lnTo>
                <a:lnTo>
                  <a:pt x="83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90400" y="1329480"/>
            <a:ext cx="611064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操作の組み合わせは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12,720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90400" y="2154960"/>
            <a:ext cx="65171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同じ操作を繰り返さず、順序を区別して数える。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23960" y="2789640"/>
            <a:ext cx="10523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3226320" y="278964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数え方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10325160" y="278964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意味の種類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723960" y="325656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226320" y="3256560"/>
            <a:ext cx="3473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1166840" y="3256560"/>
            <a:ext cx="3473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23960" y="372312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3226320" y="3723120"/>
            <a:ext cx="104038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 × 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1017440" y="3723120"/>
            <a:ext cx="51915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552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23960" y="418968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226320" y="4189680"/>
            <a:ext cx="173341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 × 23 × 22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0660320" y="4189680"/>
            <a:ext cx="92943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12,144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23960" y="46566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合計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226320" y="4656600"/>
            <a:ext cx="266947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 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＋ 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552 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＋ 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12,144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0620000" y="4656600"/>
            <a:ext cx="9757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12,720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90400" y="5259960"/>
            <a:ext cx="65171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同じ操作の繰り返しは、別のテストで確かめる。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9" name=""/>
          <p:cNvSpPr/>
          <p:nvPr/>
        </p:nvSpPr>
        <p:spPr>
          <a:xfrm>
            <a:off x="599760" y="2342880"/>
            <a:ext cx="3905640" cy="467280"/>
          </a:xfrm>
          <a:custGeom>
            <a:avLst/>
            <a:gdLst/>
            <a:ahLst/>
            <a:rect l="0" t="0" r="r" b="b"/>
            <a:pathLst>
              <a:path w="10849" h="1298">
                <a:moveTo>
                  <a:pt x="0" y="0"/>
                </a:moveTo>
                <a:lnTo>
                  <a:pt x="10849" y="0"/>
                </a:lnTo>
                <a:lnTo>
                  <a:pt x="1084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0" name=""/>
          <p:cNvSpPr/>
          <p:nvPr/>
        </p:nvSpPr>
        <p:spPr>
          <a:xfrm>
            <a:off x="4505040" y="2342880"/>
            <a:ext cx="7096680" cy="467280"/>
          </a:xfrm>
          <a:custGeom>
            <a:avLst/>
            <a:gdLst/>
            <a:ahLst/>
            <a:rect l="0" t="0" r="r" b="b"/>
            <a:pathLst>
              <a:path w="19713" h="1298">
                <a:moveTo>
                  <a:pt x="0" y="0"/>
                </a:moveTo>
                <a:lnTo>
                  <a:pt x="19713" y="0"/>
                </a:lnTo>
                <a:lnTo>
                  <a:pt x="1971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1" name=""/>
          <p:cNvSpPr/>
          <p:nvPr/>
        </p:nvSpPr>
        <p:spPr>
          <a:xfrm>
            <a:off x="599760" y="2342880"/>
            <a:ext cx="3905640" cy="467280"/>
          </a:xfrm>
          <a:custGeom>
            <a:avLst/>
            <a:gdLst/>
            <a:ahLst/>
            <a:rect l="0" t="0" r="r" b="b"/>
            <a:pathLst>
              <a:path w="10849" h="1298">
                <a:moveTo>
                  <a:pt x="0" y="0"/>
                </a:moveTo>
                <a:lnTo>
                  <a:pt x="10849" y="0"/>
                </a:lnTo>
                <a:lnTo>
                  <a:pt x="1084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2" name=""/>
          <p:cNvSpPr/>
          <p:nvPr/>
        </p:nvSpPr>
        <p:spPr>
          <a:xfrm>
            <a:off x="4505040" y="2342880"/>
            <a:ext cx="7096680" cy="467280"/>
          </a:xfrm>
          <a:custGeom>
            <a:avLst/>
            <a:gdLst/>
            <a:ahLst/>
            <a:rect l="0" t="0" r="r" b="b"/>
            <a:pathLst>
              <a:path w="19713" h="1298">
                <a:moveTo>
                  <a:pt x="0" y="0"/>
                </a:moveTo>
                <a:lnTo>
                  <a:pt x="19713" y="0"/>
                </a:lnTo>
                <a:lnTo>
                  <a:pt x="1971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3" name=""/>
          <p:cNvSpPr/>
          <p:nvPr/>
        </p:nvSpPr>
        <p:spPr>
          <a:xfrm>
            <a:off x="599760" y="2809800"/>
            <a:ext cx="3905640" cy="466920"/>
          </a:xfrm>
          <a:custGeom>
            <a:avLst/>
            <a:gdLst/>
            <a:ahLst/>
            <a:rect l="0" t="0" r="r" b="b"/>
            <a:pathLst>
              <a:path w="10849" h="1297">
                <a:moveTo>
                  <a:pt x="0" y="0"/>
                </a:moveTo>
                <a:lnTo>
                  <a:pt x="10849" y="0"/>
                </a:lnTo>
                <a:lnTo>
                  <a:pt x="1084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4" name=""/>
          <p:cNvSpPr/>
          <p:nvPr/>
        </p:nvSpPr>
        <p:spPr>
          <a:xfrm>
            <a:off x="4505040" y="2809800"/>
            <a:ext cx="7096680" cy="466920"/>
          </a:xfrm>
          <a:custGeom>
            <a:avLst/>
            <a:gdLst/>
            <a:ahLst/>
            <a:rect l="0" t="0" r="r" b="b"/>
            <a:pathLst>
              <a:path w="19713" h="1297">
                <a:moveTo>
                  <a:pt x="0" y="0"/>
                </a:moveTo>
                <a:lnTo>
                  <a:pt x="19713" y="0"/>
                </a:lnTo>
                <a:lnTo>
                  <a:pt x="1971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5" name=""/>
          <p:cNvSpPr/>
          <p:nvPr/>
        </p:nvSpPr>
        <p:spPr>
          <a:xfrm>
            <a:off x="599760" y="3276360"/>
            <a:ext cx="3905640" cy="467280"/>
          </a:xfrm>
          <a:custGeom>
            <a:avLst/>
            <a:gdLst/>
            <a:ahLst/>
            <a:rect l="0" t="0" r="r" b="b"/>
            <a:pathLst>
              <a:path w="10849" h="1298">
                <a:moveTo>
                  <a:pt x="0" y="0"/>
                </a:moveTo>
                <a:lnTo>
                  <a:pt x="10849" y="0"/>
                </a:lnTo>
                <a:lnTo>
                  <a:pt x="1084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6" name=""/>
          <p:cNvSpPr/>
          <p:nvPr/>
        </p:nvSpPr>
        <p:spPr>
          <a:xfrm>
            <a:off x="4505040" y="3276360"/>
            <a:ext cx="7096680" cy="467280"/>
          </a:xfrm>
          <a:custGeom>
            <a:avLst/>
            <a:gdLst/>
            <a:ahLst/>
            <a:rect l="0" t="0" r="r" b="b"/>
            <a:pathLst>
              <a:path w="19713" h="1298">
                <a:moveTo>
                  <a:pt x="0" y="0"/>
                </a:moveTo>
                <a:lnTo>
                  <a:pt x="19713" y="0"/>
                </a:lnTo>
                <a:lnTo>
                  <a:pt x="1971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7" name=""/>
          <p:cNvSpPr/>
          <p:nvPr/>
        </p:nvSpPr>
        <p:spPr>
          <a:xfrm>
            <a:off x="599760" y="3743280"/>
            <a:ext cx="3905640" cy="466920"/>
          </a:xfrm>
          <a:custGeom>
            <a:avLst/>
            <a:gdLst/>
            <a:ahLst/>
            <a:rect l="0" t="0" r="r" b="b"/>
            <a:pathLst>
              <a:path w="10849" h="1297">
                <a:moveTo>
                  <a:pt x="0" y="0"/>
                </a:moveTo>
                <a:lnTo>
                  <a:pt x="10849" y="0"/>
                </a:lnTo>
                <a:lnTo>
                  <a:pt x="1084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8" name=""/>
          <p:cNvSpPr/>
          <p:nvPr/>
        </p:nvSpPr>
        <p:spPr>
          <a:xfrm>
            <a:off x="4505040" y="3743280"/>
            <a:ext cx="7096680" cy="466920"/>
          </a:xfrm>
          <a:custGeom>
            <a:avLst/>
            <a:gdLst/>
            <a:ahLst/>
            <a:rect l="0" t="0" r="r" b="b"/>
            <a:pathLst>
              <a:path w="19713" h="1297">
                <a:moveTo>
                  <a:pt x="0" y="0"/>
                </a:moveTo>
                <a:lnTo>
                  <a:pt x="19713" y="0"/>
                </a:lnTo>
                <a:lnTo>
                  <a:pt x="1971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9" name=""/>
          <p:cNvSpPr/>
          <p:nvPr/>
        </p:nvSpPr>
        <p:spPr>
          <a:xfrm>
            <a:off x="590400" y="23335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0" name=""/>
          <p:cNvSpPr/>
          <p:nvPr/>
        </p:nvSpPr>
        <p:spPr>
          <a:xfrm>
            <a:off x="590400" y="2333520"/>
            <a:ext cx="3915000" cy="9720"/>
          </a:xfrm>
          <a:custGeom>
            <a:avLst/>
            <a:gdLst/>
            <a:ahLst/>
            <a:rect l="0" t="0" r="r" b="b"/>
            <a:pathLst>
              <a:path w="10875" h="27">
                <a:moveTo>
                  <a:pt x="0" y="0"/>
                </a:moveTo>
                <a:lnTo>
                  <a:pt x="10875" y="0"/>
                </a:lnTo>
                <a:lnTo>
                  <a:pt x="108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1" name=""/>
          <p:cNvSpPr/>
          <p:nvPr/>
        </p:nvSpPr>
        <p:spPr>
          <a:xfrm>
            <a:off x="4495680" y="23335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2" name=""/>
          <p:cNvSpPr/>
          <p:nvPr/>
        </p:nvSpPr>
        <p:spPr>
          <a:xfrm>
            <a:off x="4505040" y="2333520"/>
            <a:ext cx="7096680" cy="9720"/>
          </a:xfrm>
          <a:custGeom>
            <a:avLst/>
            <a:gdLst/>
            <a:ahLst/>
            <a:rect l="0" t="0" r="r" b="b"/>
            <a:pathLst>
              <a:path w="19713" h="27">
                <a:moveTo>
                  <a:pt x="0" y="0"/>
                </a:moveTo>
                <a:lnTo>
                  <a:pt x="19713" y="0"/>
                </a:lnTo>
                <a:lnTo>
                  <a:pt x="197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3" name=""/>
          <p:cNvSpPr/>
          <p:nvPr/>
        </p:nvSpPr>
        <p:spPr>
          <a:xfrm>
            <a:off x="11591640" y="2333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4" name=""/>
          <p:cNvSpPr/>
          <p:nvPr/>
        </p:nvSpPr>
        <p:spPr>
          <a:xfrm>
            <a:off x="590400" y="2800080"/>
            <a:ext cx="3915000" cy="10080"/>
          </a:xfrm>
          <a:custGeom>
            <a:avLst/>
            <a:gdLst/>
            <a:ahLst/>
            <a:rect l="0" t="0" r="r" b="b"/>
            <a:pathLst>
              <a:path w="10875" h="28">
                <a:moveTo>
                  <a:pt x="0" y="0"/>
                </a:moveTo>
                <a:lnTo>
                  <a:pt x="10875" y="0"/>
                </a:lnTo>
                <a:lnTo>
                  <a:pt x="108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5" name=""/>
          <p:cNvSpPr/>
          <p:nvPr/>
        </p:nvSpPr>
        <p:spPr>
          <a:xfrm>
            <a:off x="4505040" y="2800080"/>
            <a:ext cx="7096680" cy="10080"/>
          </a:xfrm>
          <a:custGeom>
            <a:avLst/>
            <a:gdLst/>
            <a:ahLst/>
            <a:rect l="0" t="0" r="r" b="b"/>
            <a:pathLst>
              <a:path w="19713" h="28">
                <a:moveTo>
                  <a:pt x="0" y="0"/>
                </a:moveTo>
                <a:lnTo>
                  <a:pt x="19713" y="0"/>
                </a:lnTo>
                <a:lnTo>
                  <a:pt x="197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6" name=""/>
          <p:cNvSpPr/>
          <p:nvPr/>
        </p:nvSpPr>
        <p:spPr>
          <a:xfrm>
            <a:off x="590400" y="2809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7" name=""/>
          <p:cNvSpPr/>
          <p:nvPr/>
        </p:nvSpPr>
        <p:spPr>
          <a:xfrm>
            <a:off x="4495680" y="2809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8" name=""/>
          <p:cNvSpPr/>
          <p:nvPr/>
        </p:nvSpPr>
        <p:spPr>
          <a:xfrm>
            <a:off x="11591640" y="280980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9" name=""/>
          <p:cNvSpPr/>
          <p:nvPr/>
        </p:nvSpPr>
        <p:spPr>
          <a:xfrm>
            <a:off x="590400" y="3276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0" name=""/>
          <p:cNvSpPr/>
          <p:nvPr/>
        </p:nvSpPr>
        <p:spPr>
          <a:xfrm>
            <a:off x="590400" y="3267000"/>
            <a:ext cx="3915000" cy="9720"/>
          </a:xfrm>
          <a:custGeom>
            <a:avLst/>
            <a:gdLst/>
            <a:ahLst/>
            <a:rect l="0" t="0" r="r" b="b"/>
            <a:pathLst>
              <a:path w="10875" h="27">
                <a:moveTo>
                  <a:pt x="0" y="0"/>
                </a:moveTo>
                <a:lnTo>
                  <a:pt x="10875" y="0"/>
                </a:lnTo>
                <a:lnTo>
                  <a:pt x="108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1" name=""/>
          <p:cNvSpPr/>
          <p:nvPr/>
        </p:nvSpPr>
        <p:spPr>
          <a:xfrm>
            <a:off x="4495680" y="3276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2" name=""/>
          <p:cNvSpPr/>
          <p:nvPr/>
        </p:nvSpPr>
        <p:spPr>
          <a:xfrm>
            <a:off x="4505040" y="3267000"/>
            <a:ext cx="7096680" cy="9720"/>
          </a:xfrm>
          <a:custGeom>
            <a:avLst/>
            <a:gdLst/>
            <a:ahLst/>
            <a:rect l="0" t="0" r="r" b="b"/>
            <a:pathLst>
              <a:path w="19713" h="27">
                <a:moveTo>
                  <a:pt x="0" y="0"/>
                </a:moveTo>
                <a:lnTo>
                  <a:pt x="19713" y="0"/>
                </a:lnTo>
                <a:lnTo>
                  <a:pt x="197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3" name=""/>
          <p:cNvSpPr/>
          <p:nvPr/>
        </p:nvSpPr>
        <p:spPr>
          <a:xfrm>
            <a:off x="11591640" y="32763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4" name=""/>
          <p:cNvSpPr/>
          <p:nvPr/>
        </p:nvSpPr>
        <p:spPr>
          <a:xfrm>
            <a:off x="590400" y="37432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5" name=""/>
          <p:cNvSpPr/>
          <p:nvPr/>
        </p:nvSpPr>
        <p:spPr>
          <a:xfrm>
            <a:off x="590400" y="3733560"/>
            <a:ext cx="3915000" cy="10080"/>
          </a:xfrm>
          <a:custGeom>
            <a:avLst/>
            <a:gdLst/>
            <a:ahLst/>
            <a:rect l="0" t="0" r="r" b="b"/>
            <a:pathLst>
              <a:path w="10875" h="28">
                <a:moveTo>
                  <a:pt x="0" y="0"/>
                </a:moveTo>
                <a:lnTo>
                  <a:pt x="10875" y="0"/>
                </a:lnTo>
                <a:lnTo>
                  <a:pt x="108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6" name=""/>
          <p:cNvSpPr/>
          <p:nvPr/>
        </p:nvSpPr>
        <p:spPr>
          <a:xfrm>
            <a:off x="4495680" y="37432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7" name=""/>
          <p:cNvSpPr/>
          <p:nvPr/>
        </p:nvSpPr>
        <p:spPr>
          <a:xfrm>
            <a:off x="4505040" y="3733560"/>
            <a:ext cx="7096680" cy="10080"/>
          </a:xfrm>
          <a:custGeom>
            <a:avLst/>
            <a:gdLst/>
            <a:ahLst/>
            <a:rect l="0" t="0" r="r" b="b"/>
            <a:pathLst>
              <a:path w="19713" h="28">
                <a:moveTo>
                  <a:pt x="0" y="0"/>
                </a:moveTo>
                <a:lnTo>
                  <a:pt x="19713" y="0"/>
                </a:lnTo>
                <a:lnTo>
                  <a:pt x="197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8" name=""/>
          <p:cNvSpPr/>
          <p:nvPr/>
        </p:nvSpPr>
        <p:spPr>
          <a:xfrm>
            <a:off x="11591640" y="37432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9" name=""/>
          <p:cNvSpPr/>
          <p:nvPr/>
        </p:nvSpPr>
        <p:spPr>
          <a:xfrm>
            <a:off x="590400" y="4200480"/>
            <a:ext cx="3915000" cy="9720"/>
          </a:xfrm>
          <a:custGeom>
            <a:avLst/>
            <a:gdLst/>
            <a:ahLst/>
            <a:rect l="0" t="0" r="r" b="b"/>
            <a:pathLst>
              <a:path w="10875" h="27">
                <a:moveTo>
                  <a:pt x="0" y="0"/>
                </a:moveTo>
                <a:lnTo>
                  <a:pt x="10875" y="0"/>
                </a:lnTo>
                <a:lnTo>
                  <a:pt x="108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0" name=""/>
          <p:cNvSpPr/>
          <p:nvPr/>
        </p:nvSpPr>
        <p:spPr>
          <a:xfrm>
            <a:off x="4505040" y="4200480"/>
            <a:ext cx="7096680" cy="9720"/>
          </a:xfrm>
          <a:custGeom>
            <a:avLst/>
            <a:gdLst/>
            <a:ahLst/>
            <a:rect l="0" t="0" r="r" b="b"/>
            <a:pathLst>
              <a:path w="19713" h="27">
                <a:moveTo>
                  <a:pt x="0" y="0"/>
                </a:moveTo>
                <a:lnTo>
                  <a:pt x="19713" y="0"/>
                </a:lnTo>
                <a:lnTo>
                  <a:pt x="197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90400" y="157680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一つの意味に、複数の日本語を用意する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723960" y="245628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共通の意味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629960" y="245628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指示の言い回し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723960" y="292320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4629960" y="292320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723960" y="338976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4629960" y="3389760"/>
            <a:ext cx="262972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偶数の要素を取り出す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723960" y="385632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629960" y="385632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偶数の値を抽出する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590400" y="4460040"/>
            <a:ext cx="829407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ルールと補助モデルを使い、意味を確認して教材に採用する。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590400" y="5022000"/>
            <a:ext cx="770164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訓練・検証・テストに意味を分けてから、表現を増やす。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6" name=""/>
          <p:cNvSpPr/>
          <p:nvPr/>
        </p:nvSpPr>
        <p:spPr>
          <a:xfrm>
            <a:off x="595080" y="2643120"/>
            <a:ext cx="11001960" cy="638280"/>
          </a:xfrm>
          <a:custGeom>
            <a:avLst/>
            <a:gdLst/>
            <a:ahLst/>
            <a:rect l="0" t="0" r="r" b="b"/>
            <a:pathLst>
              <a:path w="30561" h="1773">
                <a:moveTo>
                  <a:pt x="0" y="16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2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4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6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7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1628"/>
                </a:lnTo>
                <a:cubicBezTo>
                  <a:pt x="30561" y="1637"/>
                  <a:pt x="30560" y="1647"/>
                  <a:pt x="30558" y="1656"/>
                </a:cubicBezTo>
                <a:cubicBezTo>
                  <a:pt x="30556" y="1666"/>
                  <a:pt x="30553" y="1675"/>
                  <a:pt x="30549" y="1684"/>
                </a:cubicBezTo>
                <a:cubicBezTo>
                  <a:pt x="30546" y="1692"/>
                  <a:pt x="30541" y="1701"/>
                  <a:pt x="30536" y="1709"/>
                </a:cubicBezTo>
                <a:cubicBezTo>
                  <a:pt x="30531" y="1717"/>
                  <a:pt x="30525" y="1724"/>
                  <a:pt x="30518" y="1731"/>
                </a:cubicBezTo>
                <a:cubicBezTo>
                  <a:pt x="30511" y="1738"/>
                  <a:pt x="30504" y="1744"/>
                  <a:pt x="30496" y="1749"/>
                </a:cubicBezTo>
                <a:cubicBezTo>
                  <a:pt x="30488" y="1754"/>
                  <a:pt x="30480" y="1759"/>
                  <a:pt x="30471" y="1762"/>
                </a:cubicBezTo>
                <a:cubicBezTo>
                  <a:pt x="30462" y="1766"/>
                  <a:pt x="30453" y="1769"/>
                  <a:pt x="30443" y="1771"/>
                </a:cubicBezTo>
                <a:cubicBezTo>
                  <a:pt x="30434" y="1772"/>
                  <a:pt x="30425" y="1773"/>
                  <a:pt x="30415" y="1773"/>
                </a:cubicBezTo>
                <a:lnTo>
                  <a:pt x="146" y="1773"/>
                </a:lnTo>
                <a:cubicBezTo>
                  <a:pt x="136" y="1773"/>
                  <a:pt x="127" y="1772"/>
                  <a:pt x="117" y="1771"/>
                </a:cubicBezTo>
                <a:cubicBezTo>
                  <a:pt x="108" y="1769"/>
                  <a:pt x="99" y="1766"/>
                  <a:pt x="90" y="1762"/>
                </a:cubicBezTo>
                <a:cubicBezTo>
                  <a:pt x="81" y="1759"/>
                  <a:pt x="73" y="1754"/>
                  <a:pt x="65" y="1749"/>
                </a:cubicBezTo>
                <a:cubicBezTo>
                  <a:pt x="57" y="1744"/>
                  <a:pt x="50" y="1738"/>
                  <a:pt x="43" y="1731"/>
                </a:cubicBezTo>
                <a:cubicBezTo>
                  <a:pt x="36" y="1724"/>
                  <a:pt x="30" y="1717"/>
                  <a:pt x="25" y="1709"/>
                </a:cubicBezTo>
                <a:cubicBezTo>
                  <a:pt x="19" y="1701"/>
                  <a:pt x="15" y="1692"/>
                  <a:pt x="11" y="1684"/>
                </a:cubicBezTo>
                <a:cubicBezTo>
                  <a:pt x="8" y="1675"/>
                  <a:pt x="5" y="1666"/>
                  <a:pt x="3" y="1656"/>
                </a:cubicBezTo>
                <a:cubicBezTo>
                  <a:pt x="1" y="1647"/>
                  <a:pt x="0" y="1637"/>
                  <a:pt x="0" y="1628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7" name=""/>
          <p:cNvSpPr/>
          <p:nvPr/>
        </p:nvSpPr>
        <p:spPr>
          <a:xfrm>
            <a:off x="595080" y="2643120"/>
            <a:ext cx="11001960" cy="638280"/>
          </a:xfrm>
          <a:custGeom>
            <a:avLst/>
            <a:gdLst/>
            <a:ahLst/>
            <a:rect l="0" t="0" r="r" b="b"/>
            <a:pathLst>
              <a:path w="30561" h="1773">
                <a:moveTo>
                  <a:pt x="0" y="16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2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4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6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7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1628"/>
                </a:lnTo>
                <a:cubicBezTo>
                  <a:pt x="30561" y="1637"/>
                  <a:pt x="30560" y="1647"/>
                  <a:pt x="30558" y="1656"/>
                </a:cubicBezTo>
                <a:cubicBezTo>
                  <a:pt x="30556" y="1666"/>
                  <a:pt x="30553" y="1675"/>
                  <a:pt x="30549" y="1684"/>
                </a:cubicBezTo>
                <a:cubicBezTo>
                  <a:pt x="30546" y="1692"/>
                  <a:pt x="30541" y="1701"/>
                  <a:pt x="30536" y="1709"/>
                </a:cubicBezTo>
                <a:cubicBezTo>
                  <a:pt x="30531" y="1717"/>
                  <a:pt x="30525" y="1724"/>
                  <a:pt x="30518" y="1731"/>
                </a:cubicBezTo>
                <a:cubicBezTo>
                  <a:pt x="30511" y="1738"/>
                  <a:pt x="30504" y="1744"/>
                  <a:pt x="30496" y="1749"/>
                </a:cubicBezTo>
                <a:cubicBezTo>
                  <a:pt x="30488" y="1754"/>
                  <a:pt x="30480" y="1759"/>
                  <a:pt x="30471" y="1762"/>
                </a:cubicBezTo>
                <a:cubicBezTo>
                  <a:pt x="30462" y="1766"/>
                  <a:pt x="30453" y="1769"/>
                  <a:pt x="30443" y="1771"/>
                </a:cubicBezTo>
                <a:cubicBezTo>
                  <a:pt x="30434" y="1772"/>
                  <a:pt x="30425" y="1773"/>
                  <a:pt x="30415" y="1773"/>
                </a:cubicBezTo>
                <a:lnTo>
                  <a:pt x="146" y="1773"/>
                </a:lnTo>
                <a:cubicBezTo>
                  <a:pt x="136" y="1773"/>
                  <a:pt x="127" y="1772"/>
                  <a:pt x="117" y="1771"/>
                </a:cubicBezTo>
                <a:cubicBezTo>
                  <a:pt x="108" y="1769"/>
                  <a:pt x="99" y="1766"/>
                  <a:pt x="90" y="1762"/>
                </a:cubicBezTo>
                <a:cubicBezTo>
                  <a:pt x="81" y="1759"/>
                  <a:pt x="73" y="1754"/>
                  <a:pt x="65" y="1749"/>
                </a:cubicBezTo>
                <a:cubicBezTo>
                  <a:pt x="57" y="1744"/>
                  <a:pt x="50" y="1738"/>
                  <a:pt x="43" y="1731"/>
                </a:cubicBezTo>
                <a:cubicBezTo>
                  <a:pt x="36" y="1724"/>
                  <a:pt x="30" y="1717"/>
                  <a:pt x="25" y="1709"/>
                </a:cubicBezTo>
                <a:cubicBezTo>
                  <a:pt x="19" y="1701"/>
                  <a:pt x="15" y="1692"/>
                  <a:pt x="11" y="1684"/>
                </a:cubicBezTo>
                <a:cubicBezTo>
                  <a:pt x="8" y="1675"/>
                  <a:pt x="5" y="1666"/>
                  <a:pt x="3" y="1656"/>
                </a:cubicBezTo>
                <a:cubicBezTo>
                  <a:pt x="1" y="1647"/>
                  <a:pt x="0" y="1637"/>
                  <a:pt x="0" y="1628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8" name=""/>
          <p:cNvSpPr/>
          <p:nvPr/>
        </p:nvSpPr>
        <p:spPr>
          <a:xfrm>
            <a:off x="595080" y="3443040"/>
            <a:ext cx="11001960" cy="1591200"/>
          </a:xfrm>
          <a:custGeom>
            <a:avLst/>
            <a:gdLst/>
            <a:ahLst/>
            <a:rect l="0" t="0" r="r" b="b"/>
            <a:pathLst>
              <a:path w="30561" h="4420">
                <a:moveTo>
                  <a:pt x="0" y="427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19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4274"/>
                </a:lnTo>
                <a:cubicBezTo>
                  <a:pt x="30561" y="4284"/>
                  <a:pt x="30560" y="4293"/>
                  <a:pt x="30558" y="4303"/>
                </a:cubicBezTo>
                <a:cubicBezTo>
                  <a:pt x="30556" y="4312"/>
                  <a:pt x="30553" y="4321"/>
                  <a:pt x="30549" y="4330"/>
                </a:cubicBezTo>
                <a:cubicBezTo>
                  <a:pt x="30546" y="4339"/>
                  <a:pt x="30541" y="4347"/>
                  <a:pt x="30536" y="4355"/>
                </a:cubicBezTo>
                <a:cubicBezTo>
                  <a:pt x="30531" y="4363"/>
                  <a:pt x="30525" y="4370"/>
                  <a:pt x="30518" y="4377"/>
                </a:cubicBezTo>
                <a:cubicBezTo>
                  <a:pt x="30511" y="4384"/>
                  <a:pt x="30504" y="4390"/>
                  <a:pt x="30496" y="4395"/>
                </a:cubicBezTo>
                <a:cubicBezTo>
                  <a:pt x="30488" y="4401"/>
                  <a:pt x="30480" y="4405"/>
                  <a:pt x="30471" y="4409"/>
                </a:cubicBezTo>
                <a:cubicBezTo>
                  <a:pt x="30462" y="4412"/>
                  <a:pt x="30453" y="4415"/>
                  <a:pt x="30443" y="4417"/>
                </a:cubicBezTo>
                <a:cubicBezTo>
                  <a:pt x="30434" y="4419"/>
                  <a:pt x="30425" y="4420"/>
                  <a:pt x="30415" y="4420"/>
                </a:cubicBezTo>
                <a:lnTo>
                  <a:pt x="146" y="4420"/>
                </a:lnTo>
                <a:cubicBezTo>
                  <a:pt x="136" y="4420"/>
                  <a:pt x="127" y="4419"/>
                  <a:pt x="117" y="4417"/>
                </a:cubicBezTo>
                <a:cubicBezTo>
                  <a:pt x="108" y="4415"/>
                  <a:pt x="99" y="4412"/>
                  <a:pt x="90" y="4409"/>
                </a:cubicBezTo>
                <a:cubicBezTo>
                  <a:pt x="81" y="4405"/>
                  <a:pt x="73" y="4401"/>
                  <a:pt x="65" y="4395"/>
                </a:cubicBezTo>
                <a:cubicBezTo>
                  <a:pt x="57" y="4390"/>
                  <a:pt x="50" y="4384"/>
                  <a:pt x="43" y="4377"/>
                </a:cubicBezTo>
                <a:cubicBezTo>
                  <a:pt x="36" y="4370"/>
                  <a:pt x="30" y="4363"/>
                  <a:pt x="25" y="4355"/>
                </a:cubicBezTo>
                <a:cubicBezTo>
                  <a:pt x="19" y="4347"/>
                  <a:pt x="15" y="4339"/>
                  <a:pt x="11" y="4330"/>
                </a:cubicBezTo>
                <a:cubicBezTo>
                  <a:pt x="8" y="4321"/>
                  <a:pt x="5" y="4312"/>
                  <a:pt x="3" y="4303"/>
                </a:cubicBezTo>
                <a:cubicBezTo>
                  <a:pt x="1" y="4293"/>
                  <a:pt x="0" y="4284"/>
                  <a:pt x="0" y="4274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9" name=""/>
          <p:cNvSpPr/>
          <p:nvPr/>
        </p:nvSpPr>
        <p:spPr>
          <a:xfrm>
            <a:off x="595080" y="3443040"/>
            <a:ext cx="11001960" cy="1591200"/>
          </a:xfrm>
          <a:custGeom>
            <a:avLst/>
            <a:gdLst/>
            <a:ahLst/>
            <a:rect l="0" t="0" r="r" b="b"/>
            <a:pathLst>
              <a:path w="30561" h="4420">
                <a:moveTo>
                  <a:pt x="0" y="427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19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4274"/>
                </a:lnTo>
                <a:cubicBezTo>
                  <a:pt x="30561" y="4284"/>
                  <a:pt x="30560" y="4293"/>
                  <a:pt x="30558" y="4303"/>
                </a:cubicBezTo>
                <a:cubicBezTo>
                  <a:pt x="30556" y="4312"/>
                  <a:pt x="30553" y="4321"/>
                  <a:pt x="30549" y="4330"/>
                </a:cubicBezTo>
                <a:cubicBezTo>
                  <a:pt x="30546" y="4339"/>
                  <a:pt x="30541" y="4347"/>
                  <a:pt x="30536" y="4355"/>
                </a:cubicBezTo>
                <a:cubicBezTo>
                  <a:pt x="30531" y="4363"/>
                  <a:pt x="30525" y="4370"/>
                  <a:pt x="30518" y="4377"/>
                </a:cubicBezTo>
                <a:cubicBezTo>
                  <a:pt x="30511" y="4384"/>
                  <a:pt x="30504" y="4390"/>
                  <a:pt x="30496" y="4395"/>
                </a:cubicBezTo>
                <a:cubicBezTo>
                  <a:pt x="30488" y="4401"/>
                  <a:pt x="30480" y="4405"/>
                  <a:pt x="30471" y="4409"/>
                </a:cubicBezTo>
                <a:cubicBezTo>
                  <a:pt x="30462" y="4412"/>
                  <a:pt x="30453" y="4415"/>
                  <a:pt x="30443" y="4417"/>
                </a:cubicBezTo>
                <a:cubicBezTo>
                  <a:pt x="30434" y="4419"/>
                  <a:pt x="30425" y="4420"/>
                  <a:pt x="30415" y="4420"/>
                </a:cubicBezTo>
                <a:lnTo>
                  <a:pt x="146" y="4420"/>
                </a:lnTo>
                <a:cubicBezTo>
                  <a:pt x="136" y="4420"/>
                  <a:pt x="127" y="4419"/>
                  <a:pt x="117" y="4417"/>
                </a:cubicBezTo>
                <a:cubicBezTo>
                  <a:pt x="108" y="4415"/>
                  <a:pt x="99" y="4412"/>
                  <a:pt x="90" y="4409"/>
                </a:cubicBezTo>
                <a:cubicBezTo>
                  <a:pt x="81" y="4405"/>
                  <a:pt x="73" y="4401"/>
                  <a:pt x="65" y="4395"/>
                </a:cubicBezTo>
                <a:cubicBezTo>
                  <a:pt x="57" y="4390"/>
                  <a:pt x="50" y="4384"/>
                  <a:pt x="43" y="4377"/>
                </a:cubicBezTo>
                <a:cubicBezTo>
                  <a:pt x="36" y="4370"/>
                  <a:pt x="30" y="4363"/>
                  <a:pt x="25" y="4355"/>
                </a:cubicBezTo>
                <a:cubicBezTo>
                  <a:pt x="19" y="4347"/>
                  <a:pt x="15" y="4339"/>
                  <a:pt x="11" y="4330"/>
                </a:cubicBezTo>
                <a:cubicBezTo>
                  <a:pt x="8" y="4321"/>
                  <a:pt x="5" y="4312"/>
                  <a:pt x="3" y="4303"/>
                </a:cubicBezTo>
                <a:cubicBezTo>
                  <a:pt x="1" y="4293"/>
                  <a:pt x="0" y="4284"/>
                  <a:pt x="0" y="4274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590400" y="1319760"/>
            <a:ext cx="623152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コードの書き方にも変化を付ける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590400" y="2145240"/>
            <a:ext cx="592475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どちらも「偶数だけを残す」正しい書き方。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809640" y="2825640"/>
            <a:ext cx="577447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result = [x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xs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%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2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==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809640" y="3625920"/>
            <a:ext cx="1672146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result = []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809640" y="3940200"/>
            <a:ext cx="182408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xs: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809640" y="4263840"/>
            <a:ext cx="27357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%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2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==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809640" y="4578120"/>
            <a:ext cx="36473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result.append(x)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90400" y="5269680"/>
            <a:ext cx="710920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文字列が同じかではなく、動作が同じかを重視する。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2" name=""/>
          <p:cNvSpPr/>
          <p:nvPr/>
        </p:nvSpPr>
        <p:spPr>
          <a:xfrm>
            <a:off x="599760" y="267624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3" name=""/>
          <p:cNvSpPr/>
          <p:nvPr/>
        </p:nvSpPr>
        <p:spPr>
          <a:xfrm>
            <a:off x="5010120" y="267624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4" name=""/>
          <p:cNvSpPr/>
          <p:nvPr/>
        </p:nvSpPr>
        <p:spPr>
          <a:xfrm>
            <a:off x="599760" y="267624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5" name=""/>
          <p:cNvSpPr/>
          <p:nvPr/>
        </p:nvSpPr>
        <p:spPr>
          <a:xfrm>
            <a:off x="5010120" y="267624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6" name=""/>
          <p:cNvSpPr/>
          <p:nvPr/>
        </p:nvSpPr>
        <p:spPr>
          <a:xfrm>
            <a:off x="599760" y="3143160"/>
            <a:ext cx="4410720" cy="466920"/>
          </a:xfrm>
          <a:custGeom>
            <a:avLst/>
            <a:gdLst/>
            <a:ahLst/>
            <a:rect l="0" t="0" r="r" b="b"/>
            <a:pathLst>
              <a:path w="12252" h="1297">
                <a:moveTo>
                  <a:pt x="0" y="0"/>
                </a:moveTo>
                <a:lnTo>
                  <a:pt x="12252" y="0"/>
                </a:lnTo>
                <a:lnTo>
                  <a:pt x="1225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7" name=""/>
          <p:cNvSpPr/>
          <p:nvPr/>
        </p:nvSpPr>
        <p:spPr>
          <a:xfrm>
            <a:off x="5010120" y="3143160"/>
            <a:ext cx="6591600" cy="466920"/>
          </a:xfrm>
          <a:custGeom>
            <a:avLst/>
            <a:gdLst/>
            <a:ahLst/>
            <a:rect l="0" t="0" r="r" b="b"/>
            <a:pathLst>
              <a:path w="18310" h="1297">
                <a:moveTo>
                  <a:pt x="0" y="0"/>
                </a:moveTo>
                <a:lnTo>
                  <a:pt x="18310" y="0"/>
                </a:lnTo>
                <a:lnTo>
                  <a:pt x="1831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8" name=""/>
          <p:cNvSpPr/>
          <p:nvPr/>
        </p:nvSpPr>
        <p:spPr>
          <a:xfrm>
            <a:off x="599760" y="360972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9" name=""/>
          <p:cNvSpPr/>
          <p:nvPr/>
        </p:nvSpPr>
        <p:spPr>
          <a:xfrm>
            <a:off x="5010120" y="360972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0" name=""/>
          <p:cNvSpPr/>
          <p:nvPr/>
        </p:nvSpPr>
        <p:spPr>
          <a:xfrm>
            <a:off x="599760" y="4076640"/>
            <a:ext cx="4410720" cy="466920"/>
          </a:xfrm>
          <a:custGeom>
            <a:avLst/>
            <a:gdLst/>
            <a:ahLst/>
            <a:rect l="0" t="0" r="r" b="b"/>
            <a:pathLst>
              <a:path w="12252" h="1297">
                <a:moveTo>
                  <a:pt x="0" y="0"/>
                </a:moveTo>
                <a:lnTo>
                  <a:pt x="12252" y="0"/>
                </a:lnTo>
                <a:lnTo>
                  <a:pt x="1225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1" name=""/>
          <p:cNvSpPr/>
          <p:nvPr/>
        </p:nvSpPr>
        <p:spPr>
          <a:xfrm>
            <a:off x="5010120" y="4076640"/>
            <a:ext cx="6591600" cy="466920"/>
          </a:xfrm>
          <a:custGeom>
            <a:avLst/>
            <a:gdLst/>
            <a:ahLst/>
            <a:rect l="0" t="0" r="r" b="b"/>
            <a:pathLst>
              <a:path w="18310" h="1297">
                <a:moveTo>
                  <a:pt x="0" y="0"/>
                </a:moveTo>
                <a:lnTo>
                  <a:pt x="18310" y="0"/>
                </a:lnTo>
                <a:lnTo>
                  <a:pt x="1831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2" name=""/>
          <p:cNvSpPr/>
          <p:nvPr/>
        </p:nvSpPr>
        <p:spPr>
          <a:xfrm>
            <a:off x="599760" y="454320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3" name=""/>
          <p:cNvSpPr/>
          <p:nvPr/>
        </p:nvSpPr>
        <p:spPr>
          <a:xfrm>
            <a:off x="5010120" y="454320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4" name=""/>
          <p:cNvSpPr/>
          <p:nvPr/>
        </p:nvSpPr>
        <p:spPr>
          <a:xfrm>
            <a:off x="59040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5" name=""/>
          <p:cNvSpPr/>
          <p:nvPr/>
        </p:nvSpPr>
        <p:spPr>
          <a:xfrm>
            <a:off x="590400" y="266688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6" name=""/>
          <p:cNvSpPr/>
          <p:nvPr/>
        </p:nvSpPr>
        <p:spPr>
          <a:xfrm>
            <a:off x="501012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7" name=""/>
          <p:cNvSpPr/>
          <p:nvPr/>
        </p:nvSpPr>
        <p:spPr>
          <a:xfrm>
            <a:off x="5019480" y="2666880"/>
            <a:ext cx="6582240" cy="9720"/>
          </a:xfrm>
          <a:custGeom>
            <a:avLst/>
            <a:gdLst/>
            <a:ahLst/>
            <a:rect l="0" t="0" r="r" b="b"/>
            <a:pathLst>
              <a:path w="18284" h="27">
                <a:moveTo>
                  <a:pt x="0" y="0"/>
                </a:moveTo>
                <a:lnTo>
                  <a:pt x="18284" y="0"/>
                </a:lnTo>
                <a:lnTo>
                  <a:pt x="182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8" name=""/>
          <p:cNvSpPr/>
          <p:nvPr/>
        </p:nvSpPr>
        <p:spPr>
          <a:xfrm>
            <a:off x="115916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9" name=""/>
          <p:cNvSpPr/>
          <p:nvPr/>
        </p:nvSpPr>
        <p:spPr>
          <a:xfrm>
            <a:off x="590400" y="313344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0" name=""/>
          <p:cNvSpPr/>
          <p:nvPr/>
        </p:nvSpPr>
        <p:spPr>
          <a:xfrm>
            <a:off x="5019480" y="3133440"/>
            <a:ext cx="6582240" cy="10080"/>
          </a:xfrm>
          <a:custGeom>
            <a:avLst/>
            <a:gdLst/>
            <a:ahLst/>
            <a:rect l="0" t="0" r="r" b="b"/>
            <a:pathLst>
              <a:path w="18284" h="28">
                <a:moveTo>
                  <a:pt x="0" y="0"/>
                </a:moveTo>
                <a:lnTo>
                  <a:pt x="18284" y="0"/>
                </a:lnTo>
                <a:lnTo>
                  <a:pt x="182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1" name=""/>
          <p:cNvSpPr/>
          <p:nvPr/>
        </p:nvSpPr>
        <p:spPr>
          <a:xfrm>
            <a:off x="59040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2" name=""/>
          <p:cNvSpPr/>
          <p:nvPr/>
        </p:nvSpPr>
        <p:spPr>
          <a:xfrm>
            <a:off x="501012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3" name=""/>
          <p:cNvSpPr/>
          <p:nvPr/>
        </p:nvSpPr>
        <p:spPr>
          <a:xfrm>
            <a:off x="1159164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4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5" name=""/>
          <p:cNvSpPr/>
          <p:nvPr/>
        </p:nvSpPr>
        <p:spPr>
          <a:xfrm>
            <a:off x="590400" y="36003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6" name=""/>
          <p:cNvSpPr/>
          <p:nvPr/>
        </p:nvSpPr>
        <p:spPr>
          <a:xfrm>
            <a:off x="501012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7" name=""/>
          <p:cNvSpPr/>
          <p:nvPr/>
        </p:nvSpPr>
        <p:spPr>
          <a:xfrm>
            <a:off x="5019480" y="3600360"/>
            <a:ext cx="6582240" cy="9720"/>
          </a:xfrm>
          <a:custGeom>
            <a:avLst/>
            <a:gdLst/>
            <a:ahLst/>
            <a:rect l="0" t="0" r="r" b="b"/>
            <a:pathLst>
              <a:path w="18284" h="27">
                <a:moveTo>
                  <a:pt x="0" y="0"/>
                </a:moveTo>
                <a:lnTo>
                  <a:pt x="18284" y="0"/>
                </a:lnTo>
                <a:lnTo>
                  <a:pt x="182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8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9" name=""/>
          <p:cNvSpPr/>
          <p:nvPr/>
        </p:nvSpPr>
        <p:spPr>
          <a:xfrm>
            <a:off x="59040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0" name=""/>
          <p:cNvSpPr/>
          <p:nvPr/>
        </p:nvSpPr>
        <p:spPr>
          <a:xfrm>
            <a:off x="590400" y="406692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1" name=""/>
          <p:cNvSpPr/>
          <p:nvPr/>
        </p:nvSpPr>
        <p:spPr>
          <a:xfrm>
            <a:off x="501012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2" name=""/>
          <p:cNvSpPr/>
          <p:nvPr/>
        </p:nvSpPr>
        <p:spPr>
          <a:xfrm>
            <a:off x="5019480" y="4066920"/>
            <a:ext cx="6582240" cy="10080"/>
          </a:xfrm>
          <a:custGeom>
            <a:avLst/>
            <a:gdLst/>
            <a:ahLst/>
            <a:rect l="0" t="0" r="r" b="b"/>
            <a:pathLst>
              <a:path w="18284" h="28">
                <a:moveTo>
                  <a:pt x="0" y="0"/>
                </a:moveTo>
                <a:lnTo>
                  <a:pt x="18284" y="0"/>
                </a:lnTo>
                <a:lnTo>
                  <a:pt x="182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3" name=""/>
          <p:cNvSpPr/>
          <p:nvPr/>
        </p:nvSpPr>
        <p:spPr>
          <a:xfrm>
            <a:off x="1159164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4" name=""/>
          <p:cNvSpPr/>
          <p:nvPr/>
        </p:nvSpPr>
        <p:spPr>
          <a:xfrm>
            <a:off x="590400" y="45432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5" name=""/>
          <p:cNvSpPr/>
          <p:nvPr/>
        </p:nvSpPr>
        <p:spPr>
          <a:xfrm>
            <a:off x="590400" y="453384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6" name=""/>
          <p:cNvSpPr/>
          <p:nvPr/>
        </p:nvSpPr>
        <p:spPr>
          <a:xfrm>
            <a:off x="5010120" y="45432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7" name=""/>
          <p:cNvSpPr/>
          <p:nvPr/>
        </p:nvSpPr>
        <p:spPr>
          <a:xfrm>
            <a:off x="5019480" y="4533840"/>
            <a:ext cx="6582240" cy="9720"/>
          </a:xfrm>
          <a:custGeom>
            <a:avLst/>
            <a:gdLst/>
            <a:ahLst/>
            <a:rect l="0" t="0" r="r" b="b"/>
            <a:pathLst>
              <a:path w="18284" h="27">
                <a:moveTo>
                  <a:pt x="0" y="0"/>
                </a:moveTo>
                <a:lnTo>
                  <a:pt x="18284" y="0"/>
                </a:lnTo>
                <a:lnTo>
                  <a:pt x="182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8" name=""/>
          <p:cNvSpPr/>
          <p:nvPr/>
        </p:nvSpPr>
        <p:spPr>
          <a:xfrm>
            <a:off x="1159164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9" name=""/>
          <p:cNvSpPr/>
          <p:nvPr/>
        </p:nvSpPr>
        <p:spPr>
          <a:xfrm>
            <a:off x="590400" y="500040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0" name=""/>
          <p:cNvSpPr/>
          <p:nvPr/>
        </p:nvSpPr>
        <p:spPr>
          <a:xfrm>
            <a:off x="5019480" y="5000400"/>
            <a:ext cx="6582240" cy="10080"/>
          </a:xfrm>
          <a:custGeom>
            <a:avLst/>
            <a:gdLst/>
            <a:ahLst/>
            <a:rect l="0" t="0" r="r" b="b"/>
            <a:pathLst>
              <a:path w="18284" h="28">
                <a:moveTo>
                  <a:pt x="0" y="0"/>
                </a:moveTo>
                <a:lnTo>
                  <a:pt x="18284" y="0"/>
                </a:lnTo>
                <a:lnTo>
                  <a:pt x="182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0400" y="1329480"/>
            <a:ext cx="5981886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学習に使った教材は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" y="2154960"/>
            <a:ext cx="641534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件は「日本語の指示」と「正解コード」の組。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23960" y="278964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処理の長さ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9639360" y="278964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訓練データの件数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23960" y="325656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1016720" y="3256560"/>
            <a:ext cx="51998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460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23960" y="372312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0812240" y="3723120"/>
            <a:ext cx="75472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8,680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23960" y="418968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0512000" y="4189680"/>
            <a:ext cx="110041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183,760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23960" y="46566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合計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0462320" y="4656600"/>
            <a:ext cx="115713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90400" y="5259960"/>
            <a:ext cx="690634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95%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操作の教材。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単独操作の教材は少ない。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8" name=""/>
          <p:cNvSpPr/>
          <p:nvPr/>
        </p:nvSpPr>
        <p:spPr>
          <a:xfrm>
            <a:off x="599760" y="2847960"/>
            <a:ext cx="2162520" cy="495360"/>
          </a:xfrm>
          <a:custGeom>
            <a:avLst/>
            <a:gdLst/>
            <a:ahLst/>
            <a:rect l="0" t="0" r="r" b="b"/>
            <a:pathLst>
              <a:path w="6007" h="1376">
                <a:moveTo>
                  <a:pt x="0" y="0"/>
                </a:moveTo>
                <a:lnTo>
                  <a:pt x="6007" y="0"/>
                </a:lnTo>
                <a:lnTo>
                  <a:pt x="600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9" name=""/>
          <p:cNvSpPr/>
          <p:nvPr/>
        </p:nvSpPr>
        <p:spPr>
          <a:xfrm>
            <a:off x="2761920" y="2847960"/>
            <a:ext cx="3715200" cy="495360"/>
          </a:xfrm>
          <a:custGeom>
            <a:avLst/>
            <a:gdLst/>
            <a:ahLst/>
            <a:rect l="0" t="0" r="r" b="b"/>
            <a:pathLst>
              <a:path w="10320" h="1376">
                <a:moveTo>
                  <a:pt x="0" y="0"/>
                </a:moveTo>
                <a:lnTo>
                  <a:pt x="10320" y="0"/>
                </a:lnTo>
                <a:lnTo>
                  <a:pt x="1032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0" name=""/>
          <p:cNvSpPr/>
          <p:nvPr/>
        </p:nvSpPr>
        <p:spPr>
          <a:xfrm>
            <a:off x="6476760" y="2847960"/>
            <a:ext cx="5124960" cy="495360"/>
          </a:xfrm>
          <a:custGeom>
            <a:avLst/>
            <a:gdLst/>
            <a:ahLst/>
            <a:rect l="0" t="0" r="r" b="b"/>
            <a:pathLst>
              <a:path w="14236" h="1376">
                <a:moveTo>
                  <a:pt x="0" y="0"/>
                </a:moveTo>
                <a:lnTo>
                  <a:pt x="14236" y="0"/>
                </a:lnTo>
                <a:lnTo>
                  <a:pt x="14236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1" name=""/>
          <p:cNvSpPr/>
          <p:nvPr/>
        </p:nvSpPr>
        <p:spPr>
          <a:xfrm>
            <a:off x="599760" y="2847960"/>
            <a:ext cx="2162520" cy="495360"/>
          </a:xfrm>
          <a:custGeom>
            <a:avLst/>
            <a:gdLst/>
            <a:ahLst/>
            <a:rect l="0" t="0" r="r" b="b"/>
            <a:pathLst>
              <a:path w="6007" h="1376">
                <a:moveTo>
                  <a:pt x="0" y="0"/>
                </a:moveTo>
                <a:lnTo>
                  <a:pt x="6007" y="0"/>
                </a:lnTo>
                <a:lnTo>
                  <a:pt x="600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2" name=""/>
          <p:cNvSpPr/>
          <p:nvPr/>
        </p:nvSpPr>
        <p:spPr>
          <a:xfrm>
            <a:off x="2761920" y="2847960"/>
            <a:ext cx="3715200" cy="495360"/>
          </a:xfrm>
          <a:custGeom>
            <a:avLst/>
            <a:gdLst/>
            <a:ahLst/>
            <a:rect l="0" t="0" r="r" b="b"/>
            <a:pathLst>
              <a:path w="10320" h="1376">
                <a:moveTo>
                  <a:pt x="0" y="0"/>
                </a:moveTo>
                <a:lnTo>
                  <a:pt x="10320" y="0"/>
                </a:lnTo>
                <a:lnTo>
                  <a:pt x="1032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3" name=""/>
          <p:cNvSpPr/>
          <p:nvPr/>
        </p:nvSpPr>
        <p:spPr>
          <a:xfrm>
            <a:off x="6476760" y="2847960"/>
            <a:ext cx="5124960" cy="495360"/>
          </a:xfrm>
          <a:custGeom>
            <a:avLst/>
            <a:gdLst/>
            <a:ahLst/>
            <a:rect l="0" t="0" r="r" b="b"/>
            <a:pathLst>
              <a:path w="14236" h="1376">
                <a:moveTo>
                  <a:pt x="0" y="0"/>
                </a:moveTo>
                <a:lnTo>
                  <a:pt x="14236" y="0"/>
                </a:lnTo>
                <a:lnTo>
                  <a:pt x="14236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4" name=""/>
          <p:cNvSpPr/>
          <p:nvPr/>
        </p:nvSpPr>
        <p:spPr>
          <a:xfrm>
            <a:off x="599760" y="3342960"/>
            <a:ext cx="2162520" cy="495720"/>
          </a:xfrm>
          <a:custGeom>
            <a:avLst/>
            <a:gdLst/>
            <a:ahLst/>
            <a:rect l="0" t="0" r="r" b="b"/>
            <a:pathLst>
              <a:path w="6007" h="1377">
                <a:moveTo>
                  <a:pt x="0" y="0"/>
                </a:moveTo>
                <a:lnTo>
                  <a:pt x="6007" y="0"/>
                </a:lnTo>
                <a:lnTo>
                  <a:pt x="600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5" name=""/>
          <p:cNvSpPr/>
          <p:nvPr/>
        </p:nvSpPr>
        <p:spPr>
          <a:xfrm>
            <a:off x="2761920" y="3342960"/>
            <a:ext cx="3715200" cy="495720"/>
          </a:xfrm>
          <a:custGeom>
            <a:avLst/>
            <a:gdLst/>
            <a:ahLst/>
            <a:rect l="0" t="0" r="r" b="b"/>
            <a:pathLst>
              <a:path w="10320" h="1377">
                <a:moveTo>
                  <a:pt x="0" y="0"/>
                </a:moveTo>
                <a:lnTo>
                  <a:pt x="10320" y="0"/>
                </a:lnTo>
                <a:lnTo>
                  <a:pt x="1032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6" name=""/>
          <p:cNvSpPr/>
          <p:nvPr/>
        </p:nvSpPr>
        <p:spPr>
          <a:xfrm>
            <a:off x="6476760" y="3342960"/>
            <a:ext cx="5124960" cy="495720"/>
          </a:xfrm>
          <a:custGeom>
            <a:avLst/>
            <a:gdLst/>
            <a:ahLst/>
            <a:rect l="0" t="0" r="r" b="b"/>
            <a:pathLst>
              <a:path w="14236" h="1377">
                <a:moveTo>
                  <a:pt x="0" y="0"/>
                </a:moveTo>
                <a:lnTo>
                  <a:pt x="14236" y="0"/>
                </a:lnTo>
                <a:lnTo>
                  <a:pt x="1423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7" name=""/>
          <p:cNvSpPr/>
          <p:nvPr/>
        </p:nvSpPr>
        <p:spPr>
          <a:xfrm>
            <a:off x="599760" y="3838320"/>
            <a:ext cx="2162520" cy="495720"/>
          </a:xfrm>
          <a:custGeom>
            <a:avLst/>
            <a:gdLst/>
            <a:ahLst/>
            <a:rect l="0" t="0" r="r" b="b"/>
            <a:pathLst>
              <a:path w="6007" h="1377">
                <a:moveTo>
                  <a:pt x="0" y="0"/>
                </a:moveTo>
                <a:lnTo>
                  <a:pt x="6007" y="0"/>
                </a:lnTo>
                <a:lnTo>
                  <a:pt x="600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8" name=""/>
          <p:cNvSpPr/>
          <p:nvPr/>
        </p:nvSpPr>
        <p:spPr>
          <a:xfrm>
            <a:off x="2761920" y="3838320"/>
            <a:ext cx="3715200" cy="495720"/>
          </a:xfrm>
          <a:custGeom>
            <a:avLst/>
            <a:gdLst/>
            <a:ahLst/>
            <a:rect l="0" t="0" r="r" b="b"/>
            <a:pathLst>
              <a:path w="10320" h="1377">
                <a:moveTo>
                  <a:pt x="0" y="0"/>
                </a:moveTo>
                <a:lnTo>
                  <a:pt x="10320" y="0"/>
                </a:lnTo>
                <a:lnTo>
                  <a:pt x="1032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9" name=""/>
          <p:cNvSpPr/>
          <p:nvPr/>
        </p:nvSpPr>
        <p:spPr>
          <a:xfrm>
            <a:off x="6476760" y="3838320"/>
            <a:ext cx="5124960" cy="495720"/>
          </a:xfrm>
          <a:custGeom>
            <a:avLst/>
            <a:gdLst/>
            <a:ahLst/>
            <a:rect l="0" t="0" r="r" b="b"/>
            <a:pathLst>
              <a:path w="14236" h="1377">
                <a:moveTo>
                  <a:pt x="0" y="0"/>
                </a:moveTo>
                <a:lnTo>
                  <a:pt x="14236" y="0"/>
                </a:lnTo>
                <a:lnTo>
                  <a:pt x="1423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0" name=""/>
          <p:cNvSpPr/>
          <p:nvPr/>
        </p:nvSpPr>
        <p:spPr>
          <a:xfrm>
            <a:off x="599760" y="4333680"/>
            <a:ext cx="2162520" cy="495720"/>
          </a:xfrm>
          <a:custGeom>
            <a:avLst/>
            <a:gdLst/>
            <a:ahLst/>
            <a:rect l="0" t="0" r="r" b="b"/>
            <a:pathLst>
              <a:path w="6007" h="1377">
                <a:moveTo>
                  <a:pt x="0" y="0"/>
                </a:moveTo>
                <a:lnTo>
                  <a:pt x="6007" y="0"/>
                </a:lnTo>
                <a:lnTo>
                  <a:pt x="600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1" name=""/>
          <p:cNvSpPr/>
          <p:nvPr/>
        </p:nvSpPr>
        <p:spPr>
          <a:xfrm>
            <a:off x="2761920" y="4333680"/>
            <a:ext cx="3715200" cy="495720"/>
          </a:xfrm>
          <a:custGeom>
            <a:avLst/>
            <a:gdLst/>
            <a:ahLst/>
            <a:rect l="0" t="0" r="r" b="b"/>
            <a:pathLst>
              <a:path w="10320" h="1377">
                <a:moveTo>
                  <a:pt x="0" y="0"/>
                </a:moveTo>
                <a:lnTo>
                  <a:pt x="10320" y="0"/>
                </a:lnTo>
                <a:lnTo>
                  <a:pt x="1032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2" name=""/>
          <p:cNvSpPr/>
          <p:nvPr/>
        </p:nvSpPr>
        <p:spPr>
          <a:xfrm>
            <a:off x="6476760" y="4333680"/>
            <a:ext cx="5124960" cy="495720"/>
          </a:xfrm>
          <a:custGeom>
            <a:avLst/>
            <a:gdLst/>
            <a:ahLst/>
            <a:rect l="0" t="0" r="r" b="b"/>
            <a:pathLst>
              <a:path w="14236" h="1377">
                <a:moveTo>
                  <a:pt x="0" y="0"/>
                </a:moveTo>
                <a:lnTo>
                  <a:pt x="14236" y="0"/>
                </a:lnTo>
                <a:lnTo>
                  <a:pt x="1423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3" name=""/>
          <p:cNvSpPr/>
          <p:nvPr/>
        </p:nvSpPr>
        <p:spPr>
          <a:xfrm>
            <a:off x="590400" y="284796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4" name=""/>
          <p:cNvSpPr/>
          <p:nvPr/>
        </p:nvSpPr>
        <p:spPr>
          <a:xfrm>
            <a:off x="590400" y="2847960"/>
            <a:ext cx="2171880" cy="9720"/>
          </a:xfrm>
          <a:custGeom>
            <a:avLst/>
            <a:gdLst/>
            <a:ahLst/>
            <a:rect l="0" t="0" r="r" b="b"/>
            <a:pathLst>
              <a:path w="6033" h="27">
                <a:moveTo>
                  <a:pt x="0" y="0"/>
                </a:moveTo>
                <a:lnTo>
                  <a:pt x="6033" y="0"/>
                </a:lnTo>
                <a:lnTo>
                  <a:pt x="6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5" name=""/>
          <p:cNvSpPr/>
          <p:nvPr/>
        </p:nvSpPr>
        <p:spPr>
          <a:xfrm>
            <a:off x="2752560" y="284796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6" name=""/>
          <p:cNvSpPr/>
          <p:nvPr/>
        </p:nvSpPr>
        <p:spPr>
          <a:xfrm>
            <a:off x="2761920" y="284796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7" name=""/>
          <p:cNvSpPr/>
          <p:nvPr/>
        </p:nvSpPr>
        <p:spPr>
          <a:xfrm>
            <a:off x="6467400" y="284796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8" name=""/>
          <p:cNvSpPr/>
          <p:nvPr/>
        </p:nvSpPr>
        <p:spPr>
          <a:xfrm>
            <a:off x="6476760" y="2847960"/>
            <a:ext cx="5124960" cy="9720"/>
          </a:xfrm>
          <a:custGeom>
            <a:avLst/>
            <a:gdLst/>
            <a:ahLst/>
            <a:rect l="0" t="0" r="r" b="b"/>
            <a:pathLst>
              <a:path w="14236" h="27">
                <a:moveTo>
                  <a:pt x="0" y="0"/>
                </a:moveTo>
                <a:lnTo>
                  <a:pt x="14236" y="0"/>
                </a:lnTo>
                <a:lnTo>
                  <a:pt x="142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9" name=""/>
          <p:cNvSpPr/>
          <p:nvPr/>
        </p:nvSpPr>
        <p:spPr>
          <a:xfrm>
            <a:off x="11591640" y="284796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0" name=""/>
          <p:cNvSpPr/>
          <p:nvPr/>
        </p:nvSpPr>
        <p:spPr>
          <a:xfrm>
            <a:off x="590400" y="3342960"/>
            <a:ext cx="2171880" cy="10080"/>
          </a:xfrm>
          <a:custGeom>
            <a:avLst/>
            <a:gdLst/>
            <a:ahLst/>
            <a:rect l="0" t="0" r="r" b="b"/>
            <a:pathLst>
              <a:path w="6033" h="28">
                <a:moveTo>
                  <a:pt x="0" y="0"/>
                </a:moveTo>
                <a:lnTo>
                  <a:pt x="6033" y="0"/>
                </a:lnTo>
                <a:lnTo>
                  <a:pt x="6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1" name=""/>
          <p:cNvSpPr/>
          <p:nvPr/>
        </p:nvSpPr>
        <p:spPr>
          <a:xfrm>
            <a:off x="2761920" y="33429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2" name=""/>
          <p:cNvSpPr/>
          <p:nvPr/>
        </p:nvSpPr>
        <p:spPr>
          <a:xfrm>
            <a:off x="6476760" y="3342960"/>
            <a:ext cx="5124960" cy="10080"/>
          </a:xfrm>
          <a:custGeom>
            <a:avLst/>
            <a:gdLst/>
            <a:ahLst/>
            <a:rect l="0" t="0" r="r" b="b"/>
            <a:pathLst>
              <a:path w="14236" h="28">
                <a:moveTo>
                  <a:pt x="0" y="0"/>
                </a:moveTo>
                <a:lnTo>
                  <a:pt x="14236" y="0"/>
                </a:lnTo>
                <a:lnTo>
                  <a:pt x="142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3" name=""/>
          <p:cNvSpPr/>
          <p:nvPr/>
        </p:nvSpPr>
        <p:spPr>
          <a:xfrm>
            <a:off x="59040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4" name=""/>
          <p:cNvSpPr/>
          <p:nvPr/>
        </p:nvSpPr>
        <p:spPr>
          <a:xfrm>
            <a:off x="275256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5" name=""/>
          <p:cNvSpPr/>
          <p:nvPr/>
        </p:nvSpPr>
        <p:spPr>
          <a:xfrm>
            <a:off x="646740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6" name=""/>
          <p:cNvSpPr/>
          <p:nvPr/>
        </p:nvSpPr>
        <p:spPr>
          <a:xfrm>
            <a:off x="1159164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7" name=""/>
          <p:cNvSpPr/>
          <p:nvPr/>
        </p:nvSpPr>
        <p:spPr>
          <a:xfrm>
            <a:off x="59040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8" name=""/>
          <p:cNvSpPr/>
          <p:nvPr/>
        </p:nvSpPr>
        <p:spPr>
          <a:xfrm>
            <a:off x="590400" y="3838320"/>
            <a:ext cx="2171880" cy="10080"/>
          </a:xfrm>
          <a:custGeom>
            <a:avLst/>
            <a:gdLst/>
            <a:ahLst/>
            <a:rect l="0" t="0" r="r" b="b"/>
            <a:pathLst>
              <a:path w="6033" h="28">
                <a:moveTo>
                  <a:pt x="0" y="0"/>
                </a:moveTo>
                <a:lnTo>
                  <a:pt x="6033" y="0"/>
                </a:lnTo>
                <a:lnTo>
                  <a:pt x="6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9" name=""/>
          <p:cNvSpPr/>
          <p:nvPr/>
        </p:nvSpPr>
        <p:spPr>
          <a:xfrm>
            <a:off x="275256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0" name=""/>
          <p:cNvSpPr/>
          <p:nvPr/>
        </p:nvSpPr>
        <p:spPr>
          <a:xfrm>
            <a:off x="2761920" y="383832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1" name=""/>
          <p:cNvSpPr/>
          <p:nvPr/>
        </p:nvSpPr>
        <p:spPr>
          <a:xfrm>
            <a:off x="646740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2" name=""/>
          <p:cNvSpPr/>
          <p:nvPr/>
        </p:nvSpPr>
        <p:spPr>
          <a:xfrm>
            <a:off x="6476760" y="3838320"/>
            <a:ext cx="5124960" cy="10080"/>
          </a:xfrm>
          <a:custGeom>
            <a:avLst/>
            <a:gdLst/>
            <a:ahLst/>
            <a:rect l="0" t="0" r="r" b="b"/>
            <a:pathLst>
              <a:path w="14236" h="28">
                <a:moveTo>
                  <a:pt x="0" y="0"/>
                </a:moveTo>
                <a:lnTo>
                  <a:pt x="14236" y="0"/>
                </a:lnTo>
                <a:lnTo>
                  <a:pt x="142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3" name=""/>
          <p:cNvSpPr/>
          <p:nvPr/>
        </p:nvSpPr>
        <p:spPr>
          <a:xfrm>
            <a:off x="1159164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4" name=""/>
          <p:cNvSpPr/>
          <p:nvPr/>
        </p:nvSpPr>
        <p:spPr>
          <a:xfrm>
            <a:off x="59040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5" name=""/>
          <p:cNvSpPr/>
          <p:nvPr/>
        </p:nvSpPr>
        <p:spPr>
          <a:xfrm>
            <a:off x="590400" y="4333680"/>
            <a:ext cx="2171880" cy="9720"/>
          </a:xfrm>
          <a:custGeom>
            <a:avLst/>
            <a:gdLst/>
            <a:ahLst/>
            <a:rect l="0" t="0" r="r" b="b"/>
            <a:pathLst>
              <a:path w="6033" h="27">
                <a:moveTo>
                  <a:pt x="0" y="0"/>
                </a:moveTo>
                <a:lnTo>
                  <a:pt x="6033" y="0"/>
                </a:lnTo>
                <a:lnTo>
                  <a:pt x="6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6" name=""/>
          <p:cNvSpPr/>
          <p:nvPr/>
        </p:nvSpPr>
        <p:spPr>
          <a:xfrm>
            <a:off x="275256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7" name=""/>
          <p:cNvSpPr/>
          <p:nvPr/>
        </p:nvSpPr>
        <p:spPr>
          <a:xfrm>
            <a:off x="2761920" y="433368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8" name=""/>
          <p:cNvSpPr/>
          <p:nvPr/>
        </p:nvSpPr>
        <p:spPr>
          <a:xfrm>
            <a:off x="646740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9" name=""/>
          <p:cNvSpPr/>
          <p:nvPr/>
        </p:nvSpPr>
        <p:spPr>
          <a:xfrm>
            <a:off x="6476760" y="4333680"/>
            <a:ext cx="5124960" cy="9720"/>
          </a:xfrm>
          <a:custGeom>
            <a:avLst/>
            <a:gdLst/>
            <a:ahLst/>
            <a:rect l="0" t="0" r="r" b="b"/>
            <a:pathLst>
              <a:path w="14236" h="27">
                <a:moveTo>
                  <a:pt x="0" y="0"/>
                </a:moveTo>
                <a:lnTo>
                  <a:pt x="14236" y="0"/>
                </a:lnTo>
                <a:lnTo>
                  <a:pt x="142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0" name=""/>
          <p:cNvSpPr/>
          <p:nvPr/>
        </p:nvSpPr>
        <p:spPr>
          <a:xfrm>
            <a:off x="1159164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1" name=""/>
          <p:cNvSpPr/>
          <p:nvPr/>
        </p:nvSpPr>
        <p:spPr>
          <a:xfrm>
            <a:off x="590400" y="4829040"/>
            <a:ext cx="2171880" cy="9720"/>
          </a:xfrm>
          <a:custGeom>
            <a:avLst/>
            <a:gdLst/>
            <a:ahLst/>
            <a:rect l="0" t="0" r="r" b="b"/>
            <a:pathLst>
              <a:path w="6033" h="27">
                <a:moveTo>
                  <a:pt x="0" y="0"/>
                </a:moveTo>
                <a:lnTo>
                  <a:pt x="6033" y="0"/>
                </a:lnTo>
                <a:lnTo>
                  <a:pt x="6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2" name=""/>
          <p:cNvSpPr/>
          <p:nvPr/>
        </p:nvSpPr>
        <p:spPr>
          <a:xfrm>
            <a:off x="2761920" y="48290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3" name=""/>
          <p:cNvSpPr/>
          <p:nvPr/>
        </p:nvSpPr>
        <p:spPr>
          <a:xfrm>
            <a:off x="6476760" y="4829040"/>
            <a:ext cx="5124960" cy="9720"/>
          </a:xfrm>
          <a:custGeom>
            <a:avLst/>
            <a:gdLst/>
            <a:ahLst/>
            <a:rect l="0" t="0" r="r" b="b"/>
            <a:pathLst>
              <a:path w="14236" h="27">
                <a:moveTo>
                  <a:pt x="0" y="0"/>
                </a:moveTo>
                <a:lnTo>
                  <a:pt x="14236" y="0"/>
                </a:lnTo>
                <a:lnTo>
                  <a:pt x="142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90400" y="1539000"/>
            <a:ext cx="715806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三つの大きさを、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で比較する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590400" y="2352600"/>
            <a:ext cx="628907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パラメータ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は、学習で調整するモデル内部の数値。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714240" y="2987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呼び名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5104080" y="2987280"/>
            <a:ext cx="27220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パラメータ数 今回の学習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714240" y="348264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520960" y="3482640"/>
            <a:ext cx="311286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万 教材全体を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714240" y="397800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5520960" y="3978000"/>
            <a:ext cx="311286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500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万 教材全体を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14240" y="4473360"/>
            <a:ext cx="5431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5333040" y="4473360"/>
            <a:ext cx="332814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1,500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万 教材全体を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590400" y="5086440"/>
            <a:ext cx="826592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既存の学習済み重みを使わず、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Transformer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をゼロから学習する。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9" name=""/>
          <p:cNvSpPr/>
          <p:nvPr/>
        </p:nvSpPr>
        <p:spPr>
          <a:xfrm>
            <a:off x="590400" y="5190840"/>
            <a:ext cx="11011320" cy="610200"/>
          </a:xfrm>
          <a:custGeom>
            <a:avLst/>
            <a:gdLst/>
            <a:ahLst/>
            <a:rect l="0" t="0" r="r" b="b"/>
            <a:pathLst>
              <a:path w="30587" h="1695">
                <a:moveTo>
                  <a:pt x="0" y="0"/>
                </a:moveTo>
                <a:lnTo>
                  <a:pt x="30587" y="0"/>
                </a:lnTo>
                <a:lnTo>
                  <a:pt x="30587" y="1695"/>
                </a:lnTo>
                <a:lnTo>
                  <a:pt x="0" y="1695"/>
                </a:lnTo>
                <a:lnTo>
                  <a:pt x="0" y="0"/>
                </a:lnTo>
                <a:close/>
              </a:path>
            </a:pathLst>
          </a:custGeom>
          <a:solidFill>
            <a:srgbClr val="F5F3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0" name=""/>
          <p:cNvSpPr/>
          <p:nvPr/>
        </p:nvSpPr>
        <p:spPr>
          <a:xfrm>
            <a:off x="590400" y="5190840"/>
            <a:ext cx="38520" cy="610200"/>
          </a:xfrm>
          <a:custGeom>
            <a:avLst/>
            <a:gdLst/>
            <a:ahLst/>
            <a:rect l="0" t="0" r="r" b="b"/>
            <a:pathLst>
              <a:path w="107" h="1695">
                <a:moveTo>
                  <a:pt x="0" y="0"/>
                </a:moveTo>
                <a:lnTo>
                  <a:pt x="107" y="0"/>
                </a:lnTo>
                <a:lnTo>
                  <a:pt x="107" y="1695"/>
                </a:lnTo>
                <a:lnTo>
                  <a:pt x="0" y="1695"/>
                </a:lnTo>
                <a:lnTo>
                  <a:pt x="0" y="0"/>
                </a:lnTo>
                <a:close/>
              </a:path>
            </a:pathLst>
          </a:custGeom>
          <a:solidFill>
            <a:srgbClr val="745DB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90400" y="698400"/>
            <a:ext cx="7887528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自己回帰：出力を次の入力に加えて繰り返す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90400" y="1428840"/>
            <a:ext cx="904093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GPT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などの言語モデルは、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直前までの言葉から次を予測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して文章を作る。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857160" y="1947960"/>
            <a:ext cx="229687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入力：ここまでの文章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926040" y="1947960"/>
            <a:ext cx="160797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予測するモデル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5" name=""/>
          <p:cNvSpPr/>
          <p:nvPr/>
        </p:nvSpPr>
        <p:spPr>
          <a:xfrm>
            <a:off x="86652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1" y="27"/>
                  <a:pt x="66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1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6" name=""/>
          <p:cNvSpPr/>
          <p:nvPr/>
        </p:nvSpPr>
        <p:spPr>
          <a:xfrm>
            <a:off x="86652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1" y="27"/>
                  <a:pt x="66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1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9682200" y="1947960"/>
            <a:ext cx="160797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出力：次の言葉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8" name=""/>
          <p:cNvSpPr/>
          <p:nvPr/>
        </p:nvSpPr>
        <p:spPr>
          <a:xfrm>
            <a:off x="174276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2000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2000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2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9" name=""/>
          <p:cNvSpPr/>
          <p:nvPr/>
        </p:nvSpPr>
        <p:spPr>
          <a:xfrm>
            <a:off x="174276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2000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2000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2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10484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1" name=""/>
          <p:cNvSpPr/>
          <p:nvPr/>
        </p:nvSpPr>
        <p:spPr>
          <a:xfrm>
            <a:off x="261936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4"/>
                  <a:pt x="1982" y="10"/>
                </a:cubicBezTo>
                <a:cubicBezTo>
                  <a:pt x="1998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8" y="1784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2" name=""/>
          <p:cNvSpPr/>
          <p:nvPr/>
        </p:nvSpPr>
        <p:spPr>
          <a:xfrm>
            <a:off x="261936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4"/>
                  <a:pt x="1982" y="10"/>
                </a:cubicBezTo>
                <a:cubicBezTo>
                  <a:pt x="1998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8" y="1784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98108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4" name=""/>
          <p:cNvSpPr/>
          <p:nvPr/>
        </p:nvSpPr>
        <p:spPr>
          <a:xfrm>
            <a:off x="349560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8" y="4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5" name=""/>
          <p:cNvSpPr/>
          <p:nvPr/>
        </p:nvSpPr>
        <p:spPr>
          <a:xfrm>
            <a:off x="349560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8" y="4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85732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73392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8" name=""/>
          <p:cNvSpPr/>
          <p:nvPr/>
        </p:nvSpPr>
        <p:spPr>
          <a:xfrm>
            <a:off x="6581520" y="2381040"/>
            <a:ext cx="2076840" cy="781560"/>
          </a:xfrm>
          <a:custGeom>
            <a:avLst/>
            <a:gdLst/>
            <a:ahLst/>
            <a:rect l="0" t="0" r="r" b="b"/>
            <a:pathLst>
              <a:path w="5769" h="2171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4"/>
                </a:cubicBezTo>
                <a:cubicBezTo>
                  <a:pt x="19" y="103"/>
                  <a:pt x="25" y="93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5"/>
                  <a:pt x="103" y="19"/>
                  <a:pt x="115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4"/>
                </a:cubicBezTo>
                <a:cubicBezTo>
                  <a:pt x="5632" y="6"/>
                  <a:pt x="5644" y="10"/>
                  <a:pt x="5655" y="14"/>
                </a:cubicBezTo>
                <a:cubicBezTo>
                  <a:pt x="5666" y="19"/>
                  <a:pt x="5677" y="25"/>
                  <a:pt x="5687" y="31"/>
                </a:cubicBezTo>
                <a:cubicBezTo>
                  <a:pt x="5697" y="38"/>
                  <a:pt x="5706" y="46"/>
                  <a:pt x="5715" y="54"/>
                </a:cubicBezTo>
                <a:cubicBezTo>
                  <a:pt x="5723" y="63"/>
                  <a:pt x="5731" y="72"/>
                  <a:pt x="5738" y="82"/>
                </a:cubicBezTo>
                <a:cubicBezTo>
                  <a:pt x="5745" y="93"/>
                  <a:pt x="5750" y="103"/>
                  <a:pt x="5755" y="114"/>
                </a:cubicBezTo>
                <a:cubicBezTo>
                  <a:pt x="5760" y="126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8"/>
                  <a:pt x="5768" y="2010"/>
                  <a:pt x="5766" y="2022"/>
                </a:cubicBezTo>
                <a:cubicBezTo>
                  <a:pt x="5763" y="2034"/>
                  <a:pt x="5760" y="2045"/>
                  <a:pt x="5755" y="2056"/>
                </a:cubicBezTo>
                <a:cubicBezTo>
                  <a:pt x="5750" y="2068"/>
                  <a:pt x="5745" y="2078"/>
                  <a:pt x="5738" y="2088"/>
                </a:cubicBezTo>
                <a:cubicBezTo>
                  <a:pt x="5731" y="2098"/>
                  <a:pt x="5723" y="2108"/>
                  <a:pt x="5715" y="2116"/>
                </a:cubicBezTo>
                <a:cubicBezTo>
                  <a:pt x="5706" y="2125"/>
                  <a:pt x="5697" y="2133"/>
                  <a:pt x="5687" y="2139"/>
                </a:cubicBezTo>
                <a:cubicBezTo>
                  <a:pt x="5677" y="2146"/>
                  <a:pt x="5666" y="2152"/>
                  <a:pt x="5655" y="2157"/>
                </a:cubicBezTo>
                <a:cubicBezTo>
                  <a:pt x="5644" y="2161"/>
                  <a:pt x="5632" y="2165"/>
                  <a:pt x="5620" y="2167"/>
                </a:cubicBezTo>
                <a:cubicBezTo>
                  <a:pt x="5608" y="2169"/>
                  <a:pt x="5596" y="2171"/>
                  <a:pt x="5584" y="2171"/>
                </a:cubicBezTo>
                <a:lnTo>
                  <a:pt x="185" y="2171"/>
                </a:lnTo>
                <a:cubicBezTo>
                  <a:pt x="173" y="2171"/>
                  <a:pt x="161" y="2169"/>
                  <a:pt x="149" y="2167"/>
                </a:cubicBezTo>
                <a:cubicBezTo>
                  <a:pt x="137" y="2165"/>
                  <a:pt x="126" y="2161"/>
                  <a:pt x="115" y="2157"/>
                </a:cubicBezTo>
                <a:cubicBezTo>
                  <a:pt x="103" y="2152"/>
                  <a:pt x="93" y="2146"/>
                  <a:pt x="83" y="2139"/>
                </a:cubicBezTo>
                <a:cubicBezTo>
                  <a:pt x="72" y="2133"/>
                  <a:pt x="63" y="2125"/>
                  <a:pt x="54" y="2116"/>
                </a:cubicBezTo>
                <a:cubicBezTo>
                  <a:pt x="46" y="2108"/>
                  <a:pt x="38" y="2098"/>
                  <a:pt x="31" y="2088"/>
                </a:cubicBezTo>
                <a:cubicBezTo>
                  <a:pt x="25" y="2078"/>
                  <a:pt x="19" y="2068"/>
                  <a:pt x="14" y="2056"/>
                </a:cubicBezTo>
                <a:cubicBezTo>
                  <a:pt x="10" y="2045"/>
                  <a:pt x="6" y="2034"/>
                  <a:pt x="4" y="2022"/>
                </a:cubicBezTo>
                <a:cubicBezTo>
                  <a:pt x="1" y="2010"/>
                  <a:pt x="0" y="1998"/>
                  <a:pt x="0" y="1985"/>
                </a:cubicBezTo>
                <a:close/>
              </a:path>
            </a:pathLst>
          </a:custGeom>
          <a:solidFill>
            <a:srgbClr val="F0E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9" name=""/>
          <p:cNvSpPr/>
          <p:nvPr/>
        </p:nvSpPr>
        <p:spPr>
          <a:xfrm>
            <a:off x="6581520" y="2381040"/>
            <a:ext cx="2076840" cy="781560"/>
          </a:xfrm>
          <a:custGeom>
            <a:avLst/>
            <a:gdLst/>
            <a:ahLst/>
            <a:rect l="0" t="0" r="r" b="b"/>
            <a:pathLst>
              <a:path w="5769" h="2171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4"/>
                </a:cubicBezTo>
                <a:cubicBezTo>
                  <a:pt x="19" y="103"/>
                  <a:pt x="25" y="93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5"/>
                  <a:pt x="103" y="19"/>
                  <a:pt x="115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4"/>
                </a:cubicBezTo>
                <a:cubicBezTo>
                  <a:pt x="5632" y="6"/>
                  <a:pt x="5644" y="10"/>
                  <a:pt x="5655" y="14"/>
                </a:cubicBezTo>
                <a:cubicBezTo>
                  <a:pt x="5666" y="19"/>
                  <a:pt x="5677" y="25"/>
                  <a:pt x="5687" y="31"/>
                </a:cubicBezTo>
                <a:cubicBezTo>
                  <a:pt x="5697" y="38"/>
                  <a:pt x="5706" y="46"/>
                  <a:pt x="5715" y="54"/>
                </a:cubicBezTo>
                <a:cubicBezTo>
                  <a:pt x="5723" y="63"/>
                  <a:pt x="5731" y="72"/>
                  <a:pt x="5738" y="82"/>
                </a:cubicBezTo>
                <a:cubicBezTo>
                  <a:pt x="5745" y="93"/>
                  <a:pt x="5750" y="103"/>
                  <a:pt x="5755" y="114"/>
                </a:cubicBezTo>
                <a:cubicBezTo>
                  <a:pt x="5760" y="126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8"/>
                  <a:pt x="5768" y="2010"/>
                  <a:pt x="5766" y="2022"/>
                </a:cubicBezTo>
                <a:cubicBezTo>
                  <a:pt x="5763" y="2034"/>
                  <a:pt x="5760" y="2045"/>
                  <a:pt x="5755" y="2056"/>
                </a:cubicBezTo>
                <a:cubicBezTo>
                  <a:pt x="5750" y="2068"/>
                  <a:pt x="5745" y="2078"/>
                  <a:pt x="5738" y="2088"/>
                </a:cubicBezTo>
                <a:cubicBezTo>
                  <a:pt x="5731" y="2098"/>
                  <a:pt x="5723" y="2108"/>
                  <a:pt x="5715" y="2116"/>
                </a:cubicBezTo>
                <a:cubicBezTo>
                  <a:pt x="5706" y="2125"/>
                  <a:pt x="5697" y="2133"/>
                  <a:pt x="5687" y="2139"/>
                </a:cubicBezTo>
                <a:cubicBezTo>
                  <a:pt x="5677" y="2146"/>
                  <a:pt x="5666" y="2152"/>
                  <a:pt x="5655" y="2157"/>
                </a:cubicBezTo>
                <a:cubicBezTo>
                  <a:pt x="5644" y="2161"/>
                  <a:pt x="5632" y="2165"/>
                  <a:pt x="5620" y="2167"/>
                </a:cubicBezTo>
                <a:cubicBezTo>
                  <a:pt x="5608" y="2169"/>
                  <a:pt x="5596" y="2171"/>
                  <a:pt x="5584" y="2171"/>
                </a:cubicBezTo>
                <a:lnTo>
                  <a:pt x="185" y="2171"/>
                </a:lnTo>
                <a:cubicBezTo>
                  <a:pt x="173" y="2171"/>
                  <a:pt x="161" y="2169"/>
                  <a:pt x="149" y="2167"/>
                </a:cubicBezTo>
                <a:cubicBezTo>
                  <a:pt x="137" y="2165"/>
                  <a:pt x="126" y="2161"/>
                  <a:pt x="115" y="2157"/>
                </a:cubicBezTo>
                <a:cubicBezTo>
                  <a:pt x="103" y="2152"/>
                  <a:pt x="93" y="2146"/>
                  <a:pt x="83" y="2139"/>
                </a:cubicBezTo>
                <a:cubicBezTo>
                  <a:pt x="72" y="2133"/>
                  <a:pt x="63" y="2125"/>
                  <a:pt x="54" y="2116"/>
                </a:cubicBezTo>
                <a:cubicBezTo>
                  <a:pt x="46" y="2108"/>
                  <a:pt x="38" y="2098"/>
                  <a:pt x="31" y="2088"/>
                </a:cubicBezTo>
                <a:cubicBezTo>
                  <a:pt x="25" y="2078"/>
                  <a:pt x="19" y="2068"/>
                  <a:pt x="14" y="2056"/>
                </a:cubicBezTo>
                <a:cubicBezTo>
                  <a:pt x="10" y="2045"/>
                  <a:pt x="6" y="2034"/>
                  <a:pt x="4" y="2022"/>
                </a:cubicBezTo>
                <a:cubicBezTo>
                  <a:pt x="1" y="2010"/>
                  <a:pt x="0" y="1998"/>
                  <a:pt x="0" y="1985"/>
                </a:cubicBezTo>
                <a:close/>
              </a:path>
            </a:pathLst>
          </a:custGeom>
          <a:noFill/>
          <a:ln w="18720">
            <a:solidFill>
              <a:srgbClr val="8A79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6010200" y="25866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6959880" y="2641680"/>
            <a:ext cx="1534284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言語モデル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2" name=""/>
          <p:cNvSpPr/>
          <p:nvPr/>
        </p:nvSpPr>
        <p:spPr>
          <a:xfrm>
            <a:off x="9820080" y="240012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3"/>
                  <a:pt x="3041" y="10"/>
                </a:cubicBezTo>
                <a:cubicBezTo>
                  <a:pt x="3058" y="17"/>
                  <a:pt x="3072" y="26"/>
                  <a:pt x="3084" y="39"/>
                </a:cubicBezTo>
                <a:cubicBezTo>
                  <a:pt x="3097" y="51"/>
                  <a:pt x="3106" y="65"/>
                  <a:pt x="3113" y="82"/>
                </a:cubicBezTo>
                <a:cubicBezTo>
                  <a:pt x="3120" y="98"/>
                  <a:pt x="3123" y="115"/>
                  <a:pt x="3123" y="132"/>
                </a:cubicBezTo>
                <a:lnTo>
                  <a:pt x="3123" y="1932"/>
                </a:lnTo>
                <a:cubicBezTo>
                  <a:pt x="3123" y="1950"/>
                  <a:pt x="3120" y="1967"/>
                  <a:pt x="3113" y="1983"/>
                </a:cubicBezTo>
                <a:cubicBezTo>
                  <a:pt x="3106" y="1999"/>
                  <a:pt x="3097" y="2014"/>
                  <a:pt x="3084" y="2026"/>
                </a:cubicBezTo>
                <a:cubicBezTo>
                  <a:pt x="3072" y="2038"/>
                  <a:pt x="3058" y="2048"/>
                  <a:pt x="3041" y="2055"/>
                </a:cubicBezTo>
                <a:cubicBezTo>
                  <a:pt x="3025" y="2061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1"/>
                  <a:pt x="82" y="2055"/>
                </a:cubicBezTo>
                <a:cubicBezTo>
                  <a:pt x="65" y="2048"/>
                  <a:pt x="51" y="2038"/>
                  <a:pt x="39" y="2026"/>
                </a:cubicBezTo>
                <a:cubicBezTo>
                  <a:pt x="26" y="2014"/>
                  <a:pt x="17" y="1999"/>
                  <a:pt x="10" y="1983"/>
                </a:cubicBezTo>
                <a:cubicBezTo>
                  <a:pt x="3" y="1967"/>
                  <a:pt x="0" y="1950"/>
                  <a:pt x="0" y="1932"/>
                </a:cubicBezTo>
                <a:close/>
              </a:path>
            </a:pathLst>
          </a:custGeom>
          <a:solidFill>
            <a:srgbClr val="FFF1D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3" name=""/>
          <p:cNvSpPr/>
          <p:nvPr/>
        </p:nvSpPr>
        <p:spPr>
          <a:xfrm>
            <a:off x="9820080" y="240012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3"/>
                  <a:pt x="3041" y="10"/>
                </a:cubicBezTo>
                <a:cubicBezTo>
                  <a:pt x="3058" y="17"/>
                  <a:pt x="3072" y="26"/>
                  <a:pt x="3084" y="39"/>
                </a:cubicBezTo>
                <a:cubicBezTo>
                  <a:pt x="3097" y="51"/>
                  <a:pt x="3106" y="65"/>
                  <a:pt x="3113" y="82"/>
                </a:cubicBezTo>
                <a:cubicBezTo>
                  <a:pt x="3120" y="98"/>
                  <a:pt x="3123" y="115"/>
                  <a:pt x="3123" y="132"/>
                </a:cubicBezTo>
                <a:lnTo>
                  <a:pt x="3123" y="1932"/>
                </a:lnTo>
                <a:cubicBezTo>
                  <a:pt x="3123" y="1950"/>
                  <a:pt x="3120" y="1967"/>
                  <a:pt x="3113" y="1983"/>
                </a:cubicBezTo>
                <a:cubicBezTo>
                  <a:pt x="3106" y="1999"/>
                  <a:pt x="3097" y="2014"/>
                  <a:pt x="3084" y="2026"/>
                </a:cubicBezTo>
                <a:cubicBezTo>
                  <a:pt x="3072" y="2038"/>
                  <a:pt x="3058" y="2048"/>
                  <a:pt x="3041" y="2055"/>
                </a:cubicBezTo>
                <a:cubicBezTo>
                  <a:pt x="3025" y="2061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1"/>
                  <a:pt x="82" y="2055"/>
                </a:cubicBezTo>
                <a:cubicBezTo>
                  <a:pt x="65" y="2048"/>
                  <a:pt x="51" y="2038"/>
                  <a:pt x="39" y="2026"/>
                </a:cubicBezTo>
                <a:cubicBezTo>
                  <a:pt x="26" y="2014"/>
                  <a:pt x="17" y="1999"/>
                  <a:pt x="10" y="1983"/>
                </a:cubicBezTo>
                <a:cubicBezTo>
                  <a:pt x="3" y="1967"/>
                  <a:pt x="0" y="1950"/>
                  <a:pt x="0" y="1932"/>
                </a:cubicBezTo>
                <a:close/>
              </a:path>
            </a:pathLst>
          </a:custGeom>
          <a:noFill/>
          <a:ln w="18720">
            <a:solidFill>
              <a:srgbClr val="CF7D31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8867880" y="25866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5" name=""/>
          <p:cNvSpPr/>
          <p:nvPr/>
        </p:nvSpPr>
        <p:spPr>
          <a:xfrm>
            <a:off x="86652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1" y="26"/>
                  <a:pt x="66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1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6" name=""/>
          <p:cNvSpPr/>
          <p:nvPr/>
        </p:nvSpPr>
        <p:spPr>
          <a:xfrm>
            <a:off x="86652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1" y="26"/>
                  <a:pt x="66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1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0096560" y="2625120"/>
            <a:ext cx="659916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250" b="1" u="none" strike="noStrike">
                <a:solidFill>
                  <a:srgbClr val="A75A15"/>
                </a:solidFill>
                <a:effectLst/>
                <a:uFillTx/>
                <a:latin typeface="Hiragino Sans"/>
                <a:ea typeface="Hiragino Sans"/>
              </a:rPr>
              <a:t>好き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8" name=""/>
          <p:cNvSpPr/>
          <p:nvPr/>
        </p:nvSpPr>
        <p:spPr>
          <a:xfrm>
            <a:off x="174276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2000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2000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2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9" name=""/>
          <p:cNvSpPr/>
          <p:nvPr/>
        </p:nvSpPr>
        <p:spPr>
          <a:xfrm>
            <a:off x="174276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2000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2000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2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10484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1" name=""/>
          <p:cNvSpPr/>
          <p:nvPr/>
        </p:nvSpPr>
        <p:spPr>
          <a:xfrm>
            <a:off x="261936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3"/>
                  <a:pt x="1982" y="10"/>
                </a:cubicBezTo>
                <a:cubicBezTo>
                  <a:pt x="1998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8" y="1783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2" name=""/>
          <p:cNvSpPr/>
          <p:nvPr/>
        </p:nvSpPr>
        <p:spPr>
          <a:xfrm>
            <a:off x="261936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3"/>
                  <a:pt x="1982" y="10"/>
                </a:cubicBezTo>
                <a:cubicBezTo>
                  <a:pt x="1998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8" y="1783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98108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4" name=""/>
          <p:cNvSpPr/>
          <p:nvPr/>
        </p:nvSpPr>
        <p:spPr>
          <a:xfrm>
            <a:off x="349560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8" y="3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5" name=""/>
          <p:cNvSpPr/>
          <p:nvPr/>
        </p:nvSpPr>
        <p:spPr>
          <a:xfrm>
            <a:off x="349560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8" y="3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285732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7" name=""/>
          <p:cNvSpPr/>
          <p:nvPr/>
        </p:nvSpPr>
        <p:spPr>
          <a:xfrm>
            <a:off x="437184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5" y="81"/>
                </a:cubicBezTo>
                <a:cubicBezTo>
                  <a:pt x="2061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1" y="1702"/>
                  <a:pt x="2055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5" y="1783"/>
                  <a:pt x="51" y="1774"/>
                  <a:pt x="39" y="1761"/>
                </a:cubicBezTo>
                <a:cubicBezTo>
                  <a:pt x="26" y="1749"/>
                  <a:pt x="17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solidFill>
            <a:srgbClr val="FFF1D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8" name=""/>
          <p:cNvSpPr/>
          <p:nvPr/>
        </p:nvSpPr>
        <p:spPr>
          <a:xfrm>
            <a:off x="437184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5" y="81"/>
                </a:cubicBezTo>
                <a:cubicBezTo>
                  <a:pt x="2061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1" y="1702"/>
                  <a:pt x="2055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5" y="1783"/>
                  <a:pt x="51" y="1774"/>
                  <a:pt x="39" y="1761"/>
                </a:cubicBezTo>
                <a:cubicBezTo>
                  <a:pt x="26" y="1749"/>
                  <a:pt x="17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CF7D31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73392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4476600" y="4356360"/>
            <a:ext cx="614376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A75A15"/>
                </a:solidFill>
                <a:effectLst/>
                <a:uFillTx/>
                <a:latin typeface="Hiragino Sans"/>
                <a:ea typeface="Hiragino Sans"/>
              </a:rPr>
              <a:t>好き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1" name=""/>
          <p:cNvSpPr/>
          <p:nvPr/>
        </p:nvSpPr>
        <p:spPr>
          <a:xfrm>
            <a:off x="6581520" y="4095720"/>
            <a:ext cx="2076840" cy="781200"/>
          </a:xfrm>
          <a:custGeom>
            <a:avLst/>
            <a:gdLst/>
            <a:ahLst/>
            <a:rect l="0" t="0" r="r" b="b"/>
            <a:pathLst>
              <a:path w="5769" h="2170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8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3"/>
                </a:cubicBezTo>
                <a:cubicBezTo>
                  <a:pt x="5632" y="6"/>
                  <a:pt x="5644" y="9"/>
                  <a:pt x="5655" y="14"/>
                </a:cubicBezTo>
                <a:cubicBezTo>
                  <a:pt x="5666" y="18"/>
                  <a:pt x="5677" y="24"/>
                  <a:pt x="5687" y="31"/>
                </a:cubicBezTo>
                <a:cubicBezTo>
                  <a:pt x="5697" y="38"/>
                  <a:pt x="5706" y="45"/>
                  <a:pt x="5715" y="54"/>
                </a:cubicBezTo>
                <a:cubicBezTo>
                  <a:pt x="5723" y="62"/>
                  <a:pt x="5731" y="72"/>
                  <a:pt x="5738" y="82"/>
                </a:cubicBezTo>
                <a:cubicBezTo>
                  <a:pt x="5745" y="92"/>
                  <a:pt x="5750" y="103"/>
                  <a:pt x="5755" y="114"/>
                </a:cubicBezTo>
                <a:cubicBezTo>
                  <a:pt x="5760" y="125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7"/>
                  <a:pt x="5768" y="2009"/>
                  <a:pt x="5766" y="2021"/>
                </a:cubicBezTo>
                <a:cubicBezTo>
                  <a:pt x="5763" y="2033"/>
                  <a:pt x="5760" y="2045"/>
                  <a:pt x="5755" y="2056"/>
                </a:cubicBezTo>
                <a:cubicBezTo>
                  <a:pt x="5750" y="2067"/>
                  <a:pt x="5745" y="2078"/>
                  <a:pt x="5738" y="2088"/>
                </a:cubicBezTo>
                <a:cubicBezTo>
                  <a:pt x="5731" y="2098"/>
                  <a:pt x="5723" y="2107"/>
                  <a:pt x="5715" y="2116"/>
                </a:cubicBezTo>
                <a:cubicBezTo>
                  <a:pt x="5706" y="2125"/>
                  <a:pt x="5697" y="2132"/>
                  <a:pt x="5687" y="2139"/>
                </a:cubicBezTo>
                <a:cubicBezTo>
                  <a:pt x="5677" y="2146"/>
                  <a:pt x="5666" y="2151"/>
                  <a:pt x="5655" y="2156"/>
                </a:cubicBezTo>
                <a:cubicBezTo>
                  <a:pt x="5644" y="2161"/>
                  <a:pt x="5632" y="2164"/>
                  <a:pt x="5620" y="2167"/>
                </a:cubicBezTo>
                <a:cubicBezTo>
                  <a:pt x="5608" y="2169"/>
                  <a:pt x="5596" y="2170"/>
                  <a:pt x="5584" y="2170"/>
                </a:cubicBezTo>
                <a:lnTo>
                  <a:pt x="185" y="2170"/>
                </a:lnTo>
                <a:cubicBezTo>
                  <a:pt x="173" y="2170"/>
                  <a:pt x="161" y="2169"/>
                  <a:pt x="149" y="2167"/>
                </a:cubicBezTo>
                <a:cubicBezTo>
                  <a:pt x="137" y="2164"/>
                  <a:pt x="126" y="2161"/>
                  <a:pt x="115" y="2156"/>
                </a:cubicBezTo>
                <a:cubicBezTo>
                  <a:pt x="103" y="2151"/>
                  <a:pt x="93" y="2146"/>
                  <a:pt x="83" y="2139"/>
                </a:cubicBezTo>
                <a:cubicBezTo>
                  <a:pt x="72" y="2132"/>
                  <a:pt x="63" y="2125"/>
                  <a:pt x="54" y="2116"/>
                </a:cubicBezTo>
                <a:cubicBezTo>
                  <a:pt x="46" y="2107"/>
                  <a:pt x="38" y="2098"/>
                  <a:pt x="31" y="2088"/>
                </a:cubicBezTo>
                <a:cubicBezTo>
                  <a:pt x="25" y="2078"/>
                  <a:pt x="19" y="2067"/>
                  <a:pt x="14" y="2056"/>
                </a:cubicBezTo>
                <a:cubicBezTo>
                  <a:pt x="10" y="2045"/>
                  <a:pt x="6" y="2033"/>
                  <a:pt x="4" y="2021"/>
                </a:cubicBezTo>
                <a:cubicBezTo>
                  <a:pt x="1" y="2009"/>
                  <a:pt x="0" y="1997"/>
                  <a:pt x="0" y="1985"/>
                </a:cubicBezTo>
                <a:close/>
              </a:path>
            </a:pathLst>
          </a:custGeom>
          <a:solidFill>
            <a:srgbClr val="F0E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2" name=""/>
          <p:cNvSpPr/>
          <p:nvPr/>
        </p:nvSpPr>
        <p:spPr>
          <a:xfrm>
            <a:off x="6581520" y="4095720"/>
            <a:ext cx="2076840" cy="781200"/>
          </a:xfrm>
          <a:custGeom>
            <a:avLst/>
            <a:gdLst/>
            <a:ahLst/>
            <a:rect l="0" t="0" r="r" b="b"/>
            <a:pathLst>
              <a:path w="5769" h="2170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8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3"/>
                </a:cubicBezTo>
                <a:cubicBezTo>
                  <a:pt x="5632" y="6"/>
                  <a:pt x="5644" y="9"/>
                  <a:pt x="5655" y="14"/>
                </a:cubicBezTo>
                <a:cubicBezTo>
                  <a:pt x="5666" y="18"/>
                  <a:pt x="5677" y="24"/>
                  <a:pt x="5687" y="31"/>
                </a:cubicBezTo>
                <a:cubicBezTo>
                  <a:pt x="5697" y="38"/>
                  <a:pt x="5706" y="45"/>
                  <a:pt x="5715" y="54"/>
                </a:cubicBezTo>
                <a:cubicBezTo>
                  <a:pt x="5723" y="62"/>
                  <a:pt x="5731" y="72"/>
                  <a:pt x="5738" y="82"/>
                </a:cubicBezTo>
                <a:cubicBezTo>
                  <a:pt x="5745" y="92"/>
                  <a:pt x="5750" y="103"/>
                  <a:pt x="5755" y="114"/>
                </a:cubicBezTo>
                <a:cubicBezTo>
                  <a:pt x="5760" y="125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7"/>
                  <a:pt x="5768" y="2009"/>
                  <a:pt x="5766" y="2021"/>
                </a:cubicBezTo>
                <a:cubicBezTo>
                  <a:pt x="5763" y="2033"/>
                  <a:pt x="5760" y="2045"/>
                  <a:pt x="5755" y="2056"/>
                </a:cubicBezTo>
                <a:cubicBezTo>
                  <a:pt x="5750" y="2067"/>
                  <a:pt x="5745" y="2078"/>
                  <a:pt x="5738" y="2088"/>
                </a:cubicBezTo>
                <a:cubicBezTo>
                  <a:pt x="5731" y="2098"/>
                  <a:pt x="5723" y="2107"/>
                  <a:pt x="5715" y="2116"/>
                </a:cubicBezTo>
                <a:cubicBezTo>
                  <a:pt x="5706" y="2125"/>
                  <a:pt x="5697" y="2132"/>
                  <a:pt x="5687" y="2139"/>
                </a:cubicBezTo>
                <a:cubicBezTo>
                  <a:pt x="5677" y="2146"/>
                  <a:pt x="5666" y="2151"/>
                  <a:pt x="5655" y="2156"/>
                </a:cubicBezTo>
                <a:cubicBezTo>
                  <a:pt x="5644" y="2161"/>
                  <a:pt x="5632" y="2164"/>
                  <a:pt x="5620" y="2167"/>
                </a:cubicBezTo>
                <a:cubicBezTo>
                  <a:pt x="5608" y="2169"/>
                  <a:pt x="5596" y="2170"/>
                  <a:pt x="5584" y="2170"/>
                </a:cubicBezTo>
                <a:lnTo>
                  <a:pt x="185" y="2170"/>
                </a:lnTo>
                <a:cubicBezTo>
                  <a:pt x="173" y="2170"/>
                  <a:pt x="161" y="2169"/>
                  <a:pt x="149" y="2167"/>
                </a:cubicBezTo>
                <a:cubicBezTo>
                  <a:pt x="137" y="2164"/>
                  <a:pt x="126" y="2161"/>
                  <a:pt x="115" y="2156"/>
                </a:cubicBezTo>
                <a:cubicBezTo>
                  <a:pt x="103" y="2151"/>
                  <a:pt x="93" y="2146"/>
                  <a:pt x="83" y="2139"/>
                </a:cubicBezTo>
                <a:cubicBezTo>
                  <a:pt x="72" y="2132"/>
                  <a:pt x="63" y="2125"/>
                  <a:pt x="54" y="2116"/>
                </a:cubicBezTo>
                <a:cubicBezTo>
                  <a:pt x="46" y="2107"/>
                  <a:pt x="38" y="2098"/>
                  <a:pt x="31" y="2088"/>
                </a:cubicBezTo>
                <a:cubicBezTo>
                  <a:pt x="25" y="2078"/>
                  <a:pt x="19" y="2067"/>
                  <a:pt x="14" y="2056"/>
                </a:cubicBezTo>
                <a:cubicBezTo>
                  <a:pt x="10" y="2045"/>
                  <a:pt x="6" y="2033"/>
                  <a:pt x="4" y="2021"/>
                </a:cubicBezTo>
                <a:cubicBezTo>
                  <a:pt x="1" y="2009"/>
                  <a:pt x="0" y="1997"/>
                  <a:pt x="0" y="1985"/>
                </a:cubicBezTo>
                <a:close/>
              </a:path>
            </a:pathLst>
          </a:custGeom>
          <a:noFill/>
          <a:ln w="18720">
            <a:solidFill>
              <a:srgbClr val="8A79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010200" y="430128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959880" y="4356360"/>
            <a:ext cx="1534284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同じモデル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5" name=""/>
          <p:cNvSpPr/>
          <p:nvPr/>
        </p:nvSpPr>
        <p:spPr>
          <a:xfrm>
            <a:off x="9820080" y="411444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4"/>
                  <a:pt x="3041" y="11"/>
                </a:cubicBezTo>
                <a:cubicBezTo>
                  <a:pt x="3058" y="17"/>
                  <a:pt x="3072" y="27"/>
                  <a:pt x="3084" y="39"/>
                </a:cubicBezTo>
                <a:cubicBezTo>
                  <a:pt x="3097" y="52"/>
                  <a:pt x="3106" y="66"/>
                  <a:pt x="3113" y="82"/>
                </a:cubicBezTo>
                <a:cubicBezTo>
                  <a:pt x="3120" y="98"/>
                  <a:pt x="3123" y="115"/>
                  <a:pt x="3123" y="133"/>
                </a:cubicBezTo>
                <a:lnTo>
                  <a:pt x="3123" y="1932"/>
                </a:lnTo>
                <a:cubicBezTo>
                  <a:pt x="3123" y="1949"/>
                  <a:pt x="3120" y="1966"/>
                  <a:pt x="3113" y="1984"/>
                </a:cubicBezTo>
                <a:cubicBezTo>
                  <a:pt x="3106" y="2000"/>
                  <a:pt x="3097" y="2014"/>
                  <a:pt x="3084" y="2027"/>
                </a:cubicBezTo>
                <a:cubicBezTo>
                  <a:pt x="3072" y="2039"/>
                  <a:pt x="3058" y="2048"/>
                  <a:pt x="3041" y="2055"/>
                </a:cubicBezTo>
                <a:cubicBezTo>
                  <a:pt x="3025" y="2062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2"/>
                  <a:pt x="82" y="2055"/>
                </a:cubicBezTo>
                <a:cubicBezTo>
                  <a:pt x="65" y="2048"/>
                  <a:pt x="51" y="2039"/>
                  <a:pt x="39" y="2027"/>
                </a:cubicBezTo>
                <a:cubicBezTo>
                  <a:pt x="26" y="2014"/>
                  <a:pt x="17" y="2000"/>
                  <a:pt x="10" y="1984"/>
                </a:cubicBezTo>
                <a:cubicBezTo>
                  <a:pt x="3" y="1966"/>
                  <a:pt x="0" y="1949"/>
                  <a:pt x="0" y="1932"/>
                </a:cubicBezTo>
                <a:close/>
              </a:path>
            </a:pathLst>
          </a:custGeom>
          <a:solidFill>
            <a:srgbClr val="EDF7E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6" name=""/>
          <p:cNvSpPr/>
          <p:nvPr/>
        </p:nvSpPr>
        <p:spPr>
          <a:xfrm>
            <a:off x="9820080" y="411444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4"/>
                  <a:pt x="3041" y="11"/>
                </a:cubicBezTo>
                <a:cubicBezTo>
                  <a:pt x="3058" y="17"/>
                  <a:pt x="3072" y="27"/>
                  <a:pt x="3084" y="39"/>
                </a:cubicBezTo>
                <a:cubicBezTo>
                  <a:pt x="3097" y="52"/>
                  <a:pt x="3106" y="66"/>
                  <a:pt x="3113" y="82"/>
                </a:cubicBezTo>
                <a:cubicBezTo>
                  <a:pt x="3120" y="98"/>
                  <a:pt x="3123" y="115"/>
                  <a:pt x="3123" y="133"/>
                </a:cubicBezTo>
                <a:lnTo>
                  <a:pt x="3123" y="1932"/>
                </a:lnTo>
                <a:cubicBezTo>
                  <a:pt x="3123" y="1949"/>
                  <a:pt x="3120" y="1966"/>
                  <a:pt x="3113" y="1984"/>
                </a:cubicBezTo>
                <a:cubicBezTo>
                  <a:pt x="3106" y="2000"/>
                  <a:pt x="3097" y="2014"/>
                  <a:pt x="3084" y="2027"/>
                </a:cubicBezTo>
                <a:cubicBezTo>
                  <a:pt x="3072" y="2039"/>
                  <a:pt x="3058" y="2048"/>
                  <a:pt x="3041" y="2055"/>
                </a:cubicBezTo>
                <a:cubicBezTo>
                  <a:pt x="3025" y="2062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2"/>
                  <a:pt x="82" y="2055"/>
                </a:cubicBezTo>
                <a:cubicBezTo>
                  <a:pt x="65" y="2048"/>
                  <a:pt x="51" y="2039"/>
                  <a:pt x="39" y="2027"/>
                </a:cubicBezTo>
                <a:cubicBezTo>
                  <a:pt x="26" y="2014"/>
                  <a:pt x="17" y="2000"/>
                  <a:pt x="10" y="1984"/>
                </a:cubicBezTo>
                <a:cubicBezTo>
                  <a:pt x="3" y="1966"/>
                  <a:pt x="0" y="1949"/>
                  <a:pt x="0" y="1932"/>
                </a:cubicBezTo>
                <a:close/>
              </a:path>
            </a:pathLst>
          </a:custGeom>
          <a:noFill/>
          <a:ln w="18720">
            <a:solidFill>
              <a:srgbClr val="78A785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8867880" y="430128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10096560" y="4339440"/>
            <a:ext cx="659916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25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です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799920" y="5380560"/>
            <a:ext cx="86761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学習では</a:t>
            </a:r>
            <a:r>
              <a:rPr lang="ja-JP" sz="180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、文章の途中までを見せ、実際の次の言葉を当てるように学ぶ。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590400" y="5994000"/>
            <a:ext cx="730047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説明用に言葉で区切った例。実際はトークン単位で予測し、生成を繰り返す。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1" name=""/>
          <p:cNvSpPr/>
          <p:nvPr/>
        </p:nvSpPr>
        <p:spPr>
          <a:xfrm>
            <a:off x="4743360" y="3647880"/>
            <a:ext cx="5639040" cy="28800"/>
          </a:xfrm>
          <a:custGeom>
            <a:avLst/>
            <a:gdLst/>
            <a:ahLst/>
            <a:rect l="0" t="0" r="r" b="b"/>
            <a:pathLst>
              <a:path w="15664" h="80">
                <a:moveTo>
                  <a:pt x="0" y="0"/>
                </a:moveTo>
                <a:lnTo>
                  <a:pt x="15664" y="0"/>
                </a:lnTo>
                <a:lnTo>
                  <a:pt x="1566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CF7D3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2" name=""/>
          <p:cNvSpPr/>
          <p:nvPr/>
        </p:nvSpPr>
        <p:spPr>
          <a:xfrm>
            <a:off x="10353600" y="3152520"/>
            <a:ext cx="28800" cy="524160"/>
          </a:xfrm>
          <a:custGeom>
            <a:avLst/>
            <a:gdLst/>
            <a:ahLst/>
            <a:rect l="0" t="0" r="r" b="b"/>
            <a:pathLst>
              <a:path w="80" h="1456">
                <a:moveTo>
                  <a:pt x="0" y="0"/>
                </a:moveTo>
                <a:lnTo>
                  <a:pt x="80" y="0"/>
                </a:lnTo>
                <a:lnTo>
                  <a:pt x="8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CF7D3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3" name=""/>
          <p:cNvSpPr/>
          <p:nvPr/>
        </p:nvSpPr>
        <p:spPr>
          <a:xfrm>
            <a:off x="5067000" y="3295440"/>
            <a:ext cx="3772440" cy="314640"/>
          </a:xfrm>
          <a:custGeom>
            <a:avLst/>
            <a:gdLst/>
            <a:ahLst/>
            <a:rect l="0" t="0" r="r" b="b"/>
            <a:pathLst>
              <a:path w="10479" h="874">
                <a:moveTo>
                  <a:pt x="0" y="0"/>
                </a:moveTo>
                <a:lnTo>
                  <a:pt x="10479" y="0"/>
                </a:lnTo>
                <a:lnTo>
                  <a:pt x="1047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285840" y="239760"/>
            <a:ext cx="18133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4.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モデルと評価方法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5067360" y="3339720"/>
            <a:ext cx="432257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A75A15"/>
                </a:solidFill>
                <a:effectLst/>
                <a:uFillTx/>
                <a:latin typeface="Hiragino Sans"/>
                <a:ea typeface="Hiragino Sans"/>
              </a:rPr>
              <a:t>出力した「好き」を、次の入力の末尾へ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72000" y="3555720"/>
            <a:ext cx="39537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0" u="none" strike="noStrike">
                <a:solidFill>
                  <a:srgbClr val="CF7D31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1" name=""/>
          <p:cNvSpPr/>
          <p:nvPr/>
        </p:nvSpPr>
        <p:spPr>
          <a:xfrm>
            <a:off x="595080" y="1442880"/>
            <a:ext cx="5353560" cy="3886560"/>
          </a:xfrm>
          <a:custGeom>
            <a:avLst/>
            <a:gdLst/>
            <a:ahLst/>
            <a:rect l="0" t="0" r="r" b="b"/>
            <a:pathLst>
              <a:path w="14871" h="10796">
                <a:moveTo>
                  <a:pt x="0" y="1065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5"/>
                  <a:pt x="14772" y="7"/>
                  <a:pt x="14781" y="11"/>
                </a:cubicBezTo>
                <a:cubicBezTo>
                  <a:pt x="14790" y="15"/>
                  <a:pt x="14798" y="19"/>
                  <a:pt x="14806" y="24"/>
                </a:cubicBezTo>
                <a:cubicBezTo>
                  <a:pt x="14814" y="30"/>
                  <a:pt x="14821" y="36"/>
                  <a:pt x="14828" y="43"/>
                </a:cubicBezTo>
                <a:cubicBezTo>
                  <a:pt x="14835" y="49"/>
                  <a:pt x="14841" y="57"/>
                  <a:pt x="14846" y="65"/>
                </a:cubicBezTo>
                <a:cubicBezTo>
                  <a:pt x="14852" y="73"/>
                  <a:pt x="14856" y="81"/>
                  <a:pt x="14860" y="90"/>
                </a:cubicBezTo>
                <a:cubicBezTo>
                  <a:pt x="14863" y="99"/>
                  <a:pt x="14866" y="108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0650"/>
                </a:lnTo>
                <a:cubicBezTo>
                  <a:pt x="14871" y="10660"/>
                  <a:pt x="14870" y="10669"/>
                  <a:pt x="14868" y="10679"/>
                </a:cubicBezTo>
                <a:cubicBezTo>
                  <a:pt x="14866" y="10688"/>
                  <a:pt x="14863" y="10697"/>
                  <a:pt x="14860" y="10706"/>
                </a:cubicBezTo>
                <a:cubicBezTo>
                  <a:pt x="14856" y="10715"/>
                  <a:pt x="14852" y="10723"/>
                  <a:pt x="14846" y="10731"/>
                </a:cubicBezTo>
                <a:cubicBezTo>
                  <a:pt x="14841" y="10739"/>
                  <a:pt x="14835" y="10747"/>
                  <a:pt x="14828" y="10753"/>
                </a:cubicBezTo>
                <a:cubicBezTo>
                  <a:pt x="14821" y="10760"/>
                  <a:pt x="14814" y="10766"/>
                  <a:pt x="14806" y="10771"/>
                </a:cubicBezTo>
                <a:cubicBezTo>
                  <a:pt x="14798" y="10777"/>
                  <a:pt x="14790" y="10781"/>
                  <a:pt x="14781" y="10785"/>
                </a:cubicBezTo>
                <a:cubicBezTo>
                  <a:pt x="14772" y="10789"/>
                  <a:pt x="14763" y="10791"/>
                  <a:pt x="14754" y="10793"/>
                </a:cubicBezTo>
                <a:cubicBezTo>
                  <a:pt x="14744" y="10795"/>
                  <a:pt x="14735" y="10796"/>
                  <a:pt x="14725" y="10796"/>
                </a:cubicBezTo>
                <a:lnTo>
                  <a:pt x="146" y="10796"/>
                </a:lnTo>
                <a:cubicBezTo>
                  <a:pt x="136" y="10796"/>
                  <a:pt x="127" y="10795"/>
                  <a:pt x="117" y="10793"/>
                </a:cubicBezTo>
                <a:cubicBezTo>
                  <a:pt x="108" y="10791"/>
                  <a:pt x="99" y="10789"/>
                  <a:pt x="90" y="10785"/>
                </a:cubicBezTo>
                <a:cubicBezTo>
                  <a:pt x="81" y="10781"/>
                  <a:pt x="73" y="10777"/>
                  <a:pt x="65" y="10771"/>
                </a:cubicBezTo>
                <a:cubicBezTo>
                  <a:pt x="57" y="10766"/>
                  <a:pt x="50" y="10760"/>
                  <a:pt x="43" y="10753"/>
                </a:cubicBezTo>
                <a:cubicBezTo>
                  <a:pt x="36" y="10747"/>
                  <a:pt x="30" y="10739"/>
                  <a:pt x="25" y="10731"/>
                </a:cubicBezTo>
                <a:cubicBezTo>
                  <a:pt x="19" y="10723"/>
                  <a:pt x="15" y="10715"/>
                  <a:pt x="11" y="10706"/>
                </a:cubicBezTo>
                <a:cubicBezTo>
                  <a:pt x="8" y="10697"/>
                  <a:pt x="5" y="10688"/>
                  <a:pt x="3" y="10679"/>
                </a:cubicBezTo>
                <a:cubicBezTo>
                  <a:pt x="1" y="10669"/>
                  <a:pt x="0" y="10660"/>
                  <a:pt x="0" y="10650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2" name=""/>
          <p:cNvSpPr/>
          <p:nvPr/>
        </p:nvSpPr>
        <p:spPr>
          <a:xfrm>
            <a:off x="595080" y="1442880"/>
            <a:ext cx="5353560" cy="3886560"/>
          </a:xfrm>
          <a:custGeom>
            <a:avLst/>
            <a:gdLst/>
            <a:ahLst/>
            <a:rect l="0" t="0" r="r" b="b"/>
            <a:pathLst>
              <a:path w="14871" h="10796">
                <a:moveTo>
                  <a:pt x="0" y="1065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5"/>
                  <a:pt x="14772" y="7"/>
                  <a:pt x="14781" y="11"/>
                </a:cubicBezTo>
                <a:cubicBezTo>
                  <a:pt x="14790" y="15"/>
                  <a:pt x="14798" y="19"/>
                  <a:pt x="14806" y="24"/>
                </a:cubicBezTo>
                <a:cubicBezTo>
                  <a:pt x="14814" y="30"/>
                  <a:pt x="14821" y="36"/>
                  <a:pt x="14828" y="43"/>
                </a:cubicBezTo>
                <a:cubicBezTo>
                  <a:pt x="14835" y="49"/>
                  <a:pt x="14841" y="57"/>
                  <a:pt x="14846" y="65"/>
                </a:cubicBezTo>
                <a:cubicBezTo>
                  <a:pt x="14852" y="73"/>
                  <a:pt x="14856" y="81"/>
                  <a:pt x="14860" y="90"/>
                </a:cubicBezTo>
                <a:cubicBezTo>
                  <a:pt x="14863" y="99"/>
                  <a:pt x="14866" y="108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0650"/>
                </a:lnTo>
                <a:cubicBezTo>
                  <a:pt x="14871" y="10660"/>
                  <a:pt x="14870" y="10669"/>
                  <a:pt x="14868" y="10679"/>
                </a:cubicBezTo>
                <a:cubicBezTo>
                  <a:pt x="14866" y="10688"/>
                  <a:pt x="14863" y="10697"/>
                  <a:pt x="14860" y="10706"/>
                </a:cubicBezTo>
                <a:cubicBezTo>
                  <a:pt x="14856" y="10715"/>
                  <a:pt x="14852" y="10723"/>
                  <a:pt x="14846" y="10731"/>
                </a:cubicBezTo>
                <a:cubicBezTo>
                  <a:pt x="14841" y="10739"/>
                  <a:pt x="14835" y="10747"/>
                  <a:pt x="14828" y="10753"/>
                </a:cubicBezTo>
                <a:cubicBezTo>
                  <a:pt x="14821" y="10760"/>
                  <a:pt x="14814" y="10766"/>
                  <a:pt x="14806" y="10771"/>
                </a:cubicBezTo>
                <a:cubicBezTo>
                  <a:pt x="14798" y="10777"/>
                  <a:pt x="14790" y="10781"/>
                  <a:pt x="14781" y="10785"/>
                </a:cubicBezTo>
                <a:cubicBezTo>
                  <a:pt x="14772" y="10789"/>
                  <a:pt x="14763" y="10791"/>
                  <a:pt x="14754" y="10793"/>
                </a:cubicBezTo>
                <a:cubicBezTo>
                  <a:pt x="14744" y="10795"/>
                  <a:pt x="14735" y="10796"/>
                  <a:pt x="14725" y="10796"/>
                </a:cubicBezTo>
                <a:lnTo>
                  <a:pt x="146" y="10796"/>
                </a:lnTo>
                <a:cubicBezTo>
                  <a:pt x="136" y="10796"/>
                  <a:pt x="127" y="10795"/>
                  <a:pt x="117" y="10793"/>
                </a:cubicBezTo>
                <a:cubicBezTo>
                  <a:pt x="108" y="10791"/>
                  <a:pt x="99" y="10789"/>
                  <a:pt x="90" y="10785"/>
                </a:cubicBezTo>
                <a:cubicBezTo>
                  <a:pt x="81" y="10781"/>
                  <a:pt x="73" y="10777"/>
                  <a:pt x="65" y="10771"/>
                </a:cubicBezTo>
                <a:cubicBezTo>
                  <a:pt x="57" y="10766"/>
                  <a:pt x="50" y="10760"/>
                  <a:pt x="43" y="10753"/>
                </a:cubicBezTo>
                <a:cubicBezTo>
                  <a:pt x="36" y="10747"/>
                  <a:pt x="30" y="10739"/>
                  <a:pt x="25" y="10731"/>
                </a:cubicBezTo>
                <a:cubicBezTo>
                  <a:pt x="19" y="10723"/>
                  <a:pt x="15" y="10715"/>
                  <a:pt x="11" y="10706"/>
                </a:cubicBezTo>
                <a:cubicBezTo>
                  <a:pt x="8" y="10697"/>
                  <a:pt x="5" y="10688"/>
                  <a:pt x="3" y="10679"/>
                </a:cubicBezTo>
                <a:cubicBezTo>
                  <a:pt x="1" y="10669"/>
                  <a:pt x="0" y="10660"/>
                  <a:pt x="0" y="10650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590400" y="762840"/>
            <a:ext cx="7964532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5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① 次のトークンは、候補ごとの確率分布で表す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743040" y="15832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937800" y="1591200"/>
            <a:ext cx="353059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今の入力から、次のトークンの点数を得る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743040" y="18118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937800" y="1819800"/>
            <a:ext cx="5580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まずは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1423800" y="1811880"/>
            <a:ext cx="190233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 temperature=1.0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3080880" y="1819800"/>
            <a:ext cx="92984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として読む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743040" y="2040480"/>
            <a:ext cx="111945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logits = 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743040" y="2259720"/>
            <a:ext cx="413917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model(input_ids).logits[:, 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:]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43040" y="2488320"/>
            <a:ext cx="190233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/ temperature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743040" y="271692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43040" y="317412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937800" y="3181680"/>
            <a:ext cx="241610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候補を点数の高い順に並べる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743040" y="3393000"/>
            <a:ext cx="481026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sorted_logits, sorted_indices = torch.sort(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743040" y="3621600"/>
            <a:ext cx="391561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logits, descending=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dim=-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743040" y="385020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43040" y="4307400"/>
            <a:ext cx="100726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softmax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1620360" y="4315320"/>
            <a:ext cx="260157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で、点数を確率分布に変換する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743040" y="4526640"/>
            <a:ext cx="413917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sorted_probabilities = torch.softmax(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743040" y="4755240"/>
            <a:ext cx="279698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sorted_logits, dim=-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743040" y="498384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590400" y="5483520"/>
            <a:ext cx="4188852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比較評価から抜粋。コメントを追加し、改行を調整。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5" name=""/>
          <p:cNvSpPr/>
          <p:nvPr/>
        </p:nvSpPr>
        <p:spPr>
          <a:xfrm>
            <a:off x="6248160" y="4066920"/>
            <a:ext cx="1581480" cy="390960"/>
          </a:xfrm>
          <a:custGeom>
            <a:avLst/>
            <a:gdLst/>
            <a:ahLst/>
            <a:rect l="0" t="0" r="r" b="b"/>
            <a:pathLst>
              <a:path w="4393" h="1086">
                <a:moveTo>
                  <a:pt x="0" y="0"/>
                </a:moveTo>
                <a:lnTo>
                  <a:pt x="4393" y="0"/>
                </a:lnTo>
                <a:lnTo>
                  <a:pt x="439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6" name=""/>
          <p:cNvSpPr/>
          <p:nvPr/>
        </p:nvSpPr>
        <p:spPr>
          <a:xfrm>
            <a:off x="7829280" y="4066920"/>
            <a:ext cx="1591200" cy="390960"/>
          </a:xfrm>
          <a:custGeom>
            <a:avLst/>
            <a:gdLst/>
            <a:ahLst/>
            <a:rect l="0" t="0" r="r" b="b"/>
            <a:pathLst>
              <a:path w="4420" h="1086">
                <a:moveTo>
                  <a:pt x="0" y="0"/>
                </a:moveTo>
                <a:lnTo>
                  <a:pt x="4420" y="0"/>
                </a:lnTo>
                <a:lnTo>
                  <a:pt x="44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7" name=""/>
          <p:cNvSpPr/>
          <p:nvPr/>
        </p:nvSpPr>
        <p:spPr>
          <a:xfrm>
            <a:off x="9420120" y="4066920"/>
            <a:ext cx="2181600" cy="390960"/>
          </a:xfrm>
          <a:custGeom>
            <a:avLst/>
            <a:gdLst/>
            <a:ahLst/>
            <a:rect l="0" t="0" r="r" b="b"/>
            <a:pathLst>
              <a:path w="6060" h="1086">
                <a:moveTo>
                  <a:pt x="0" y="0"/>
                </a:moveTo>
                <a:lnTo>
                  <a:pt x="6060" y="0"/>
                </a:lnTo>
                <a:lnTo>
                  <a:pt x="606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8" name=""/>
          <p:cNvSpPr/>
          <p:nvPr/>
        </p:nvSpPr>
        <p:spPr>
          <a:xfrm>
            <a:off x="6248160" y="4066920"/>
            <a:ext cx="1581480" cy="390960"/>
          </a:xfrm>
          <a:custGeom>
            <a:avLst/>
            <a:gdLst/>
            <a:ahLst/>
            <a:rect l="0" t="0" r="r" b="b"/>
            <a:pathLst>
              <a:path w="4393" h="1086">
                <a:moveTo>
                  <a:pt x="0" y="0"/>
                </a:moveTo>
                <a:lnTo>
                  <a:pt x="4393" y="0"/>
                </a:lnTo>
                <a:lnTo>
                  <a:pt x="439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9" name=""/>
          <p:cNvSpPr/>
          <p:nvPr/>
        </p:nvSpPr>
        <p:spPr>
          <a:xfrm>
            <a:off x="7829280" y="4066920"/>
            <a:ext cx="1591200" cy="390960"/>
          </a:xfrm>
          <a:custGeom>
            <a:avLst/>
            <a:gdLst/>
            <a:ahLst/>
            <a:rect l="0" t="0" r="r" b="b"/>
            <a:pathLst>
              <a:path w="4420" h="1086">
                <a:moveTo>
                  <a:pt x="0" y="0"/>
                </a:moveTo>
                <a:lnTo>
                  <a:pt x="4420" y="0"/>
                </a:lnTo>
                <a:lnTo>
                  <a:pt x="44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0" name=""/>
          <p:cNvSpPr/>
          <p:nvPr/>
        </p:nvSpPr>
        <p:spPr>
          <a:xfrm>
            <a:off x="9420120" y="4066920"/>
            <a:ext cx="2181600" cy="390960"/>
          </a:xfrm>
          <a:custGeom>
            <a:avLst/>
            <a:gdLst/>
            <a:ahLst/>
            <a:rect l="0" t="0" r="r" b="b"/>
            <a:pathLst>
              <a:path w="6060" h="1086">
                <a:moveTo>
                  <a:pt x="0" y="0"/>
                </a:moveTo>
                <a:lnTo>
                  <a:pt x="6060" y="0"/>
                </a:lnTo>
                <a:lnTo>
                  <a:pt x="606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1" name=""/>
          <p:cNvSpPr/>
          <p:nvPr/>
        </p:nvSpPr>
        <p:spPr>
          <a:xfrm>
            <a:off x="6248160" y="4457520"/>
            <a:ext cx="1581480" cy="390960"/>
          </a:xfrm>
          <a:custGeom>
            <a:avLst/>
            <a:gdLst/>
            <a:ahLst/>
            <a:rect l="0" t="0" r="r" b="b"/>
            <a:pathLst>
              <a:path w="4393" h="1086">
                <a:moveTo>
                  <a:pt x="0" y="0"/>
                </a:moveTo>
                <a:lnTo>
                  <a:pt x="4393" y="0"/>
                </a:lnTo>
                <a:lnTo>
                  <a:pt x="439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2" name=""/>
          <p:cNvSpPr/>
          <p:nvPr/>
        </p:nvSpPr>
        <p:spPr>
          <a:xfrm>
            <a:off x="7829280" y="4457520"/>
            <a:ext cx="1591200" cy="390960"/>
          </a:xfrm>
          <a:custGeom>
            <a:avLst/>
            <a:gdLst/>
            <a:ahLst/>
            <a:rect l="0" t="0" r="r" b="b"/>
            <a:pathLst>
              <a:path w="4420" h="1086">
                <a:moveTo>
                  <a:pt x="0" y="0"/>
                </a:moveTo>
                <a:lnTo>
                  <a:pt x="4420" y="0"/>
                </a:lnTo>
                <a:lnTo>
                  <a:pt x="44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3" name=""/>
          <p:cNvSpPr/>
          <p:nvPr/>
        </p:nvSpPr>
        <p:spPr>
          <a:xfrm>
            <a:off x="9420120" y="4457520"/>
            <a:ext cx="2181600" cy="390960"/>
          </a:xfrm>
          <a:custGeom>
            <a:avLst/>
            <a:gdLst/>
            <a:ahLst/>
            <a:rect l="0" t="0" r="r" b="b"/>
            <a:pathLst>
              <a:path w="6060" h="1086">
                <a:moveTo>
                  <a:pt x="0" y="0"/>
                </a:moveTo>
                <a:lnTo>
                  <a:pt x="6060" y="0"/>
                </a:lnTo>
                <a:lnTo>
                  <a:pt x="606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4" name=""/>
          <p:cNvSpPr/>
          <p:nvPr/>
        </p:nvSpPr>
        <p:spPr>
          <a:xfrm>
            <a:off x="6248160" y="4848120"/>
            <a:ext cx="1581480" cy="390960"/>
          </a:xfrm>
          <a:custGeom>
            <a:avLst/>
            <a:gdLst/>
            <a:ahLst/>
            <a:rect l="0" t="0" r="r" b="b"/>
            <a:pathLst>
              <a:path w="4393" h="1086">
                <a:moveTo>
                  <a:pt x="0" y="0"/>
                </a:moveTo>
                <a:lnTo>
                  <a:pt x="4393" y="0"/>
                </a:lnTo>
                <a:lnTo>
                  <a:pt x="439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5" name=""/>
          <p:cNvSpPr/>
          <p:nvPr/>
        </p:nvSpPr>
        <p:spPr>
          <a:xfrm>
            <a:off x="7829280" y="4848120"/>
            <a:ext cx="1591200" cy="390960"/>
          </a:xfrm>
          <a:custGeom>
            <a:avLst/>
            <a:gdLst/>
            <a:ahLst/>
            <a:rect l="0" t="0" r="r" b="b"/>
            <a:pathLst>
              <a:path w="4420" h="1086">
                <a:moveTo>
                  <a:pt x="0" y="0"/>
                </a:moveTo>
                <a:lnTo>
                  <a:pt x="4420" y="0"/>
                </a:lnTo>
                <a:lnTo>
                  <a:pt x="44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6" name=""/>
          <p:cNvSpPr/>
          <p:nvPr/>
        </p:nvSpPr>
        <p:spPr>
          <a:xfrm>
            <a:off x="9420120" y="4848120"/>
            <a:ext cx="2181600" cy="390960"/>
          </a:xfrm>
          <a:custGeom>
            <a:avLst/>
            <a:gdLst/>
            <a:ahLst/>
            <a:rect l="0" t="0" r="r" b="b"/>
            <a:pathLst>
              <a:path w="6060" h="1086">
                <a:moveTo>
                  <a:pt x="0" y="0"/>
                </a:moveTo>
                <a:lnTo>
                  <a:pt x="6060" y="0"/>
                </a:lnTo>
                <a:lnTo>
                  <a:pt x="606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7" name=""/>
          <p:cNvSpPr/>
          <p:nvPr/>
        </p:nvSpPr>
        <p:spPr>
          <a:xfrm>
            <a:off x="6248160" y="5238720"/>
            <a:ext cx="1581480" cy="390600"/>
          </a:xfrm>
          <a:custGeom>
            <a:avLst/>
            <a:gdLst/>
            <a:ahLst/>
            <a:rect l="0" t="0" r="r" b="b"/>
            <a:pathLst>
              <a:path w="4393" h="1085">
                <a:moveTo>
                  <a:pt x="0" y="0"/>
                </a:moveTo>
                <a:lnTo>
                  <a:pt x="4393" y="0"/>
                </a:lnTo>
                <a:lnTo>
                  <a:pt x="4393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8" name=""/>
          <p:cNvSpPr/>
          <p:nvPr/>
        </p:nvSpPr>
        <p:spPr>
          <a:xfrm>
            <a:off x="7829280" y="5238720"/>
            <a:ext cx="1591200" cy="390600"/>
          </a:xfrm>
          <a:custGeom>
            <a:avLst/>
            <a:gdLst/>
            <a:ahLst/>
            <a:rect l="0" t="0" r="r" b="b"/>
            <a:pathLst>
              <a:path w="4420" h="1085">
                <a:moveTo>
                  <a:pt x="0" y="0"/>
                </a:moveTo>
                <a:lnTo>
                  <a:pt x="4420" y="0"/>
                </a:lnTo>
                <a:lnTo>
                  <a:pt x="4420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9" name=""/>
          <p:cNvSpPr/>
          <p:nvPr/>
        </p:nvSpPr>
        <p:spPr>
          <a:xfrm>
            <a:off x="9420120" y="5238720"/>
            <a:ext cx="2181600" cy="390600"/>
          </a:xfrm>
          <a:custGeom>
            <a:avLst/>
            <a:gdLst/>
            <a:ahLst/>
            <a:rect l="0" t="0" r="r" b="b"/>
            <a:pathLst>
              <a:path w="6060" h="1085">
                <a:moveTo>
                  <a:pt x="0" y="0"/>
                </a:moveTo>
                <a:lnTo>
                  <a:pt x="6060" y="0"/>
                </a:lnTo>
                <a:lnTo>
                  <a:pt x="6060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0" name=""/>
          <p:cNvSpPr/>
          <p:nvPr/>
        </p:nvSpPr>
        <p:spPr>
          <a:xfrm>
            <a:off x="6238800" y="40669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1" name=""/>
          <p:cNvSpPr/>
          <p:nvPr/>
        </p:nvSpPr>
        <p:spPr>
          <a:xfrm>
            <a:off x="6238800" y="40669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2" name=""/>
          <p:cNvSpPr/>
          <p:nvPr/>
        </p:nvSpPr>
        <p:spPr>
          <a:xfrm>
            <a:off x="7829280" y="4066920"/>
            <a:ext cx="10440" cy="400320"/>
          </a:xfrm>
          <a:custGeom>
            <a:avLst/>
            <a:gdLst/>
            <a:ahLst/>
            <a:rect l="0" t="0" r="r" b="b"/>
            <a:pathLst>
              <a:path w="29" h="1112">
                <a:moveTo>
                  <a:pt x="0" y="0"/>
                </a:moveTo>
                <a:lnTo>
                  <a:pt x="29" y="0"/>
                </a:lnTo>
                <a:lnTo>
                  <a:pt x="29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3" name=""/>
          <p:cNvSpPr/>
          <p:nvPr/>
        </p:nvSpPr>
        <p:spPr>
          <a:xfrm>
            <a:off x="7839000" y="4066920"/>
            <a:ext cx="1581480" cy="10080"/>
          </a:xfrm>
          <a:custGeom>
            <a:avLst/>
            <a:gdLst/>
            <a:ahLst/>
            <a:rect l="0" t="0" r="r" b="b"/>
            <a:pathLst>
              <a:path w="4393" h="28">
                <a:moveTo>
                  <a:pt x="0" y="0"/>
                </a:moveTo>
                <a:lnTo>
                  <a:pt x="4393" y="0"/>
                </a:lnTo>
                <a:lnTo>
                  <a:pt x="43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4" name=""/>
          <p:cNvSpPr/>
          <p:nvPr/>
        </p:nvSpPr>
        <p:spPr>
          <a:xfrm>
            <a:off x="9410400" y="406692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5" name=""/>
          <p:cNvSpPr/>
          <p:nvPr/>
        </p:nvSpPr>
        <p:spPr>
          <a:xfrm>
            <a:off x="9420120" y="406692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6" name=""/>
          <p:cNvSpPr/>
          <p:nvPr/>
        </p:nvSpPr>
        <p:spPr>
          <a:xfrm>
            <a:off x="11591640" y="406692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7" name=""/>
          <p:cNvSpPr/>
          <p:nvPr/>
        </p:nvSpPr>
        <p:spPr>
          <a:xfrm>
            <a:off x="6238800" y="44575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8" name=""/>
          <p:cNvSpPr/>
          <p:nvPr/>
        </p:nvSpPr>
        <p:spPr>
          <a:xfrm>
            <a:off x="7839000" y="4457520"/>
            <a:ext cx="1581480" cy="9720"/>
          </a:xfrm>
          <a:custGeom>
            <a:avLst/>
            <a:gdLst/>
            <a:ahLst/>
            <a:rect l="0" t="0" r="r" b="b"/>
            <a:pathLst>
              <a:path w="4393" h="27">
                <a:moveTo>
                  <a:pt x="0" y="0"/>
                </a:moveTo>
                <a:lnTo>
                  <a:pt x="4393" y="0"/>
                </a:lnTo>
                <a:lnTo>
                  <a:pt x="43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9" name=""/>
          <p:cNvSpPr/>
          <p:nvPr/>
        </p:nvSpPr>
        <p:spPr>
          <a:xfrm>
            <a:off x="9420120" y="445752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0" name=""/>
          <p:cNvSpPr/>
          <p:nvPr/>
        </p:nvSpPr>
        <p:spPr>
          <a:xfrm>
            <a:off x="6238800" y="44668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1" name=""/>
          <p:cNvSpPr/>
          <p:nvPr/>
        </p:nvSpPr>
        <p:spPr>
          <a:xfrm>
            <a:off x="7829280" y="4466880"/>
            <a:ext cx="10440" cy="390960"/>
          </a:xfrm>
          <a:custGeom>
            <a:avLst/>
            <a:gdLst/>
            <a:ahLst/>
            <a:rect l="0" t="0" r="r" b="b"/>
            <a:pathLst>
              <a:path w="29" h="1086">
                <a:moveTo>
                  <a:pt x="0" y="0"/>
                </a:moveTo>
                <a:lnTo>
                  <a:pt x="29" y="0"/>
                </a:lnTo>
                <a:lnTo>
                  <a:pt x="2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2" name=""/>
          <p:cNvSpPr/>
          <p:nvPr/>
        </p:nvSpPr>
        <p:spPr>
          <a:xfrm>
            <a:off x="9410400" y="44668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3" name=""/>
          <p:cNvSpPr/>
          <p:nvPr/>
        </p:nvSpPr>
        <p:spPr>
          <a:xfrm>
            <a:off x="11591640" y="44668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4" name=""/>
          <p:cNvSpPr/>
          <p:nvPr/>
        </p:nvSpPr>
        <p:spPr>
          <a:xfrm>
            <a:off x="6238800" y="48574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5" name=""/>
          <p:cNvSpPr/>
          <p:nvPr/>
        </p:nvSpPr>
        <p:spPr>
          <a:xfrm>
            <a:off x="6238800" y="48481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6" name=""/>
          <p:cNvSpPr/>
          <p:nvPr/>
        </p:nvSpPr>
        <p:spPr>
          <a:xfrm>
            <a:off x="7829280" y="4857480"/>
            <a:ext cx="10440" cy="390960"/>
          </a:xfrm>
          <a:custGeom>
            <a:avLst/>
            <a:gdLst/>
            <a:ahLst/>
            <a:rect l="0" t="0" r="r" b="b"/>
            <a:pathLst>
              <a:path w="29" h="1086">
                <a:moveTo>
                  <a:pt x="0" y="0"/>
                </a:moveTo>
                <a:lnTo>
                  <a:pt x="29" y="0"/>
                </a:lnTo>
                <a:lnTo>
                  <a:pt x="2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7" name=""/>
          <p:cNvSpPr/>
          <p:nvPr/>
        </p:nvSpPr>
        <p:spPr>
          <a:xfrm>
            <a:off x="7839000" y="4848120"/>
            <a:ext cx="1581480" cy="9720"/>
          </a:xfrm>
          <a:custGeom>
            <a:avLst/>
            <a:gdLst/>
            <a:ahLst/>
            <a:rect l="0" t="0" r="r" b="b"/>
            <a:pathLst>
              <a:path w="4393" h="27">
                <a:moveTo>
                  <a:pt x="0" y="0"/>
                </a:moveTo>
                <a:lnTo>
                  <a:pt x="4393" y="0"/>
                </a:lnTo>
                <a:lnTo>
                  <a:pt x="43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8" name=""/>
          <p:cNvSpPr/>
          <p:nvPr/>
        </p:nvSpPr>
        <p:spPr>
          <a:xfrm>
            <a:off x="9410400" y="48574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9" name=""/>
          <p:cNvSpPr/>
          <p:nvPr/>
        </p:nvSpPr>
        <p:spPr>
          <a:xfrm>
            <a:off x="9420120" y="484812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0" name=""/>
          <p:cNvSpPr/>
          <p:nvPr/>
        </p:nvSpPr>
        <p:spPr>
          <a:xfrm>
            <a:off x="11591640" y="48574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1" name=""/>
          <p:cNvSpPr/>
          <p:nvPr/>
        </p:nvSpPr>
        <p:spPr>
          <a:xfrm>
            <a:off x="6238800" y="52480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2" name=""/>
          <p:cNvSpPr/>
          <p:nvPr/>
        </p:nvSpPr>
        <p:spPr>
          <a:xfrm>
            <a:off x="6238800" y="5238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3" name=""/>
          <p:cNvSpPr/>
          <p:nvPr/>
        </p:nvSpPr>
        <p:spPr>
          <a:xfrm>
            <a:off x="7829280" y="5248080"/>
            <a:ext cx="10440" cy="390960"/>
          </a:xfrm>
          <a:custGeom>
            <a:avLst/>
            <a:gdLst/>
            <a:ahLst/>
            <a:rect l="0" t="0" r="r" b="b"/>
            <a:pathLst>
              <a:path w="29" h="1086">
                <a:moveTo>
                  <a:pt x="0" y="0"/>
                </a:moveTo>
                <a:lnTo>
                  <a:pt x="29" y="0"/>
                </a:lnTo>
                <a:lnTo>
                  <a:pt x="2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4" name=""/>
          <p:cNvSpPr/>
          <p:nvPr/>
        </p:nvSpPr>
        <p:spPr>
          <a:xfrm>
            <a:off x="7839000" y="5238720"/>
            <a:ext cx="1581480" cy="9720"/>
          </a:xfrm>
          <a:custGeom>
            <a:avLst/>
            <a:gdLst/>
            <a:ahLst/>
            <a:rect l="0" t="0" r="r" b="b"/>
            <a:pathLst>
              <a:path w="4393" h="27">
                <a:moveTo>
                  <a:pt x="0" y="0"/>
                </a:moveTo>
                <a:lnTo>
                  <a:pt x="4393" y="0"/>
                </a:lnTo>
                <a:lnTo>
                  <a:pt x="43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5" name=""/>
          <p:cNvSpPr/>
          <p:nvPr/>
        </p:nvSpPr>
        <p:spPr>
          <a:xfrm>
            <a:off x="9410400" y="52480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6" name=""/>
          <p:cNvSpPr/>
          <p:nvPr/>
        </p:nvSpPr>
        <p:spPr>
          <a:xfrm>
            <a:off x="9420120" y="523872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7" name=""/>
          <p:cNvSpPr/>
          <p:nvPr/>
        </p:nvSpPr>
        <p:spPr>
          <a:xfrm>
            <a:off x="11591640" y="52480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8" name=""/>
          <p:cNvSpPr/>
          <p:nvPr/>
        </p:nvSpPr>
        <p:spPr>
          <a:xfrm>
            <a:off x="6238800" y="56289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9" name=""/>
          <p:cNvSpPr/>
          <p:nvPr/>
        </p:nvSpPr>
        <p:spPr>
          <a:xfrm>
            <a:off x="7839000" y="5628960"/>
            <a:ext cx="1581480" cy="10080"/>
          </a:xfrm>
          <a:custGeom>
            <a:avLst/>
            <a:gdLst/>
            <a:ahLst/>
            <a:rect l="0" t="0" r="r" b="b"/>
            <a:pathLst>
              <a:path w="4393" h="28">
                <a:moveTo>
                  <a:pt x="0" y="0"/>
                </a:moveTo>
                <a:lnTo>
                  <a:pt x="4393" y="0"/>
                </a:lnTo>
                <a:lnTo>
                  <a:pt x="43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0" name=""/>
          <p:cNvSpPr/>
          <p:nvPr/>
        </p:nvSpPr>
        <p:spPr>
          <a:xfrm>
            <a:off x="9420120" y="562896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90400" y="5673960"/>
            <a:ext cx="369081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evaluate_boku_nano_comparison.py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209–211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6238800" y="1532520"/>
            <a:ext cx="465129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最初から</a:t>
            </a:r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つの答えが出るわけではない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238800" y="205272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モデルは、語彙の全トークンに対する 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点数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（ロジット）を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4" name=""/>
          <p:cNvSpPr/>
          <p:nvPr/>
        </p:nvSpPr>
        <p:spPr>
          <a:xfrm>
            <a:off x="6238800" y="2705040"/>
            <a:ext cx="1200240" cy="276480"/>
          </a:xfrm>
          <a:custGeom>
            <a:avLst/>
            <a:gdLst/>
            <a:ahLst/>
            <a:rect l="0" t="0" r="r" b="b"/>
            <a:pathLst>
              <a:path w="3334" h="768">
                <a:moveTo>
                  <a:pt x="0" y="609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176" y="0"/>
                </a:lnTo>
                <a:cubicBezTo>
                  <a:pt x="3186" y="0"/>
                  <a:pt x="3196" y="1"/>
                  <a:pt x="3207" y="3"/>
                </a:cubicBezTo>
                <a:cubicBezTo>
                  <a:pt x="3217" y="5"/>
                  <a:pt x="3227" y="8"/>
                  <a:pt x="3236" y="12"/>
                </a:cubicBezTo>
                <a:cubicBezTo>
                  <a:pt x="3246" y="16"/>
                  <a:pt x="3255" y="21"/>
                  <a:pt x="3264" y="26"/>
                </a:cubicBezTo>
                <a:cubicBezTo>
                  <a:pt x="3273" y="32"/>
                  <a:pt x="3281" y="39"/>
                  <a:pt x="3288" y="46"/>
                </a:cubicBezTo>
                <a:cubicBezTo>
                  <a:pt x="3295" y="54"/>
                  <a:pt x="3302" y="62"/>
                  <a:pt x="3308" y="70"/>
                </a:cubicBezTo>
                <a:cubicBezTo>
                  <a:pt x="3313" y="79"/>
                  <a:pt x="3318" y="88"/>
                  <a:pt x="3322" y="98"/>
                </a:cubicBezTo>
                <a:cubicBezTo>
                  <a:pt x="3326" y="107"/>
                  <a:pt x="3329" y="117"/>
                  <a:pt x="3331" y="127"/>
                </a:cubicBezTo>
                <a:cubicBezTo>
                  <a:pt x="3333" y="138"/>
                  <a:pt x="3334" y="148"/>
                  <a:pt x="3334" y="158"/>
                </a:cubicBezTo>
                <a:lnTo>
                  <a:pt x="3334" y="609"/>
                </a:lnTo>
                <a:cubicBezTo>
                  <a:pt x="3334" y="620"/>
                  <a:pt x="3333" y="630"/>
                  <a:pt x="3331" y="640"/>
                </a:cubicBezTo>
                <a:cubicBezTo>
                  <a:pt x="3329" y="650"/>
                  <a:pt x="3326" y="660"/>
                  <a:pt x="3322" y="670"/>
                </a:cubicBezTo>
                <a:cubicBezTo>
                  <a:pt x="3318" y="680"/>
                  <a:pt x="3313" y="689"/>
                  <a:pt x="3308" y="697"/>
                </a:cubicBezTo>
                <a:cubicBezTo>
                  <a:pt x="3302" y="706"/>
                  <a:pt x="3295" y="714"/>
                  <a:pt x="3288" y="721"/>
                </a:cubicBezTo>
                <a:cubicBezTo>
                  <a:pt x="3281" y="729"/>
                  <a:pt x="3273" y="735"/>
                  <a:pt x="3264" y="741"/>
                </a:cubicBezTo>
                <a:cubicBezTo>
                  <a:pt x="3255" y="747"/>
                  <a:pt x="3246" y="752"/>
                  <a:pt x="3236" y="756"/>
                </a:cubicBezTo>
                <a:cubicBezTo>
                  <a:pt x="3227" y="760"/>
                  <a:pt x="3217" y="763"/>
                  <a:pt x="3207" y="765"/>
                </a:cubicBezTo>
                <a:cubicBezTo>
                  <a:pt x="3196" y="767"/>
                  <a:pt x="3186" y="768"/>
                  <a:pt x="3176" y="768"/>
                </a:cubicBezTo>
                <a:lnTo>
                  <a:pt x="158" y="768"/>
                </a:lnTo>
                <a:cubicBezTo>
                  <a:pt x="148" y="768"/>
                  <a:pt x="138" y="767"/>
                  <a:pt x="127" y="765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2"/>
                  <a:pt x="79" y="747"/>
                  <a:pt x="70" y="741"/>
                </a:cubicBezTo>
                <a:cubicBezTo>
                  <a:pt x="62" y="735"/>
                  <a:pt x="54" y="729"/>
                  <a:pt x="46" y="721"/>
                </a:cubicBezTo>
                <a:cubicBezTo>
                  <a:pt x="39" y="714"/>
                  <a:pt x="32" y="706"/>
                  <a:pt x="26" y="697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20"/>
                  <a:pt x="0" y="609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6238800" y="2338560"/>
            <a:ext cx="6897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出す。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6309360" y="2738880"/>
            <a:ext cx="1224612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[:, -1, :]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7439400" y="2729160"/>
            <a:ext cx="45621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は、入力の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最後の位置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から予測する、全候補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238800" y="3005280"/>
            <a:ext cx="91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の点数。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6238800" y="340524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softmax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で変換すると、各候補が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の値を持ち、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合計が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238800" y="3681720"/>
            <a:ext cx="107764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になる。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334200" y="417564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8947800" y="417564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点数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1125080" y="417564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確率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334200" y="45662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9203760" y="45662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0917360" y="456624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66.5%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6334200" y="49568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9203760" y="49568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10916640" y="4956840"/>
            <a:ext cx="67854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24.5%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334200" y="53474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9203760" y="53474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1042640" y="5347440"/>
            <a:ext cx="53364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9.0%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6238800" y="5805720"/>
            <a:ext cx="5740938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計算例。この分布から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どの候補を選ぶか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が、次の処理。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285840" y="230040"/>
            <a:ext cx="18133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4.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モデルと評価方法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1705400" y="647640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9" name=""/>
          <p:cNvSpPr/>
          <p:nvPr/>
        </p:nvSpPr>
        <p:spPr>
          <a:xfrm>
            <a:off x="595080" y="1185840"/>
            <a:ext cx="5353560" cy="5019840"/>
          </a:xfrm>
          <a:custGeom>
            <a:avLst/>
            <a:gdLst/>
            <a:ahLst/>
            <a:rect l="0" t="0" r="r" b="b"/>
            <a:pathLst>
              <a:path w="14871" h="13944">
                <a:moveTo>
                  <a:pt x="0" y="137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0"/>
                  <a:pt x="14754" y="2"/>
                </a:cubicBezTo>
                <a:cubicBezTo>
                  <a:pt x="14763" y="4"/>
                  <a:pt x="14772" y="7"/>
                  <a:pt x="14781" y="11"/>
                </a:cubicBezTo>
                <a:cubicBezTo>
                  <a:pt x="14790" y="14"/>
                  <a:pt x="14798" y="19"/>
                  <a:pt x="14806" y="24"/>
                </a:cubicBezTo>
                <a:cubicBezTo>
                  <a:pt x="14814" y="29"/>
                  <a:pt x="14821" y="35"/>
                  <a:pt x="14828" y="42"/>
                </a:cubicBezTo>
                <a:cubicBezTo>
                  <a:pt x="14835" y="49"/>
                  <a:pt x="14841" y="56"/>
                  <a:pt x="14846" y="64"/>
                </a:cubicBezTo>
                <a:cubicBezTo>
                  <a:pt x="14852" y="72"/>
                  <a:pt x="14856" y="81"/>
                  <a:pt x="14860" y="89"/>
                </a:cubicBezTo>
                <a:cubicBezTo>
                  <a:pt x="14863" y="98"/>
                  <a:pt x="14866" y="107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3799"/>
                </a:lnTo>
                <a:cubicBezTo>
                  <a:pt x="14871" y="13808"/>
                  <a:pt x="14870" y="13818"/>
                  <a:pt x="14868" y="13827"/>
                </a:cubicBezTo>
                <a:cubicBezTo>
                  <a:pt x="14866" y="13836"/>
                  <a:pt x="14863" y="13845"/>
                  <a:pt x="14860" y="13854"/>
                </a:cubicBezTo>
                <a:cubicBezTo>
                  <a:pt x="14856" y="13863"/>
                  <a:pt x="14852" y="13871"/>
                  <a:pt x="14846" y="13879"/>
                </a:cubicBezTo>
                <a:cubicBezTo>
                  <a:pt x="14841" y="13887"/>
                  <a:pt x="14835" y="13895"/>
                  <a:pt x="14828" y="13901"/>
                </a:cubicBezTo>
                <a:cubicBezTo>
                  <a:pt x="14821" y="13908"/>
                  <a:pt x="14814" y="13914"/>
                  <a:pt x="14806" y="13920"/>
                </a:cubicBezTo>
                <a:cubicBezTo>
                  <a:pt x="14798" y="13925"/>
                  <a:pt x="14790" y="13929"/>
                  <a:pt x="14781" y="13933"/>
                </a:cubicBezTo>
                <a:cubicBezTo>
                  <a:pt x="14772" y="13937"/>
                  <a:pt x="14763" y="13939"/>
                  <a:pt x="14754" y="13941"/>
                </a:cubicBezTo>
                <a:cubicBezTo>
                  <a:pt x="14744" y="13943"/>
                  <a:pt x="14735" y="13944"/>
                  <a:pt x="14725" y="13944"/>
                </a:cubicBezTo>
                <a:lnTo>
                  <a:pt x="146" y="13944"/>
                </a:lnTo>
                <a:cubicBezTo>
                  <a:pt x="136" y="13944"/>
                  <a:pt x="127" y="13943"/>
                  <a:pt x="117" y="13941"/>
                </a:cubicBezTo>
                <a:cubicBezTo>
                  <a:pt x="108" y="13939"/>
                  <a:pt x="99" y="13937"/>
                  <a:pt x="90" y="13933"/>
                </a:cubicBezTo>
                <a:cubicBezTo>
                  <a:pt x="81" y="13929"/>
                  <a:pt x="73" y="13925"/>
                  <a:pt x="65" y="13920"/>
                </a:cubicBezTo>
                <a:cubicBezTo>
                  <a:pt x="57" y="13914"/>
                  <a:pt x="50" y="13908"/>
                  <a:pt x="43" y="13901"/>
                </a:cubicBezTo>
                <a:cubicBezTo>
                  <a:pt x="36" y="13895"/>
                  <a:pt x="30" y="13887"/>
                  <a:pt x="25" y="13879"/>
                </a:cubicBezTo>
                <a:cubicBezTo>
                  <a:pt x="19" y="13871"/>
                  <a:pt x="15" y="13863"/>
                  <a:pt x="11" y="13854"/>
                </a:cubicBezTo>
                <a:cubicBezTo>
                  <a:pt x="8" y="13845"/>
                  <a:pt x="5" y="13836"/>
                  <a:pt x="3" y="13827"/>
                </a:cubicBezTo>
                <a:cubicBezTo>
                  <a:pt x="1" y="13818"/>
                  <a:pt x="0" y="13808"/>
                  <a:pt x="0" y="13799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0" name=""/>
          <p:cNvSpPr/>
          <p:nvPr/>
        </p:nvSpPr>
        <p:spPr>
          <a:xfrm>
            <a:off x="595080" y="1185840"/>
            <a:ext cx="5353560" cy="5019840"/>
          </a:xfrm>
          <a:custGeom>
            <a:avLst/>
            <a:gdLst/>
            <a:ahLst/>
            <a:rect l="0" t="0" r="r" b="b"/>
            <a:pathLst>
              <a:path w="14871" h="13944">
                <a:moveTo>
                  <a:pt x="0" y="137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0"/>
                  <a:pt x="14754" y="2"/>
                </a:cubicBezTo>
                <a:cubicBezTo>
                  <a:pt x="14763" y="4"/>
                  <a:pt x="14772" y="7"/>
                  <a:pt x="14781" y="11"/>
                </a:cubicBezTo>
                <a:cubicBezTo>
                  <a:pt x="14790" y="14"/>
                  <a:pt x="14798" y="19"/>
                  <a:pt x="14806" y="24"/>
                </a:cubicBezTo>
                <a:cubicBezTo>
                  <a:pt x="14814" y="29"/>
                  <a:pt x="14821" y="35"/>
                  <a:pt x="14828" y="42"/>
                </a:cubicBezTo>
                <a:cubicBezTo>
                  <a:pt x="14835" y="49"/>
                  <a:pt x="14841" y="56"/>
                  <a:pt x="14846" y="64"/>
                </a:cubicBezTo>
                <a:cubicBezTo>
                  <a:pt x="14852" y="72"/>
                  <a:pt x="14856" y="81"/>
                  <a:pt x="14860" y="89"/>
                </a:cubicBezTo>
                <a:cubicBezTo>
                  <a:pt x="14863" y="98"/>
                  <a:pt x="14866" y="107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3799"/>
                </a:lnTo>
                <a:cubicBezTo>
                  <a:pt x="14871" y="13808"/>
                  <a:pt x="14870" y="13818"/>
                  <a:pt x="14868" y="13827"/>
                </a:cubicBezTo>
                <a:cubicBezTo>
                  <a:pt x="14866" y="13836"/>
                  <a:pt x="14863" y="13845"/>
                  <a:pt x="14860" y="13854"/>
                </a:cubicBezTo>
                <a:cubicBezTo>
                  <a:pt x="14856" y="13863"/>
                  <a:pt x="14852" y="13871"/>
                  <a:pt x="14846" y="13879"/>
                </a:cubicBezTo>
                <a:cubicBezTo>
                  <a:pt x="14841" y="13887"/>
                  <a:pt x="14835" y="13895"/>
                  <a:pt x="14828" y="13901"/>
                </a:cubicBezTo>
                <a:cubicBezTo>
                  <a:pt x="14821" y="13908"/>
                  <a:pt x="14814" y="13914"/>
                  <a:pt x="14806" y="13920"/>
                </a:cubicBezTo>
                <a:cubicBezTo>
                  <a:pt x="14798" y="13925"/>
                  <a:pt x="14790" y="13929"/>
                  <a:pt x="14781" y="13933"/>
                </a:cubicBezTo>
                <a:cubicBezTo>
                  <a:pt x="14772" y="13937"/>
                  <a:pt x="14763" y="13939"/>
                  <a:pt x="14754" y="13941"/>
                </a:cubicBezTo>
                <a:cubicBezTo>
                  <a:pt x="14744" y="13943"/>
                  <a:pt x="14735" y="13944"/>
                  <a:pt x="14725" y="13944"/>
                </a:cubicBezTo>
                <a:lnTo>
                  <a:pt x="146" y="13944"/>
                </a:lnTo>
                <a:cubicBezTo>
                  <a:pt x="136" y="13944"/>
                  <a:pt x="127" y="13943"/>
                  <a:pt x="117" y="13941"/>
                </a:cubicBezTo>
                <a:cubicBezTo>
                  <a:pt x="108" y="13939"/>
                  <a:pt x="99" y="13937"/>
                  <a:pt x="90" y="13933"/>
                </a:cubicBezTo>
                <a:cubicBezTo>
                  <a:pt x="81" y="13929"/>
                  <a:pt x="73" y="13925"/>
                  <a:pt x="65" y="13920"/>
                </a:cubicBezTo>
                <a:cubicBezTo>
                  <a:pt x="57" y="13914"/>
                  <a:pt x="50" y="13908"/>
                  <a:pt x="43" y="13901"/>
                </a:cubicBezTo>
                <a:cubicBezTo>
                  <a:pt x="36" y="13895"/>
                  <a:pt x="30" y="13887"/>
                  <a:pt x="25" y="13879"/>
                </a:cubicBezTo>
                <a:cubicBezTo>
                  <a:pt x="19" y="13871"/>
                  <a:pt x="15" y="13863"/>
                  <a:pt x="11" y="13854"/>
                </a:cubicBezTo>
                <a:cubicBezTo>
                  <a:pt x="8" y="13845"/>
                  <a:pt x="5" y="13836"/>
                  <a:pt x="3" y="13827"/>
                </a:cubicBezTo>
                <a:cubicBezTo>
                  <a:pt x="1" y="13818"/>
                  <a:pt x="0" y="13808"/>
                  <a:pt x="0" y="13799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90400" y="505440"/>
            <a:ext cx="833796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5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② 選んだトークンを入力に加え、予測を繰り返す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743040" y="132624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937800" y="1333800"/>
            <a:ext cx="185844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日本語指示を含む入力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557080" y="132624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752200" y="1333800"/>
            <a:ext cx="130120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列をコピーする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743040" y="1554840"/>
            <a:ext cx="302054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current = prompt_ids.copy()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743040" y="1783440"/>
            <a:ext cx="279698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generated: 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list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[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int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 = []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743040" y="223092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37800" y="2238840"/>
            <a:ext cx="353059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勾配を計算せず、次のトークンを順に生成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743040" y="2459520"/>
            <a:ext cx="313273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with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torch.inference_mode():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743040" y="2688120"/>
            <a:ext cx="257259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_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range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min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743040" y="2916720"/>
            <a:ext cx="257342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max_new_tokens,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743040" y="3135960"/>
            <a:ext cx="559272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model.config.context_length - 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len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(current)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743040" y="3364560"/>
            <a:ext cx="78370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)):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743040" y="3593160"/>
            <a:ext cx="335629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values = torch.tensor(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743040" y="3821760"/>
            <a:ext cx="447451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    [current], dtype=torch.long)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743040" y="4050360"/>
            <a:ext cx="111904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1717920" y="4057920"/>
            <a:ext cx="297334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この実装では最大点数の候補を選ぶ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743040" y="4269240"/>
            <a:ext cx="402697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token_id = 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int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(torch.argmax(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743040" y="4497840"/>
            <a:ext cx="536916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    model(values).logits[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]).item())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743040" y="4726440"/>
            <a:ext cx="111904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1717920" y="4734360"/>
            <a:ext cx="260157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終了トークンなら生成を止める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43040" y="4955040"/>
            <a:ext cx="402697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token_id == eos_token_id: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743040" y="5183640"/>
            <a:ext cx="190233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break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743040" y="5402880"/>
            <a:ext cx="111904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717920" y="5410440"/>
            <a:ext cx="5580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選んだ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2203560" y="54028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2398680" y="5410440"/>
            <a:ext cx="223021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を出力と次回の入力へ追加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743040" y="5631480"/>
            <a:ext cx="380341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generated.append(token_id)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743040" y="5860080"/>
            <a:ext cx="357985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current.append(token_id)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590400" y="6359760"/>
            <a:ext cx="3884148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推論から抜粋。コメントを追加し、改行を調整。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590400" y="6550200"/>
            <a:ext cx="3035448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export_boku_nano_onnx.py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232–241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3" name=""/>
          <p:cNvSpPr/>
          <p:nvPr/>
        </p:nvSpPr>
        <p:spPr>
          <a:xfrm>
            <a:off x="8143560" y="1266480"/>
            <a:ext cx="2019960" cy="267120"/>
          </a:xfrm>
          <a:custGeom>
            <a:avLst/>
            <a:gdLst/>
            <a:ahLst/>
            <a:rect l="0" t="0" r="r" b="b"/>
            <a:pathLst>
              <a:path w="5611" h="742">
                <a:moveTo>
                  <a:pt x="0" y="58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0" y="21"/>
                  <a:pt x="89" y="17"/>
                  <a:pt x="98" y="13"/>
                </a:cubicBezTo>
                <a:cubicBezTo>
                  <a:pt x="108" y="9"/>
                  <a:pt x="118" y="6"/>
                  <a:pt x="128" y="4"/>
                </a:cubicBezTo>
                <a:cubicBezTo>
                  <a:pt x="138" y="1"/>
                  <a:pt x="149" y="0"/>
                  <a:pt x="159" y="0"/>
                </a:cubicBezTo>
                <a:lnTo>
                  <a:pt x="5452" y="0"/>
                </a:lnTo>
                <a:cubicBezTo>
                  <a:pt x="5462" y="0"/>
                  <a:pt x="5473" y="1"/>
                  <a:pt x="5483" y="4"/>
                </a:cubicBezTo>
                <a:cubicBezTo>
                  <a:pt x="5493" y="6"/>
                  <a:pt x="5503" y="9"/>
                  <a:pt x="5513" y="13"/>
                </a:cubicBezTo>
                <a:cubicBezTo>
                  <a:pt x="5522" y="17"/>
                  <a:pt x="5531" y="21"/>
                  <a:pt x="5540" y="27"/>
                </a:cubicBezTo>
                <a:cubicBezTo>
                  <a:pt x="5549" y="33"/>
                  <a:pt x="5557" y="40"/>
                  <a:pt x="5564" y="47"/>
                </a:cubicBezTo>
                <a:cubicBezTo>
                  <a:pt x="5571" y="54"/>
                  <a:pt x="5578" y="62"/>
                  <a:pt x="5584" y="71"/>
                </a:cubicBezTo>
                <a:cubicBezTo>
                  <a:pt x="5590" y="80"/>
                  <a:pt x="5594" y="89"/>
                  <a:pt x="5598" y="98"/>
                </a:cubicBezTo>
                <a:cubicBezTo>
                  <a:pt x="5602" y="108"/>
                  <a:pt x="5605" y="118"/>
                  <a:pt x="5607" y="128"/>
                </a:cubicBezTo>
                <a:cubicBezTo>
                  <a:pt x="5610" y="138"/>
                  <a:pt x="5611" y="149"/>
                  <a:pt x="5611" y="159"/>
                </a:cubicBezTo>
                <a:lnTo>
                  <a:pt x="5611" y="584"/>
                </a:lnTo>
                <a:cubicBezTo>
                  <a:pt x="5611" y="594"/>
                  <a:pt x="5610" y="604"/>
                  <a:pt x="5607" y="615"/>
                </a:cubicBezTo>
                <a:cubicBezTo>
                  <a:pt x="5605" y="625"/>
                  <a:pt x="5602" y="635"/>
                  <a:pt x="5598" y="644"/>
                </a:cubicBezTo>
                <a:cubicBezTo>
                  <a:pt x="5594" y="654"/>
                  <a:pt x="5590" y="663"/>
                  <a:pt x="5584" y="672"/>
                </a:cubicBezTo>
                <a:cubicBezTo>
                  <a:pt x="5578" y="680"/>
                  <a:pt x="5571" y="688"/>
                  <a:pt x="5564" y="696"/>
                </a:cubicBezTo>
                <a:cubicBezTo>
                  <a:pt x="5557" y="703"/>
                  <a:pt x="5549" y="710"/>
                  <a:pt x="5540" y="716"/>
                </a:cubicBezTo>
                <a:cubicBezTo>
                  <a:pt x="5531" y="721"/>
                  <a:pt x="5522" y="726"/>
                  <a:pt x="5513" y="730"/>
                </a:cubicBezTo>
                <a:cubicBezTo>
                  <a:pt x="5503" y="734"/>
                  <a:pt x="5493" y="737"/>
                  <a:pt x="5483" y="739"/>
                </a:cubicBezTo>
                <a:cubicBezTo>
                  <a:pt x="5473" y="741"/>
                  <a:pt x="5462" y="742"/>
                  <a:pt x="5452" y="742"/>
                </a:cubicBezTo>
                <a:lnTo>
                  <a:pt x="159" y="742"/>
                </a:lnTo>
                <a:cubicBezTo>
                  <a:pt x="149" y="742"/>
                  <a:pt x="138" y="741"/>
                  <a:pt x="128" y="739"/>
                </a:cubicBezTo>
                <a:cubicBezTo>
                  <a:pt x="118" y="737"/>
                  <a:pt x="108" y="734"/>
                  <a:pt x="98" y="730"/>
                </a:cubicBezTo>
                <a:cubicBezTo>
                  <a:pt x="89" y="726"/>
                  <a:pt x="80" y="721"/>
                  <a:pt x="71" y="716"/>
                </a:cubicBezTo>
                <a:cubicBezTo>
                  <a:pt x="62" y="710"/>
                  <a:pt x="54" y="703"/>
                  <a:pt x="47" y="696"/>
                </a:cubicBezTo>
                <a:cubicBezTo>
                  <a:pt x="39" y="688"/>
                  <a:pt x="33" y="680"/>
                  <a:pt x="27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5"/>
                </a:cubicBezTo>
                <a:cubicBezTo>
                  <a:pt x="1" y="604"/>
                  <a:pt x="0" y="594"/>
                  <a:pt x="0" y="584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6238800" y="1275120"/>
            <a:ext cx="219130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自己回帰の中心は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8189640" y="1264320"/>
            <a:ext cx="2216556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current.append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6242760" y="1843200"/>
            <a:ext cx="464549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 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ここまでの入力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から次の候補を予測する。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6242760" y="2214720"/>
            <a:ext cx="433706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候補を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つ選び、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入力末尾に追加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6242760" y="2576880"/>
            <a:ext cx="57587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3. 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伸びた入力を使って、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同じモデル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でもう一度予測する。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6238800" y="3024360"/>
            <a:ext cx="4972968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重みは更新せず、入力が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トークンずつ伸びる。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0" name=""/>
          <p:cNvSpPr/>
          <p:nvPr/>
        </p:nvSpPr>
        <p:spPr>
          <a:xfrm>
            <a:off x="6238800" y="3924000"/>
            <a:ext cx="781200" cy="267120"/>
          </a:xfrm>
          <a:custGeom>
            <a:avLst/>
            <a:gdLst/>
            <a:ahLst/>
            <a:rect l="0" t="0" r="r" b="b"/>
            <a:pathLst>
              <a:path w="2170" h="742">
                <a:moveTo>
                  <a:pt x="0" y="58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012" y="0"/>
                </a:lnTo>
                <a:cubicBezTo>
                  <a:pt x="2022" y="0"/>
                  <a:pt x="2032" y="1"/>
                  <a:pt x="2043" y="3"/>
                </a:cubicBezTo>
                <a:cubicBezTo>
                  <a:pt x="2053" y="5"/>
                  <a:pt x="2063" y="8"/>
                  <a:pt x="2072" y="12"/>
                </a:cubicBezTo>
                <a:cubicBezTo>
                  <a:pt x="2082" y="16"/>
                  <a:pt x="2091" y="21"/>
                  <a:pt x="2100" y="27"/>
                </a:cubicBezTo>
                <a:cubicBezTo>
                  <a:pt x="2108" y="33"/>
                  <a:pt x="2116" y="39"/>
                  <a:pt x="2124" y="47"/>
                </a:cubicBezTo>
                <a:cubicBezTo>
                  <a:pt x="2131" y="54"/>
                  <a:pt x="2138" y="62"/>
                  <a:pt x="2144" y="71"/>
                </a:cubicBezTo>
                <a:cubicBezTo>
                  <a:pt x="2149" y="80"/>
                  <a:pt x="2154" y="89"/>
                  <a:pt x="2158" y="98"/>
                </a:cubicBezTo>
                <a:cubicBezTo>
                  <a:pt x="2162" y="108"/>
                  <a:pt x="2165" y="118"/>
                  <a:pt x="2167" y="128"/>
                </a:cubicBezTo>
                <a:cubicBezTo>
                  <a:pt x="2169" y="138"/>
                  <a:pt x="2170" y="149"/>
                  <a:pt x="2170" y="159"/>
                </a:cubicBezTo>
                <a:lnTo>
                  <a:pt x="2170" y="583"/>
                </a:lnTo>
                <a:cubicBezTo>
                  <a:pt x="2170" y="594"/>
                  <a:pt x="2169" y="604"/>
                  <a:pt x="2167" y="614"/>
                </a:cubicBezTo>
                <a:cubicBezTo>
                  <a:pt x="2165" y="625"/>
                  <a:pt x="2162" y="635"/>
                  <a:pt x="2158" y="644"/>
                </a:cubicBezTo>
                <a:cubicBezTo>
                  <a:pt x="2154" y="654"/>
                  <a:pt x="2149" y="663"/>
                  <a:pt x="2144" y="672"/>
                </a:cubicBezTo>
                <a:cubicBezTo>
                  <a:pt x="2138" y="680"/>
                  <a:pt x="2131" y="688"/>
                  <a:pt x="2124" y="696"/>
                </a:cubicBezTo>
                <a:cubicBezTo>
                  <a:pt x="2116" y="703"/>
                  <a:pt x="2108" y="710"/>
                  <a:pt x="2100" y="715"/>
                </a:cubicBezTo>
                <a:cubicBezTo>
                  <a:pt x="2091" y="721"/>
                  <a:pt x="2082" y="726"/>
                  <a:pt x="2072" y="730"/>
                </a:cubicBezTo>
                <a:cubicBezTo>
                  <a:pt x="2063" y="734"/>
                  <a:pt x="2053" y="737"/>
                  <a:pt x="2043" y="739"/>
                </a:cubicBezTo>
                <a:cubicBezTo>
                  <a:pt x="2032" y="741"/>
                  <a:pt x="2022" y="742"/>
                  <a:pt x="2012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10"/>
                  <a:pt x="54" y="703"/>
                  <a:pt x="46" y="696"/>
                </a:cubicBezTo>
                <a:cubicBezTo>
                  <a:pt x="39" y="688"/>
                  <a:pt x="32" y="680"/>
                  <a:pt x="26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6238800" y="3427920"/>
            <a:ext cx="306360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このコードは</a:t>
            </a:r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greedy</a:t>
            </a:r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309360" y="3957840"/>
            <a:ext cx="735264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argmax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7015680" y="3948480"/>
            <a:ext cx="306194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は最大の点数の候補を選ぶ。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6238800" y="433872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softmax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を通しても順位は同じなので、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greedy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では確率へ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238800" y="4615200"/>
            <a:ext cx="183774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の変換を省ける。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238800" y="5015160"/>
            <a:ext cx="369867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EOS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または生成長の上限で止まる。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1" name=""/>
          <p:cNvSpPr/>
          <p:nvPr/>
        </p:nvSpPr>
        <p:spPr>
          <a:xfrm>
            <a:off x="595080" y="1385640"/>
            <a:ext cx="5353560" cy="3657960"/>
          </a:xfrm>
          <a:custGeom>
            <a:avLst/>
            <a:gdLst/>
            <a:ahLst/>
            <a:rect l="0" t="0" r="r" b="b"/>
            <a:pathLst>
              <a:path w="14871" h="10161">
                <a:moveTo>
                  <a:pt x="0" y="1001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5"/>
                  <a:pt x="14772" y="8"/>
                  <a:pt x="14781" y="11"/>
                </a:cubicBezTo>
                <a:cubicBezTo>
                  <a:pt x="14790" y="15"/>
                  <a:pt x="14798" y="19"/>
                  <a:pt x="14806" y="25"/>
                </a:cubicBezTo>
                <a:cubicBezTo>
                  <a:pt x="14814" y="30"/>
                  <a:pt x="14821" y="36"/>
                  <a:pt x="14828" y="43"/>
                </a:cubicBezTo>
                <a:cubicBezTo>
                  <a:pt x="14835" y="50"/>
                  <a:pt x="14841" y="57"/>
                  <a:pt x="14846" y="65"/>
                </a:cubicBezTo>
                <a:cubicBezTo>
                  <a:pt x="14852" y="73"/>
                  <a:pt x="14856" y="81"/>
                  <a:pt x="14860" y="90"/>
                </a:cubicBezTo>
                <a:cubicBezTo>
                  <a:pt x="14863" y="99"/>
                  <a:pt x="14866" y="108"/>
                  <a:pt x="14868" y="117"/>
                </a:cubicBezTo>
                <a:cubicBezTo>
                  <a:pt x="14870" y="127"/>
                  <a:pt x="14871" y="136"/>
                  <a:pt x="14871" y="146"/>
                </a:cubicBezTo>
                <a:lnTo>
                  <a:pt x="14871" y="10016"/>
                </a:lnTo>
                <a:cubicBezTo>
                  <a:pt x="14871" y="10025"/>
                  <a:pt x="14870" y="10035"/>
                  <a:pt x="14868" y="10044"/>
                </a:cubicBezTo>
                <a:cubicBezTo>
                  <a:pt x="14866" y="10053"/>
                  <a:pt x="14863" y="10063"/>
                  <a:pt x="14860" y="10071"/>
                </a:cubicBezTo>
                <a:cubicBezTo>
                  <a:pt x="14856" y="10080"/>
                  <a:pt x="14852" y="10089"/>
                  <a:pt x="14846" y="10097"/>
                </a:cubicBezTo>
                <a:cubicBezTo>
                  <a:pt x="14841" y="10104"/>
                  <a:pt x="14835" y="10112"/>
                  <a:pt x="14828" y="10119"/>
                </a:cubicBezTo>
                <a:cubicBezTo>
                  <a:pt x="14821" y="10125"/>
                  <a:pt x="14814" y="10131"/>
                  <a:pt x="14806" y="10137"/>
                </a:cubicBezTo>
                <a:cubicBezTo>
                  <a:pt x="14798" y="10142"/>
                  <a:pt x="14790" y="10146"/>
                  <a:pt x="14781" y="10150"/>
                </a:cubicBezTo>
                <a:cubicBezTo>
                  <a:pt x="14772" y="10154"/>
                  <a:pt x="14763" y="10157"/>
                  <a:pt x="14754" y="10158"/>
                </a:cubicBezTo>
                <a:cubicBezTo>
                  <a:pt x="14744" y="10160"/>
                  <a:pt x="14735" y="10161"/>
                  <a:pt x="14725" y="10161"/>
                </a:cubicBezTo>
                <a:lnTo>
                  <a:pt x="146" y="10161"/>
                </a:lnTo>
                <a:cubicBezTo>
                  <a:pt x="136" y="10161"/>
                  <a:pt x="127" y="10160"/>
                  <a:pt x="117" y="10158"/>
                </a:cubicBezTo>
                <a:cubicBezTo>
                  <a:pt x="108" y="10157"/>
                  <a:pt x="99" y="10154"/>
                  <a:pt x="90" y="10150"/>
                </a:cubicBezTo>
                <a:cubicBezTo>
                  <a:pt x="81" y="10146"/>
                  <a:pt x="73" y="10142"/>
                  <a:pt x="65" y="10137"/>
                </a:cubicBezTo>
                <a:cubicBezTo>
                  <a:pt x="57" y="10131"/>
                  <a:pt x="50" y="10125"/>
                  <a:pt x="43" y="10119"/>
                </a:cubicBezTo>
                <a:cubicBezTo>
                  <a:pt x="36" y="10112"/>
                  <a:pt x="30" y="10104"/>
                  <a:pt x="25" y="10097"/>
                </a:cubicBezTo>
                <a:cubicBezTo>
                  <a:pt x="19" y="10089"/>
                  <a:pt x="15" y="10080"/>
                  <a:pt x="11" y="10071"/>
                </a:cubicBezTo>
                <a:cubicBezTo>
                  <a:pt x="8" y="10063"/>
                  <a:pt x="5" y="10053"/>
                  <a:pt x="3" y="10044"/>
                </a:cubicBezTo>
                <a:cubicBezTo>
                  <a:pt x="1" y="10035"/>
                  <a:pt x="0" y="10025"/>
                  <a:pt x="0" y="10016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2" name=""/>
          <p:cNvSpPr/>
          <p:nvPr/>
        </p:nvSpPr>
        <p:spPr>
          <a:xfrm>
            <a:off x="595080" y="1385640"/>
            <a:ext cx="5353560" cy="3657960"/>
          </a:xfrm>
          <a:custGeom>
            <a:avLst/>
            <a:gdLst/>
            <a:ahLst/>
            <a:rect l="0" t="0" r="r" b="b"/>
            <a:pathLst>
              <a:path w="14871" h="10161">
                <a:moveTo>
                  <a:pt x="0" y="1001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5"/>
                  <a:pt x="14772" y="8"/>
                  <a:pt x="14781" y="11"/>
                </a:cubicBezTo>
                <a:cubicBezTo>
                  <a:pt x="14790" y="15"/>
                  <a:pt x="14798" y="19"/>
                  <a:pt x="14806" y="25"/>
                </a:cubicBezTo>
                <a:cubicBezTo>
                  <a:pt x="14814" y="30"/>
                  <a:pt x="14821" y="36"/>
                  <a:pt x="14828" y="43"/>
                </a:cubicBezTo>
                <a:cubicBezTo>
                  <a:pt x="14835" y="50"/>
                  <a:pt x="14841" y="57"/>
                  <a:pt x="14846" y="65"/>
                </a:cubicBezTo>
                <a:cubicBezTo>
                  <a:pt x="14852" y="73"/>
                  <a:pt x="14856" y="81"/>
                  <a:pt x="14860" y="90"/>
                </a:cubicBezTo>
                <a:cubicBezTo>
                  <a:pt x="14863" y="99"/>
                  <a:pt x="14866" y="108"/>
                  <a:pt x="14868" y="117"/>
                </a:cubicBezTo>
                <a:cubicBezTo>
                  <a:pt x="14870" y="127"/>
                  <a:pt x="14871" y="136"/>
                  <a:pt x="14871" y="146"/>
                </a:cubicBezTo>
                <a:lnTo>
                  <a:pt x="14871" y="10016"/>
                </a:lnTo>
                <a:cubicBezTo>
                  <a:pt x="14871" y="10025"/>
                  <a:pt x="14870" y="10035"/>
                  <a:pt x="14868" y="10044"/>
                </a:cubicBezTo>
                <a:cubicBezTo>
                  <a:pt x="14866" y="10053"/>
                  <a:pt x="14863" y="10063"/>
                  <a:pt x="14860" y="10071"/>
                </a:cubicBezTo>
                <a:cubicBezTo>
                  <a:pt x="14856" y="10080"/>
                  <a:pt x="14852" y="10089"/>
                  <a:pt x="14846" y="10097"/>
                </a:cubicBezTo>
                <a:cubicBezTo>
                  <a:pt x="14841" y="10104"/>
                  <a:pt x="14835" y="10112"/>
                  <a:pt x="14828" y="10119"/>
                </a:cubicBezTo>
                <a:cubicBezTo>
                  <a:pt x="14821" y="10125"/>
                  <a:pt x="14814" y="10131"/>
                  <a:pt x="14806" y="10137"/>
                </a:cubicBezTo>
                <a:cubicBezTo>
                  <a:pt x="14798" y="10142"/>
                  <a:pt x="14790" y="10146"/>
                  <a:pt x="14781" y="10150"/>
                </a:cubicBezTo>
                <a:cubicBezTo>
                  <a:pt x="14772" y="10154"/>
                  <a:pt x="14763" y="10157"/>
                  <a:pt x="14754" y="10158"/>
                </a:cubicBezTo>
                <a:cubicBezTo>
                  <a:pt x="14744" y="10160"/>
                  <a:pt x="14735" y="10161"/>
                  <a:pt x="14725" y="10161"/>
                </a:cubicBezTo>
                <a:lnTo>
                  <a:pt x="146" y="10161"/>
                </a:lnTo>
                <a:cubicBezTo>
                  <a:pt x="136" y="10161"/>
                  <a:pt x="127" y="10160"/>
                  <a:pt x="117" y="10158"/>
                </a:cubicBezTo>
                <a:cubicBezTo>
                  <a:pt x="108" y="10157"/>
                  <a:pt x="99" y="10154"/>
                  <a:pt x="90" y="10150"/>
                </a:cubicBezTo>
                <a:cubicBezTo>
                  <a:pt x="81" y="10146"/>
                  <a:pt x="73" y="10142"/>
                  <a:pt x="65" y="10137"/>
                </a:cubicBezTo>
                <a:cubicBezTo>
                  <a:pt x="57" y="10131"/>
                  <a:pt x="50" y="10125"/>
                  <a:pt x="43" y="10119"/>
                </a:cubicBezTo>
                <a:cubicBezTo>
                  <a:pt x="36" y="10112"/>
                  <a:pt x="30" y="10104"/>
                  <a:pt x="25" y="10097"/>
                </a:cubicBezTo>
                <a:cubicBezTo>
                  <a:pt x="19" y="10089"/>
                  <a:pt x="15" y="10080"/>
                  <a:pt x="11" y="10071"/>
                </a:cubicBezTo>
                <a:cubicBezTo>
                  <a:pt x="8" y="10063"/>
                  <a:pt x="5" y="10053"/>
                  <a:pt x="3" y="10044"/>
                </a:cubicBezTo>
                <a:cubicBezTo>
                  <a:pt x="1" y="10035"/>
                  <a:pt x="0" y="10025"/>
                  <a:pt x="0" y="10016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590400" y="705600"/>
            <a:ext cx="6471234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5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③ 温度は、確率分布の偏りを調整する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743040" y="152604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937800" y="153396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全候補のロジットを温度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2719080" y="152604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T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816640" y="1533960"/>
            <a:ext cx="5580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で割る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743040" y="1754640"/>
            <a:ext cx="111945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logits = 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743040" y="1983240"/>
            <a:ext cx="413917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model(input_ids).logits[:, 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:]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743040" y="2202480"/>
            <a:ext cx="190233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/ temperature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43040" y="243108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43040" y="28882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937800" y="2895840"/>
            <a:ext cx="5580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候補の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1423800" y="28882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1618560" y="2895840"/>
            <a:ext cx="223021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を保持して点数順に並べる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743040" y="3116880"/>
            <a:ext cx="481026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sorted_logits, sorted_indices = torch.sort(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43040" y="3335760"/>
            <a:ext cx="391561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logits, descending=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dim=-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43040" y="356436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43040" y="402156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937800" y="4029480"/>
            <a:ext cx="130120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調整後の点数を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2071440" y="4021560"/>
            <a:ext cx="78370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softmax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2753640" y="4029480"/>
            <a:ext cx="111531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で確率にする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743040" y="4250160"/>
            <a:ext cx="413917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sorted_probabilities = torch.softmax(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43040" y="4469400"/>
            <a:ext cx="279698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sorted_logits, dim=-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743040" y="469800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590400" y="5197680"/>
            <a:ext cx="3843576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evaluate_boku_nano_comparison.py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209–211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7" name=""/>
          <p:cNvSpPr/>
          <p:nvPr/>
        </p:nvSpPr>
        <p:spPr>
          <a:xfrm>
            <a:off x="6248160" y="2781000"/>
            <a:ext cx="1229040" cy="390960"/>
          </a:xfrm>
          <a:custGeom>
            <a:avLst/>
            <a:gdLst/>
            <a:ahLst/>
            <a:rect l="0" t="0" r="r" b="b"/>
            <a:pathLst>
              <a:path w="3414" h="1086">
                <a:moveTo>
                  <a:pt x="0" y="0"/>
                </a:moveTo>
                <a:lnTo>
                  <a:pt x="3414" y="0"/>
                </a:lnTo>
                <a:lnTo>
                  <a:pt x="3414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8" name=""/>
          <p:cNvSpPr/>
          <p:nvPr/>
        </p:nvSpPr>
        <p:spPr>
          <a:xfrm>
            <a:off x="7476840" y="27810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9" name=""/>
          <p:cNvSpPr/>
          <p:nvPr/>
        </p:nvSpPr>
        <p:spPr>
          <a:xfrm>
            <a:off x="8848440" y="27810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0" name=""/>
          <p:cNvSpPr/>
          <p:nvPr/>
        </p:nvSpPr>
        <p:spPr>
          <a:xfrm>
            <a:off x="10220040" y="2781000"/>
            <a:ext cx="1381680" cy="390960"/>
          </a:xfrm>
          <a:custGeom>
            <a:avLst/>
            <a:gdLst/>
            <a:ahLst/>
            <a:rect l="0" t="0" r="r" b="b"/>
            <a:pathLst>
              <a:path w="3838" h="1086">
                <a:moveTo>
                  <a:pt x="0" y="0"/>
                </a:moveTo>
                <a:lnTo>
                  <a:pt x="3838" y="0"/>
                </a:lnTo>
                <a:lnTo>
                  <a:pt x="383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1" name=""/>
          <p:cNvSpPr/>
          <p:nvPr/>
        </p:nvSpPr>
        <p:spPr>
          <a:xfrm>
            <a:off x="6248160" y="2781000"/>
            <a:ext cx="1229040" cy="390960"/>
          </a:xfrm>
          <a:custGeom>
            <a:avLst/>
            <a:gdLst/>
            <a:ahLst/>
            <a:rect l="0" t="0" r="r" b="b"/>
            <a:pathLst>
              <a:path w="3414" h="1086">
                <a:moveTo>
                  <a:pt x="0" y="0"/>
                </a:moveTo>
                <a:lnTo>
                  <a:pt x="3414" y="0"/>
                </a:lnTo>
                <a:lnTo>
                  <a:pt x="3414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2" name=""/>
          <p:cNvSpPr/>
          <p:nvPr/>
        </p:nvSpPr>
        <p:spPr>
          <a:xfrm>
            <a:off x="7476840" y="27810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3" name=""/>
          <p:cNvSpPr/>
          <p:nvPr/>
        </p:nvSpPr>
        <p:spPr>
          <a:xfrm>
            <a:off x="8848440" y="27810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4" name=""/>
          <p:cNvSpPr/>
          <p:nvPr/>
        </p:nvSpPr>
        <p:spPr>
          <a:xfrm>
            <a:off x="10220040" y="2781000"/>
            <a:ext cx="1381680" cy="390960"/>
          </a:xfrm>
          <a:custGeom>
            <a:avLst/>
            <a:gdLst/>
            <a:ahLst/>
            <a:rect l="0" t="0" r="r" b="b"/>
            <a:pathLst>
              <a:path w="3838" h="1086">
                <a:moveTo>
                  <a:pt x="0" y="0"/>
                </a:moveTo>
                <a:lnTo>
                  <a:pt x="3838" y="0"/>
                </a:lnTo>
                <a:lnTo>
                  <a:pt x="383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5" name=""/>
          <p:cNvSpPr/>
          <p:nvPr/>
        </p:nvSpPr>
        <p:spPr>
          <a:xfrm>
            <a:off x="6248160" y="3171600"/>
            <a:ext cx="1229040" cy="390960"/>
          </a:xfrm>
          <a:custGeom>
            <a:avLst/>
            <a:gdLst/>
            <a:ahLst/>
            <a:rect l="0" t="0" r="r" b="b"/>
            <a:pathLst>
              <a:path w="3414" h="1086">
                <a:moveTo>
                  <a:pt x="0" y="0"/>
                </a:moveTo>
                <a:lnTo>
                  <a:pt x="3414" y="0"/>
                </a:lnTo>
                <a:lnTo>
                  <a:pt x="3414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6" name=""/>
          <p:cNvSpPr/>
          <p:nvPr/>
        </p:nvSpPr>
        <p:spPr>
          <a:xfrm>
            <a:off x="7476840" y="31716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7" name=""/>
          <p:cNvSpPr/>
          <p:nvPr/>
        </p:nvSpPr>
        <p:spPr>
          <a:xfrm>
            <a:off x="8848440" y="31716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8" name=""/>
          <p:cNvSpPr/>
          <p:nvPr/>
        </p:nvSpPr>
        <p:spPr>
          <a:xfrm>
            <a:off x="10220040" y="3171600"/>
            <a:ext cx="1381680" cy="390960"/>
          </a:xfrm>
          <a:custGeom>
            <a:avLst/>
            <a:gdLst/>
            <a:ahLst/>
            <a:rect l="0" t="0" r="r" b="b"/>
            <a:pathLst>
              <a:path w="3838" h="1086">
                <a:moveTo>
                  <a:pt x="0" y="0"/>
                </a:moveTo>
                <a:lnTo>
                  <a:pt x="3838" y="0"/>
                </a:lnTo>
                <a:lnTo>
                  <a:pt x="383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9" name=""/>
          <p:cNvSpPr/>
          <p:nvPr/>
        </p:nvSpPr>
        <p:spPr>
          <a:xfrm>
            <a:off x="6248160" y="3562200"/>
            <a:ext cx="1229040" cy="390960"/>
          </a:xfrm>
          <a:custGeom>
            <a:avLst/>
            <a:gdLst/>
            <a:ahLst/>
            <a:rect l="0" t="0" r="r" b="b"/>
            <a:pathLst>
              <a:path w="3414" h="1086">
                <a:moveTo>
                  <a:pt x="0" y="0"/>
                </a:moveTo>
                <a:lnTo>
                  <a:pt x="3414" y="0"/>
                </a:lnTo>
                <a:lnTo>
                  <a:pt x="3414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0" name=""/>
          <p:cNvSpPr/>
          <p:nvPr/>
        </p:nvSpPr>
        <p:spPr>
          <a:xfrm>
            <a:off x="7476840" y="35622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1" name=""/>
          <p:cNvSpPr/>
          <p:nvPr/>
        </p:nvSpPr>
        <p:spPr>
          <a:xfrm>
            <a:off x="8848440" y="3562200"/>
            <a:ext cx="1371960" cy="390960"/>
          </a:xfrm>
          <a:custGeom>
            <a:avLst/>
            <a:gdLst/>
            <a:ahLst/>
            <a:rect l="0" t="0" r="r" b="b"/>
            <a:pathLst>
              <a:path w="3811" h="1086">
                <a:moveTo>
                  <a:pt x="0" y="0"/>
                </a:moveTo>
                <a:lnTo>
                  <a:pt x="3811" y="0"/>
                </a:lnTo>
                <a:lnTo>
                  <a:pt x="381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2" name=""/>
          <p:cNvSpPr/>
          <p:nvPr/>
        </p:nvSpPr>
        <p:spPr>
          <a:xfrm>
            <a:off x="10220040" y="3562200"/>
            <a:ext cx="1381680" cy="390960"/>
          </a:xfrm>
          <a:custGeom>
            <a:avLst/>
            <a:gdLst/>
            <a:ahLst/>
            <a:rect l="0" t="0" r="r" b="b"/>
            <a:pathLst>
              <a:path w="3838" h="1086">
                <a:moveTo>
                  <a:pt x="0" y="0"/>
                </a:moveTo>
                <a:lnTo>
                  <a:pt x="3838" y="0"/>
                </a:lnTo>
                <a:lnTo>
                  <a:pt x="383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3" name=""/>
          <p:cNvSpPr/>
          <p:nvPr/>
        </p:nvSpPr>
        <p:spPr>
          <a:xfrm>
            <a:off x="6248160" y="3952800"/>
            <a:ext cx="1229040" cy="390600"/>
          </a:xfrm>
          <a:custGeom>
            <a:avLst/>
            <a:gdLst/>
            <a:ahLst/>
            <a:rect l="0" t="0" r="r" b="b"/>
            <a:pathLst>
              <a:path w="3414" h="1085">
                <a:moveTo>
                  <a:pt x="0" y="0"/>
                </a:moveTo>
                <a:lnTo>
                  <a:pt x="3414" y="0"/>
                </a:lnTo>
                <a:lnTo>
                  <a:pt x="3414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4" name=""/>
          <p:cNvSpPr/>
          <p:nvPr/>
        </p:nvSpPr>
        <p:spPr>
          <a:xfrm>
            <a:off x="7476840" y="3952800"/>
            <a:ext cx="1371960" cy="390600"/>
          </a:xfrm>
          <a:custGeom>
            <a:avLst/>
            <a:gdLst/>
            <a:ahLst/>
            <a:rect l="0" t="0" r="r" b="b"/>
            <a:pathLst>
              <a:path w="3811" h="1085">
                <a:moveTo>
                  <a:pt x="0" y="0"/>
                </a:moveTo>
                <a:lnTo>
                  <a:pt x="3811" y="0"/>
                </a:lnTo>
                <a:lnTo>
                  <a:pt x="3811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5" name=""/>
          <p:cNvSpPr/>
          <p:nvPr/>
        </p:nvSpPr>
        <p:spPr>
          <a:xfrm>
            <a:off x="8848440" y="3952800"/>
            <a:ext cx="1371960" cy="390600"/>
          </a:xfrm>
          <a:custGeom>
            <a:avLst/>
            <a:gdLst/>
            <a:ahLst/>
            <a:rect l="0" t="0" r="r" b="b"/>
            <a:pathLst>
              <a:path w="3811" h="1085">
                <a:moveTo>
                  <a:pt x="0" y="0"/>
                </a:moveTo>
                <a:lnTo>
                  <a:pt x="3811" y="0"/>
                </a:lnTo>
                <a:lnTo>
                  <a:pt x="3811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6" name=""/>
          <p:cNvSpPr/>
          <p:nvPr/>
        </p:nvSpPr>
        <p:spPr>
          <a:xfrm>
            <a:off x="10220040" y="3952800"/>
            <a:ext cx="1381680" cy="390600"/>
          </a:xfrm>
          <a:custGeom>
            <a:avLst/>
            <a:gdLst/>
            <a:ahLst/>
            <a:rect l="0" t="0" r="r" b="b"/>
            <a:pathLst>
              <a:path w="3838" h="1085">
                <a:moveTo>
                  <a:pt x="0" y="0"/>
                </a:moveTo>
                <a:lnTo>
                  <a:pt x="3838" y="0"/>
                </a:lnTo>
                <a:lnTo>
                  <a:pt x="383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7" name=""/>
          <p:cNvSpPr/>
          <p:nvPr/>
        </p:nvSpPr>
        <p:spPr>
          <a:xfrm>
            <a:off x="6238800" y="277164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8" name=""/>
          <p:cNvSpPr/>
          <p:nvPr/>
        </p:nvSpPr>
        <p:spPr>
          <a:xfrm>
            <a:off x="6238800" y="277164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9" name=""/>
          <p:cNvSpPr/>
          <p:nvPr/>
        </p:nvSpPr>
        <p:spPr>
          <a:xfrm>
            <a:off x="7476840" y="277164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0" name=""/>
          <p:cNvSpPr/>
          <p:nvPr/>
        </p:nvSpPr>
        <p:spPr>
          <a:xfrm>
            <a:off x="7486560" y="27716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1" name=""/>
          <p:cNvSpPr/>
          <p:nvPr/>
        </p:nvSpPr>
        <p:spPr>
          <a:xfrm>
            <a:off x="8848440" y="277164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2" name=""/>
          <p:cNvSpPr/>
          <p:nvPr/>
        </p:nvSpPr>
        <p:spPr>
          <a:xfrm>
            <a:off x="8858160" y="27716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3" name=""/>
          <p:cNvSpPr/>
          <p:nvPr/>
        </p:nvSpPr>
        <p:spPr>
          <a:xfrm>
            <a:off x="10220040" y="277164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4" name=""/>
          <p:cNvSpPr/>
          <p:nvPr/>
        </p:nvSpPr>
        <p:spPr>
          <a:xfrm>
            <a:off x="10229760" y="27716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5" name=""/>
          <p:cNvSpPr/>
          <p:nvPr/>
        </p:nvSpPr>
        <p:spPr>
          <a:xfrm>
            <a:off x="11591640" y="277164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6" name=""/>
          <p:cNvSpPr/>
          <p:nvPr/>
        </p:nvSpPr>
        <p:spPr>
          <a:xfrm>
            <a:off x="6238800" y="316224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7" name=""/>
          <p:cNvSpPr/>
          <p:nvPr/>
        </p:nvSpPr>
        <p:spPr>
          <a:xfrm>
            <a:off x="7486560" y="31622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8" name=""/>
          <p:cNvSpPr/>
          <p:nvPr/>
        </p:nvSpPr>
        <p:spPr>
          <a:xfrm>
            <a:off x="8858160" y="31622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9" name=""/>
          <p:cNvSpPr/>
          <p:nvPr/>
        </p:nvSpPr>
        <p:spPr>
          <a:xfrm>
            <a:off x="10229760" y="31622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0" name=""/>
          <p:cNvSpPr/>
          <p:nvPr/>
        </p:nvSpPr>
        <p:spPr>
          <a:xfrm>
            <a:off x="6238800" y="31716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1" name=""/>
          <p:cNvSpPr/>
          <p:nvPr/>
        </p:nvSpPr>
        <p:spPr>
          <a:xfrm>
            <a:off x="7476840" y="31716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2" name=""/>
          <p:cNvSpPr/>
          <p:nvPr/>
        </p:nvSpPr>
        <p:spPr>
          <a:xfrm>
            <a:off x="8848440" y="31716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3" name=""/>
          <p:cNvSpPr/>
          <p:nvPr/>
        </p:nvSpPr>
        <p:spPr>
          <a:xfrm>
            <a:off x="10220040" y="31716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4" name=""/>
          <p:cNvSpPr/>
          <p:nvPr/>
        </p:nvSpPr>
        <p:spPr>
          <a:xfrm>
            <a:off x="11591640" y="31716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5" name=""/>
          <p:cNvSpPr/>
          <p:nvPr/>
        </p:nvSpPr>
        <p:spPr>
          <a:xfrm>
            <a:off x="6238800" y="35622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6" name=""/>
          <p:cNvSpPr/>
          <p:nvPr/>
        </p:nvSpPr>
        <p:spPr>
          <a:xfrm>
            <a:off x="6238800" y="355248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7" name=""/>
          <p:cNvSpPr/>
          <p:nvPr/>
        </p:nvSpPr>
        <p:spPr>
          <a:xfrm>
            <a:off x="7476840" y="35622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8" name=""/>
          <p:cNvSpPr/>
          <p:nvPr/>
        </p:nvSpPr>
        <p:spPr>
          <a:xfrm>
            <a:off x="7486560" y="3552480"/>
            <a:ext cx="1371960" cy="10080"/>
          </a:xfrm>
          <a:custGeom>
            <a:avLst/>
            <a:gdLst/>
            <a:ah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9" name=""/>
          <p:cNvSpPr/>
          <p:nvPr/>
        </p:nvSpPr>
        <p:spPr>
          <a:xfrm>
            <a:off x="8848440" y="35622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0" name=""/>
          <p:cNvSpPr/>
          <p:nvPr/>
        </p:nvSpPr>
        <p:spPr>
          <a:xfrm>
            <a:off x="8858160" y="3552480"/>
            <a:ext cx="1371960" cy="10080"/>
          </a:xfrm>
          <a:custGeom>
            <a:avLst/>
            <a:gdLst/>
            <a:ah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1" name=""/>
          <p:cNvSpPr/>
          <p:nvPr/>
        </p:nvSpPr>
        <p:spPr>
          <a:xfrm>
            <a:off x="10220040" y="35622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2" name=""/>
          <p:cNvSpPr/>
          <p:nvPr/>
        </p:nvSpPr>
        <p:spPr>
          <a:xfrm>
            <a:off x="10229760" y="3552480"/>
            <a:ext cx="1371960" cy="10080"/>
          </a:xfrm>
          <a:custGeom>
            <a:avLst/>
            <a:gdLst/>
            <a:ah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3" name=""/>
          <p:cNvSpPr/>
          <p:nvPr/>
        </p:nvSpPr>
        <p:spPr>
          <a:xfrm>
            <a:off x="11591640" y="35622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4" name=""/>
          <p:cNvSpPr/>
          <p:nvPr/>
        </p:nvSpPr>
        <p:spPr>
          <a:xfrm>
            <a:off x="6238800" y="39528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5" name=""/>
          <p:cNvSpPr/>
          <p:nvPr/>
        </p:nvSpPr>
        <p:spPr>
          <a:xfrm>
            <a:off x="6238800" y="394308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6" name=""/>
          <p:cNvSpPr/>
          <p:nvPr/>
        </p:nvSpPr>
        <p:spPr>
          <a:xfrm>
            <a:off x="7476840" y="39528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7" name=""/>
          <p:cNvSpPr/>
          <p:nvPr/>
        </p:nvSpPr>
        <p:spPr>
          <a:xfrm>
            <a:off x="7486560" y="3943080"/>
            <a:ext cx="1371960" cy="10080"/>
          </a:xfrm>
          <a:custGeom>
            <a:avLst/>
            <a:gdLst/>
            <a:ah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8" name=""/>
          <p:cNvSpPr/>
          <p:nvPr/>
        </p:nvSpPr>
        <p:spPr>
          <a:xfrm>
            <a:off x="8848440" y="39528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9" name=""/>
          <p:cNvSpPr/>
          <p:nvPr/>
        </p:nvSpPr>
        <p:spPr>
          <a:xfrm>
            <a:off x="8858160" y="3943080"/>
            <a:ext cx="1371960" cy="10080"/>
          </a:xfrm>
          <a:custGeom>
            <a:avLst/>
            <a:gdLst/>
            <a:ah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0" name=""/>
          <p:cNvSpPr/>
          <p:nvPr/>
        </p:nvSpPr>
        <p:spPr>
          <a:xfrm>
            <a:off x="10220040" y="39528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1" name=""/>
          <p:cNvSpPr/>
          <p:nvPr/>
        </p:nvSpPr>
        <p:spPr>
          <a:xfrm>
            <a:off x="10229760" y="3943080"/>
            <a:ext cx="1371960" cy="10080"/>
          </a:xfrm>
          <a:custGeom>
            <a:avLst/>
            <a:gdLst/>
            <a:ah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2" name=""/>
          <p:cNvSpPr/>
          <p:nvPr/>
        </p:nvSpPr>
        <p:spPr>
          <a:xfrm>
            <a:off x="11591640" y="39528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3" name=""/>
          <p:cNvSpPr/>
          <p:nvPr/>
        </p:nvSpPr>
        <p:spPr>
          <a:xfrm>
            <a:off x="6238800" y="4333680"/>
            <a:ext cx="1248120" cy="9720"/>
          </a:xfrm>
          <a:custGeom>
            <a:avLst/>
            <a:gdLst/>
            <a:ahLst/>
            <a:rect l="0" t="0" r="r" b="b"/>
            <a:pathLst>
              <a:path w="3467" h="27">
                <a:moveTo>
                  <a:pt x="0" y="0"/>
                </a:moveTo>
                <a:lnTo>
                  <a:pt x="3467" y="0"/>
                </a:lnTo>
                <a:lnTo>
                  <a:pt x="34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4" name=""/>
          <p:cNvSpPr/>
          <p:nvPr/>
        </p:nvSpPr>
        <p:spPr>
          <a:xfrm>
            <a:off x="7486560" y="433368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5" name=""/>
          <p:cNvSpPr/>
          <p:nvPr/>
        </p:nvSpPr>
        <p:spPr>
          <a:xfrm>
            <a:off x="8858160" y="433368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6" name=""/>
          <p:cNvSpPr/>
          <p:nvPr/>
        </p:nvSpPr>
        <p:spPr>
          <a:xfrm>
            <a:off x="10229760" y="433368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90400" y="5388120"/>
            <a:ext cx="3899052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の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sampling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処理では 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temperature &gt; 0 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が条件。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8" name=""/>
          <p:cNvSpPr/>
          <p:nvPr/>
        </p:nvSpPr>
        <p:spPr>
          <a:xfrm>
            <a:off x="7000560" y="1466640"/>
            <a:ext cx="2705760" cy="267120"/>
          </a:xfrm>
          <a:custGeom>
            <a:avLst/>
            <a:gdLst/>
            <a:ahLst/>
            <a:rect l="0" t="0" r="r" b="b"/>
            <a:pathLst>
              <a:path w="7516" h="742">
                <a:moveTo>
                  <a:pt x="0" y="58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357" y="0"/>
                </a:lnTo>
                <a:cubicBezTo>
                  <a:pt x="7367" y="0"/>
                  <a:pt x="7378" y="1"/>
                  <a:pt x="7388" y="3"/>
                </a:cubicBezTo>
                <a:cubicBezTo>
                  <a:pt x="7398" y="5"/>
                  <a:pt x="7408" y="8"/>
                  <a:pt x="7418" y="12"/>
                </a:cubicBezTo>
                <a:cubicBezTo>
                  <a:pt x="7427" y="16"/>
                  <a:pt x="7436" y="21"/>
                  <a:pt x="7445" y="27"/>
                </a:cubicBezTo>
                <a:cubicBezTo>
                  <a:pt x="7454" y="33"/>
                  <a:pt x="7462" y="39"/>
                  <a:pt x="7469" y="47"/>
                </a:cubicBezTo>
                <a:cubicBezTo>
                  <a:pt x="7476" y="54"/>
                  <a:pt x="7483" y="62"/>
                  <a:pt x="7489" y="71"/>
                </a:cubicBezTo>
                <a:cubicBezTo>
                  <a:pt x="7495" y="79"/>
                  <a:pt x="7499" y="88"/>
                  <a:pt x="7503" y="98"/>
                </a:cubicBezTo>
                <a:cubicBezTo>
                  <a:pt x="7507" y="108"/>
                  <a:pt x="7510" y="118"/>
                  <a:pt x="7512" y="128"/>
                </a:cubicBezTo>
                <a:cubicBezTo>
                  <a:pt x="7515" y="138"/>
                  <a:pt x="7516" y="148"/>
                  <a:pt x="7516" y="159"/>
                </a:cubicBezTo>
                <a:lnTo>
                  <a:pt x="7516" y="582"/>
                </a:lnTo>
                <a:cubicBezTo>
                  <a:pt x="7516" y="593"/>
                  <a:pt x="7515" y="603"/>
                  <a:pt x="7512" y="613"/>
                </a:cubicBezTo>
                <a:cubicBezTo>
                  <a:pt x="7510" y="623"/>
                  <a:pt x="7507" y="633"/>
                  <a:pt x="7503" y="643"/>
                </a:cubicBezTo>
                <a:cubicBezTo>
                  <a:pt x="7499" y="653"/>
                  <a:pt x="7495" y="662"/>
                  <a:pt x="7489" y="670"/>
                </a:cubicBezTo>
                <a:cubicBezTo>
                  <a:pt x="7483" y="679"/>
                  <a:pt x="7476" y="687"/>
                  <a:pt x="7469" y="694"/>
                </a:cubicBezTo>
                <a:cubicBezTo>
                  <a:pt x="7462" y="702"/>
                  <a:pt x="7454" y="708"/>
                  <a:pt x="7445" y="714"/>
                </a:cubicBezTo>
                <a:cubicBezTo>
                  <a:pt x="7436" y="720"/>
                  <a:pt x="7427" y="725"/>
                  <a:pt x="7418" y="729"/>
                </a:cubicBezTo>
                <a:cubicBezTo>
                  <a:pt x="7408" y="733"/>
                  <a:pt x="7398" y="737"/>
                  <a:pt x="7388" y="739"/>
                </a:cubicBezTo>
                <a:cubicBezTo>
                  <a:pt x="7378" y="741"/>
                  <a:pt x="7367" y="742"/>
                  <a:pt x="7357" y="742"/>
                </a:cubicBezTo>
                <a:lnTo>
                  <a:pt x="159" y="742"/>
                </a:lnTo>
                <a:cubicBezTo>
                  <a:pt x="149" y="742"/>
                  <a:pt x="138" y="741"/>
                  <a:pt x="128" y="739"/>
                </a:cubicBezTo>
                <a:cubicBezTo>
                  <a:pt x="118" y="737"/>
                  <a:pt x="108" y="733"/>
                  <a:pt x="98" y="729"/>
                </a:cubicBezTo>
                <a:cubicBezTo>
                  <a:pt x="89" y="725"/>
                  <a:pt x="80" y="720"/>
                  <a:pt x="71" y="714"/>
                </a:cubicBezTo>
                <a:cubicBezTo>
                  <a:pt x="62" y="708"/>
                  <a:pt x="54" y="702"/>
                  <a:pt x="47" y="694"/>
                </a:cubicBezTo>
                <a:cubicBezTo>
                  <a:pt x="39" y="687"/>
                  <a:pt x="33" y="679"/>
                  <a:pt x="27" y="670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8" y="633"/>
                  <a:pt x="5" y="623"/>
                  <a:pt x="3" y="613"/>
                </a:cubicBezTo>
                <a:cubicBezTo>
                  <a:pt x="1" y="603"/>
                  <a:pt x="0" y="593"/>
                  <a:pt x="0" y="582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238800" y="1475280"/>
            <a:ext cx="87685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計算は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7046640" y="1464120"/>
            <a:ext cx="3008124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softmax(logits / 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238800" y="2005200"/>
            <a:ext cx="567014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各候補の点数を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で割ってから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softmax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を適用する。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2" name=""/>
          <p:cNvSpPr/>
          <p:nvPr/>
        </p:nvSpPr>
        <p:spPr>
          <a:xfrm>
            <a:off x="6705360" y="2371680"/>
            <a:ext cx="1095840" cy="276480"/>
          </a:xfrm>
          <a:custGeom>
            <a:avLst/>
            <a:gdLst/>
            <a:ahLst/>
            <a:rect l="0" t="0" r="r" b="b"/>
            <a:pathLst>
              <a:path w="3044" h="768">
                <a:moveTo>
                  <a:pt x="0" y="608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885" y="0"/>
                </a:lnTo>
                <a:cubicBezTo>
                  <a:pt x="2896" y="0"/>
                  <a:pt x="2906" y="1"/>
                  <a:pt x="2916" y="3"/>
                </a:cubicBezTo>
                <a:cubicBezTo>
                  <a:pt x="2926" y="5"/>
                  <a:pt x="2936" y="8"/>
                  <a:pt x="2946" y="12"/>
                </a:cubicBezTo>
                <a:cubicBezTo>
                  <a:pt x="2956" y="16"/>
                  <a:pt x="2965" y="21"/>
                  <a:pt x="2973" y="26"/>
                </a:cubicBezTo>
                <a:cubicBezTo>
                  <a:pt x="2982" y="32"/>
                  <a:pt x="2990" y="39"/>
                  <a:pt x="2997" y="46"/>
                </a:cubicBezTo>
                <a:cubicBezTo>
                  <a:pt x="3005" y="53"/>
                  <a:pt x="3011" y="62"/>
                  <a:pt x="3017" y="70"/>
                </a:cubicBezTo>
                <a:cubicBezTo>
                  <a:pt x="3023" y="79"/>
                  <a:pt x="3028" y="88"/>
                  <a:pt x="3032" y="98"/>
                </a:cubicBezTo>
                <a:cubicBezTo>
                  <a:pt x="3036" y="107"/>
                  <a:pt x="3039" y="117"/>
                  <a:pt x="3041" y="127"/>
                </a:cubicBezTo>
                <a:cubicBezTo>
                  <a:pt x="3043" y="138"/>
                  <a:pt x="3044" y="148"/>
                  <a:pt x="3044" y="158"/>
                </a:cubicBezTo>
                <a:lnTo>
                  <a:pt x="3044" y="608"/>
                </a:lnTo>
                <a:cubicBezTo>
                  <a:pt x="3044" y="619"/>
                  <a:pt x="3043" y="629"/>
                  <a:pt x="3041" y="639"/>
                </a:cubicBezTo>
                <a:cubicBezTo>
                  <a:pt x="3039" y="649"/>
                  <a:pt x="3036" y="659"/>
                  <a:pt x="3032" y="669"/>
                </a:cubicBezTo>
                <a:cubicBezTo>
                  <a:pt x="3028" y="679"/>
                  <a:pt x="3023" y="688"/>
                  <a:pt x="3017" y="696"/>
                </a:cubicBezTo>
                <a:cubicBezTo>
                  <a:pt x="3011" y="706"/>
                  <a:pt x="3005" y="714"/>
                  <a:pt x="2997" y="721"/>
                </a:cubicBezTo>
                <a:cubicBezTo>
                  <a:pt x="2990" y="729"/>
                  <a:pt x="2982" y="735"/>
                  <a:pt x="2973" y="741"/>
                </a:cubicBezTo>
                <a:cubicBezTo>
                  <a:pt x="2965" y="747"/>
                  <a:pt x="2956" y="752"/>
                  <a:pt x="2946" y="756"/>
                </a:cubicBezTo>
                <a:cubicBezTo>
                  <a:pt x="2936" y="760"/>
                  <a:pt x="2926" y="763"/>
                  <a:pt x="2916" y="765"/>
                </a:cubicBezTo>
                <a:cubicBezTo>
                  <a:pt x="2906" y="767"/>
                  <a:pt x="2896" y="768"/>
                  <a:pt x="2885" y="768"/>
                </a:cubicBezTo>
                <a:lnTo>
                  <a:pt x="159" y="768"/>
                </a:lnTo>
                <a:cubicBezTo>
                  <a:pt x="148" y="768"/>
                  <a:pt x="138" y="767"/>
                  <a:pt x="128" y="765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9" y="752"/>
                  <a:pt x="79" y="747"/>
                  <a:pt x="71" y="741"/>
                </a:cubicBezTo>
                <a:cubicBezTo>
                  <a:pt x="62" y="735"/>
                  <a:pt x="54" y="729"/>
                  <a:pt x="47" y="721"/>
                </a:cubicBezTo>
                <a:cubicBezTo>
                  <a:pt x="39" y="714"/>
                  <a:pt x="33" y="706"/>
                  <a:pt x="27" y="696"/>
                </a:cubicBezTo>
                <a:cubicBezTo>
                  <a:pt x="21" y="688"/>
                  <a:pt x="16" y="679"/>
                  <a:pt x="12" y="669"/>
                </a:cubicBezTo>
                <a:cubicBezTo>
                  <a:pt x="8" y="659"/>
                  <a:pt x="5" y="649"/>
                  <a:pt x="3" y="639"/>
                </a:cubicBezTo>
                <a:cubicBezTo>
                  <a:pt x="1" y="629"/>
                  <a:pt x="0" y="619"/>
                  <a:pt x="0" y="608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238800" y="2395800"/>
            <a:ext cx="53654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点数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6775920" y="2405520"/>
            <a:ext cx="1102482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[2, 1, 0]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7800120" y="2395800"/>
            <a:ext cx="7659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の例：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6876000" y="2880360"/>
            <a:ext cx="588294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温度</a:t>
            </a:r>
            <a:r>
              <a:rPr lang="en-US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8610120" y="28803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9992880" y="28803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11358000" y="28803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7090920" y="3270960"/>
            <a:ext cx="34113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0.5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8170560" y="327096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86.7%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9544320" y="327096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11.7%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11042640" y="3270960"/>
            <a:ext cx="53364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1.6%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7090920" y="3661560"/>
            <a:ext cx="34113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170560" y="366156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66.5%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9543600" y="3661560"/>
            <a:ext cx="67854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24.5%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1042640" y="3661560"/>
            <a:ext cx="53364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9.0%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7090920" y="4051800"/>
            <a:ext cx="34113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2.0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8170560" y="405180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50.6%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9544320" y="405180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30.7%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10917360" y="4051800"/>
            <a:ext cx="67771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18.6%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6238800" y="4510440"/>
            <a:ext cx="406051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小さい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：最大候補に確率が集中する。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238800" y="4795920"/>
            <a:ext cx="429028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大きい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：他の候補も選ばれやすくなる。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238800" y="518652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順位は変わらない。温度を上げても、正解率が上がるとは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238800" y="5472360"/>
            <a:ext cx="114885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限らない。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6238800" y="5862960"/>
            <a:ext cx="5211018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T=0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は除算せず、前ページの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greedy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方式を使う。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1" name=""/>
          <p:cNvSpPr/>
          <p:nvPr/>
        </p:nvSpPr>
        <p:spPr>
          <a:xfrm>
            <a:off x="595080" y="1585800"/>
            <a:ext cx="5353560" cy="3657960"/>
          </a:xfrm>
          <a:custGeom>
            <a:avLst/>
            <a:gdLst/>
            <a:ahLst/>
            <a:rect l="0" t="0" r="r" b="b"/>
            <a:pathLst>
              <a:path w="14871" h="10161">
                <a:moveTo>
                  <a:pt x="0" y="1001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4"/>
                  <a:pt x="14772" y="7"/>
                  <a:pt x="14781" y="11"/>
                </a:cubicBezTo>
                <a:cubicBezTo>
                  <a:pt x="14790" y="15"/>
                  <a:pt x="14798" y="19"/>
                  <a:pt x="14806" y="24"/>
                </a:cubicBezTo>
                <a:cubicBezTo>
                  <a:pt x="14814" y="30"/>
                  <a:pt x="14821" y="36"/>
                  <a:pt x="14828" y="42"/>
                </a:cubicBezTo>
                <a:cubicBezTo>
                  <a:pt x="14835" y="49"/>
                  <a:pt x="14841" y="57"/>
                  <a:pt x="14846" y="64"/>
                </a:cubicBezTo>
                <a:cubicBezTo>
                  <a:pt x="14852" y="72"/>
                  <a:pt x="14856" y="81"/>
                  <a:pt x="14860" y="90"/>
                </a:cubicBezTo>
                <a:cubicBezTo>
                  <a:pt x="14863" y="98"/>
                  <a:pt x="14866" y="108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0015"/>
                </a:lnTo>
                <a:cubicBezTo>
                  <a:pt x="14871" y="10025"/>
                  <a:pt x="14870" y="10034"/>
                  <a:pt x="14868" y="10044"/>
                </a:cubicBezTo>
                <a:cubicBezTo>
                  <a:pt x="14866" y="10053"/>
                  <a:pt x="14863" y="10062"/>
                  <a:pt x="14860" y="10071"/>
                </a:cubicBezTo>
                <a:cubicBezTo>
                  <a:pt x="14856" y="10080"/>
                  <a:pt x="14852" y="10088"/>
                  <a:pt x="14846" y="10096"/>
                </a:cubicBezTo>
                <a:cubicBezTo>
                  <a:pt x="14841" y="10104"/>
                  <a:pt x="14835" y="10111"/>
                  <a:pt x="14828" y="10118"/>
                </a:cubicBezTo>
                <a:cubicBezTo>
                  <a:pt x="14821" y="10125"/>
                  <a:pt x="14814" y="10131"/>
                  <a:pt x="14806" y="10136"/>
                </a:cubicBezTo>
                <a:cubicBezTo>
                  <a:pt x="14798" y="10142"/>
                  <a:pt x="14790" y="10146"/>
                  <a:pt x="14781" y="10150"/>
                </a:cubicBezTo>
                <a:cubicBezTo>
                  <a:pt x="14772" y="10153"/>
                  <a:pt x="14763" y="10156"/>
                  <a:pt x="14754" y="10158"/>
                </a:cubicBezTo>
                <a:cubicBezTo>
                  <a:pt x="14744" y="10160"/>
                  <a:pt x="14735" y="10161"/>
                  <a:pt x="14725" y="10161"/>
                </a:cubicBezTo>
                <a:lnTo>
                  <a:pt x="146" y="10161"/>
                </a:lnTo>
                <a:cubicBezTo>
                  <a:pt x="136" y="10161"/>
                  <a:pt x="127" y="10160"/>
                  <a:pt x="117" y="10158"/>
                </a:cubicBezTo>
                <a:cubicBezTo>
                  <a:pt x="108" y="10156"/>
                  <a:pt x="99" y="10153"/>
                  <a:pt x="90" y="10150"/>
                </a:cubicBezTo>
                <a:cubicBezTo>
                  <a:pt x="81" y="10146"/>
                  <a:pt x="73" y="10142"/>
                  <a:pt x="65" y="10136"/>
                </a:cubicBezTo>
                <a:cubicBezTo>
                  <a:pt x="57" y="10131"/>
                  <a:pt x="50" y="10125"/>
                  <a:pt x="43" y="10118"/>
                </a:cubicBezTo>
                <a:cubicBezTo>
                  <a:pt x="36" y="10111"/>
                  <a:pt x="30" y="10104"/>
                  <a:pt x="25" y="10096"/>
                </a:cubicBezTo>
                <a:cubicBezTo>
                  <a:pt x="19" y="10088"/>
                  <a:pt x="15" y="10080"/>
                  <a:pt x="11" y="10071"/>
                </a:cubicBezTo>
                <a:cubicBezTo>
                  <a:pt x="8" y="10062"/>
                  <a:pt x="5" y="10053"/>
                  <a:pt x="3" y="10044"/>
                </a:cubicBezTo>
                <a:cubicBezTo>
                  <a:pt x="1" y="10034"/>
                  <a:pt x="0" y="10025"/>
                  <a:pt x="0" y="10015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2" name=""/>
          <p:cNvSpPr/>
          <p:nvPr/>
        </p:nvSpPr>
        <p:spPr>
          <a:xfrm>
            <a:off x="595080" y="1585800"/>
            <a:ext cx="5353560" cy="3657960"/>
          </a:xfrm>
          <a:custGeom>
            <a:avLst/>
            <a:gdLst/>
            <a:ahLst/>
            <a:rect l="0" t="0" r="r" b="b"/>
            <a:pathLst>
              <a:path w="14871" h="10161">
                <a:moveTo>
                  <a:pt x="0" y="1001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4"/>
                  <a:pt x="14772" y="7"/>
                  <a:pt x="14781" y="11"/>
                </a:cubicBezTo>
                <a:cubicBezTo>
                  <a:pt x="14790" y="15"/>
                  <a:pt x="14798" y="19"/>
                  <a:pt x="14806" y="24"/>
                </a:cubicBezTo>
                <a:cubicBezTo>
                  <a:pt x="14814" y="30"/>
                  <a:pt x="14821" y="36"/>
                  <a:pt x="14828" y="42"/>
                </a:cubicBezTo>
                <a:cubicBezTo>
                  <a:pt x="14835" y="49"/>
                  <a:pt x="14841" y="57"/>
                  <a:pt x="14846" y="64"/>
                </a:cubicBezTo>
                <a:cubicBezTo>
                  <a:pt x="14852" y="72"/>
                  <a:pt x="14856" y="81"/>
                  <a:pt x="14860" y="90"/>
                </a:cubicBezTo>
                <a:cubicBezTo>
                  <a:pt x="14863" y="98"/>
                  <a:pt x="14866" y="108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0015"/>
                </a:lnTo>
                <a:cubicBezTo>
                  <a:pt x="14871" y="10025"/>
                  <a:pt x="14870" y="10034"/>
                  <a:pt x="14868" y="10044"/>
                </a:cubicBezTo>
                <a:cubicBezTo>
                  <a:pt x="14866" y="10053"/>
                  <a:pt x="14863" y="10062"/>
                  <a:pt x="14860" y="10071"/>
                </a:cubicBezTo>
                <a:cubicBezTo>
                  <a:pt x="14856" y="10080"/>
                  <a:pt x="14852" y="10088"/>
                  <a:pt x="14846" y="10096"/>
                </a:cubicBezTo>
                <a:cubicBezTo>
                  <a:pt x="14841" y="10104"/>
                  <a:pt x="14835" y="10111"/>
                  <a:pt x="14828" y="10118"/>
                </a:cubicBezTo>
                <a:cubicBezTo>
                  <a:pt x="14821" y="10125"/>
                  <a:pt x="14814" y="10131"/>
                  <a:pt x="14806" y="10136"/>
                </a:cubicBezTo>
                <a:cubicBezTo>
                  <a:pt x="14798" y="10142"/>
                  <a:pt x="14790" y="10146"/>
                  <a:pt x="14781" y="10150"/>
                </a:cubicBezTo>
                <a:cubicBezTo>
                  <a:pt x="14772" y="10153"/>
                  <a:pt x="14763" y="10156"/>
                  <a:pt x="14754" y="10158"/>
                </a:cubicBezTo>
                <a:cubicBezTo>
                  <a:pt x="14744" y="10160"/>
                  <a:pt x="14735" y="10161"/>
                  <a:pt x="14725" y="10161"/>
                </a:cubicBezTo>
                <a:lnTo>
                  <a:pt x="146" y="10161"/>
                </a:lnTo>
                <a:cubicBezTo>
                  <a:pt x="136" y="10161"/>
                  <a:pt x="127" y="10160"/>
                  <a:pt x="117" y="10158"/>
                </a:cubicBezTo>
                <a:cubicBezTo>
                  <a:pt x="108" y="10156"/>
                  <a:pt x="99" y="10153"/>
                  <a:pt x="90" y="10150"/>
                </a:cubicBezTo>
                <a:cubicBezTo>
                  <a:pt x="81" y="10146"/>
                  <a:pt x="73" y="10142"/>
                  <a:pt x="65" y="10136"/>
                </a:cubicBezTo>
                <a:cubicBezTo>
                  <a:pt x="57" y="10131"/>
                  <a:pt x="50" y="10125"/>
                  <a:pt x="43" y="10118"/>
                </a:cubicBezTo>
                <a:cubicBezTo>
                  <a:pt x="36" y="10111"/>
                  <a:pt x="30" y="10104"/>
                  <a:pt x="25" y="10096"/>
                </a:cubicBezTo>
                <a:cubicBezTo>
                  <a:pt x="19" y="10088"/>
                  <a:pt x="15" y="10080"/>
                  <a:pt x="11" y="10071"/>
                </a:cubicBezTo>
                <a:cubicBezTo>
                  <a:pt x="8" y="10062"/>
                  <a:pt x="5" y="10053"/>
                  <a:pt x="3" y="10044"/>
                </a:cubicBezTo>
                <a:cubicBezTo>
                  <a:pt x="1" y="10034"/>
                  <a:pt x="0" y="10025"/>
                  <a:pt x="0" y="10015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90400" y="905760"/>
            <a:ext cx="5658966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5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④ top-p</a:t>
            </a:r>
            <a:r>
              <a:rPr lang="ja-JP" sz="25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で、抽選する候補を絞る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743040" y="172620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1035360" y="1733760"/>
            <a:ext cx="167297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（ロジットの計算・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2492640" y="1726200"/>
            <a:ext cx="78370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softmax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175200" y="1733760"/>
            <a:ext cx="111531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までを省略）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743040" y="195480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937800" y="1962360"/>
            <a:ext cx="31588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高確率の候補から累積確率を計算する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743040" y="2183400"/>
            <a:ext cx="290876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cumulative = torch.cumsum(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743040" y="2402280"/>
            <a:ext cx="369163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sorted_probabilities, dim=-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43040" y="2630880"/>
            <a:ext cx="78370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top-p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1425240" y="2638800"/>
            <a:ext cx="241610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に達した後の候補を除外する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743040" y="2859480"/>
            <a:ext cx="111945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remove = 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43040" y="3088080"/>
            <a:ext cx="514560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cumulative - sorted_probabilities &gt;= top_p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743040" y="331668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743040" y="353592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937800" y="3543840"/>
            <a:ext cx="185844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範囲外の候補の確率を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557080" y="353592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0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2654640" y="3543840"/>
            <a:ext cx="5580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にする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3040" y="3764520"/>
            <a:ext cx="268520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sorted_probabilities = 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743040" y="3993120"/>
            <a:ext cx="548094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sorted_probabilities.masked_fill(remove,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0.0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43040" y="422172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43040" y="445032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937800" y="4458240"/>
            <a:ext cx="167297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残した候補の合計が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2395080" y="445032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2492640" y="4458240"/>
            <a:ext cx="148708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になるよう正規化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43040" y="4669560"/>
            <a:ext cx="548094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sorted_probabilities /= sorted_probabilities.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sum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43040" y="4898160"/>
            <a:ext cx="279698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dim=-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keepdim=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90400" y="5397480"/>
            <a:ext cx="3843576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evaluate_boku_nano_comparison.py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212–215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1" name=""/>
          <p:cNvSpPr/>
          <p:nvPr/>
        </p:nvSpPr>
        <p:spPr>
          <a:xfrm>
            <a:off x="6248160" y="3257280"/>
            <a:ext cx="1324440" cy="390960"/>
          </a:xfrm>
          <a:custGeom>
            <a:avLst/>
            <a:gdLst/>
            <a:ahLst/>
            <a:rect l="0" t="0" r="r" b="b"/>
            <a:pathLst>
              <a:path w="3679" h="1086">
                <a:moveTo>
                  <a:pt x="0" y="0"/>
                </a:moveTo>
                <a:lnTo>
                  <a:pt x="3679" y="0"/>
                </a:lnTo>
                <a:lnTo>
                  <a:pt x="367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2" name=""/>
          <p:cNvSpPr/>
          <p:nvPr/>
        </p:nvSpPr>
        <p:spPr>
          <a:xfrm>
            <a:off x="7572240" y="3257280"/>
            <a:ext cx="2238840" cy="390960"/>
          </a:xfrm>
          <a:custGeom>
            <a:avLst/>
            <a:gdLst/>
            <a:ahLst/>
            <a:rect l="0" t="0" r="r" b="b"/>
            <a:pathLst>
              <a:path w="6219" h="1086">
                <a:moveTo>
                  <a:pt x="0" y="0"/>
                </a:moveTo>
                <a:lnTo>
                  <a:pt x="6219" y="0"/>
                </a:lnTo>
                <a:lnTo>
                  <a:pt x="621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3" name=""/>
          <p:cNvSpPr/>
          <p:nvPr/>
        </p:nvSpPr>
        <p:spPr>
          <a:xfrm>
            <a:off x="9810720" y="3257280"/>
            <a:ext cx="1791000" cy="390960"/>
          </a:xfrm>
          <a:custGeom>
            <a:avLst/>
            <a:gdLst/>
            <a:ahLst/>
            <a:rect l="0" t="0" r="r" b="b"/>
            <a:pathLst>
              <a:path w="4975" h="1086">
                <a:moveTo>
                  <a:pt x="0" y="0"/>
                </a:moveTo>
                <a:lnTo>
                  <a:pt x="4975" y="0"/>
                </a:lnTo>
                <a:lnTo>
                  <a:pt x="4975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4" name=""/>
          <p:cNvSpPr/>
          <p:nvPr/>
        </p:nvSpPr>
        <p:spPr>
          <a:xfrm>
            <a:off x="6248160" y="3257280"/>
            <a:ext cx="1324440" cy="390960"/>
          </a:xfrm>
          <a:custGeom>
            <a:avLst/>
            <a:gdLst/>
            <a:ahLst/>
            <a:rect l="0" t="0" r="r" b="b"/>
            <a:pathLst>
              <a:path w="3679" h="1086">
                <a:moveTo>
                  <a:pt x="0" y="0"/>
                </a:moveTo>
                <a:lnTo>
                  <a:pt x="3679" y="0"/>
                </a:lnTo>
                <a:lnTo>
                  <a:pt x="367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5" name=""/>
          <p:cNvSpPr/>
          <p:nvPr/>
        </p:nvSpPr>
        <p:spPr>
          <a:xfrm>
            <a:off x="7572240" y="3257280"/>
            <a:ext cx="2238840" cy="390960"/>
          </a:xfrm>
          <a:custGeom>
            <a:avLst/>
            <a:gdLst/>
            <a:ahLst/>
            <a:rect l="0" t="0" r="r" b="b"/>
            <a:pathLst>
              <a:path w="6219" h="1086">
                <a:moveTo>
                  <a:pt x="0" y="0"/>
                </a:moveTo>
                <a:lnTo>
                  <a:pt x="6219" y="0"/>
                </a:lnTo>
                <a:lnTo>
                  <a:pt x="621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6" name=""/>
          <p:cNvSpPr/>
          <p:nvPr/>
        </p:nvSpPr>
        <p:spPr>
          <a:xfrm>
            <a:off x="9810720" y="3257280"/>
            <a:ext cx="1791000" cy="390960"/>
          </a:xfrm>
          <a:custGeom>
            <a:avLst/>
            <a:gdLst/>
            <a:ahLst/>
            <a:rect l="0" t="0" r="r" b="b"/>
            <a:pathLst>
              <a:path w="4975" h="1086">
                <a:moveTo>
                  <a:pt x="0" y="0"/>
                </a:moveTo>
                <a:lnTo>
                  <a:pt x="4975" y="0"/>
                </a:lnTo>
                <a:lnTo>
                  <a:pt x="4975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7" name=""/>
          <p:cNvSpPr/>
          <p:nvPr/>
        </p:nvSpPr>
        <p:spPr>
          <a:xfrm>
            <a:off x="6248160" y="3647880"/>
            <a:ext cx="1324440" cy="390960"/>
          </a:xfrm>
          <a:custGeom>
            <a:avLst/>
            <a:gdLst/>
            <a:ahLst/>
            <a:rect l="0" t="0" r="r" b="b"/>
            <a:pathLst>
              <a:path w="3679" h="1086">
                <a:moveTo>
                  <a:pt x="0" y="0"/>
                </a:moveTo>
                <a:lnTo>
                  <a:pt x="3679" y="0"/>
                </a:lnTo>
                <a:lnTo>
                  <a:pt x="367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8" name=""/>
          <p:cNvSpPr/>
          <p:nvPr/>
        </p:nvSpPr>
        <p:spPr>
          <a:xfrm>
            <a:off x="7572240" y="3647880"/>
            <a:ext cx="2238840" cy="390960"/>
          </a:xfrm>
          <a:custGeom>
            <a:avLst/>
            <a:gdLst/>
            <a:ahLst/>
            <a:rect l="0" t="0" r="r" b="b"/>
            <a:pathLst>
              <a:path w="6219" h="1086">
                <a:moveTo>
                  <a:pt x="0" y="0"/>
                </a:moveTo>
                <a:lnTo>
                  <a:pt x="6219" y="0"/>
                </a:lnTo>
                <a:lnTo>
                  <a:pt x="621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9" name=""/>
          <p:cNvSpPr/>
          <p:nvPr/>
        </p:nvSpPr>
        <p:spPr>
          <a:xfrm>
            <a:off x="9810720" y="3647880"/>
            <a:ext cx="1791000" cy="390960"/>
          </a:xfrm>
          <a:custGeom>
            <a:avLst/>
            <a:gdLst/>
            <a:ahLst/>
            <a:rect l="0" t="0" r="r" b="b"/>
            <a:pathLst>
              <a:path w="4975" h="1086">
                <a:moveTo>
                  <a:pt x="0" y="0"/>
                </a:moveTo>
                <a:lnTo>
                  <a:pt x="4975" y="0"/>
                </a:lnTo>
                <a:lnTo>
                  <a:pt x="4975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0" name=""/>
          <p:cNvSpPr/>
          <p:nvPr/>
        </p:nvSpPr>
        <p:spPr>
          <a:xfrm>
            <a:off x="6248160" y="4038480"/>
            <a:ext cx="1324440" cy="390960"/>
          </a:xfrm>
          <a:custGeom>
            <a:avLst/>
            <a:gdLst/>
            <a:ahLst/>
            <a:rect l="0" t="0" r="r" b="b"/>
            <a:pathLst>
              <a:path w="3679" h="1086">
                <a:moveTo>
                  <a:pt x="0" y="0"/>
                </a:moveTo>
                <a:lnTo>
                  <a:pt x="3679" y="0"/>
                </a:lnTo>
                <a:lnTo>
                  <a:pt x="367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1" name=""/>
          <p:cNvSpPr/>
          <p:nvPr/>
        </p:nvSpPr>
        <p:spPr>
          <a:xfrm>
            <a:off x="7572240" y="4038480"/>
            <a:ext cx="2238840" cy="390960"/>
          </a:xfrm>
          <a:custGeom>
            <a:avLst/>
            <a:gdLst/>
            <a:ahLst/>
            <a:rect l="0" t="0" r="r" b="b"/>
            <a:pathLst>
              <a:path w="6219" h="1086">
                <a:moveTo>
                  <a:pt x="0" y="0"/>
                </a:moveTo>
                <a:lnTo>
                  <a:pt x="6219" y="0"/>
                </a:lnTo>
                <a:lnTo>
                  <a:pt x="621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2" name=""/>
          <p:cNvSpPr/>
          <p:nvPr/>
        </p:nvSpPr>
        <p:spPr>
          <a:xfrm>
            <a:off x="9810720" y="4038480"/>
            <a:ext cx="1791000" cy="390960"/>
          </a:xfrm>
          <a:custGeom>
            <a:avLst/>
            <a:gdLst/>
            <a:ahLst/>
            <a:rect l="0" t="0" r="r" b="b"/>
            <a:pathLst>
              <a:path w="4975" h="1086">
                <a:moveTo>
                  <a:pt x="0" y="0"/>
                </a:moveTo>
                <a:lnTo>
                  <a:pt x="4975" y="0"/>
                </a:lnTo>
                <a:lnTo>
                  <a:pt x="4975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3" name=""/>
          <p:cNvSpPr/>
          <p:nvPr/>
        </p:nvSpPr>
        <p:spPr>
          <a:xfrm>
            <a:off x="6248160" y="4429080"/>
            <a:ext cx="1324440" cy="390600"/>
          </a:xfrm>
          <a:custGeom>
            <a:avLst/>
            <a:gdLst/>
            <a:ahLst/>
            <a:rect l="0" t="0" r="r" b="b"/>
            <a:pathLst>
              <a:path w="3679" h="1085">
                <a:moveTo>
                  <a:pt x="0" y="0"/>
                </a:moveTo>
                <a:lnTo>
                  <a:pt x="3679" y="0"/>
                </a:lnTo>
                <a:lnTo>
                  <a:pt x="3679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4" name=""/>
          <p:cNvSpPr/>
          <p:nvPr/>
        </p:nvSpPr>
        <p:spPr>
          <a:xfrm>
            <a:off x="7572240" y="4429080"/>
            <a:ext cx="2238840" cy="390600"/>
          </a:xfrm>
          <a:custGeom>
            <a:avLst/>
            <a:gdLst/>
            <a:ahLst/>
            <a:rect l="0" t="0" r="r" b="b"/>
            <a:pathLst>
              <a:path w="6219" h="1085">
                <a:moveTo>
                  <a:pt x="0" y="0"/>
                </a:moveTo>
                <a:lnTo>
                  <a:pt x="6219" y="0"/>
                </a:lnTo>
                <a:lnTo>
                  <a:pt x="6219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5" name=""/>
          <p:cNvSpPr/>
          <p:nvPr/>
        </p:nvSpPr>
        <p:spPr>
          <a:xfrm>
            <a:off x="9810720" y="4429080"/>
            <a:ext cx="1791000" cy="390600"/>
          </a:xfrm>
          <a:custGeom>
            <a:avLst/>
            <a:gdLst/>
            <a:ahLst/>
            <a:rect l="0" t="0" r="r" b="b"/>
            <a:pathLst>
              <a:path w="4975" h="1085">
                <a:moveTo>
                  <a:pt x="0" y="0"/>
                </a:moveTo>
                <a:lnTo>
                  <a:pt x="4975" y="0"/>
                </a:lnTo>
                <a:lnTo>
                  <a:pt x="4975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6" name=""/>
          <p:cNvSpPr/>
          <p:nvPr/>
        </p:nvSpPr>
        <p:spPr>
          <a:xfrm>
            <a:off x="6238800" y="32479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7" name=""/>
          <p:cNvSpPr/>
          <p:nvPr/>
        </p:nvSpPr>
        <p:spPr>
          <a:xfrm>
            <a:off x="6238800" y="3247920"/>
            <a:ext cx="1343160" cy="9720"/>
          </a:xfrm>
          <a:custGeom>
            <a:avLst/>
            <a:gdLst/>
            <a:ahLst/>
            <a:rect l="0" t="0" r="r" b="b"/>
            <a:pathLst>
              <a:path w="3731" h="27">
                <a:moveTo>
                  <a:pt x="0" y="0"/>
                </a:moveTo>
                <a:lnTo>
                  <a:pt x="3731" y="0"/>
                </a:lnTo>
                <a:lnTo>
                  <a:pt x="37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8" name=""/>
          <p:cNvSpPr/>
          <p:nvPr/>
        </p:nvSpPr>
        <p:spPr>
          <a:xfrm>
            <a:off x="7572240" y="32479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9" name=""/>
          <p:cNvSpPr/>
          <p:nvPr/>
        </p:nvSpPr>
        <p:spPr>
          <a:xfrm>
            <a:off x="7581600" y="324792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0" name=""/>
          <p:cNvSpPr/>
          <p:nvPr/>
        </p:nvSpPr>
        <p:spPr>
          <a:xfrm>
            <a:off x="9810720" y="32479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1" name=""/>
          <p:cNvSpPr/>
          <p:nvPr/>
        </p:nvSpPr>
        <p:spPr>
          <a:xfrm>
            <a:off x="9820080" y="3247920"/>
            <a:ext cx="1781640" cy="9720"/>
          </a:xfrm>
          <a:custGeom>
            <a:avLst/>
            <a:gdLst/>
            <a:ahLst/>
            <a:rect l="0" t="0" r="r" b="b"/>
            <a:pathLst>
              <a:path w="4949" h="27">
                <a:moveTo>
                  <a:pt x="0" y="0"/>
                </a:moveTo>
                <a:lnTo>
                  <a:pt x="4949" y="0"/>
                </a:lnTo>
                <a:lnTo>
                  <a:pt x="49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2" name=""/>
          <p:cNvSpPr/>
          <p:nvPr/>
        </p:nvSpPr>
        <p:spPr>
          <a:xfrm>
            <a:off x="11591640" y="324792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3" name=""/>
          <p:cNvSpPr/>
          <p:nvPr/>
        </p:nvSpPr>
        <p:spPr>
          <a:xfrm>
            <a:off x="6238800" y="3638520"/>
            <a:ext cx="1343160" cy="9720"/>
          </a:xfrm>
          <a:custGeom>
            <a:avLst/>
            <a:gdLst/>
            <a:ahLst/>
            <a:rect l="0" t="0" r="r" b="b"/>
            <a:pathLst>
              <a:path w="3731" h="27">
                <a:moveTo>
                  <a:pt x="0" y="0"/>
                </a:moveTo>
                <a:lnTo>
                  <a:pt x="3731" y="0"/>
                </a:lnTo>
                <a:lnTo>
                  <a:pt x="37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4" name=""/>
          <p:cNvSpPr/>
          <p:nvPr/>
        </p:nvSpPr>
        <p:spPr>
          <a:xfrm>
            <a:off x="7581600" y="363852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5" name=""/>
          <p:cNvSpPr/>
          <p:nvPr/>
        </p:nvSpPr>
        <p:spPr>
          <a:xfrm>
            <a:off x="9820080" y="3638520"/>
            <a:ext cx="1781640" cy="9720"/>
          </a:xfrm>
          <a:custGeom>
            <a:avLst/>
            <a:gdLst/>
            <a:ahLst/>
            <a:rect l="0" t="0" r="r" b="b"/>
            <a:pathLst>
              <a:path w="4949" h="27">
                <a:moveTo>
                  <a:pt x="0" y="0"/>
                </a:moveTo>
                <a:lnTo>
                  <a:pt x="4949" y="0"/>
                </a:lnTo>
                <a:lnTo>
                  <a:pt x="49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6" name=""/>
          <p:cNvSpPr/>
          <p:nvPr/>
        </p:nvSpPr>
        <p:spPr>
          <a:xfrm>
            <a:off x="6238800" y="36478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7" name=""/>
          <p:cNvSpPr/>
          <p:nvPr/>
        </p:nvSpPr>
        <p:spPr>
          <a:xfrm>
            <a:off x="7572240" y="36478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8" name=""/>
          <p:cNvSpPr/>
          <p:nvPr/>
        </p:nvSpPr>
        <p:spPr>
          <a:xfrm>
            <a:off x="9810720" y="36478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9" name=""/>
          <p:cNvSpPr/>
          <p:nvPr/>
        </p:nvSpPr>
        <p:spPr>
          <a:xfrm>
            <a:off x="11591640" y="36478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0" name=""/>
          <p:cNvSpPr/>
          <p:nvPr/>
        </p:nvSpPr>
        <p:spPr>
          <a:xfrm>
            <a:off x="6238800" y="40384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1" name=""/>
          <p:cNvSpPr/>
          <p:nvPr/>
        </p:nvSpPr>
        <p:spPr>
          <a:xfrm>
            <a:off x="6238800" y="4028760"/>
            <a:ext cx="1343160" cy="10080"/>
          </a:xfrm>
          <a:custGeom>
            <a:avLst/>
            <a:gdLst/>
            <a:ahLst/>
            <a:rect l="0" t="0" r="r" b="b"/>
            <a:pathLst>
              <a:path w="3731" h="28">
                <a:moveTo>
                  <a:pt x="0" y="0"/>
                </a:moveTo>
                <a:lnTo>
                  <a:pt x="3731" y="0"/>
                </a:lnTo>
                <a:lnTo>
                  <a:pt x="37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2" name=""/>
          <p:cNvSpPr/>
          <p:nvPr/>
        </p:nvSpPr>
        <p:spPr>
          <a:xfrm>
            <a:off x="7572240" y="40384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3" name=""/>
          <p:cNvSpPr/>
          <p:nvPr/>
        </p:nvSpPr>
        <p:spPr>
          <a:xfrm>
            <a:off x="7581600" y="4028760"/>
            <a:ext cx="2238840" cy="10080"/>
          </a:xfrm>
          <a:custGeom>
            <a:avLst/>
            <a:gdLst/>
            <a:ahLst/>
            <a:rect l="0" t="0" r="r" b="b"/>
            <a:pathLst>
              <a:path w="6219" h="28">
                <a:moveTo>
                  <a:pt x="0" y="0"/>
                </a:moveTo>
                <a:lnTo>
                  <a:pt x="6219" y="0"/>
                </a:lnTo>
                <a:lnTo>
                  <a:pt x="6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4" name=""/>
          <p:cNvSpPr/>
          <p:nvPr/>
        </p:nvSpPr>
        <p:spPr>
          <a:xfrm>
            <a:off x="9810720" y="40384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5" name=""/>
          <p:cNvSpPr/>
          <p:nvPr/>
        </p:nvSpPr>
        <p:spPr>
          <a:xfrm>
            <a:off x="9820080" y="4028760"/>
            <a:ext cx="1781640" cy="10080"/>
          </a:xfrm>
          <a:custGeom>
            <a:avLst/>
            <a:gdLst/>
            <a:ahLst/>
            <a:rect l="0" t="0" r="r" b="b"/>
            <a:pathLst>
              <a:path w="4949" h="28">
                <a:moveTo>
                  <a:pt x="0" y="0"/>
                </a:moveTo>
                <a:lnTo>
                  <a:pt x="4949" y="0"/>
                </a:lnTo>
                <a:lnTo>
                  <a:pt x="49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6" name=""/>
          <p:cNvSpPr/>
          <p:nvPr/>
        </p:nvSpPr>
        <p:spPr>
          <a:xfrm>
            <a:off x="11591640" y="40384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7" name=""/>
          <p:cNvSpPr/>
          <p:nvPr/>
        </p:nvSpPr>
        <p:spPr>
          <a:xfrm>
            <a:off x="6238800" y="442908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8" name=""/>
          <p:cNvSpPr/>
          <p:nvPr/>
        </p:nvSpPr>
        <p:spPr>
          <a:xfrm>
            <a:off x="6238800" y="4419360"/>
            <a:ext cx="1343160" cy="10080"/>
          </a:xfrm>
          <a:custGeom>
            <a:avLst/>
            <a:gdLst/>
            <a:ahLst/>
            <a:rect l="0" t="0" r="r" b="b"/>
            <a:pathLst>
              <a:path w="3731" h="28">
                <a:moveTo>
                  <a:pt x="0" y="0"/>
                </a:moveTo>
                <a:lnTo>
                  <a:pt x="3731" y="0"/>
                </a:lnTo>
                <a:lnTo>
                  <a:pt x="37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9" name=""/>
          <p:cNvSpPr/>
          <p:nvPr/>
        </p:nvSpPr>
        <p:spPr>
          <a:xfrm>
            <a:off x="7572240" y="442908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0" name=""/>
          <p:cNvSpPr/>
          <p:nvPr/>
        </p:nvSpPr>
        <p:spPr>
          <a:xfrm>
            <a:off x="7581600" y="4419360"/>
            <a:ext cx="2238840" cy="10080"/>
          </a:xfrm>
          <a:custGeom>
            <a:avLst/>
            <a:gdLst/>
            <a:ahLst/>
            <a:rect l="0" t="0" r="r" b="b"/>
            <a:pathLst>
              <a:path w="6219" h="28">
                <a:moveTo>
                  <a:pt x="0" y="0"/>
                </a:moveTo>
                <a:lnTo>
                  <a:pt x="6219" y="0"/>
                </a:lnTo>
                <a:lnTo>
                  <a:pt x="6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1" name=""/>
          <p:cNvSpPr/>
          <p:nvPr/>
        </p:nvSpPr>
        <p:spPr>
          <a:xfrm>
            <a:off x="9810720" y="442908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2" name=""/>
          <p:cNvSpPr/>
          <p:nvPr/>
        </p:nvSpPr>
        <p:spPr>
          <a:xfrm>
            <a:off x="9820080" y="4419360"/>
            <a:ext cx="1781640" cy="10080"/>
          </a:xfrm>
          <a:custGeom>
            <a:avLst/>
            <a:gdLst/>
            <a:ahLst/>
            <a:rect l="0" t="0" r="r" b="b"/>
            <a:pathLst>
              <a:path w="4949" h="28">
                <a:moveTo>
                  <a:pt x="0" y="0"/>
                </a:moveTo>
                <a:lnTo>
                  <a:pt x="4949" y="0"/>
                </a:lnTo>
                <a:lnTo>
                  <a:pt x="49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3" name=""/>
          <p:cNvSpPr/>
          <p:nvPr/>
        </p:nvSpPr>
        <p:spPr>
          <a:xfrm>
            <a:off x="11591640" y="44290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4" name=""/>
          <p:cNvSpPr/>
          <p:nvPr/>
        </p:nvSpPr>
        <p:spPr>
          <a:xfrm>
            <a:off x="6238800" y="4809960"/>
            <a:ext cx="1343160" cy="9720"/>
          </a:xfrm>
          <a:custGeom>
            <a:avLst/>
            <a:gdLst/>
            <a:ahLst/>
            <a:rect l="0" t="0" r="r" b="b"/>
            <a:pathLst>
              <a:path w="3731" h="27">
                <a:moveTo>
                  <a:pt x="0" y="0"/>
                </a:moveTo>
                <a:lnTo>
                  <a:pt x="3731" y="0"/>
                </a:lnTo>
                <a:lnTo>
                  <a:pt x="37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5" name=""/>
          <p:cNvSpPr/>
          <p:nvPr/>
        </p:nvSpPr>
        <p:spPr>
          <a:xfrm>
            <a:off x="7581600" y="480996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6" name=""/>
          <p:cNvSpPr/>
          <p:nvPr/>
        </p:nvSpPr>
        <p:spPr>
          <a:xfrm>
            <a:off x="9820080" y="4809960"/>
            <a:ext cx="1781640" cy="9720"/>
          </a:xfrm>
          <a:custGeom>
            <a:avLst/>
            <a:gdLst/>
            <a:ahLst/>
            <a:rect l="0" t="0" r="r" b="b"/>
            <a:pathLst>
              <a:path w="4949" h="27">
                <a:moveTo>
                  <a:pt x="0" y="0"/>
                </a:moveTo>
                <a:lnTo>
                  <a:pt x="4949" y="0"/>
                </a:lnTo>
                <a:lnTo>
                  <a:pt x="49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590400" y="5588280"/>
            <a:ext cx="335547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説明用コメントを追加し、改行・字下げを調整。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6238800" y="1675080"/>
            <a:ext cx="380797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この</a:t>
            </a:r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実装は</a:t>
            </a:r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top-p</a:t>
            </a:r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も使う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6238800" y="219564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確率の高い順に足し、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累積が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top-p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以上になる最小の候補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6238800" y="2471760"/>
            <a:ext cx="114885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群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を残す。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1" name=""/>
          <p:cNvSpPr/>
          <p:nvPr/>
        </p:nvSpPr>
        <p:spPr>
          <a:xfrm>
            <a:off x="7105320" y="2847960"/>
            <a:ext cx="1734120" cy="266760"/>
          </a:xfrm>
          <a:custGeom>
            <a:avLst/>
            <a:gdLst/>
            <a:ahLst/>
            <a:rect l="0" t="0" r="r" b="b"/>
            <a:pathLst>
              <a:path w="4817" h="741">
                <a:moveTo>
                  <a:pt x="0" y="5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9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658" y="0"/>
                </a:lnTo>
                <a:cubicBezTo>
                  <a:pt x="4669" y="0"/>
                  <a:pt x="4679" y="1"/>
                  <a:pt x="4689" y="3"/>
                </a:cubicBezTo>
                <a:cubicBezTo>
                  <a:pt x="4699" y="5"/>
                  <a:pt x="4709" y="8"/>
                  <a:pt x="4719" y="12"/>
                </a:cubicBezTo>
                <a:cubicBezTo>
                  <a:pt x="4728" y="16"/>
                  <a:pt x="4738" y="21"/>
                  <a:pt x="4746" y="26"/>
                </a:cubicBezTo>
                <a:cubicBezTo>
                  <a:pt x="4755" y="32"/>
                  <a:pt x="4763" y="39"/>
                  <a:pt x="4770" y="46"/>
                </a:cubicBezTo>
                <a:cubicBezTo>
                  <a:pt x="4778" y="53"/>
                  <a:pt x="4784" y="61"/>
                  <a:pt x="4790" y="70"/>
                </a:cubicBezTo>
                <a:cubicBezTo>
                  <a:pt x="4796" y="79"/>
                  <a:pt x="4801" y="88"/>
                  <a:pt x="4805" y="98"/>
                </a:cubicBezTo>
                <a:cubicBezTo>
                  <a:pt x="4809" y="107"/>
                  <a:pt x="4812" y="117"/>
                  <a:pt x="4814" y="127"/>
                </a:cubicBezTo>
                <a:cubicBezTo>
                  <a:pt x="4816" y="138"/>
                  <a:pt x="4817" y="148"/>
                  <a:pt x="4817" y="158"/>
                </a:cubicBezTo>
                <a:lnTo>
                  <a:pt x="4817" y="582"/>
                </a:lnTo>
                <a:cubicBezTo>
                  <a:pt x="4817" y="592"/>
                  <a:pt x="4816" y="603"/>
                  <a:pt x="4814" y="614"/>
                </a:cubicBezTo>
                <a:cubicBezTo>
                  <a:pt x="4812" y="624"/>
                  <a:pt x="4809" y="634"/>
                  <a:pt x="4805" y="643"/>
                </a:cubicBezTo>
                <a:cubicBezTo>
                  <a:pt x="4801" y="653"/>
                  <a:pt x="4796" y="662"/>
                  <a:pt x="4790" y="671"/>
                </a:cubicBezTo>
                <a:cubicBezTo>
                  <a:pt x="4784" y="679"/>
                  <a:pt x="4778" y="688"/>
                  <a:pt x="4770" y="695"/>
                </a:cubicBezTo>
                <a:cubicBezTo>
                  <a:pt x="4763" y="702"/>
                  <a:pt x="4755" y="709"/>
                  <a:pt x="4746" y="715"/>
                </a:cubicBezTo>
                <a:cubicBezTo>
                  <a:pt x="4738" y="720"/>
                  <a:pt x="4728" y="725"/>
                  <a:pt x="4719" y="729"/>
                </a:cubicBezTo>
                <a:cubicBezTo>
                  <a:pt x="4709" y="733"/>
                  <a:pt x="4699" y="736"/>
                  <a:pt x="4689" y="738"/>
                </a:cubicBezTo>
                <a:cubicBezTo>
                  <a:pt x="4679" y="740"/>
                  <a:pt x="4669" y="741"/>
                  <a:pt x="4658" y="741"/>
                </a:cubicBezTo>
                <a:lnTo>
                  <a:pt x="159" y="741"/>
                </a:lnTo>
                <a:cubicBezTo>
                  <a:pt x="149" y="741"/>
                  <a:pt x="138" y="740"/>
                  <a:pt x="128" y="738"/>
                </a:cubicBezTo>
                <a:cubicBezTo>
                  <a:pt x="118" y="736"/>
                  <a:pt x="108" y="733"/>
                  <a:pt x="98" y="729"/>
                </a:cubicBezTo>
                <a:cubicBezTo>
                  <a:pt x="89" y="725"/>
                  <a:pt x="80" y="720"/>
                  <a:pt x="71" y="715"/>
                </a:cubicBezTo>
                <a:cubicBezTo>
                  <a:pt x="62" y="709"/>
                  <a:pt x="54" y="702"/>
                  <a:pt x="47" y="695"/>
                </a:cubicBezTo>
                <a:cubicBezTo>
                  <a:pt x="40" y="688"/>
                  <a:pt x="33" y="679"/>
                  <a:pt x="27" y="671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9" y="634"/>
                  <a:pt x="5" y="624"/>
                  <a:pt x="3" y="614"/>
                </a:cubicBezTo>
                <a:cubicBezTo>
                  <a:pt x="1" y="603"/>
                  <a:pt x="0" y="592"/>
                  <a:pt x="0" y="582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6238800" y="2872080"/>
            <a:ext cx="99567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例：確率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7175880" y="2881800"/>
            <a:ext cx="1836918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[0.6, 0.3, 0.1]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8836200" y="2872080"/>
            <a:ext cx="135088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top-p=0.8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6334200" y="335664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959680" y="3356640"/>
            <a:ext cx="160714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累積確率 残すか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6334200" y="37472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9425520" y="3747240"/>
            <a:ext cx="34113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0.6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9902880" y="374724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残す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6334200" y="413748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9425520" y="4137480"/>
            <a:ext cx="34113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0.9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9902880" y="413748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残す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6334200" y="452808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9425520" y="4528080"/>
            <a:ext cx="34113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9902880" y="4528080"/>
            <a:ext cx="43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除外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6238800" y="498636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と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の確率を再び合計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にすると、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は約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66.7%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は約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6238800" y="5262840"/>
            <a:ext cx="166345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33.3%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になる。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238800" y="5662800"/>
            <a:ext cx="481813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top-p=1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なら、正の確率を持つ全候補を残す。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3" name=""/>
          <p:cNvSpPr/>
          <p:nvPr/>
        </p:nvSpPr>
        <p:spPr>
          <a:xfrm>
            <a:off x="595080" y="1604880"/>
            <a:ext cx="5353560" cy="3886560"/>
          </a:xfrm>
          <a:custGeom>
            <a:avLst/>
            <a:gdLst/>
            <a:ahLst/>
            <a:rect l="0" t="0" r="r" b="b"/>
            <a:pathLst>
              <a:path w="14871" h="10796">
                <a:moveTo>
                  <a:pt x="0" y="1065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4"/>
                  <a:pt x="14772" y="7"/>
                  <a:pt x="14781" y="11"/>
                </a:cubicBezTo>
                <a:cubicBezTo>
                  <a:pt x="14790" y="14"/>
                  <a:pt x="14798" y="19"/>
                  <a:pt x="14806" y="24"/>
                </a:cubicBezTo>
                <a:cubicBezTo>
                  <a:pt x="14814" y="30"/>
                  <a:pt x="14821" y="36"/>
                  <a:pt x="14828" y="42"/>
                </a:cubicBezTo>
                <a:cubicBezTo>
                  <a:pt x="14835" y="49"/>
                  <a:pt x="14841" y="56"/>
                  <a:pt x="14846" y="64"/>
                </a:cubicBezTo>
                <a:cubicBezTo>
                  <a:pt x="14852" y="72"/>
                  <a:pt x="14856" y="81"/>
                  <a:pt x="14860" y="90"/>
                </a:cubicBezTo>
                <a:cubicBezTo>
                  <a:pt x="14863" y="98"/>
                  <a:pt x="14866" y="107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0650"/>
                </a:lnTo>
                <a:cubicBezTo>
                  <a:pt x="14871" y="10660"/>
                  <a:pt x="14870" y="10669"/>
                  <a:pt x="14868" y="10679"/>
                </a:cubicBezTo>
                <a:cubicBezTo>
                  <a:pt x="14866" y="10688"/>
                  <a:pt x="14863" y="10697"/>
                  <a:pt x="14860" y="10706"/>
                </a:cubicBezTo>
                <a:cubicBezTo>
                  <a:pt x="14856" y="10715"/>
                  <a:pt x="14852" y="10723"/>
                  <a:pt x="14846" y="10731"/>
                </a:cubicBezTo>
                <a:cubicBezTo>
                  <a:pt x="14841" y="10739"/>
                  <a:pt x="14835" y="10746"/>
                  <a:pt x="14828" y="10753"/>
                </a:cubicBezTo>
                <a:cubicBezTo>
                  <a:pt x="14821" y="10760"/>
                  <a:pt x="14814" y="10766"/>
                  <a:pt x="14806" y="10771"/>
                </a:cubicBezTo>
                <a:cubicBezTo>
                  <a:pt x="14798" y="10777"/>
                  <a:pt x="14790" y="10781"/>
                  <a:pt x="14781" y="10785"/>
                </a:cubicBezTo>
                <a:cubicBezTo>
                  <a:pt x="14772" y="10788"/>
                  <a:pt x="14763" y="10791"/>
                  <a:pt x="14754" y="10793"/>
                </a:cubicBezTo>
                <a:cubicBezTo>
                  <a:pt x="14744" y="10795"/>
                  <a:pt x="14735" y="10796"/>
                  <a:pt x="14725" y="10796"/>
                </a:cubicBezTo>
                <a:lnTo>
                  <a:pt x="146" y="10796"/>
                </a:lnTo>
                <a:cubicBezTo>
                  <a:pt x="136" y="10796"/>
                  <a:pt x="127" y="10795"/>
                  <a:pt x="117" y="10793"/>
                </a:cubicBezTo>
                <a:cubicBezTo>
                  <a:pt x="108" y="10791"/>
                  <a:pt x="99" y="10788"/>
                  <a:pt x="90" y="10785"/>
                </a:cubicBezTo>
                <a:cubicBezTo>
                  <a:pt x="81" y="10781"/>
                  <a:pt x="73" y="10777"/>
                  <a:pt x="65" y="10771"/>
                </a:cubicBezTo>
                <a:cubicBezTo>
                  <a:pt x="57" y="10766"/>
                  <a:pt x="50" y="10760"/>
                  <a:pt x="43" y="10753"/>
                </a:cubicBezTo>
                <a:cubicBezTo>
                  <a:pt x="36" y="10746"/>
                  <a:pt x="30" y="10739"/>
                  <a:pt x="25" y="10731"/>
                </a:cubicBezTo>
                <a:cubicBezTo>
                  <a:pt x="19" y="10723"/>
                  <a:pt x="15" y="10715"/>
                  <a:pt x="11" y="10706"/>
                </a:cubicBezTo>
                <a:cubicBezTo>
                  <a:pt x="8" y="10697"/>
                  <a:pt x="5" y="10688"/>
                  <a:pt x="3" y="10679"/>
                </a:cubicBezTo>
                <a:cubicBezTo>
                  <a:pt x="1" y="10669"/>
                  <a:pt x="0" y="10660"/>
                  <a:pt x="0" y="10650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4" name=""/>
          <p:cNvSpPr/>
          <p:nvPr/>
        </p:nvSpPr>
        <p:spPr>
          <a:xfrm>
            <a:off x="595080" y="1604880"/>
            <a:ext cx="5353560" cy="3886560"/>
          </a:xfrm>
          <a:custGeom>
            <a:avLst/>
            <a:gdLst/>
            <a:ahLst/>
            <a:rect l="0" t="0" r="r" b="b"/>
            <a:pathLst>
              <a:path w="14871" h="10796">
                <a:moveTo>
                  <a:pt x="0" y="1065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725" y="0"/>
                </a:lnTo>
                <a:cubicBezTo>
                  <a:pt x="14735" y="0"/>
                  <a:pt x="14744" y="1"/>
                  <a:pt x="14754" y="3"/>
                </a:cubicBezTo>
                <a:cubicBezTo>
                  <a:pt x="14763" y="4"/>
                  <a:pt x="14772" y="7"/>
                  <a:pt x="14781" y="11"/>
                </a:cubicBezTo>
                <a:cubicBezTo>
                  <a:pt x="14790" y="14"/>
                  <a:pt x="14798" y="19"/>
                  <a:pt x="14806" y="24"/>
                </a:cubicBezTo>
                <a:cubicBezTo>
                  <a:pt x="14814" y="30"/>
                  <a:pt x="14821" y="36"/>
                  <a:pt x="14828" y="42"/>
                </a:cubicBezTo>
                <a:cubicBezTo>
                  <a:pt x="14835" y="49"/>
                  <a:pt x="14841" y="56"/>
                  <a:pt x="14846" y="64"/>
                </a:cubicBezTo>
                <a:cubicBezTo>
                  <a:pt x="14852" y="72"/>
                  <a:pt x="14856" y="81"/>
                  <a:pt x="14860" y="90"/>
                </a:cubicBezTo>
                <a:cubicBezTo>
                  <a:pt x="14863" y="98"/>
                  <a:pt x="14866" y="107"/>
                  <a:pt x="14868" y="117"/>
                </a:cubicBezTo>
                <a:cubicBezTo>
                  <a:pt x="14870" y="126"/>
                  <a:pt x="14871" y="136"/>
                  <a:pt x="14871" y="145"/>
                </a:cubicBezTo>
                <a:lnTo>
                  <a:pt x="14871" y="10650"/>
                </a:lnTo>
                <a:cubicBezTo>
                  <a:pt x="14871" y="10660"/>
                  <a:pt x="14870" y="10669"/>
                  <a:pt x="14868" y="10679"/>
                </a:cubicBezTo>
                <a:cubicBezTo>
                  <a:pt x="14866" y="10688"/>
                  <a:pt x="14863" y="10697"/>
                  <a:pt x="14860" y="10706"/>
                </a:cubicBezTo>
                <a:cubicBezTo>
                  <a:pt x="14856" y="10715"/>
                  <a:pt x="14852" y="10723"/>
                  <a:pt x="14846" y="10731"/>
                </a:cubicBezTo>
                <a:cubicBezTo>
                  <a:pt x="14841" y="10739"/>
                  <a:pt x="14835" y="10746"/>
                  <a:pt x="14828" y="10753"/>
                </a:cubicBezTo>
                <a:cubicBezTo>
                  <a:pt x="14821" y="10760"/>
                  <a:pt x="14814" y="10766"/>
                  <a:pt x="14806" y="10771"/>
                </a:cubicBezTo>
                <a:cubicBezTo>
                  <a:pt x="14798" y="10777"/>
                  <a:pt x="14790" y="10781"/>
                  <a:pt x="14781" y="10785"/>
                </a:cubicBezTo>
                <a:cubicBezTo>
                  <a:pt x="14772" y="10788"/>
                  <a:pt x="14763" y="10791"/>
                  <a:pt x="14754" y="10793"/>
                </a:cubicBezTo>
                <a:cubicBezTo>
                  <a:pt x="14744" y="10795"/>
                  <a:pt x="14735" y="10796"/>
                  <a:pt x="14725" y="10796"/>
                </a:cubicBezTo>
                <a:lnTo>
                  <a:pt x="146" y="10796"/>
                </a:lnTo>
                <a:cubicBezTo>
                  <a:pt x="136" y="10796"/>
                  <a:pt x="127" y="10795"/>
                  <a:pt x="117" y="10793"/>
                </a:cubicBezTo>
                <a:cubicBezTo>
                  <a:pt x="108" y="10791"/>
                  <a:pt x="99" y="10788"/>
                  <a:pt x="90" y="10785"/>
                </a:cubicBezTo>
                <a:cubicBezTo>
                  <a:pt x="81" y="10781"/>
                  <a:pt x="73" y="10777"/>
                  <a:pt x="65" y="10771"/>
                </a:cubicBezTo>
                <a:cubicBezTo>
                  <a:pt x="57" y="10766"/>
                  <a:pt x="50" y="10760"/>
                  <a:pt x="43" y="10753"/>
                </a:cubicBezTo>
                <a:cubicBezTo>
                  <a:pt x="36" y="10746"/>
                  <a:pt x="30" y="10739"/>
                  <a:pt x="25" y="10731"/>
                </a:cubicBezTo>
                <a:cubicBezTo>
                  <a:pt x="19" y="10723"/>
                  <a:pt x="15" y="10715"/>
                  <a:pt x="11" y="10706"/>
                </a:cubicBezTo>
                <a:cubicBezTo>
                  <a:pt x="8" y="10697"/>
                  <a:pt x="5" y="10688"/>
                  <a:pt x="3" y="10679"/>
                </a:cubicBezTo>
                <a:cubicBezTo>
                  <a:pt x="1" y="10669"/>
                  <a:pt x="0" y="10660"/>
                  <a:pt x="0" y="10650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590400" y="924840"/>
            <a:ext cx="7218090" cy="32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5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⑤ 確率に従って選び、次の入力へ追加する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43040" y="17452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937800" y="1752840"/>
            <a:ext cx="111531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確率に従って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1904760" y="174528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2001960" y="1752840"/>
            <a:ext cx="92984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つ抽選する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743040" y="1973880"/>
            <a:ext cx="425095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sampled_positions = torch.multinomial(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3040" y="2202480"/>
            <a:ext cx="279698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sorted_probabilities,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3040" y="2421360"/>
            <a:ext cx="201411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num_samples=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743040" y="2649960"/>
            <a:ext cx="268520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generator=generator,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743040" y="287856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743040" y="310716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937800" y="3115080"/>
            <a:ext cx="278746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並べ替えた位置から元のトークン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3366720" y="310716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3561840" y="3115080"/>
            <a:ext cx="5580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に戻す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743040" y="3335760"/>
            <a:ext cx="369163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next_ids = sorted_indices.gather(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43040" y="3555000"/>
            <a:ext cx="402739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sampled_positions).squeeze(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43040" y="378360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035360" y="3791160"/>
            <a:ext cx="18671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1197360" y="378360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EOS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489680" y="3791160"/>
            <a:ext cx="185844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判定・系列ごとの追加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3108960" y="378360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3304080" y="3791160"/>
            <a:ext cx="111531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作成を省略）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743040" y="401220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37800" y="4019760"/>
            <a:ext cx="148708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次の入力に加える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2228400" y="401220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2423520" y="4019760"/>
            <a:ext cx="148708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をテンソルにする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743040" y="4240800"/>
            <a:ext cx="268520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appended = torch.tensor(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43040" y="4469400"/>
            <a:ext cx="570492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append_values, dtype=torch.long, device=device)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743040" y="4688280"/>
            <a:ext cx="2243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937800" y="469620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入力列の末尾へ追加する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743040" y="4916880"/>
            <a:ext cx="246164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input_ids = torch.cat(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743040" y="5145480"/>
            <a:ext cx="469807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(input_ids, appended[:,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None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]), dim=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590400" y="5645160"/>
            <a:ext cx="4673232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evaluate_boku_nano_comparison.py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216–222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237–238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90400" y="5835600"/>
            <a:ext cx="38129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省略を明示。コメントを追加し、改行・字下げを調整。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9" name=""/>
          <p:cNvSpPr/>
          <p:nvPr/>
        </p:nvSpPr>
        <p:spPr>
          <a:xfrm>
            <a:off x="7000560" y="1685880"/>
            <a:ext cx="2429280" cy="266760"/>
          </a:xfrm>
          <a:custGeom>
            <a:avLst/>
            <a:gdLst/>
            <a:ahLst/>
            <a:rect l="0" t="0" r="r" b="b"/>
            <a:pathLst>
              <a:path w="6748" h="741">
                <a:moveTo>
                  <a:pt x="0" y="583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589" y="0"/>
                </a:lnTo>
                <a:cubicBezTo>
                  <a:pt x="6600" y="0"/>
                  <a:pt x="6610" y="1"/>
                  <a:pt x="6620" y="3"/>
                </a:cubicBezTo>
                <a:cubicBezTo>
                  <a:pt x="6631" y="5"/>
                  <a:pt x="6641" y="8"/>
                  <a:pt x="6650" y="12"/>
                </a:cubicBezTo>
                <a:cubicBezTo>
                  <a:pt x="6660" y="16"/>
                  <a:pt x="6669" y="21"/>
                  <a:pt x="6678" y="26"/>
                </a:cubicBezTo>
                <a:cubicBezTo>
                  <a:pt x="6686" y="32"/>
                  <a:pt x="6694" y="39"/>
                  <a:pt x="6702" y="46"/>
                </a:cubicBezTo>
                <a:cubicBezTo>
                  <a:pt x="6709" y="53"/>
                  <a:pt x="6716" y="62"/>
                  <a:pt x="6721" y="70"/>
                </a:cubicBezTo>
                <a:cubicBezTo>
                  <a:pt x="6727" y="79"/>
                  <a:pt x="6732" y="88"/>
                  <a:pt x="6736" y="98"/>
                </a:cubicBezTo>
                <a:cubicBezTo>
                  <a:pt x="6740" y="107"/>
                  <a:pt x="6743" y="117"/>
                  <a:pt x="6745" y="128"/>
                </a:cubicBezTo>
                <a:cubicBezTo>
                  <a:pt x="6747" y="139"/>
                  <a:pt x="6748" y="149"/>
                  <a:pt x="6748" y="159"/>
                </a:cubicBezTo>
                <a:lnTo>
                  <a:pt x="6748" y="583"/>
                </a:lnTo>
                <a:cubicBezTo>
                  <a:pt x="6748" y="593"/>
                  <a:pt x="6747" y="603"/>
                  <a:pt x="6745" y="614"/>
                </a:cubicBezTo>
                <a:cubicBezTo>
                  <a:pt x="6743" y="624"/>
                  <a:pt x="6740" y="634"/>
                  <a:pt x="6736" y="643"/>
                </a:cubicBezTo>
                <a:cubicBezTo>
                  <a:pt x="6732" y="653"/>
                  <a:pt x="6727" y="662"/>
                  <a:pt x="6721" y="671"/>
                </a:cubicBezTo>
                <a:cubicBezTo>
                  <a:pt x="6716" y="680"/>
                  <a:pt x="6709" y="688"/>
                  <a:pt x="6702" y="695"/>
                </a:cubicBezTo>
                <a:cubicBezTo>
                  <a:pt x="6694" y="702"/>
                  <a:pt x="6686" y="709"/>
                  <a:pt x="6678" y="715"/>
                </a:cubicBezTo>
                <a:cubicBezTo>
                  <a:pt x="6669" y="720"/>
                  <a:pt x="6660" y="725"/>
                  <a:pt x="6650" y="729"/>
                </a:cubicBezTo>
                <a:cubicBezTo>
                  <a:pt x="6641" y="733"/>
                  <a:pt x="6631" y="736"/>
                  <a:pt x="6620" y="738"/>
                </a:cubicBezTo>
                <a:cubicBezTo>
                  <a:pt x="6610" y="740"/>
                  <a:pt x="6600" y="741"/>
                  <a:pt x="6589" y="741"/>
                </a:cubicBezTo>
                <a:lnTo>
                  <a:pt x="159" y="741"/>
                </a:lnTo>
                <a:cubicBezTo>
                  <a:pt x="149" y="741"/>
                  <a:pt x="138" y="740"/>
                  <a:pt x="128" y="738"/>
                </a:cubicBezTo>
                <a:cubicBezTo>
                  <a:pt x="118" y="736"/>
                  <a:pt x="108" y="733"/>
                  <a:pt x="98" y="729"/>
                </a:cubicBezTo>
                <a:cubicBezTo>
                  <a:pt x="89" y="725"/>
                  <a:pt x="80" y="720"/>
                  <a:pt x="71" y="715"/>
                </a:cubicBezTo>
                <a:cubicBezTo>
                  <a:pt x="62" y="709"/>
                  <a:pt x="54" y="702"/>
                  <a:pt x="47" y="695"/>
                </a:cubicBezTo>
                <a:cubicBezTo>
                  <a:pt x="39" y="688"/>
                  <a:pt x="33" y="680"/>
                  <a:pt x="27" y="671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3"/>
                  <a:pt x="0" y="593"/>
                  <a:pt x="0" y="58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238800" y="1694160"/>
            <a:ext cx="87685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抽選は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1" name=""/>
          <p:cNvSpPr/>
          <p:nvPr/>
        </p:nvSpPr>
        <p:spPr>
          <a:xfrm>
            <a:off x="6238800" y="2199960"/>
            <a:ext cx="1514880" cy="276840"/>
          </a:xfrm>
          <a:custGeom>
            <a:avLst/>
            <a:gdLst/>
            <a:ahLst/>
            <a:rect l="0" t="0" r="r" b="b"/>
            <a:pathLst>
              <a:path w="4208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049" y="0"/>
                </a:lnTo>
                <a:cubicBezTo>
                  <a:pt x="4059" y="0"/>
                  <a:pt x="4070" y="1"/>
                  <a:pt x="4080" y="3"/>
                </a:cubicBezTo>
                <a:cubicBezTo>
                  <a:pt x="4090" y="5"/>
                  <a:pt x="4100" y="8"/>
                  <a:pt x="4110" y="12"/>
                </a:cubicBezTo>
                <a:cubicBezTo>
                  <a:pt x="4119" y="16"/>
                  <a:pt x="4128" y="21"/>
                  <a:pt x="4137" y="27"/>
                </a:cubicBezTo>
                <a:cubicBezTo>
                  <a:pt x="4146" y="33"/>
                  <a:pt x="4154" y="40"/>
                  <a:pt x="4161" y="47"/>
                </a:cubicBezTo>
                <a:cubicBezTo>
                  <a:pt x="4168" y="54"/>
                  <a:pt x="4175" y="62"/>
                  <a:pt x="4181" y="71"/>
                </a:cubicBezTo>
                <a:cubicBezTo>
                  <a:pt x="4187" y="80"/>
                  <a:pt x="4192" y="89"/>
                  <a:pt x="4195" y="98"/>
                </a:cubicBezTo>
                <a:cubicBezTo>
                  <a:pt x="4199" y="108"/>
                  <a:pt x="4202" y="118"/>
                  <a:pt x="4205" y="128"/>
                </a:cubicBezTo>
                <a:cubicBezTo>
                  <a:pt x="4207" y="138"/>
                  <a:pt x="4208" y="149"/>
                  <a:pt x="4208" y="159"/>
                </a:cubicBezTo>
                <a:lnTo>
                  <a:pt x="4208" y="610"/>
                </a:lnTo>
                <a:cubicBezTo>
                  <a:pt x="4208" y="620"/>
                  <a:pt x="4207" y="631"/>
                  <a:pt x="4205" y="641"/>
                </a:cubicBezTo>
                <a:cubicBezTo>
                  <a:pt x="4202" y="651"/>
                  <a:pt x="4199" y="661"/>
                  <a:pt x="4195" y="671"/>
                </a:cubicBezTo>
                <a:cubicBezTo>
                  <a:pt x="4192" y="680"/>
                  <a:pt x="4187" y="689"/>
                  <a:pt x="4181" y="698"/>
                </a:cubicBezTo>
                <a:cubicBezTo>
                  <a:pt x="4175" y="707"/>
                  <a:pt x="4168" y="715"/>
                  <a:pt x="4161" y="722"/>
                </a:cubicBezTo>
                <a:cubicBezTo>
                  <a:pt x="4154" y="730"/>
                  <a:pt x="4146" y="736"/>
                  <a:pt x="4137" y="742"/>
                </a:cubicBezTo>
                <a:cubicBezTo>
                  <a:pt x="4128" y="748"/>
                  <a:pt x="4119" y="753"/>
                  <a:pt x="4110" y="757"/>
                </a:cubicBezTo>
                <a:cubicBezTo>
                  <a:pt x="4100" y="761"/>
                  <a:pt x="4090" y="764"/>
                  <a:pt x="4080" y="766"/>
                </a:cubicBezTo>
                <a:cubicBezTo>
                  <a:pt x="4070" y="768"/>
                  <a:pt x="4059" y="769"/>
                  <a:pt x="4049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7046640" y="1683360"/>
            <a:ext cx="2691414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torch.multinomial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309360" y="2233800"/>
            <a:ext cx="159183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num_samples=1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7757280" y="2224440"/>
            <a:ext cx="390981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で、各入力について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候補を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つ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選ぶ。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238800" y="261468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確率が約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66.7%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と約</a:t>
            </a: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33.3%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なら、その比率に応じて選ばれ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6238800" y="2900520"/>
            <a:ext cx="413337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る。毎回最大候補になるとは限らない。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7" name=""/>
          <p:cNvSpPr/>
          <p:nvPr/>
        </p:nvSpPr>
        <p:spPr>
          <a:xfrm>
            <a:off x="6238800" y="3790800"/>
            <a:ext cx="781200" cy="276480"/>
          </a:xfrm>
          <a:custGeom>
            <a:avLst/>
            <a:gdLst/>
            <a:ahLst/>
            <a:rect l="0" t="0" r="r" b="b"/>
            <a:pathLst>
              <a:path w="2170" h="768">
                <a:moveTo>
                  <a:pt x="0" y="60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012" y="0"/>
                </a:lnTo>
                <a:cubicBezTo>
                  <a:pt x="2022" y="0"/>
                  <a:pt x="2032" y="1"/>
                  <a:pt x="2043" y="3"/>
                </a:cubicBezTo>
                <a:cubicBezTo>
                  <a:pt x="2053" y="5"/>
                  <a:pt x="2063" y="8"/>
                  <a:pt x="2072" y="12"/>
                </a:cubicBezTo>
                <a:cubicBezTo>
                  <a:pt x="2082" y="16"/>
                  <a:pt x="2091" y="21"/>
                  <a:pt x="2100" y="27"/>
                </a:cubicBezTo>
                <a:cubicBezTo>
                  <a:pt x="2108" y="32"/>
                  <a:pt x="2116" y="39"/>
                  <a:pt x="2124" y="46"/>
                </a:cubicBezTo>
                <a:cubicBezTo>
                  <a:pt x="2131" y="54"/>
                  <a:pt x="2138" y="62"/>
                  <a:pt x="2144" y="70"/>
                </a:cubicBezTo>
                <a:cubicBezTo>
                  <a:pt x="2149" y="79"/>
                  <a:pt x="2154" y="88"/>
                  <a:pt x="2158" y="98"/>
                </a:cubicBezTo>
                <a:cubicBezTo>
                  <a:pt x="2162" y="108"/>
                  <a:pt x="2165" y="117"/>
                  <a:pt x="2167" y="128"/>
                </a:cubicBezTo>
                <a:cubicBezTo>
                  <a:pt x="2169" y="138"/>
                  <a:pt x="2170" y="148"/>
                  <a:pt x="2170" y="159"/>
                </a:cubicBezTo>
                <a:lnTo>
                  <a:pt x="2170" y="609"/>
                </a:lnTo>
                <a:cubicBezTo>
                  <a:pt x="2170" y="620"/>
                  <a:pt x="2169" y="630"/>
                  <a:pt x="2167" y="640"/>
                </a:cubicBezTo>
                <a:cubicBezTo>
                  <a:pt x="2165" y="651"/>
                  <a:pt x="2162" y="661"/>
                  <a:pt x="2158" y="670"/>
                </a:cubicBezTo>
                <a:cubicBezTo>
                  <a:pt x="2154" y="680"/>
                  <a:pt x="2149" y="689"/>
                  <a:pt x="2144" y="698"/>
                </a:cubicBezTo>
                <a:cubicBezTo>
                  <a:pt x="2138" y="706"/>
                  <a:pt x="2131" y="714"/>
                  <a:pt x="2124" y="722"/>
                </a:cubicBezTo>
                <a:cubicBezTo>
                  <a:pt x="2116" y="729"/>
                  <a:pt x="2108" y="736"/>
                  <a:pt x="2100" y="741"/>
                </a:cubicBezTo>
                <a:cubicBezTo>
                  <a:pt x="2091" y="747"/>
                  <a:pt x="2082" y="752"/>
                  <a:pt x="2072" y="756"/>
                </a:cubicBezTo>
                <a:cubicBezTo>
                  <a:pt x="2063" y="760"/>
                  <a:pt x="2053" y="763"/>
                  <a:pt x="2043" y="765"/>
                </a:cubicBezTo>
                <a:cubicBezTo>
                  <a:pt x="2032" y="767"/>
                  <a:pt x="2022" y="768"/>
                  <a:pt x="2012" y="768"/>
                </a:cubicBezTo>
                <a:lnTo>
                  <a:pt x="158" y="768"/>
                </a:lnTo>
                <a:cubicBezTo>
                  <a:pt x="148" y="768"/>
                  <a:pt x="138" y="767"/>
                  <a:pt x="127" y="765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2"/>
                  <a:pt x="79" y="747"/>
                  <a:pt x="70" y="741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4"/>
                  <a:pt x="32" y="706"/>
                  <a:pt x="26" y="698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1"/>
                  <a:pt x="5" y="651"/>
                  <a:pt x="3" y="640"/>
                </a:cubicBezTo>
                <a:cubicBezTo>
                  <a:pt x="1" y="630"/>
                  <a:pt x="0" y="620"/>
                  <a:pt x="0" y="609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6238800" y="3294360"/>
            <a:ext cx="34183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選んだトークンを次の入力へ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6309360" y="3824640"/>
            <a:ext cx="735264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gather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7015680" y="3814920"/>
            <a:ext cx="491211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で、点数順に並べた位置を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元のトークン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ID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へ戻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6238800" y="4091040"/>
            <a:ext cx="45995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2" name=""/>
          <p:cNvSpPr/>
          <p:nvPr/>
        </p:nvSpPr>
        <p:spPr>
          <a:xfrm>
            <a:off x="8638920" y="4466880"/>
            <a:ext cx="1095840" cy="267120"/>
          </a:xfrm>
          <a:custGeom>
            <a:avLst/>
            <a:gdLst/>
            <a:ahLst/>
            <a:rect l="0" t="0" r="r" b="b"/>
            <a:pathLst>
              <a:path w="3044" h="742">
                <a:moveTo>
                  <a:pt x="0" y="58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7"/>
                  <a:pt x="98" y="13"/>
                </a:cubicBezTo>
                <a:cubicBezTo>
                  <a:pt x="108" y="9"/>
                  <a:pt x="118" y="6"/>
                  <a:pt x="128" y="4"/>
                </a:cubicBezTo>
                <a:cubicBezTo>
                  <a:pt x="138" y="1"/>
                  <a:pt x="149" y="0"/>
                  <a:pt x="159" y="0"/>
                </a:cubicBezTo>
                <a:lnTo>
                  <a:pt x="2885" y="0"/>
                </a:lnTo>
                <a:cubicBezTo>
                  <a:pt x="2896" y="0"/>
                  <a:pt x="2906" y="1"/>
                  <a:pt x="2916" y="4"/>
                </a:cubicBezTo>
                <a:cubicBezTo>
                  <a:pt x="2926" y="6"/>
                  <a:pt x="2936" y="9"/>
                  <a:pt x="2946" y="13"/>
                </a:cubicBezTo>
                <a:cubicBezTo>
                  <a:pt x="2956" y="17"/>
                  <a:pt x="2965" y="21"/>
                  <a:pt x="2973" y="27"/>
                </a:cubicBezTo>
                <a:cubicBezTo>
                  <a:pt x="2982" y="33"/>
                  <a:pt x="2990" y="40"/>
                  <a:pt x="2997" y="47"/>
                </a:cubicBezTo>
                <a:cubicBezTo>
                  <a:pt x="3005" y="54"/>
                  <a:pt x="3011" y="62"/>
                  <a:pt x="3017" y="71"/>
                </a:cubicBezTo>
                <a:cubicBezTo>
                  <a:pt x="3023" y="80"/>
                  <a:pt x="3028" y="89"/>
                  <a:pt x="3032" y="98"/>
                </a:cubicBezTo>
                <a:cubicBezTo>
                  <a:pt x="3036" y="108"/>
                  <a:pt x="3039" y="118"/>
                  <a:pt x="3041" y="128"/>
                </a:cubicBezTo>
                <a:cubicBezTo>
                  <a:pt x="3043" y="138"/>
                  <a:pt x="3044" y="149"/>
                  <a:pt x="3044" y="159"/>
                </a:cubicBezTo>
                <a:lnTo>
                  <a:pt x="3044" y="584"/>
                </a:lnTo>
                <a:cubicBezTo>
                  <a:pt x="3044" y="594"/>
                  <a:pt x="3043" y="604"/>
                  <a:pt x="3041" y="615"/>
                </a:cubicBezTo>
                <a:cubicBezTo>
                  <a:pt x="3039" y="625"/>
                  <a:pt x="3036" y="635"/>
                  <a:pt x="3032" y="644"/>
                </a:cubicBezTo>
                <a:cubicBezTo>
                  <a:pt x="3028" y="654"/>
                  <a:pt x="3023" y="663"/>
                  <a:pt x="3017" y="672"/>
                </a:cubicBezTo>
                <a:cubicBezTo>
                  <a:pt x="3011" y="680"/>
                  <a:pt x="3005" y="688"/>
                  <a:pt x="2997" y="696"/>
                </a:cubicBezTo>
                <a:cubicBezTo>
                  <a:pt x="2990" y="703"/>
                  <a:pt x="2982" y="710"/>
                  <a:pt x="2973" y="716"/>
                </a:cubicBezTo>
                <a:cubicBezTo>
                  <a:pt x="2965" y="721"/>
                  <a:pt x="2956" y="726"/>
                  <a:pt x="2946" y="730"/>
                </a:cubicBezTo>
                <a:cubicBezTo>
                  <a:pt x="2936" y="734"/>
                  <a:pt x="2926" y="737"/>
                  <a:pt x="2916" y="739"/>
                </a:cubicBezTo>
                <a:cubicBezTo>
                  <a:pt x="2906" y="741"/>
                  <a:pt x="2896" y="742"/>
                  <a:pt x="2885" y="742"/>
                </a:cubicBezTo>
                <a:lnTo>
                  <a:pt x="159" y="742"/>
                </a:lnTo>
                <a:cubicBezTo>
                  <a:pt x="149" y="742"/>
                  <a:pt x="138" y="741"/>
                  <a:pt x="128" y="739"/>
                </a:cubicBezTo>
                <a:cubicBezTo>
                  <a:pt x="118" y="737"/>
                  <a:pt x="108" y="734"/>
                  <a:pt x="98" y="730"/>
                </a:cubicBezTo>
                <a:cubicBezTo>
                  <a:pt x="89" y="726"/>
                  <a:pt x="79" y="721"/>
                  <a:pt x="71" y="716"/>
                </a:cubicBezTo>
                <a:cubicBezTo>
                  <a:pt x="62" y="710"/>
                  <a:pt x="54" y="703"/>
                  <a:pt x="47" y="696"/>
                </a:cubicBezTo>
                <a:cubicBezTo>
                  <a:pt x="39" y="688"/>
                  <a:pt x="33" y="680"/>
                  <a:pt x="27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5"/>
                </a:cubicBezTo>
                <a:cubicBezTo>
                  <a:pt x="1" y="604"/>
                  <a:pt x="0" y="594"/>
                  <a:pt x="0" y="584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6238800" y="4491360"/>
            <a:ext cx="2755998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終了判定などを行った後、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8709480" y="4501080"/>
            <a:ext cx="1102482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9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torch.cat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9733680" y="4491360"/>
            <a:ext cx="214369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で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入力の末尾に追加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238800" y="4767480"/>
            <a:ext cx="6897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する。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238800" y="5158080"/>
            <a:ext cx="57627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伸びた入力で次を予測する。この繰り返しが、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自己回帰生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6238800" y="5443560"/>
            <a:ext cx="460368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成</a:t>
            </a:r>
            <a:r>
              <a:rPr lang="ja-JP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3" name=""/>
          <p:cNvSpPr/>
          <p:nvPr/>
        </p:nvSpPr>
        <p:spPr>
          <a:xfrm>
            <a:off x="599760" y="181908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4" name=""/>
          <p:cNvSpPr/>
          <p:nvPr/>
        </p:nvSpPr>
        <p:spPr>
          <a:xfrm>
            <a:off x="3695400" y="181908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5" name=""/>
          <p:cNvSpPr/>
          <p:nvPr/>
        </p:nvSpPr>
        <p:spPr>
          <a:xfrm>
            <a:off x="9515160" y="181908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6" name=""/>
          <p:cNvSpPr/>
          <p:nvPr/>
        </p:nvSpPr>
        <p:spPr>
          <a:xfrm>
            <a:off x="599760" y="181908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7" name=""/>
          <p:cNvSpPr/>
          <p:nvPr/>
        </p:nvSpPr>
        <p:spPr>
          <a:xfrm>
            <a:off x="3695400" y="181908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8" name=""/>
          <p:cNvSpPr/>
          <p:nvPr/>
        </p:nvSpPr>
        <p:spPr>
          <a:xfrm>
            <a:off x="9515160" y="181908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9" name=""/>
          <p:cNvSpPr/>
          <p:nvPr/>
        </p:nvSpPr>
        <p:spPr>
          <a:xfrm>
            <a:off x="599760" y="231444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0" name=""/>
          <p:cNvSpPr/>
          <p:nvPr/>
        </p:nvSpPr>
        <p:spPr>
          <a:xfrm>
            <a:off x="3695400" y="231444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1" name=""/>
          <p:cNvSpPr/>
          <p:nvPr/>
        </p:nvSpPr>
        <p:spPr>
          <a:xfrm>
            <a:off x="9515160" y="231444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2" name=""/>
          <p:cNvSpPr/>
          <p:nvPr/>
        </p:nvSpPr>
        <p:spPr>
          <a:xfrm>
            <a:off x="599760" y="280980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3" name=""/>
          <p:cNvSpPr/>
          <p:nvPr/>
        </p:nvSpPr>
        <p:spPr>
          <a:xfrm>
            <a:off x="3695400" y="280980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4" name=""/>
          <p:cNvSpPr/>
          <p:nvPr/>
        </p:nvSpPr>
        <p:spPr>
          <a:xfrm>
            <a:off x="9515160" y="280980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5" name=""/>
          <p:cNvSpPr/>
          <p:nvPr/>
        </p:nvSpPr>
        <p:spPr>
          <a:xfrm>
            <a:off x="599760" y="3305160"/>
            <a:ext cx="3096000" cy="495360"/>
          </a:xfrm>
          <a:custGeom>
            <a:avLst/>
            <a:gdLst/>
            <a:ahLst/>
            <a:rect l="0" t="0" r="r" b="b"/>
            <a:pathLst>
              <a:path w="8600" h="1376">
                <a:moveTo>
                  <a:pt x="0" y="0"/>
                </a:moveTo>
                <a:lnTo>
                  <a:pt x="8600" y="0"/>
                </a:lnTo>
                <a:lnTo>
                  <a:pt x="860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6" name=""/>
          <p:cNvSpPr/>
          <p:nvPr/>
        </p:nvSpPr>
        <p:spPr>
          <a:xfrm>
            <a:off x="3695400" y="3305160"/>
            <a:ext cx="5820120" cy="495360"/>
          </a:xfrm>
          <a:custGeom>
            <a:avLst/>
            <a:gdLst/>
            <a:ahLst/>
            <a:rect l="0" t="0" r="r" b="b"/>
            <a:pathLst>
              <a:path w="16167" h="1376">
                <a:moveTo>
                  <a:pt x="0" y="0"/>
                </a:moveTo>
                <a:lnTo>
                  <a:pt x="16167" y="0"/>
                </a:lnTo>
                <a:lnTo>
                  <a:pt x="1616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7" name=""/>
          <p:cNvSpPr/>
          <p:nvPr/>
        </p:nvSpPr>
        <p:spPr>
          <a:xfrm>
            <a:off x="9515160" y="3305160"/>
            <a:ext cx="2086560" cy="495360"/>
          </a:xfrm>
          <a:custGeom>
            <a:avLst/>
            <a:gdLst/>
            <a:ahLst/>
            <a:rect l="0" t="0" r="r" b="b"/>
            <a:pathLst>
              <a:path w="5796" h="1376">
                <a:moveTo>
                  <a:pt x="0" y="0"/>
                </a:moveTo>
                <a:lnTo>
                  <a:pt x="5796" y="0"/>
                </a:lnTo>
                <a:lnTo>
                  <a:pt x="5796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8" name=""/>
          <p:cNvSpPr/>
          <p:nvPr/>
        </p:nvSpPr>
        <p:spPr>
          <a:xfrm>
            <a:off x="599760" y="380016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9" name=""/>
          <p:cNvSpPr/>
          <p:nvPr/>
        </p:nvSpPr>
        <p:spPr>
          <a:xfrm>
            <a:off x="3695400" y="380016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0" name=""/>
          <p:cNvSpPr/>
          <p:nvPr/>
        </p:nvSpPr>
        <p:spPr>
          <a:xfrm>
            <a:off x="9515160" y="380016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1" name=""/>
          <p:cNvSpPr/>
          <p:nvPr/>
        </p:nvSpPr>
        <p:spPr>
          <a:xfrm>
            <a:off x="599760" y="429552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2" name=""/>
          <p:cNvSpPr/>
          <p:nvPr/>
        </p:nvSpPr>
        <p:spPr>
          <a:xfrm>
            <a:off x="3695400" y="429552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3" name=""/>
          <p:cNvSpPr/>
          <p:nvPr/>
        </p:nvSpPr>
        <p:spPr>
          <a:xfrm>
            <a:off x="9515160" y="429552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4" name=""/>
          <p:cNvSpPr/>
          <p:nvPr/>
        </p:nvSpPr>
        <p:spPr>
          <a:xfrm>
            <a:off x="590400" y="180972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5" name=""/>
          <p:cNvSpPr/>
          <p:nvPr/>
        </p:nvSpPr>
        <p:spPr>
          <a:xfrm>
            <a:off x="590400" y="18097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6" name=""/>
          <p:cNvSpPr/>
          <p:nvPr/>
        </p:nvSpPr>
        <p:spPr>
          <a:xfrm>
            <a:off x="3695400" y="180972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7" name=""/>
          <p:cNvSpPr/>
          <p:nvPr/>
        </p:nvSpPr>
        <p:spPr>
          <a:xfrm>
            <a:off x="3705120" y="180972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8" name=""/>
          <p:cNvSpPr/>
          <p:nvPr/>
        </p:nvSpPr>
        <p:spPr>
          <a:xfrm>
            <a:off x="9505800" y="180972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9" name=""/>
          <p:cNvSpPr/>
          <p:nvPr/>
        </p:nvSpPr>
        <p:spPr>
          <a:xfrm>
            <a:off x="9515160" y="180972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0" name=""/>
          <p:cNvSpPr/>
          <p:nvPr/>
        </p:nvSpPr>
        <p:spPr>
          <a:xfrm>
            <a:off x="11591640" y="180972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1" name=""/>
          <p:cNvSpPr/>
          <p:nvPr/>
        </p:nvSpPr>
        <p:spPr>
          <a:xfrm>
            <a:off x="590400" y="230472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2" name=""/>
          <p:cNvSpPr/>
          <p:nvPr/>
        </p:nvSpPr>
        <p:spPr>
          <a:xfrm>
            <a:off x="3705120" y="2304720"/>
            <a:ext cx="5810400" cy="10080"/>
          </a:xfrm>
          <a:custGeom>
            <a:avLst/>
            <a:gdLst/>
            <a:ahLst/>
            <a:rect l="0" t="0" r="r" b="b"/>
            <a:pathLst>
              <a:path w="16140" h="28">
                <a:moveTo>
                  <a:pt x="0" y="0"/>
                </a:moveTo>
                <a:lnTo>
                  <a:pt x="16140" y="0"/>
                </a:lnTo>
                <a:lnTo>
                  <a:pt x="1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3" name=""/>
          <p:cNvSpPr/>
          <p:nvPr/>
        </p:nvSpPr>
        <p:spPr>
          <a:xfrm>
            <a:off x="9515160" y="230472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4" name=""/>
          <p:cNvSpPr/>
          <p:nvPr/>
        </p:nvSpPr>
        <p:spPr>
          <a:xfrm>
            <a:off x="590400" y="23144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5" name=""/>
          <p:cNvSpPr/>
          <p:nvPr/>
        </p:nvSpPr>
        <p:spPr>
          <a:xfrm>
            <a:off x="3695400" y="23144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6" name=""/>
          <p:cNvSpPr/>
          <p:nvPr/>
        </p:nvSpPr>
        <p:spPr>
          <a:xfrm>
            <a:off x="9505800" y="23144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7" name=""/>
          <p:cNvSpPr/>
          <p:nvPr/>
        </p:nvSpPr>
        <p:spPr>
          <a:xfrm>
            <a:off x="11591640" y="23144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8" name=""/>
          <p:cNvSpPr/>
          <p:nvPr/>
        </p:nvSpPr>
        <p:spPr>
          <a:xfrm>
            <a:off x="590400" y="28098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9" name=""/>
          <p:cNvSpPr/>
          <p:nvPr/>
        </p:nvSpPr>
        <p:spPr>
          <a:xfrm>
            <a:off x="590400" y="280008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0" name=""/>
          <p:cNvSpPr/>
          <p:nvPr/>
        </p:nvSpPr>
        <p:spPr>
          <a:xfrm>
            <a:off x="3695400" y="2809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1" name=""/>
          <p:cNvSpPr/>
          <p:nvPr/>
        </p:nvSpPr>
        <p:spPr>
          <a:xfrm>
            <a:off x="3705120" y="2800080"/>
            <a:ext cx="5810400" cy="10080"/>
          </a:xfrm>
          <a:custGeom>
            <a:avLst/>
            <a:gdLst/>
            <a:ahLst/>
            <a:rect l="0" t="0" r="r" b="b"/>
            <a:pathLst>
              <a:path w="16140" h="28">
                <a:moveTo>
                  <a:pt x="0" y="0"/>
                </a:moveTo>
                <a:lnTo>
                  <a:pt x="16140" y="0"/>
                </a:lnTo>
                <a:lnTo>
                  <a:pt x="1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2" name=""/>
          <p:cNvSpPr/>
          <p:nvPr/>
        </p:nvSpPr>
        <p:spPr>
          <a:xfrm>
            <a:off x="9505800" y="28098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3" name=""/>
          <p:cNvSpPr/>
          <p:nvPr/>
        </p:nvSpPr>
        <p:spPr>
          <a:xfrm>
            <a:off x="9515160" y="280008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4" name=""/>
          <p:cNvSpPr/>
          <p:nvPr/>
        </p:nvSpPr>
        <p:spPr>
          <a:xfrm>
            <a:off x="11591640" y="2809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5" name=""/>
          <p:cNvSpPr/>
          <p:nvPr/>
        </p:nvSpPr>
        <p:spPr>
          <a:xfrm>
            <a:off x="590400" y="330516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6" name=""/>
          <p:cNvSpPr/>
          <p:nvPr/>
        </p:nvSpPr>
        <p:spPr>
          <a:xfrm>
            <a:off x="590400" y="329544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7" name=""/>
          <p:cNvSpPr/>
          <p:nvPr/>
        </p:nvSpPr>
        <p:spPr>
          <a:xfrm>
            <a:off x="3695400" y="330516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8" name=""/>
          <p:cNvSpPr/>
          <p:nvPr/>
        </p:nvSpPr>
        <p:spPr>
          <a:xfrm>
            <a:off x="3705120" y="3295440"/>
            <a:ext cx="5810400" cy="10080"/>
          </a:xfrm>
          <a:custGeom>
            <a:avLst/>
            <a:gdLst/>
            <a:ahLst/>
            <a:rect l="0" t="0" r="r" b="b"/>
            <a:pathLst>
              <a:path w="16140" h="28">
                <a:moveTo>
                  <a:pt x="0" y="0"/>
                </a:moveTo>
                <a:lnTo>
                  <a:pt x="16140" y="0"/>
                </a:lnTo>
                <a:lnTo>
                  <a:pt x="1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9" name=""/>
          <p:cNvSpPr/>
          <p:nvPr/>
        </p:nvSpPr>
        <p:spPr>
          <a:xfrm>
            <a:off x="9505800" y="330516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0" name=""/>
          <p:cNvSpPr/>
          <p:nvPr/>
        </p:nvSpPr>
        <p:spPr>
          <a:xfrm>
            <a:off x="9515160" y="329544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1" name=""/>
          <p:cNvSpPr/>
          <p:nvPr/>
        </p:nvSpPr>
        <p:spPr>
          <a:xfrm>
            <a:off x="11591640" y="330516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2" name=""/>
          <p:cNvSpPr/>
          <p:nvPr/>
        </p:nvSpPr>
        <p:spPr>
          <a:xfrm>
            <a:off x="590400" y="38001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3" name=""/>
          <p:cNvSpPr/>
          <p:nvPr/>
        </p:nvSpPr>
        <p:spPr>
          <a:xfrm>
            <a:off x="590400" y="379080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4" name=""/>
          <p:cNvSpPr/>
          <p:nvPr/>
        </p:nvSpPr>
        <p:spPr>
          <a:xfrm>
            <a:off x="3695400" y="3800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5" name=""/>
          <p:cNvSpPr/>
          <p:nvPr/>
        </p:nvSpPr>
        <p:spPr>
          <a:xfrm>
            <a:off x="3705120" y="379080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6" name=""/>
          <p:cNvSpPr/>
          <p:nvPr/>
        </p:nvSpPr>
        <p:spPr>
          <a:xfrm>
            <a:off x="9505800" y="38001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7" name=""/>
          <p:cNvSpPr/>
          <p:nvPr/>
        </p:nvSpPr>
        <p:spPr>
          <a:xfrm>
            <a:off x="9515160" y="379080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8" name=""/>
          <p:cNvSpPr/>
          <p:nvPr/>
        </p:nvSpPr>
        <p:spPr>
          <a:xfrm>
            <a:off x="11591640" y="3800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9" name=""/>
          <p:cNvSpPr/>
          <p:nvPr/>
        </p:nvSpPr>
        <p:spPr>
          <a:xfrm>
            <a:off x="590400" y="42955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0" name=""/>
          <p:cNvSpPr/>
          <p:nvPr/>
        </p:nvSpPr>
        <p:spPr>
          <a:xfrm>
            <a:off x="590400" y="428616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1" name=""/>
          <p:cNvSpPr/>
          <p:nvPr/>
        </p:nvSpPr>
        <p:spPr>
          <a:xfrm>
            <a:off x="3695400" y="42955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2" name=""/>
          <p:cNvSpPr/>
          <p:nvPr/>
        </p:nvSpPr>
        <p:spPr>
          <a:xfrm>
            <a:off x="3705120" y="428616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3" name=""/>
          <p:cNvSpPr/>
          <p:nvPr/>
        </p:nvSpPr>
        <p:spPr>
          <a:xfrm>
            <a:off x="9505800" y="42955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4" name=""/>
          <p:cNvSpPr/>
          <p:nvPr/>
        </p:nvSpPr>
        <p:spPr>
          <a:xfrm>
            <a:off x="9515160" y="428616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5" name=""/>
          <p:cNvSpPr/>
          <p:nvPr/>
        </p:nvSpPr>
        <p:spPr>
          <a:xfrm>
            <a:off x="11591640" y="42955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6" name=""/>
          <p:cNvSpPr/>
          <p:nvPr/>
        </p:nvSpPr>
        <p:spPr>
          <a:xfrm>
            <a:off x="590400" y="47815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7" name=""/>
          <p:cNvSpPr/>
          <p:nvPr/>
        </p:nvSpPr>
        <p:spPr>
          <a:xfrm>
            <a:off x="3705120" y="478152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8" name=""/>
          <p:cNvSpPr/>
          <p:nvPr/>
        </p:nvSpPr>
        <p:spPr>
          <a:xfrm>
            <a:off x="9515160" y="478152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590400" y="105300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五つのテストで、生成コードを実行する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14240" y="194904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テスト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3815640" y="1949040"/>
            <a:ext cx="144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確かめること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10429920" y="1949040"/>
            <a:ext cx="12014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指示の件数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714240" y="244440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通常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3815640" y="2444400"/>
            <a:ext cx="33625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未学習の操作の並びを扱えるか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0737360" y="2444400"/>
            <a:ext cx="84911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714240" y="293976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組合せ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3815640" y="2939760"/>
            <a:ext cx="38423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訓練から隔離した操作対を組めるか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10738080" y="2939760"/>
            <a:ext cx="8482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13,400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714240" y="3435120"/>
            <a:ext cx="19217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日本語の言い換え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3815640" y="3435120"/>
            <a:ext cx="34378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未学習の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表現を理解できるか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1202120" y="3435120"/>
            <a:ext cx="31629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714240" y="393048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同じ操作の反復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3815640" y="3930480"/>
            <a:ext cx="36779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回・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回実行できるか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10738080" y="3930480"/>
            <a:ext cx="8482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23,040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714240" y="442584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境界値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3815640" y="4425840"/>
            <a:ext cx="33625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空リストなどでも正しく動くか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10737360" y="4425840"/>
            <a:ext cx="84911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590400" y="5038560"/>
            <a:ext cx="746897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指示につきコードを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候補生成し、全検査を通ったら合格。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590400" y="5572080"/>
            <a:ext cx="738286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通常と境界値では同じ指示を使い、検査する入力を変える。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90400" y="717480"/>
            <a:ext cx="5873004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 epoch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までの損失の推移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155" name=""/>
          <p:cNvPicPr/>
          <p:nvPr/>
        </p:nvPicPr>
        <p:blipFill>
          <a:blip r:embed="rId1"/>
          <a:stretch/>
        </p:blipFill>
        <p:spPr>
          <a:xfrm>
            <a:off x="2828880" y="1790640"/>
            <a:ext cx="65336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6" name=""/>
          <p:cNvSpPr txBox="1"/>
          <p:nvPr/>
        </p:nvSpPr>
        <p:spPr>
          <a:xfrm>
            <a:off x="590400" y="1378800"/>
            <a:ext cx="931582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 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の学習。訓練損失は</a:t>
            </a:r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20 step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ごと、検証損失は各</a:t>
            </a:r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終了時の実測値。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590400" y="5579280"/>
            <a:ext cx="832554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 0.8737 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／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 epoch 0.4691 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／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 epoch 0.4364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590400" y="5994000"/>
            <a:ext cx="6080418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20 step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ごとの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validation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は未記録。図は保存済みの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点を表示。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285840" y="239760"/>
            <a:ext cx="161625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5.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学習結果と課題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590400" y="717480"/>
            <a:ext cx="3021372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：損失の推移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165" name=""/>
          <p:cNvPicPr/>
          <p:nvPr/>
        </p:nvPicPr>
        <p:blipFill>
          <a:blip r:embed="rId1"/>
          <a:stretch/>
        </p:blipFill>
        <p:spPr>
          <a:xfrm>
            <a:off x="2324160" y="1790640"/>
            <a:ext cx="75434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6" name=""/>
          <p:cNvSpPr txBox="1"/>
          <p:nvPr/>
        </p:nvSpPr>
        <p:spPr>
          <a:xfrm>
            <a:off x="590400" y="1378800"/>
            <a:ext cx="733111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の学習。訓練損失と、検証データで測った損失を示す。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90400" y="5579280"/>
            <a:ext cx="375539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学習終了時の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0.4855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590400" y="5994000"/>
            <a:ext cx="5688774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は終了時の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点。途中の検証値は保存されていない。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285840" y="239760"/>
            <a:ext cx="161625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5.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学習結果と課題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90400" y="717480"/>
            <a:ext cx="329337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：損失の推移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175" name=""/>
          <p:cNvPicPr/>
          <p:nvPr/>
        </p:nvPicPr>
        <p:blipFill>
          <a:blip r:embed="rId1"/>
          <a:stretch/>
        </p:blipFill>
        <p:spPr>
          <a:xfrm>
            <a:off x="2324160" y="1790640"/>
            <a:ext cx="75434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6" name=""/>
          <p:cNvSpPr txBox="1"/>
          <p:nvPr/>
        </p:nvSpPr>
        <p:spPr>
          <a:xfrm>
            <a:off x="590400" y="1378800"/>
            <a:ext cx="733111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の学習。訓練損失と、検証データで測った損失を示す。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590400" y="5579280"/>
            <a:ext cx="375539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学習終了時の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0.4106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590400" y="5994000"/>
            <a:ext cx="5688774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は終了時の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点。途中の検証値は保存されていない。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285840" y="239760"/>
            <a:ext cx="161625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5.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学習結果と課題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4" name=""/>
          <p:cNvSpPr/>
          <p:nvPr/>
        </p:nvSpPr>
        <p:spPr>
          <a:xfrm>
            <a:off x="599760" y="259056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5" name=""/>
          <p:cNvSpPr/>
          <p:nvPr/>
        </p:nvSpPr>
        <p:spPr>
          <a:xfrm>
            <a:off x="3666960" y="259056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6" name=""/>
          <p:cNvSpPr/>
          <p:nvPr/>
        </p:nvSpPr>
        <p:spPr>
          <a:xfrm>
            <a:off x="7924680" y="259056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7" name=""/>
          <p:cNvSpPr/>
          <p:nvPr/>
        </p:nvSpPr>
        <p:spPr>
          <a:xfrm>
            <a:off x="599760" y="259056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8" name=""/>
          <p:cNvSpPr/>
          <p:nvPr/>
        </p:nvSpPr>
        <p:spPr>
          <a:xfrm>
            <a:off x="3666960" y="259056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9" name=""/>
          <p:cNvSpPr/>
          <p:nvPr/>
        </p:nvSpPr>
        <p:spPr>
          <a:xfrm>
            <a:off x="7924680" y="259056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0" name=""/>
          <p:cNvSpPr/>
          <p:nvPr/>
        </p:nvSpPr>
        <p:spPr>
          <a:xfrm>
            <a:off x="599760" y="308592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1" name=""/>
          <p:cNvSpPr/>
          <p:nvPr/>
        </p:nvSpPr>
        <p:spPr>
          <a:xfrm>
            <a:off x="3666960" y="308592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2" name=""/>
          <p:cNvSpPr/>
          <p:nvPr/>
        </p:nvSpPr>
        <p:spPr>
          <a:xfrm>
            <a:off x="7924680" y="308592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3" name=""/>
          <p:cNvSpPr/>
          <p:nvPr/>
        </p:nvSpPr>
        <p:spPr>
          <a:xfrm>
            <a:off x="599760" y="358128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4" name=""/>
          <p:cNvSpPr/>
          <p:nvPr/>
        </p:nvSpPr>
        <p:spPr>
          <a:xfrm>
            <a:off x="3666960" y="358128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5" name=""/>
          <p:cNvSpPr/>
          <p:nvPr/>
        </p:nvSpPr>
        <p:spPr>
          <a:xfrm>
            <a:off x="7924680" y="358128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6" name=""/>
          <p:cNvSpPr/>
          <p:nvPr/>
        </p:nvSpPr>
        <p:spPr>
          <a:xfrm>
            <a:off x="599760" y="4076640"/>
            <a:ext cx="3067560" cy="495360"/>
          </a:xfrm>
          <a:custGeom>
            <a:avLst/>
            <a:gdLst/>
            <a:ahLst/>
            <a:rect l="0" t="0" r="r" b="b"/>
            <a:pathLst>
              <a:path w="8521" h="1376">
                <a:moveTo>
                  <a:pt x="0" y="0"/>
                </a:moveTo>
                <a:lnTo>
                  <a:pt x="8521" y="0"/>
                </a:lnTo>
                <a:lnTo>
                  <a:pt x="8521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7" name=""/>
          <p:cNvSpPr/>
          <p:nvPr/>
        </p:nvSpPr>
        <p:spPr>
          <a:xfrm>
            <a:off x="3666960" y="4076640"/>
            <a:ext cx="4258080" cy="495360"/>
          </a:xfrm>
          <a:custGeom>
            <a:avLst/>
            <a:gdLst/>
            <a:ahLst/>
            <a:rect l="0" t="0" r="r" b="b"/>
            <a:pathLst>
              <a:path w="11828" h="1376">
                <a:moveTo>
                  <a:pt x="0" y="0"/>
                </a:moveTo>
                <a:lnTo>
                  <a:pt x="11828" y="0"/>
                </a:lnTo>
                <a:lnTo>
                  <a:pt x="118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8" name=""/>
          <p:cNvSpPr/>
          <p:nvPr/>
        </p:nvSpPr>
        <p:spPr>
          <a:xfrm>
            <a:off x="7924680" y="4076640"/>
            <a:ext cx="3677040" cy="495360"/>
          </a:xfrm>
          <a:custGeom>
            <a:avLst/>
            <a:gdLst/>
            <a:ahLst/>
            <a:rect l="0" t="0" r="r" b="b"/>
            <a:pathLst>
              <a:path w="10214" h="1376">
                <a:moveTo>
                  <a:pt x="0" y="0"/>
                </a:moveTo>
                <a:lnTo>
                  <a:pt x="10214" y="0"/>
                </a:lnTo>
                <a:lnTo>
                  <a:pt x="10214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9" name=""/>
          <p:cNvSpPr/>
          <p:nvPr/>
        </p:nvSpPr>
        <p:spPr>
          <a:xfrm>
            <a:off x="5904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0" name=""/>
          <p:cNvSpPr/>
          <p:nvPr/>
        </p:nvSpPr>
        <p:spPr>
          <a:xfrm>
            <a:off x="590400" y="258120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1" name=""/>
          <p:cNvSpPr/>
          <p:nvPr/>
        </p:nvSpPr>
        <p:spPr>
          <a:xfrm>
            <a:off x="36572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2" name=""/>
          <p:cNvSpPr/>
          <p:nvPr/>
        </p:nvSpPr>
        <p:spPr>
          <a:xfrm>
            <a:off x="3666960" y="2581200"/>
            <a:ext cx="4258080" cy="9720"/>
          </a:xfrm>
          <a:custGeom>
            <a:avLst/>
            <a:gdLst/>
            <a:ahLst/>
            <a:rect l="0" t="0" r="r" b="b"/>
            <a:pathLst>
              <a:path w="11828" h="27">
                <a:moveTo>
                  <a:pt x="0" y="0"/>
                </a:moveTo>
                <a:lnTo>
                  <a:pt x="11828" y="0"/>
                </a:lnTo>
                <a:lnTo>
                  <a:pt x="118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3" name=""/>
          <p:cNvSpPr/>
          <p:nvPr/>
        </p:nvSpPr>
        <p:spPr>
          <a:xfrm>
            <a:off x="791496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4" name=""/>
          <p:cNvSpPr/>
          <p:nvPr/>
        </p:nvSpPr>
        <p:spPr>
          <a:xfrm>
            <a:off x="7924680" y="258120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5" name=""/>
          <p:cNvSpPr/>
          <p:nvPr/>
        </p:nvSpPr>
        <p:spPr>
          <a:xfrm>
            <a:off x="115916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6" name=""/>
          <p:cNvSpPr/>
          <p:nvPr/>
        </p:nvSpPr>
        <p:spPr>
          <a:xfrm>
            <a:off x="590400" y="307656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7" name=""/>
          <p:cNvSpPr/>
          <p:nvPr/>
        </p:nvSpPr>
        <p:spPr>
          <a:xfrm>
            <a:off x="3666960" y="3076560"/>
            <a:ext cx="4258080" cy="9720"/>
          </a:xfrm>
          <a:custGeom>
            <a:avLst/>
            <a:gdLst/>
            <a:ahLst/>
            <a:rect l="0" t="0" r="r" b="b"/>
            <a:pathLst>
              <a:path w="11828" h="27">
                <a:moveTo>
                  <a:pt x="0" y="0"/>
                </a:moveTo>
                <a:lnTo>
                  <a:pt x="11828" y="0"/>
                </a:lnTo>
                <a:lnTo>
                  <a:pt x="118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8" name=""/>
          <p:cNvSpPr/>
          <p:nvPr/>
        </p:nvSpPr>
        <p:spPr>
          <a:xfrm>
            <a:off x="7924680" y="307656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9" name=""/>
          <p:cNvSpPr/>
          <p:nvPr/>
        </p:nvSpPr>
        <p:spPr>
          <a:xfrm>
            <a:off x="5904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0" name=""/>
          <p:cNvSpPr/>
          <p:nvPr/>
        </p:nvSpPr>
        <p:spPr>
          <a:xfrm>
            <a:off x="36572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1" name=""/>
          <p:cNvSpPr/>
          <p:nvPr/>
        </p:nvSpPr>
        <p:spPr>
          <a:xfrm>
            <a:off x="791496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2" name=""/>
          <p:cNvSpPr/>
          <p:nvPr/>
        </p:nvSpPr>
        <p:spPr>
          <a:xfrm>
            <a:off x="115916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3" name=""/>
          <p:cNvSpPr/>
          <p:nvPr/>
        </p:nvSpPr>
        <p:spPr>
          <a:xfrm>
            <a:off x="5904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4" name=""/>
          <p:cNvSpPr/>
          <p:nvPr/>
        </p:nvSpPr>
        <p:spPr>
          <a:xfrm>
            <a:off x="590400" y="3571560"/>
            <a:ext cx="3076920" cy="10080"/>
          </a:xfrm>
          <a:custGeom>
            <a:avLst/>
            <a:gdLst/>
            <a:ahLst/>
            <a:rect l="0" t="0" r="r" b="b"/>
            <a:pathLst>
              <a:path w="8547" h="28">
                <a:moveTo>
                  <a:pt x="0" y="0"/>
                </a:moveTo>
                <a:lnTo>
                  <a:pt x="8547" y="0"/>
                </a:lnTo>
                <a:lnTo>
                  <a:pt x="8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5" name=""/>
          <p:cNvSpPr/>
          <p:nvPr/>
        </p:nvSpPr>
        <p:spPr>
          <a:xfrm>
            <a:off x="36572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6" name=""/>
          <p:cNvSpPr/>
          <p:nvPr/>
        </p:nvSpPr>
        <p:spPr>
          <a:xfrm>
            <a:off x="3666960" y="3571560"/>
            <a:ext cx="4258080" cy="10080"/>
          </a:xfrm>
          <a:custGeom>
            <a:avLst/>
            <a:gdLst/>
            <a:ahLst/>
            <a:rect l="0" t="0" r="r" b="b"/>
            <a:pathLst>
              <a:path w="11828" h="28">
                <a:moveTo>
                  <a:pt x="0" y="0"/>
                </a:moveTo>
                <a:lnTo>
                  <a:pt x="11828" y="0"/>
                </a:lnTo>
                <a:lnTo>
                  <a:pt x="118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7" name=""/>
          <p:cNvSpPr/>
          <p:nvPr/>
        </p:nvSpPr>
        <p:spPr>
          <a:xfrm>
            <a:off x="791496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8" name=""/>
          <p:cNvSpPr/>
          <p:nvPr/>
        </p:nvSpPr>
        <p:spPr>
          <a:xfrm>
            <a:off x="7924680" y="357156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9" name=""/>
          <p:cNvSpPr/>
          <p:nvPr/>
        </p:nvSpPr>
        <p:spPr>
          <a:xfrm>
            <a:off x="115916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0" name=""/>
          <p:cNvSpPr/>
          <p:nvPr/>
        </p:nvSpPr>
        <p:spPr>
          <a:xfrm>
            <a:off x="5904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1" name=""/>
          <p:cNvSpPr/>
          <p:nvPr/>
        </p:nvSpPr>
        <p:spPr>
          <a:xfrm>
            <a:off x="590400" y="4066920"/>
            <a:ext cx="3076920" cy="10080"/>
          </a:xfrm>
          <a:custGeom>
            <a:avLst/>
            <a:gdLst/>
            <a:ahLst/>
            <a:rect l="0" t="0" r="r" b="b"/>
            <a:pathLst>
              <a:path w="8547" h="28">
                <a:moveTo>
                  <a:pt x="0" y="0"/>
                </a:moveTo>
                <a:lnTo>
                  <a:pt x="8547" y="0"/>
                </a:lnTo>
                <a:lnTo>
                  <a:pt x="8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2" name=""/>
          <p:cNvSpPr/>
          <p:nvPr/>
        </p:nvSpPr>
        <p:spPr>
          <a:xfrm>
            <a:off x="36572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3" name=""/>
          <p:cNvSpPr/>
          <p:nvPr/>
        </p:nvSpPr>
        <p:spPr>
          <a:xfrm>
            <a:off x="3666960" y="4066920"/>
            <a:ext cx="4258080" cy="10080"/>
          </a:xfrm>
          <a:custGeom>
            <a:avLst/>
            <a:gdLst/>
            <a:ahLst/>
            <a:rect l="0" t="0" r="r" b="b"/>
            <a:pathLst>
              <a:path w="11828" h="28">
                <a:moveTo>
                  <a:pt x="0" y="0"/>
                </a:moveTo>
                <a:lnTo>
                  <a:pt x="11828" y="0"/>
                </a:lnTo>
                <a:lnTo>
                  <a:pt x="118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4" name=""/>
          <p:cNvSpPr/>
          <p:nvPr/>
        </p:nvSpPr>
        <p:spPr>
          <a:xfrm>
            <a:off x="791496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5" name=""/>
          <p:cNvSpPr/>
          <p:nvPr/>
        </p:nvSpPr>
        <p:spPr>
          <a:xfrm>
            <a:off x="7924680" y="406692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6" name=""/>
          <p:cNvSpPr/>
          <p:nvPr/>
        </p:nvSpPr>
        <p:spPr>
          <a:xfrm>
            <a:off x="115916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7" name=""/>
          <p:cNvSpPr/>
          <p:nvPr/>
        </p:nvSpPr>
        <p:spPr>
          <a:xfrm>
            <a:off x="590400" y="456228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8" name=""/>
          <p:cNvSpPr/>
          <p:nvPr/>
        </p:nvSpPr>
        <p:spPr>
          <a:xfrm>
            <a:off x="3666960" y="4562280"/>
            <a:ext cx="4258080" cy="9720"/>
          </a:xfrm>
          <a:custGeom>
            <a:avLst/>
            <a:gdLst/>
            <a:ahLst/>
            <a:rect l="0" t="0" r="r" b="b"/>
            <a:pathLst>
              <a:path w="11828" h="27">
                <a:moveTo>
                  <a:pt x="0" y="0"/>
                </a:moveTo>
                <a:lnTo>
                  <a:pt x="11828" y="0"/>
                </a:lnTo>
                <a:lnTo>
                  <a:pt x="118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9" name=""/>
          <p:cNvSpPr/>
          <p:nvPr/>
        </p:nvSpPr>
        <p:spPr>
          <a:xfrm>
            <a:off x="7924680" y="456228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590400" y="1272240"/>
            <a:ext cx="757330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の結果：モデル規模による違い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90400" y="2095560"/>
            <a:ext cx="643397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五つのテストを合計した参考値。分⺟は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84,550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71424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717588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1084896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合格率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714240" y="321588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6993000" y="3215880"/>
            <a:ext cx="93067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1,467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10829160" y="3215880"/>
            <a:ext cx="74354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1.74%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714240" y="371124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6856200" y="3711240"/>
            <a:ext cx="108716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81,557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10691640" y="3711240"/>
            <a:ext cx="9012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96.46%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714240" y="4206600"/>
            <a:ext cx="5431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6855480" y="4206600"/>
            <a:ext cx="10884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84,180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10692360" y="420660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99.56%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590400" y="4819680"/>
            <a:ext cx="711169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今回の条件では、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と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は高い全体合格率を示した。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590400" y="5353200"/>
            <a:ext cx="765610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ただし、件数の少ない言い換えテストは全体値に表れにくい。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0" name=""/>
          <p:cNvSpPr/>
          <p:nvPr/>
        </p:nvSpPr>
        <p:spPr>
          <a:xfrm>
            <a:off x="599760" y="235260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1" name=""/>
          <p:cNvSpPr/>
          <p:nvPr/>
        </p:nvSpPr>
        <p:spPr>
          <a:xfrm>
            <a:off x="4867200" y="235260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2" name=""/>
          <p:cNvSpPr/>
          <p:nvPr/>
        </p:nvSpPr>
        <p:spPr>
          <a:xfrm>
            <a:off x="9229680" y="235260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3" name=""/>
          <p:cNvSpPr/>
          <p:nvPr/>
        </p:nvSpPr>
        <p:spPr>
          <a:xfrm>
            <a:off x="599760" y="235260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4" name=""/>
          <p:cNvSpPr/>
          <p:nvPr/>
        </p:nvSpPr>
        <p:spPr>
          <a:xfrm>
            <a:off x="4867200" y="235260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5" name=""/>
          <p:cNvSpPr/>
          <p:nvPr/>
        </p:nvSpPr>
        <p:spPr>
          <a:xfrm>
            <a:off x="9229680" y="235260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6" name=""/>
          <p:cNvSpPr/>
          <p:nvPr/>
        </p:nvSpPr>
        <p:spPr>
          <a:xfrm>
            <a:off x="599760" y="2847960"/>
            <a:ext cx="4267800" cy="495360"/>
          </a:xfrm>
          <a:custGeom>
            <a:avLst/>
            <a:gdLst/>
            <a:ahLst/>
            <a:rect l="0" t="0" r="r" b="b"/>
            <a:pathLst>
              <a:path w="11855" h="1376">
                <a:moveTo>
                  <a:pt x="0" y="0"/>
                </a:moveTo>
                <a:lnTo>
                  <a:pt x="11855" y="0"/>
                </a:lnTo>
                <a:lnTo>
                  <a:pt x="11855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7" name=""/>
          <p:cNvSpPr/>
          <p:nvPr/>
        </p:nvSpPr>
        <p:spPr>
          <a:xfrm>
            <a:off x="4867200" y="2847960"/>
            <a:ext cx="4362840" cy="495360"/>
          </a:xfrm>
          <a:custGeom>
            <a:avLst/>
            <a:gdLst/>
            <a:ahLst/>
            <a:rect l="0" t="0" r="r" b="b"/>
            <a:pathLst>
              <a:path w="12119" h="1376">
                <a:moveTo>
                  <a:pt x="0" y="0"/>
                </a:moveTo>
                <a:lnTo>
                  <a:pt x="12119" y="0"/>
                </a:lnTo>
                <a:lnTo>
                  <a:pt x="12119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8" name=""/>
          <p:cNvSpPr/>
          <p:nvPr/>
        </p:nvSpPr>
        <p:spPr>
          <a:xfrm>
            <a:off x="9229680" y="2847960"/>
            <a:ext cx="2372040" cy="495360"/>
          </a:xfrm>
          <a:custGeom>
            <a:avLst/>
            <a:gdLst/>
            <a:ahLst/>
            <a:rect l="0" t="0" r="r" b="b"/>
            <a:pathLst>
              <a:path w="6589" h="1376">
                <a:moveTo>
                  <a:pt x="0" y="0"/>
                </a:moveTo>
                <a:lnTo>
                  <a:pt x="6589" y="0"/>
                </a:lnTo>
                <a:lnTo>
                  <a:pt x="6589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9" name=""/>
          <p:cNvSpPr/>
          <p:nvPr/>
        </p:nvSpPr>
        <p:spPr>
          <a:xfrm>
            <a:off x="599760" y="334296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0" name=""/>
          <p:cNvSpPr/>
          <p:nvPr/>
        </p:nvSpPr>
        <p:spPr>
          <a:xfrm>
            <a:off x="4867200" y="334296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1" name=""/>
          <p:cNvSpPr/>
          <p:nvPr/>
        </p:nvSpPr>
        <p:spPr>
          <a:xfrm>
            <a:off x="9229680" y="334296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2" name=""/>
          <p:cNvSpPr/>
          <p:nvPr/>
        </p:nvSpPr>
        <p:spPr>
          <a:xfrm>
            <a:off x="599760" y="383832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3" name=""/>
          <p:cNvSpPr/>
          <p:nvPr/>
        </p:nvSpPr>
        <p:spPr>
          <a:xfrm>
            <a:off x="4867200" y="383832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4" name=""/>
          <p:cNvSpPr/>
          <p:nvPr/>
        </p:nvSpPr>
        <p:spPr>
          <a:xfrm>
            <a:off x="9229680" y="383832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5" name=""/>
          <p:cNvSpPr/>
          <p:nvPr/>
        </p:nvSpPr>
        <p:spPr>
          <a:xfrm>
            <a:off x="599760" y="433368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6" name=""/>
          <p:cNvSpPr/>
          <p:nvPr/>
        </p:nvSpPr>
        <p:spPr>
          <a:xfrm>
            <a:off x="4867200" y="433368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7" name=""/>
          <p:cNvSpPr/>
          <p:nvPr/>
        </p:nvSpPr>
        <p:spPr>
          <a:xfrm>
            <a:off x="9229680" y="433368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8" name=""/>
          <p:cNvSpPr/>
          <p:nvPr/>
        </p:nvSpPr>
        <p:spPr>
          <a:xfrm>
            <a:off x="599760" y="482904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9" name=""/>
          <p:cNvSpPr/>
          <p:nvPr/>
        </p:nvSpPr>
        <p:spPr>
          <a:xfrm>
            <a:off x="4867200" y="482904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0" name=""/>
          <p:cNvSpPr/>
          <p:nvPr/>
        </p:nvSpPr>
        <p:spPr>
          <a:xfrm>
            <a:off x="9229680" y="482904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1" name=""/>
          <p:cNvSpPr/>
          <p:nvPr/>
        </p:nvSpPr>
        <p:spPr>
          <a:xfrm>
            <a:off x="590400" y="23526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2" name=""/>
          <p:cNvSpPr/>
          <p:nvPr/>
        </p:nvSpPr>
        <p:spPr>
          <a:xfrm>
            <a:off x="590400" y="235260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3" name=""/>
          <p:cNvSpPr/>
          <p:nvPr/>
        </p:nvSpPr>
        <p:spPr>
          <a:xfrm>
            <a:off x="4857480" y="23526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4" name=""/>
          <p:cNvSpPr/>
          <p:nvPr/>
        </p:nvSpPr>
        <p:spPr>
          <a:xfrm>
            <a:off x="4867200" y="235260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5" name=""/>
          <p:cNvSpPr/>
          <p:nvPr/>
        </p:nvSpPr>
        <p:spPr>
          <a:xfrm>
            <a:off x="9219960" y="23526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6" name=""/>
          <p:cNvSpPr/>
          <p:nvPr/>
        </p:nvSpPr>
        <p:spPr>
          <a:xfrm>
            <a:off x="9229680" y="23526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7" name=""/>
          <p:cNvSpPr/>
          <p:nvPr/>
        </p:nvSpPr>
        <p:spPr>
          <a:xfrm>
            <a:off x="11591640" y="23526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8" name=""/>
          <p:cNvSpPr/>
          <p:nvPr/>
        </p:nvSpPr>
        <p:spPr>
          <a:xfrm>
            <a:off x="590400" y="284796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9" name=""/>
          <p:cNvSpPr/>
          <p:nvPr/>
        </p:nvSpPr>
        <p:spPr>
          <a:xfrm>
            <a:off x="4867200" y="284796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0" name=""/>
          <p:cNvSpPr/>
          <p:nvPr/>
        </p:nvSpPr>
        <p:spPr>
          <a:xfrm>
            <a:off x="9229680" y="284796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1" name=""/>
          <p:cNvSpPr/>
          <p:nvPr/>
        </p:nvSpPr>
        <p:spPr>
          <a:xfrm>
            <a:off x="590400" y="28573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2" name=""/>
          <p:cNvSpPr/>
          <p:nvPr/>
        </p:nvSpPr>
        <p:spPr>
          <a:xfrm>
            <a:off x="4857480" y="28573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3" name=""/>
          <p:cNvSpPr/>
          <p:nvPr/>
        </p:nvSpPr>
        <p:spPr>
          <a:xfrm>
            <a:off x="9219960" y="28573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4" name=""/>
          <p:cNvSpPr/>
          <p:nvPr/>
        </p:nvSpPr>
        <p:spPr>
          <a:xfrm>
            <a:off x="11591640" y="28573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5" name=""/>
          <p:cNvSpPr/>
          <p:nvPr/>
        </p:nvSpPr>
        <p:spPr>
          <a:xfrm>
            <a:off x="59040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6" name=""/>
          <p:cNvSpPr/>
          <p:nvPr/>
        </p:nvSpPr>
        <p:spPr>
          <a:xfrm>
            <a:off x="590400" y="3342960"/>
            <a:ext cx="4277160" cy="10080"/>
          </a:xfrm>
          <a:custGeom>
            <a:avLst/>
            <a:gdLst/>
            <a:ahLst/>
            <a:rect l="0" t="0" r="r" b="b"/>
            <a:pathLst>
              <a:path w="11881" h="28">
                <a:moveTo>
                  <a:pt x="0" y="0"/>
                </a:moveTo>
                <a:lnTo>
                  <a:pt x="11881" y="0"/>
                </a:lnTo>
                <a:lnTo>
                  <a:pt x="118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7" name=""/>
          <p:cNvSpPr/>
          <p:nvPr/>
        </p:nvSpPr>
        <p:spPr>
          <a:xfrm>
            <a:off x="485748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8" name=""/>
          <p:cNvSpPr/>
          <p:nvPr/>
        </p:nvSpPr>
        <p:spPr>
          <a:xfrm>
            <a:off x="4867200" y="334296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9" name=""/>
          <p:cNvSpPr/>
          <p:nvPr/>
        </p:nvSpPr>
        <p:spPr>
          <a:xfrm>
            <a:off x="921996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0" name=""/>
          <p:cNvSpPr/>
          <p:nvPr/>
        </p:nvSpPr>
        <p:spPr>
          <a:xfrm>
            <a:off x="9229680" y="334296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1" name=""/>
          <p:cNvSpPr/>
          <p:nvPr/>
        </p:nvSpPr>
        <p:spPr>
          <a:xfrm>
            <a:off x="1159164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2" name=""/>
          <p:cNvSpPr/>
          <p:nvPr/>
        </p:nvSpPr>
        <p:spPr>
          <a:xfrm>
            <a:off x="59040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3" name=""/>
          <p:cNvSpPr/>
          <p:nvPr/>
        </p:nvSpPr>
        <p:spPr>
          <a:xfrm>
            <a:off x="590400" y="3838320"/>
            <a:ext cx="4277160" cy="10080"/>
          </a:xfrm>
          <a:custGeom>
            <a:avLst/>
            <a:gdLst/>
            <a:ahLst/>
            <a:rect l="0" t="0" r="r" b="b"/>
            <a:pathLst>
              <a:path w="11881" h="28">
                <a:moveTo>
                  <a:pt x="0" y="0"/>
                </a:moveTo>
                <a:lnTo>
                  <a:pt x="11881" y="0"/>
                </a:lnTo>
                <a:lnTo>
                  <a:pt x="118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4" name=""/>
          <p:cNvSpPr/>
          <p:nvPr/>
        </p:nvSpPr>
        <p:spPr>
          <a:xfrm>
            <a:off x="485748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5" name=""/>
          <p:cNvSpPr/>
          <p:nvPr/>
        </p:nvSpPr>
        <p:spPr>
          <a:xfrm>
            <a:off x="4867200" y="383832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6" name=""/>
          <p:cNvSpPr/>
          <p:nvPr/>
        </p:nvSpPr>
        <p:spPr>
          <a:xfrm>
            <a:off x="921996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7" name=""/>
          <p:cNvSpPr/>
          <p:nvPr/>
        </p:nvSpPr>
        <p:spPr>
          <a:xfrm>
            <a:off x="9229680" y="383832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8" name=""/>
          <p:cNvSpPr/>
          <p:nvPr/>
        </p:nvSpPr>
        <p:spPr>
          <a:xfrm>
            <a:off x="1159164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9" name=""/>
          <p:cNvSpPr/>
          <p:nvPr/>
        </p:nvSpPr>
        <p:spPr>
          <a:xfrm>
            <a:off x="59040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0" name=""/>
          <p:cNvSpPr/>
          <p:nvPr/>
        </p:nvSpPr>
        <p:spPr>
          <a:xfrm>
            <a:off x="590400" y="433368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1" name=""/>
          <p:cNvSpPr/>
          <p:nvPr/>
        </p:nvSpPr>
        <p:spPr>
          <a:xfrm>
            <a:off x="485748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2" name=""/>
          <p:cNvSpPr/>
          <p:nvPr/>
        </p:nvSpPr>
        <p:spPr>
          <a:xfrm>
            <a:off x="4867200" y="433368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3" name=""/>
          <p:cNvSpPr/>
          <p:nvPr/>
        </p:nvSpPr>
        <p:spPr>
          <a:xfrm>
            <a:off x="921996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4" name=""/>
          <p:cNvSpPr/>
          <p:nvPr/>
        </p:nvSpPr>
        <p:spPr>
          <a:xfrm>
            <a:off x="9229680" y="433368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5" name=""/>
          <p:cNvSpPr/>
          <p:nvPr/>
        </p:nvSpPr>
        <p:spPr>
          <a:xfrm>
            <a:off x="1159164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6" name=""/>
          <p:cNvSpPr/>
          <p:nvPr/>
        </p:nvSpPr>
        <p:spPr>
          <a:xfrm>
            <a:off x="590400" y="48384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7" name=""/>
          <p:cNvSpPr/>
          <p:nvPr/>
        </p:nvSpPr>
        <p:spPr>
          <a:xfrm>
            <a:off x="590400" y="482904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8" name=""/>
          <p:cNvSpPr/>
          <p:nvPr/>
        </p:nvSpPr>
        <p:spPr>
          <a:xfrm>
            <a:off x="4857480" y="4838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9" name=""/>
          <p:cNvSpPr/>
          <p:nvPr/>
        </p:nvSpPr>
        <p:spPr>
          <a:xfrm>
            <a:off x="4867200" y="482904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0" name=""/>
          <p:cNvSpPr/>
          <p:nvPr/>
        </p:nvSpPr>
        <p:spPr>
          <a:xfrm>
            <a:off x="9219960" y="4838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1" name=""/>
          <p:cNvSpPr/>
          <p:nvPr/>
        </p:nvSpPr>
        <p:spPr>
          <a:xfrm>
            <a:off x="9229680" y="482904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2" name=""/>
          <p:cNvSpPr/>
          <p:nvPr/>
        </p:nvSpPr>
        <p:spPr>
          <a:xfrm>
            <a:off x="11591640" y="4838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3" name=""/>
          <p:cNvSpPr/>
          <p:nvPr/>
        </p:nvSpPr>
        <p:spPr>
          <a:xfrm>
            <a:off x="590400" y="532440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4" name=""/>
          <p:cNvSpPr/>
          <p:nvPr/>
        </p:nvSpPr>
        <p:spPr>
          <a:xfrm>
            <a:off x="4867200" y="532440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5" name=""/>
          <p:cNvSpPr/>
          <p:nvPr/>
        </p:nvSpPr>
        <p:spPr>
          <a:xfrm>
            <a:off x="9229680" y="53244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90400" y="10436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全体が高精度でも、言い換えには弱い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90400" y="1857240"/>
            <a:ext cx="500526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モデル・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のテスト別結果。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714240" y="2492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テスト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8480160" y="2492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0848960" y="2492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合格率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714240" y="298728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通常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7390080" y="2987280"/>
            <a:ext cx="197022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24,003 / 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10692360" y="298728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99.85%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714240" y="348264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組合せ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391520" y="3482640"/>
            <a:ext cx="19681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13,188 / 13,400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10691640" y="3482640"/>
            <a:ext cx="9012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98.42%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714240" y="3978000"/>
            <a:ext cx="19217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日本語の言い換え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8285760" y="3978000"/>
            <a:ext cx="9439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 / 30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0653480" y="3978000"/>
            <a:ext cx="9447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50.00%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14240" y="447336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同じ操作の反復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7391520" y="4473360"/>
            <a:ext cx="19681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22,971 / 23,040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10692360" y="447336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99.70%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714240" y="496872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境界値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390080" y="4968720"/>
            <a:ext cx="197022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24,003 / 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0692360" y="496872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99.85%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590400" y="5581800"/>
            <a:ext cx="736423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全体の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99.56%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だけでは、日本語表現への弱さが見えない。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1" name=""/>
          <p:cNvSpPr/>
          <p:nvPr/>
        </p:nvSpPr>
        <p:spPr>
          <a:xfrm>
            <a:off x="599760" y="3428640"/>
            <a:ext cx="5829840" cy="467280"/>
          </a:xfrm>
          <a:custGeom>
            <a:avLst/>
            <a:gdLst/>
            <a:ahLst/>
            <a:rect l="0" t="0" r="r" b="b"/>
            <a:pathLst>
              <a:path w="16194" h="1298">
                <a:moveTo>
                  <a:pt x="0" y="0"/>
                </a:moveTo>
                <a:lnTo>
                  <a:pt x="16194" y="0"/>
                </a:lnTo>
                <a:lnTo>
                  <a:pt x="161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2" name=""/>
          <p:cNvSpPr/>
          <p:nvPr/>
        </p:nvSpPr>
        <p:spPr>
          <a:xfrm>
            <a:off x="6429240" y="3428640"/>
            <a:ext cx="1619640" cy="467280"/>
          </a:xfrm>
          <a:custGeom>
            <a:avLst/>
            <a:gdLst/>
            <a:ahLst/>
            <a:rect l="0" t="0" r="r" b="b"/>
            <a:pathLst>
              <a:path w="4499" h="1298">
                <a:moveTo>
                  <a:pt x="0" y="0"/>
                </a:moveTo>
                <a:lnTo>
                  <a:pt x="4499" y="0"/>
                </a:lnTo>
                <a:lnTo>
                  <a:pt x="449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3" name=""/>
          <p:cNvSpPr/>
          <p:nvPr/>
        </p:nvSpPr>
        <p:spPr>
          <a:xfrm>
            <a:off x="8048520" y="3428640"/>
            <a:ext cx="3553200" cy="467280"/>
          </a:xfrm>
          <a:custGeom>
            <a:avLst/>
            <a:gdLst/>
            <a:ahLst/>
            <a:rect l="0" t="0" r="r" b="b"/>
            <a:pathLst>
              <a:path w="9870" h="1298">
                <a:moveTo>
                  <a:pt x="0" y="0"/>
                </a:moveTo>
                <a:lnTo>
                  <a:pt x="9870" y="0"/>
                </a:lnTo>
                <a:lnTo>
                  <a:pt x="987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4" name=""/>
          <p:cNvSpPr/>
          <p:nvPr/>
        </p:nvSpPr>
        <p:spPr>
          <a:xfrm>
            <a:off x="599760" y="3428640"/>
            <a:ext cx="5829840" cy="467280"/>
          </a:xfrm>
          <a:custGeom>
            <a:avLst/>
            <a:gdLst/>
            <a:ahLst/>
            <a:rect l="0" t="0" r="r" b="b"/>
            <a:pathLst>
              <a:path w="16194" h="1298">
                <a:moveTo>
                  <a:pt x="0" y="0"/>
                </a:moveTo>
                <a:lnTo>
                  <a:pt x="16194" y="0"/>
                </a:lnTo>
                <a:lnTo>
                  <a:pt x="161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5" name=""/>
          <p:cNvSpPr/>
          <p:nvPr/>
        </p:nvSpPr>
        <p:spPr>
          <a:xfrm>
            <a:off x="6429240" y="3428640"/>
            <a:ext cx="1619640" cy="467280"/>
          </a:xfrm>
          <a:custGeom>
            <a:avLst/>
            <a:gdLst/>
            <a:ahLst/>
            <a:rect l="0" t="0" r="r" b="b"/>
            <a:pathLst>
              <a:path w="4499" h="1298">
                <a:moveTo>
                  <a:pt x="0" y="0"/>
                </a:moveTo>
                <a:lnTo>
                  <a:pt x="4499" y="0"/>
                </a:lnTo>
                <a:lnTo>
                  <a:pt x="449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6" name=""/>
          <p:cNvSpPr/>
          <p:nvPr/>
        </p:nvSpPr>
        <p:spPr>
          <a:xfrm>
            <a:off x="8048520" y="3428640"/>
            <a:ext cx="3553200" cy="467280"/>
          </a:xfrm>
          <a:custGeom>
            <a:avLst/>
            <a:gdLst/>
            <a:ahLst/>
            <a:rect l="0" t="0" r="r" b="b"/>
            <a:pathLst>
              <a:path w="9870" h="1298">
                <a:moveTo>
                  <a:pt x="0" y="0"/>
                </a:moveTo>
                <a:lnTo>
                  <a:pt x="9870" y="0"/>
                </a:lnTo>
                <a:lnTo>
                  <a:pt x="987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7" name=""/>
          <p:cNvSpPr/>
          <p:nvPr/>
        </p:nvSpPr>
        <p:spPr>
          <a:xfrm>
            <a:off x="599760" y="3895560"/>
            <a:ext cx="5829840" cy="466920"/>
          </a:xfrm>
          <a:custGeom>
            <a:avLst/>
            <a:gdLst/>
            <a:ahLst/>
            <a:rect l="0" t="0" r="r" b="b"/>
            <a:pathLst>
              <a:path w="16194" h="1297">
                <a:moveTo>
                  <a:pt x="0" y="0"/>
                </a:moveTo>
                <a:lnTo>
                  <a:pt x="16194" y="0"/>
                </a:lnTo>
                <a:lnTo>
                  <a:pt x="1619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8" name=""/>
          <p:cNvSpPr/>
          <p:nvPr/>
        </p:nvSpPr>
        <p:spPr>
          <a:xfrm>
            <a:off x="6429240" y="3895560"/>
            <a:ext cx="1619640" cy="466920"/>
          </a:xfrm>
          <a:custGeom>
            <a:avLst/>
            <a:gdLst/>
            <a:ahLst/>
            <a:rect l="0" t="0" r="r" b="b"/>
            <a:pathLst>
              <a:path w="4499" h="1297">
                <a:moveTo>
                  <a:pt x="0" y="0"/>
                </a:moveTo>
                <a:lnTo>
                  <a:pt x="4499" y="0"/>
                </a:lnTo>
                <a:lnTo>
                  <a:pt x="449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9" name=""/>
          <p:cNvSpPr/>
          <p:nvPr/>
        </p:nvSpPr>
        <p:spPr>
          <a:xfrm>
            <a:off x="8048520" y="3895560"/>
            <a:ext cx="3553200" cy="466920"/>
          </a:xfrm>
          <a:custGeom>
            <a:avLst/>
            <a:gdLst/>
            <a:ahLst/>
            <a:rect l="0" t="0" r="r" b="b"/>
            <a:pathLst>
              <a:path w="9870" h="1297">
                <a:moveTo>
                  <a:pt x="0" y="0"/>
                </a:moveTo>
                <a:lnTo>
                  <a:pt x="9870" y="0"/>
                </a:lnTo>
                <a:lnTo>
                  <a:pt x="987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0" name=""/>
          <p:cNvSpPr/>
          <p:nvPr/>
        </p:nvSpPr>
        <p:spPr>
          <a:xfrm>
            <a:off x="590400" y="3428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1" name=""/>
          <p:cNvSpPr/>
          <p:nvPr/>
        </p:nvSpPr>
        <p:spPr>
          <a:xfrm>
            <a:off x="590400" y="3428640"/>
            <a:ext cx="5839200" cy="10080"/>
          </a:xfrm>
          <a:custGeom>
            <a:avLst/>
            <a:gdLst/>
            <a:ahLst/>
            <a:rect l="0" t="0" r="r" b="b"/>
            <a:pathLst>
              <a:path w="16220" h="28">
                <a:moveTo>
                  <a:pt x="0" y="0"/>
                </a:moveTo>
                <a:lnTo>
                  <a:pt x="16220" y="0"/>
                </a:lnTo>
                <a:lnTo>
                  <a:pt x="162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2" name=""/>
          <p:cNvSpPr/>
          <p:nvPr/>
        </p:nvSpPr>
        <p:spPr>
          <a:xfrm>
            <a:off x="6419520" y="3428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3" name=""/>
          <p:cNvSpPr/>
          <p:nvPr/>
        </p:nvSpPr>
        <p:spPr>
          <a:xfrm>
            <a:off x="6429240" y="342864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4" name=""/>
          <p:cNvSpPr/>
          <p:nvPr/>
        </p:nvSpPr>
        <p:spPr>
          <a:xfrm>
            <a:off x="8038800" y="3428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5" name=""/>
          <p:cNvSpPr/>
          <p:nvPr/>
        </p:nvSpPr>
        <p:spPr>
          <a:xfrm>
            <a:off x="8048520" y="342864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6" name=""/>
          <p:cNvSpPr/>
          <p:nvPr/>
        </p:nvSpPr>
        <p:spPr>
          <a:xfrm>
            <a:off x="11591640" y="3428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7" name=""/>
          <p:cNvSpPr/>
          <p:nvPr/>
        </p:nvSpPr>
        <p:spPr>
          <a:xfrm>
            <a:off x="590400" y="3895560"/>
            <a:ext cx="5839200" cy="9720"/>
          </a:xfrm>
          <a:custGeom>
            <a:avLst/>
            <a:gdLst/>
            <a:ahLst/>
            <a:rect l="0" t="0" r="r" b="b"/>
            <a:pathLst>
              <a:path w="16220" h="27">
                <a:moveTo>
                  <a:pt x="0" y="0"/>
                </a:moveTo>
                <a:lnTo>
                  <a:pt x="16220" y="0"/>
                </a:lnTo>
                <a:lnTo>
                  <a:pt x="162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8" name=""/>
          <p:cNvSpPr/>
          <p:nvPr/>
        </p:nvSpPr>
        <p:spPr>
          <a:xfrm>
            <a:off x="6429240" y="389556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9" name=""/>
          <p:cNvSpPr/>
          <p:nvPr/>
        </p:nvSpPr>
        <p:spPr>
          <a:xfrm>
            <a:off x="8048520" y="389556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0" name=""/>
          <p:cNvSpPr/>
          <p:nvPr/>
        </p:nvSpPr>
        <p:spPr>
          <a:xfrm>
            <a:off x="590400" y="39049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1" name=""/>
          <p:cNvSpPr/>
          <p:nvPr/>
        </p:nvSpPr>
        <p:spPr>
          <a:xfrm>
            <a:off x="6419520" y="39049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2" name=""/>
          <p:cNvSpPr/>
          <p:nvPr/>
        </p:nvSpPr>
        <p:spPr>
          <a:xfrm>
            <a:off x="8038800" y="39049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3" name=""/>
          <p:cNvSpPr/>
          <p:nvPr/>
        </p:nvSpPr>
        <p:spPr>
          <a:xfrm>
            <a:off x="11591640" y="39049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4" name=""/>
          <p:cNvSpPr/>
          <p:nvPr/>
        </p:nvSpPr>
        <p:spPr>
          <a:xfrm>
            <a:off x="590400" y="4362120"/>
            <a:ext cx="5839200" cy="10080"/>
          </a:xfrm>
          <a:custGeom>
            <a:avLst/>
            <a:gdLst/>
            <a:ahLst/>
            <a:rect l="0" t="0" r="r" b="b"/>
            <a:pathLst>
              <a:path w="16220" h="28">
                <a:moveTo>
                  <a:pt x="0" y="0"/>
                </a:moveTo>
                <a:lnTo>
                  <a:pt x="16220" y="0"/>
                </a:lnTo>
                <a:lnTo>
                  <a:pt x="162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5" name=""/>
          <p:cNvSpPr/>
          <p:nvPr/>
        </p:nvSpPr>
        <p:spPr>
          <a:xfrm>
            <a:off x="6429240" y="436212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6" name=""/>
          <p:cNvSpPr/>
          <p:nvPr/>
        </p:nvSpPr>
        <p:spPr>
          <a:xfrm>
            <a:off x="8048520" y="436212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590400" y="1586520"/>
            <a:ext cx="830815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先行研究：日本語の書き方で正解率が変わる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590400" y="2409840"/>
            <a:ext cx="983664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Gan and Mori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2023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）は、意味や指示が近い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種類のプロンプトを比較した。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590400" y="2933640"/>
            <a:ext cx="656272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プロンプト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は、モデルに渡す指示文や質問文のこと。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723960" y="355176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日本語の課題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554880" y="355176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8176680" y="355176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正解率の範囲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723960" y="4018320"/>
            <a:ext cx="362581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文の意味関係を分類する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JNLI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554880" y="4018320"/>
            <a:ext cx="811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GPT-4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8176680" y="4018320"/>
            <a:ext cx="209111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25.44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49.21%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590400" y="4619520"/>
            <a:ext cx="820299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意味が近くても、書き方によって性能が大きく変わる場合がある。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590400" y="5126040"/>
            <a:ext cx="4172292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3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出典：</a:t>
            </a:r>
            <a:r>
              <a:rPr lang="en-US" sz="1350" b="0" u="none" strike="noStrike">
                <a:solidFill>
                  <a:srgbClr val="2877AA"/>
                </a:solidFill>
                <a:effectLst/>
                <a:uFillTx/>
                <a:latin typeface="Hiragino Sans"/>
                <a:ea typeface="Hiragino Sans"/>
              </a:rPr>
              <a:t>Gan and Mori, PACLIC 2023, Table 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2" name=""/>
          <p:cNvSpPr/>
          <p:nvPr/>
        </p:nvSpPr>
        <p:spPr>
          <a:xfrm>
            <a:off x="599760" y="2666880"/>
            <a:ext cx="4839120" cy="466920"/>
          </a:xfrm>
          <a:custGeom>
            <a:avLst/>
            <a:gdLst/>
            <a:ahLst/>
            <a:rect l="0" t="0" r="r" b="b"/>
            <a:pathLst>
              <a:path w="13442" h="1297">
                <a:moveTo>
                  <a:pt x="0" y="0"/>
                </a:moveTo>
                <a:lnTo>
                  <a:pt x="13442" y="0"/>
                </a:lnTo>
                <a:lnTo>
                  <a:pt x="1344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3" name=""/>
          <p:cNvSpPr/>
          <p:nvPr/>
        </p:nvSpPr>
        <p:spPr>
          <a:xfrm>
            <a:off x="5438520" y="2666880"/>
            <a:ext cx="6163200" cy="466920"/>
          </a:xfrm>
          <a:custGeom>
            <a:avLst/>
            <a:gdLst/>
            <a:ahLst/>
            <a:rect l="0" t="0" r="r" b="b"/>
            <a:pathLst>
              <a:path w="17120" h="1297">
                <a:moveTo>
                  <a:pt x="0" y="0"/>
                </a:moveTo>
                <a:lnTo>
                  <a:pt x="17120" y="0"/>
                </a:lnTo>
                <a:lnTo>
                  <a:pt x="1712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4" name=""/>
          <p:cNvSpPr/>
          <p:nvPr/>
        </p:nvSpPr>
        <p:spPr>
          <a:xfrm>
            <a:off x="599760" y="2666880"/>
            <a:ext cx="4839120" cy="466920"/>
          </a:xfrm>
          <a:custGeom>
            <a:avLst/>
            <a:gdLst/>
            <a:ahLst/>
            <a:rect l="0" t="0" r="r" b="b"/>
            <a:pathLst>
              <a:path w="13442" h="1297">
                <a:moveTo>
                  <a:pt x="0" y="0"/>
                </a:moveTo>
                <a:lnTo>
                  <a:pt x="13442" y="0"/>
                </a:lnTo>
                <a:lnTo>
                  <a:pt x="1344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5" name=""/>
          <p:cNvSpPr/>
          <p:nvPr/>
        </p:nvSpPr>
        <p:spPr>
          <a:xfrm>
            <a:off x="5438520" y="2666880"/>
            <a:ext cx="6163200" cy="466920"/>
          </a:xfrm>
          <a:custGeom>
            <a:avLst/>
            <a:gdLst/>
            <a:ahLst/>
            <a:rect l="0" t="0" r="r" b="b"/>
            <a:pathLst>
              <a:path w="17120" h="1297">
                <a:moveTo>
                  <a:pt x="0" y="0"/>
                </a:moveTo>
                <a:lnTo>
                  <a:pt x="17120" y="0"/>
                </a:lnTo>
                <a:lnTo>
                  <a:pt x="1712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6" name=""/>
          <p:cNvSpPr/>
          <p:nvPr/>
        </p:nvSpPr>
        <p:spPr>
          <a:xfrm>
            <a:off x="599760" y="3133440"/>
            <a:ext cx="4839120" cy="467280"/>
          </a:xfrm>
          <a:custGeom>
            <a:avLst/>
            <a:gdLst/>
            <a:ahLst/>
            <a:rect l="0" t="0" r="r" b="b"/>
            <a:pathLst>
              <a:path w="13442" h="1298">
                <a:moveTo>
                  <a:pt x="0" y="0"/>
                </a:moveTo>
                <a:lnTo>
                  <a:pt x="13442" y="0"/>
                </a:lnTo>
                <a:lnTo>
                  <a:pt x="1344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7" name=""/>
          <p:cNvSpPr/>
          <p:nvPr/>
        </p:nvSpPr>
        <p:spPr>
          <a:xfrm>
            <a:off x="5438520" y="3133440"/>
            <a:ext cx="6163200" cy="467280"/>
          </a:xfrm>
          <a:custGeom>
            <a:avLst/>
            <a:gdLst/>
            <a:ahLst/>
            <a:rect l="0" t="0" r="r" b="b"/>
            <a:pathLst>
              <a:path w="17120" h="1298">
                <a:moveTo>
                  <a:pt x="0" y="0"/>
                </a:moveTo>
                <a:lnTo>
                  <a:pt x="17120" y="0"/>
                </a:lnTo>
                <a:lnTo>
                  <a:pt x="1712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8" name=""/>
          <p:cNvSpPr/>
          <p:nvPr/>
        </p:nvSpPr>
        <p:spPr>
          <a:xfrm>
            <a:off x="599760" y="3600360"/>
            <a:ext cx="4839120" cy="466920"/>
          </a:xfrm>
          <a:custGeom>
            <a:avLst/>
            <a:gdLst/>
            <a:ahLst/>
            <a:rect l="0" t="0" r="r" b="b"/>
            <a:pathLst>
              <a:path w="13442" h="1297">
                <a:moveTo>
                  <a:pt x="0" y="0"/>
                </a:moveTo>
                <a:lnTo>
                  <a:pt x="13442" y="0"/>
                </a:lnTo>
                <a:lnTo>
                  <a:pt x="1344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9" name=""/>
          <p:cNvSpPr/>
          <p:nvPr/>
        </p:nvSpPr>
        <p:spPr>
          <a:xfrm>
            <a:off x="5438520" y="3600360"/>
            <a:ext cx="6163200" cy="466920"/>
          </a:xfrm>
          <a:custGeom>
            <a:avLst/>
            <a:gdLst/>
            <a:ahLst/>
            <a:rect l="0" t="0" r="r" b="b"/>
            <a:pathLst>
              <a:path w="17120" h="1297">
                <a:moveTo>
                  <a:pt x="0" y="0"/>
                </a:moveTo>
                <a:lnTo>
                  <a:pt x="17120" y="0"/>
                </a:lnTo>
                <a:lnTo>
                  <a:pt x="1712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0" name=""/>
          <p:cNvSpPr/>
          <p:nvPr/>
        </p:nvSpPr>
        <p:spPr>
          <a:xfrm>
            <a:off x="59040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1" name=""/>
          <p:cNvSpPr/>
          <p:nvPr/>
        </p:nvSpPr>
        <p:spPr>
          <a:xfrm>
            <a:off x="590400" y="2666880"/>
            <a:ext cx="4858200" cy="9720"/>
          </a:xfrm>
          <a:custGeom>
            <a:avLst/>
            <a:gdLst/>
            <a:ahLst/>
            <a:rect l="0" t="0" r="r" b="b"/>
            <a:pathLst>
              <a:path w="13495" h="27">
                <a:moveTo>
                  <a:pt x="0" y="0"/>
                </a:moveTo>
                <a:lnTo>
                  <a:pt x="13495" y="0"/>
                </a:lnTo>
                <a:lnTo>
                  <a:pt x="13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2" name=""/>
          <p:cNvSpPr/>
          <p:nvPr/>
        </p:nvSpPr>
        <p:spPr>
          <a:xfrm>
            <a:off x="543852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3" name=""/>
          <p:cNvSpPr/>
          <p:nvPr/>
        </p:nvSpPr>
        <p:spPr>
          <a:xfrm>
            <a:off x="5448240" y="2666880"/>
            <a:ext cx="6153480" cy="9720"/>
          </a:xfrm>
          <a:custGeom>
            <a:avLst/>
            <a:gdLst/>
            <a:ahLst/>
            <a:rect l="0" t="0" r="r" b="b"/>
            <a:pathLst>
              <a:path w="17093" h="27">
                <a:moveTo>
                  <a:pt x="0" y="0"/>
                </a:moveTo>
                <a:lnTo>
                  <a:pt x="17093" y="0"/>
                </a:lnTo>
                <a:lnTo>
                  <a:pt x="170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4" name=""/>
          <p:cNvSpPr/>
          <p:nvPr/>
        </p:nvSpPr>
        <p:spPr>
          <a:xfrm>
            <a:off x="115916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5" name=""/>
          <p:cNvSpPr/>
          <p:nvPr/>
        </p:nvSpPr>
        <p:spPr>
          <a:xfrm>
            <a:off x="590400" y="3133440"/>
            <a:ext cx="4858200" cy="10080"/>
          </a:xfrm>
          <a:custGeom>
            <a:avLst/>
            <a:gdLst/>
            <a:ahLst/>
            <a:rect l="0" t="0" r="r" b="b"/>
            <a:pathLst>
              <a:path w="13495" h="28">
                <a:moveTo>
                  <a:pt x="0" y="0"/>
                </a:moveTo>
                <a:lnTo>
                  <a:pt x="13495" y="0"/>
                </a:lnTo>
                <a:lnTo>
                  <a:pt x="134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6" name=""/>
          <p:cNvSpPr/>
          <p:nvPr/>
        </p:nvSpPr>
        <p:spPr>
          <a:xfrm>
            <a:off x="5448240" y="3133440"/>
            <a:ext cx="6153480" cy="10080"/>
          </a:xfrm>
          <a:custGeom>
            <a:avLst/>
            <a:gdLst/>
            <a:ahLst/>
            <a:rect l="0" t="0" r="r" b="b"/>
            <a:pathLst>
              <a:path w="17093" h="28">
                <a:moveTo>
                  <a:pt x="0" y="0"/>
                </a:moveTo>
                <a:lnTo>
                  <a:pt x="17093" y="0"/>
                </a:lnTo>
                <a:lnTo>
                  <a:pt x="170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7" name=""/>
          <p:cNvSpPr/>
          <p:nvPr/>
        </p:nvSpPr>
        <p:spPr>
          <a:xfrm>
            <a:off x="59040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8" name=""/>
          <p:cNvSpPr/>
          <p:nvPr/>
        </p:nvSpPr>
        <p:spPr>
          <a:xfrm>
            <a:off x="543852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9" name=""/>
          <p:cNvSpPr/>
          <p:nvPr/>
        </p:nvSpPr>
        <p:spPr>
          <a:xfrm>
            <a:off x="1159164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0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1" name=""/>
          <p:cNvSpPr/>
          <p:nvPr/>
        </p:nvSpPr>
        <p:spPr>
          <a:xfrm>
            <a:off x="590400" y="3600360"/>
            <a:ext cx="4858200" cy="9720"/>
          </a:xfrm>
          <a:custGeom>
            <a:avLst/>
            <a:gdLst/>
            <a:ahLst/>
            <a:rect l="0" t="0" r="r" b="b"/>
            <a:pathLst>
              <a:path w="13495" h="27">
                <a:moveTo>
                  <a:pt x="0" y="0"/>
                </a:moveTo>
                <a:lnTo>
                  <a:pt x="13495" y="0"/>
                </a:lnTo>
                <a:lnTo>
                  <a:pt x="13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2" name=""/>
          <p:cNvSpPr/>
          <p:nvPr/>
        </p:nvSpPr>
        <p:spPr>
          <a:xfrm>
            <a:off x="543852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3" name=""/>
          <p:cNvSpPr/>
          <p:nvPr/>
        </p:nvSpPr>
        <p:spPr>
          <a:xfrm>
            <a:off x="5448240" y="3600360"/>
            <a:ext cx="6153480" cy="9720"/>
          </a:xfrm>
          <a:custGeom>
            <a:avLst/>
            <a:gdLst/>
            <a:ahLst/>
            <a:rect l="0" t="0" r="r" b="b"/>
            <a:pathLst>
              <a:path w="17093" h="27">
                <a:moveTo>
                  <a:pt x="0" y="0"/>
                </a:moveTo>
                <a:lnTo>
                  <a:pt x="17093" y="0"/>
                </a:lnTo>
                <a:lnTo>
                  <a:pt x="170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4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5" name=""/>
          <p:cNvSpPr/>
          <p:nvPr/>
        </p:nvSpPr>
        <p:spPr>
          <a:xfrm>
            <a:off x="590400" y="4066920"/>
            <a:ext cx="4858200" cy="10080"/>
          </a:xfrm>
          <a:custGeom>
            <a:avLst/>
            <a:gdLst/>
            <a:ahLst/>
            <a:rect l="0" t="0" r="r" b="b"/>
            <a:pathLst>
              <a:path w="13495" h="28">
                <a:moveTo>
                  <a:pt x="0" y="0"/>
                </a:moveTo>
                <a:lnTo>
                  <a:pt x="13495" y="0"/>
                </a:lnTo>
                <a:lnTo>
                  <a:pt x="134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6" name=""/>
          <p:cNvSpPr/>
          <p:nvPr/>
        </p:nvSpPr>
        <p:spPr>
          <a:xfrm>
            <a:off x="5448240" y="4066920"/>
            <a:ext cx="6153480" cy="10080"/>
          </a:xfrm>
          <a:custGeom>
            <a:avLst/>
            <a:gdLst/>
            <a:ahLst/>
            <a:rect l="0" t="0" r="r" b="b"/>
            <a:pathLst>
              <a:path w="17093" h="28">
                <a:moveTo>
                  <a:pt x="0" y="0"/>
                </a:moveTo>
                <a:lnTo>
                  <a:pt x="17093" y="0"/>
                </a:lnTo>
                <a:lnTo>
                  <a:pt x="170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590400" y="1348200"/>
            <a:ext cx="789291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先行研究：言い換えで回答の傾向も変わる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590400" y="2171520"/>
            <a:ext cx="1020675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Takayama et al.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2026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）は、日本語を含む「はい／いいえ」の質問を評価した。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23960" y="278964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表現の変え方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5571000" y="278964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日本語での観察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723960" y="3256560"/>
            <a:ext cx="36812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同意を求める「〜ですよね？」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5571000" y="3256560"/>
            <a:ext cx="39441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道徳判断で「はい」が増える傾向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723960" y="372312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反対語への置き換え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5571000" y="3723120"/>
            <a:ext cx="47328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答えの反転を考慮しても、一貫性が低下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590400" y="4324320"/>
            <a:ext cx="601583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同じ判断を求めても、表現によって答えが動く。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590400" y="4848120"/>
            <a:ext cx="710920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モデルの評価には、複数の言い回しを含める必要がある。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590400" y="5364000"/>
            <a:ext cx="416525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3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出典：</a:t>
            </a:r>
            <a:r>
              <a:rPr lang="en-US" sz="1350" b="0" u="none" strike="noStrike">
                <a:solidFill>
                  <a:srgbClr val="2877AA"/>
                </a:solidFill>
                <a:effectLst/>
                <a:uFillTx/>
                <a:latin typeface="Hiragino Sans"/>
                <a:ea typeface="Hiragino Sans"/>
              </a:rPr>
              <a:t>Takayama et al., LREC 2026, Table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2" name=""/>
          <p:cNvSpPr/>
          <p:nvPr/>
        </p:nvSpPr>
        <p:spPr>
          <a:xfrm>
            <a:off x="599760" y="2571480"/>
            <a:ext cx="1229040" cy="467280"/>
          </a:xfrm>
          <a:custGeom>
            <a:avLst/>
            <a:gdLst/>
            <a:ahLst/>
            <a:rect l="0" t="0" r="r" b="b"/>
            <a:pathLst>
              <a:path w="3414" h="1298">
                <a:moveTo>
                  <a:pt x="0" y="0"/>
                </a:moveTo>
                <a:lnTo>
                  <a:pt x="3414" y="0"/>
                </a:lnTo>
                <a:lnTo>
                  <a:pt x="341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3" name=""/>
          <p:cNvSpPr/>
          <p:nvPr/>
        </p:nvSpPr>
        <p:spPr>
          <a:xfrm>
            <a:off x="1828440" y="2571480"/>
            <a:ext cx="9773280" cy="467280"/>
          </a:xfrm>
          <a:custGeom>
            <a:avLst/>
            <a:gdLst/>
            <a:ahLst/>
            <a:rect l="0" t="0" r="r" b="b"/>
            <a:pathLst>
              <a:path w="27148" h="1298">
                <a:moveTo>
                  <a:pt x="0" y="0"/>
                </a:moveTo>
                <a:lnTo>
                  <a:pt x="27148" y="0"/>
                </a:lnTo>
                <a:lnTo>
                  <a:pt x="2714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4" name=""/>
          <p:cNvSpPr/>
          <p:nvPr/>
        </p:nvSpPr>
        <p:spPr>
          <a:xfrm>
            <a:off x="599760" y="2571480"/>
            <a:ext cx="1229040" cy="467280"/>
          </a:xfrm>
          <a:custGeom>
            <a:avLst/>
            <a:gdLst/>
            <a:ahLst/>
            <a:rect l="0" t="0" r="r" b="b"/>
            <a:pathLst>
              <a:path w="3414" h="1298">
                <a:moveTo>
                  <a:pt x="0" y="0"/>
                </a:moveTo>
                <a:lnTo>
                  <a:pt x="3414" y="0"/>
                </a:lnTo>
                <a:lnTo>
                  <a:pt x="341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5" name=""/>
          <p:cNvSpPr/>
          <p:nvPr/>
        </p:nvSpPr>
        <p:spPr>
          <a:xfrm>
            <a:off x="1828440" y="2571480"/>
            <a:ext cx="9773280" cy="467280"/>
          </a:xfrm>
          <a:custGeom>
            <a:avLst/>
            <a:gdLst/>
            <a:ahLst/>
            <a:rect l="0" t="0" r="r" b="b"/>
            <a:pathLst>
              <a:path w="27148" h="1298">
                <a:moveTo>
                  <a:pt x="0" y="0"/>
                </a:moveTo>
                <a:lnTo>
                  <a:pt x="27148" y="0"/>
                </a:lnTo>
                <a:lnTo>
                  <a:pt x="2714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6" name=""/>
          <p:cNvSpPr/>
          <p:nvPr/>
        </p:nvSpPr>
        <p:spPr>
          <a:xfrm>
            <a:off x="599760" y="3038400"/>
            <a:ext cx="1229040" cy="466920"/>
          </a:xfrm>
          <a:custGeom>
            <a:avLst/>
            <a:gdLst/>
            <a:ahLst/>
            <a:rect l="0" t="0" r="r" b="b"/>
            <a:pathLst>
              <a:path w="3414" h="1297">
                <a:moveTo>
                  <a:pt x="0" y="0"/>
                </a:moveTo>
                <a:lnTo>
                  <a:pt x="3414" y="0"/>
                </a:lnTo>
                <a:lnTo>
                  <a:pt x="341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7" name=""/>
          <p:cNvSpPr/>
          <p:nvPr/>
        </p:nvSpPr>
        <p:spPr>
          <a:xfrm>
            <a:off x="1828440" y="3038400"/>
            <a:ext cx="9773280" cy="466920"/>
          </a:xfrm>
          <a:custGeom>
            <a:avLst/>
            <a:gdLst/>
            <a:ahLst/>
            <a:rect l="0" t="0" r="r" b="b"/>
            <a:pathLst>
              <a:path w="27148" h="1297">
                <a:moveTo>
                  <a:pt x="0" y="0"/>
                </a:moveTo>
                <a:lnTo>
                  <a:pt x="27148" y="0"/>
                </a:lnTo>
                <a:lnTo>
                  <a:pt x="2714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8" name=""/>
          <p:cNvSpPr/>
          <p:nvPr/>
        </p:nvSpPr>
        <p:spPr>
          <a:xfrm>
            <a:off x="599760" y="3504960"/>
            <a:ext cx="1229040" cy="467280"/>
          </a:xfrm>
          <a:custGeom>
            <a:avLst/>
            <a:gdLst/>
            <a:ahLst/>
            <a:rect l="0" t="0" r="r" b="b"/>
            <a:pathLst>
              <a:path w="3414" h="1298">
                <a:moveTo>
                  <a:pt x="0" y="0"/>
                </a:moveTo>
                <a:lnTo>
                  <a:pt x="3414" y="0"/>
                </a:lnTo>
                <a:lnTo>
                  <a:pt x="341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9" name=""/>
          <p:cNvSpPr/>
          <p:nvPr/>
        </p:nvSpPr>
        <p:spPr>
          <a:xfrm>
            <a:off x="1828440" y="3504960"/>
            <a:ext cx="9773280" cy="467280"/>
          </a:xfrm>
          <a:custGeom>
            <a:avLst/>
            <a:gdLst/>
            <a:ahLst/>
            <a:rect l="0" t="0" r="r" b="b"/>
            <a:pathLst>
              <a:path w="27148" h="1298">
                <a:moveTo>
                  <a:pt x="0" y="0"/>
                </a:moveTo>
                <a:lnTo>
                  <a:pt x="27148" y="0"/>
                </a:lnTo>
                <a:lnTo>
                  <a:pt x="2714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0" name=""/>
          <p:cNvSpPr/>
          <p:nvPr/>
        </p:nvSpPr>
        <p:spPr>
          <a:xfrm>
            <a:off x="590400" y="25714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1" name=""/>
          <p:cNvSpPr/>
          <p:nvPr/>
        </p:nvSpPr>
        <p:spPr>
          <a:xfrm>
            <a:off x="590400" y="2571480"/>
            <a:ext cx="1238400" cy="10080"/>
          </a:xfrm>
          <a:custGeom>
            <a:avLst/>
            <a:gdLst/>
            <a:ahLst/>
            <a:rect l="0" t="0" r="r" b="b"/>
            <a:pathLst>
              <a:path w="3440" h="28">
                <a:moveTo>
                  <a:pt x="0" y="0"/>
                </a:moveTo>
                <a:lnTo>
                  <a:pt x="3440" y="0"/>
                </a:lnTo>
                <a:lnTo>
                  <a:pt x="34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2" name=""/>
          <p:cNvSpPr/>
          <p:nvPr/>
        </p:nvSpPr>
        <p:spPr>
          <a:xfrm>
            <a:off x="1819080" y="25714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3" name=""/>
          <p:cNvSpPr/>
          <p:nvPr/>
        </p:nvSpPr>
        <p:spPr>
          <a:xfrm>
            <a:off x="1828440" y="2571480"/>
            <a:ext cx="9773280" cy="10080"/>
          </a:xfrm>
          <a:custGeom>
            <a:avLst/>
            <a:gdLst/>
            <a:ahLst/>
            <a:rect l="0" t="0" r="r" b="b"/>
            <a:pathLst>
              <a:path w="27148" h="28">
                <a:moveTo>
                  <a:pt x="0" y="0"/>
                </a:moveTo>
                <a:lnTo>
                  <a:pt x="27148" y="0"/>
                </a:lnTo>
                <a:lnTo>
                  <a:pt x="271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4" name=""/>
          <p:cNvSpPr/>
          <p:nvPr/>
        </p:nvSpPr>
        <p:spPr>
          <a:xfrm>
            <a:off x="11591640" y="25714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5" name=""/>
          <p:cNvSpPr/>
          <p:nvPr/>
        </p:nvSpPr>
        <p:spPr>
          <a:xfrm>
            <a:off x="590400" y="3038400"/>
            <a:ext cx="1238400" cy="9720"/>
          </a:xfrm>
          <a:custGeom>
            <a:avLst/>
            <a:gdLst/>
            <a:ahLst/>
            <a:rect l="0" t="0" r="r" b="b"/>
            <a:pathLst>
              <a:path w="3440" h="27">
                <a:moveTo>
                  <a:pt x="0" y="0"/>
                </a:moveTo>
                <a:lnTo>
                  <a:pt x="3440" y="0"/>
                </a:lnTo>
                <a:lnTo>
                  <a:pt x="34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6" name=""/>
          <p:cNvSpPr/>
          <p:nvPr/>
        </p:nvSpPr>
        <p:spPr>
          <a:xfrm>
            <a:off x="1828440" y="3038400"/>
            <a:ext cx="9773280" cy="9720"/>
          </a:xfrm>
          <a:custGeom>
            <a:avLst/>
            <a:gdLst/>
            <a:ahLst/>
            <a:rect l="0" t="0" r="r" b="b"/>
            <a:pathLst>
              <a:path w="27148" h="27">
                <a:moveTo>
                  <a:pt x="0" y="0"/>
                </a:moveTo>
                <a:lnTo>
                  <a:pt x="27148" y="0"/>
                </a:lnTo>
                <a:lnTo>
                  <a:pt x="271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7" name=""/>
          <p:cNvSpPr/>
          <p:nvPr/>
        </p:nvSpPr>
        <p:spPr>
          <a:xfrm>
            <a:off x="590400" y="30477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8" name=""/>
          <p:cNvSpPr/>
          <p:nvPr/>
        </p:nvSpPr>
        <p:spPr>
          <a:xfrm>
            <a:off x="1819080" y="30477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9" name=""/>
          <p:cNvSpPr/>
          <p:nvPr/>
        </p:nvSpPr>
        <p:spPr>
          <a:xfrm>
            <a:off x="11591640" y="30477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0" name=""/>
          <p:cNvSpPr/>
          <p:nvPr/>
        </p:nvSpPr>
        <p:spPr>
          <a:xfrm>
            <a:off x="590400" y="3514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1" name=""/>
          <p:cNvSpPr/>
          <p:nvPr/>
        </p:nvSpPr>
        <p:spPr>
          <a:xfrm>
            <a:off x="590400" y="3504960"/>
            <a:ext cx="1238400" cy="10440"/>
          </a:xfrm>
          <a:custGeom>
            <a:avLst/>
            <a:gdLst/>
            <a:ahLst/>
            <a:rect l="0" t="0" r="r" b="b"/>
            <a:pathLst>
              <a:path w="3440" h="29">
                <a:moveTo>
                  <a:pt x="0" y="0"/>
                </a:moveTo>
                <a:lnTo>
                  <a:pt x="3440" y="0"/>
                </a:lnTo>
                <a:lnTo>
                  <a:pt x="344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2" name=""/>
          <p:cNvSpPr/>
          <p:nvPr/>
        </p:nvSpPr>
        <p:spPr>
          <a:xfrm>
            <a:off x="1819080" y="3514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3" name=""/>
          <p:cNvSpPr/>
          <p:nvPr/>
        </p:nvSpPr>
        <p:spPr>
          <a:xfrm>
            <a:off x="1828440" y="3504960"/>
            <a:ext cx="9773280" cy="10440"/>
          </a:xfrm>
          <a:custGeom>
            <a:avLst/>
            <a:gdLst/>
            <a:ahLst/>
            <a:rect l="0" t="0" r="r" b="b"/>
            <a:pathLst>
              <a:path w="27148" h="29">
                <a:moveTo>
                  <a:pt x="0" y="0"/>
                </a:moveTo>
                <a:lnTo>
                  <a:pt x="27148" y="0"/>
                </a:lnTo>
                <a:lnTo>
                  <a:pt x="27148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4" name=""/>
          <p:cNvSpPr/>
          <p:nvPr/>
        </p:nvSpPr>
        <p:spPr>
          <a:xfrm>
            <a:off x="11591640" y="35146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5" name=""/>
          <p:cNvSpPr/>
          <p:nvPr/>
        </p:nvSpPr>
        <p:spPr>
          <a:xfrm>
            <a:off x="590400" y="3971880"/>
            <a:ext cx="1238400" cy="9720"/>
          </a:xfrm>
          <a:custGeom>
            <a:avLst/>
            <a:gdLst/>
            <a:ahLst/>
            <a:rect l="0" t="0" r="r" b="b"/>
            <a:pathLst>
              <a:path w="3440" h="27">
                <a:moveTo>
                  <a:pt x="0" y="0"/>
                </a:moveTo>
                <a:lnTo>
                  <a:pt x="3440" y="0"/>
                </a:lnTo>
                <a:lnTo>
                  <a:pt x="34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6" name=""/>
          <p:cNvSpPr/>
          <p:nvPr/>
        </p:nvSpPr>
        <p:spPr>
          <a:xfrm>
            <a:off x="1828440" y="3971880"/>
            <a:ext cx="9773280" cy="9720"/>
          </a:xfrm>
          <a:custGeom>
            <a:avLst/>
            <a:gdLst/>
            <a:ahLst/>
            <a:rect l="0" t="0" r="r" b="b"/>
            <a:pathLst>
              <a:path w="27148" h="27">
                <a:moveTo>
                  <a:pt x="0" y="0"/>
                </a:moveTo>
                <a:lnTo>
                  <a:pt x="27148" y="0"/>
                </a:lnTo>
                <a:lnTo>
                  <a:pt x="271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590400" y="1805400"/>
            <a:ext cx="789291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今回は、指示の冒頭だけを変えて比較する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723960" y="26946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条件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1954080" y="269460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モデルに渡す指示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23960" y="316116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変更前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1954080" y="3161160"/>
            <a:ext cx="758158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から偶数だけを残す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723960" y="362772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変更後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1954080" y="3627720"/>
            <a:ext cx="837025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に対して、偶数だけを残す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590400" y="4231440"/>
            <a:ext cx="840668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後半の操作の指示をそろえ、冒頭だけが異なる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を比較。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590400" y="4783680"/>
            <a:ext cx="888651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同じモデルを使い、追加学習せず、同じ入力でコードを検査する。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0" name=""/>
          <p:cNvSpPr/>
          <p:nvPr/>
        </p:nvSpPr>
        <p:spPr>
          <a:xfrm>
            <a:off x="599760" y="2838240"/>
            <a:ext cx="3582000" cy="486000"/>
          </a:xfrm>
          <a:custGeom>
            <a:avLst/>
            <a:gdLst/>
            <a:ahLst/>
            <a:rect l="0" t="0" r="r" b="b"/>
            <a:pathLst>
              <a:path w="9950" h="1350">
                <a:moveTo>
                  <a:pt x="0" y="0"/>
                </a:moveTo>
                <a:lnTo>
                  <a:pt x="9950" y="0"/>
                </a:lnTo>
                <a:lnTo>
                  <a:pt x="9950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1" name=""/>
          <p:cNvSpPr/>
          <p:nvPr/>
        </p:nvSpPr>
        <p:spPr>
          <a:xfrm>
            <a:off x="4181400" y="2838240"/>
            <a:ext cx="4658040" cy="486000"/>
          </a:xfrm>
          <a:custGeom>
            <a:avLst/>
            <a:gdLst/>
            <a:ahLst/>
            <a:rect l="0" t="0" r="r" b="b"/>
            <a:pathLst>
              <a:path w="12939" h="1350">
                <a:moveTo>
                  <a:pt x="0" y="0"/>
                </a:moveTo>
                <a:lnTo>
                  <a:pt x="12939" y="0"/>
                </a:lnTo>
                <a:lnTo>
                  <a:pt x="12939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2" name=""/>
          <p:cNvSpPr/>
          <p:nvPr/>
        </p:nvSpPr>
        <p:spPr>
          <a:xfrm>
            <a:off x="8839080" y="2838240"/>
            <a:ext cx="2762640" cy="486000"/>
          </a:xfrm>
          <a:custGeom>
            <a:avLst/>
            <a:gdLst/>
            <a:ahLst/>
            <a:rect l="0" t="0" r="r" b="b"/>
            <a:pathLst>
              <a:path w="7674" h="1350">
                <a:moveTo>
                  <a:pt x="0" y="0"/>
                </a:moveTo>
                <a:lnTo>
                  <a:pt x="7674" y="0"/>
                </a:lnTo>
                <a:lnTo>
                  <a:pt x="767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3" name=""/>
          <p:cNvSpPr/>
          <p:nvPr/>
        </p:nvSpPr>
        <p:spPr>
          <a:xfrm>
            <a:off x="599760" y="2838240"/>
            <a:ext cx="3582000" cy="486000"/>
          </a:xfrm>
          <a:custGeom>
            <a:avLst/>
            <a:gdLst/>
            <a:ahLst/>
            <a:rect l="0" t="0" r="r" b="b"/>
            <a:pathLst>
              <a:path w="9950" h="1350">
                <a:moveTo>
                  <a:pt x="0" y="0"/>
                </a:moveTo>
                <a:lnTo>
                  <a:pt x="9950" y="0"/>
                </a:lnTo>
                <a:lnTo>
                  <a:pt x="9950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4" name=""/>
          <p:cNvSpPr/>
          <p:nvPr/>
        </p:nvSpPr>
        <p:spPr>
          <a:xfrm>
            <a:off x="4181400" y="2838240"/>
            <a:ext cx="4658040" cy="486000"/>
          </a:xfrm>
          <a:custGeom>
            <a:avLst/>
            <a:gdLst/>
            <a:ahLst/>
            <a:rect l="0" t="0" r="r" b="b"/>
            <a:pathLst>
              <a:path w="12939" h="1350">
                <a:moveTo>
                  <a:pt x="0" y="0"/>
                </a:moveTo>
                <a:lnTo>
                  <a:pt x="12939" y="0"/>
                </a:lnTo>
                <a:lnTo>
                  <a:pt x="12939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5" name=""/>
          <p:cNvSpPr/>
          <p:nvPr/>
        </p:nvSpPr>
        <p:spPr>
          <a:xfrm>
            <a:off x="8839080" y="2838240"/>
            <a:ext cx="2762640" cy="486000"/>
          </a:xfrm>
          <a:custGeom>
            <a:avLst/>
            <a:gdLst/>
            <a:ahLst/>
            <a:rect l="0" t="0" r="r" b="b"/>
            <a:pathLst>
              <a:path w="7674" h="1350">
                <a:moveTo>
                  <a:pt x="0" y="0"/>
                </a:moveTo>
                <a:lnTo>
                  <a:pt x="7674" y="0"/>
                </a:lnTo>
                <a:lnTo>
                  <a:pt x="767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6" name=""/>
          <p:cNvSpPr/>
          <p:nvPr/>
        </p:nvSpPr>
        <p:spPr>
          <a:xfrm>
            <a:off x="599760" y="3323880"/>
            <a:ext cx="3582000" cy="476640"/>
          </a:xfrm>
          <a:custGeom>
            <a:avLst/>
            <a:gdLst/>
            <a:ahLst/>
            <a:rect l="0" t="0" r="r" b="b"/>
            <a:pathLst>
              <a:path w="9950" h="1324">
                <a:moveTo>
                  <a:pt x="0" y="0"/>
                </a:moveTo>
                <a:lnTo>
                  <a:pt x="9950" y="0"/>
                </a:lnTo>
                <a:lnTo>
                  <a:pt x="9950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7" name=""/>
          <p:cNvSpPr/>
          <p:nvPr/>
        </p:nvSpPr>
        <p:spPr>
          <a:xfrm>
            <a:off x="4181400" y="3323880"/>
            <a:ext cx="4658040" cy="476640"/>
          </a:xfrm>
          <a:custGeom>
            <a:avLst/>
            <a:gdLst/>
            <a:ahLst/>
            <a:rect l="0" t="0" r="r" b="b"/>
            <a:pathLst>
              <a:path w="12939" h="1324">
                <a:moveTo>
                  <a:pt x="0" y="0"/>
                </a:moveTo>
                <a:lnTo>
                  <a:pt x="12939" y="0"/>
                </a:lnTo>
                <a:lnTo>
                  <a:pt x="1293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8" name=""/>
          <p:cNvSpPr/>
          <p:nvPr/>
        </p:nvSpPr>
        <p:spPr>
          <a:xfrm>
            <a:off x="8839080" y="3323880"/>
            <a:ext cx="2762640" cy="476640"/>
          </a:xfrm>
          <a:custGeom>
            <a:avLst/>
            <a:gdLst/>
            <a:ahLst/>
            <a:rect l="0" t="0" r="r" b="b"/>
            <a:pathLst>
              <a:path w="7674" h="1324">
                <a:moveTo>
                  <a:pt x="0" y="0"/>
                </a:moveTo>
                <a:lnTo>
                  <a:pt x="7674" y="0"/>
                </a:lnTo>
                <a:lnTo>
                  <a:pt x="767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9" name=""/>
          <p:cNvSpPr/>
          <p:nvPr/>
        </p:nvSpPr>
        <p:spPr>
          <a:xfrm>
            <a:off x="599760" y="3800160"/>
            <a:ext cx="3582000" cy="486360"/>
          </a:xfrm>
          <a:custGeom>
            <a:avLst/>
            <a:gdLst/>
            <a:ahLst/>
            <a:rect l="0" t="0" r="r" b="b"/>
            <a:pathLst>
              <a:path w="9950" h="1351">
                <a:moveTo>
                  <a:pt x="0" y="0"/>
                </a:moveTo>
                <a:lnTo>
                  <a:pt x="9950" y="0"/>
                </a:lnTo>
                <a:lnTo>
                  <a:pt x="9950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0" name=""/>
          <p:cNvSpPr/>
          <p:nvPr/>
        </p:nvSpPr>
        <p:spPr>
          <a:xfrm>
            <a:off x="4181400" y="3800160"/>
            <a:ext cx="4658040" cy="486360"/>
          </a:xfrm>
          <a:custGeom>
            <a:avLst/>
            <a:gdLst/>
            <a:ahLst/>
            <a:rect l="0" t="0" r="r" b="b"/>
            <a:pathLst>
              <a:path w="12939" h="1351">
                <a:moveTo>
                  <a:pt x="0" y="0"/>
                </a:moveTo>
                <a:lnTo>
                  <a:pt x="12939" y="0"/>
                </a:lnTo>
                <a:lnTo>
                  <a:pt x="12939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1" name=""/>
          <p:cNvSpPr/>
          <p:nvPr/>
        </p:nvSpPr>
        <p:spPr>
          <a:xfrm>
            <a:off x="8839080" y="3800160"/>
            <a:ext cx="2762640" cy="486360"/>
          </a:xfrm>
          <a:custGeom>
            <a:avLst/>
            <a:gdLst/>
            <a:ahLst/>
            <a:rect l="0" t="0" r="r" b="b"/>
            <a:pathLst>
              <a:path w="7674" h="1351">
                <a:moveTo>
                  <a:pt x="0" y="0"/>
                </a:moveTo>
                <a:lnTo>
                  <a:pt x="7674" y="0"/>
                </a:lnTo>
                <a:lnTo>
                  <a:pt x="7674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2" name=""/>
          <p:cNvSpPr/>
          <p:nvPr/>
        </p:nvSpPr>
        <p:spPr>
          <a:xfrm>
            <a:off x="590400" y="283824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3" name=""/>
          <p:cNvSpPr/>
          <p:nvPr/>
        </p:nvSpPr>
        <p:spPr>
          <a:xfrm>
            <a:off x="590400" y="283824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4" name=""/>
          <p:cNvSpPr/>
          <p:nvPr/>
        </p:nvSpPr>
        <p:spPr>
          <a:xfrm>
            <a:off x="4171680" y="28382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5" name=""/>
          <p:cNvSpPr/>
          <p:nvPr/>
        </p:nvSpPr>
        <p:spPr>
          <a:xfrm>
            <a:off x="4181400" y="2838240"/>
            <a:ext cx="4667400" cy="10080"/>
          </a:xfrm>
          <a:custGeom>
            <a:avLst/>
            <a:gdLst/>
            <a:ahLst/>
            <a:rect l="0" t="0" r="r" b="b"/>
            <a:pathLst>
              <a:path w="12965" h="28">
                <a:moveTo>
                  <a:pt x="0" y="0"/>
                </a:moveTo>
                <a:lnTo>
                  <a:pt x="12965" y="0"/>
                </a:lnTo>
                <a:lnTo>
                  <a:pt x="129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6" name=""/>
          <p:cNvSpPr/>
          <p:nvPr/>
        </p:nvSpPr>
        <p:spPr>
          <a:xfrm>
            <a:off x="8839080" y="283824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7" name=""/>
          <p:cNvSpPr/>
          <p:nvPr/>
        </p:nvSpPr>
        <p:spPr>
          <a:xfrm>
            <a:off x="8848440" y="283824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8" name=""/>
          <p:cNvSpPr/>
          <p:nvPr/>
        </p:nvSpPr>
        <p:spPr>
          <a:xfrm>
            <a:off x="11591640" y="28382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9" name=""/>
          <p:cNvSpPr/>
          <p:nvPr/>
        </p:nvSpPr>
        <p:spPr>
          <a:xfrm>
            <a:off x="590400" y="3314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0" name=""/>
          <p:cNvSpPr/>
          <p:nvPr/>
        </p:nvSpPr>
        <p:spPr>
          <a:xfrm>
            <a:off x="4181400" y="3314520"/>
            <a:ext cx="4667400" cy="9720"/>
          </a:xfrm>
          <a:custGeom>
            <a:avLst/>
            <a:gdLst/>
            <a:ahLst/>
            <a:rect l="0" t="0" r="r" b="b"/>
            <a:pathLst>
              <a:path w="12965" h="27">
                <a:moveTo>
                  <a:pt x="0" y="0"/>
                </a:moveTo>
                <a:lnTo>
                  <a:pt x="12965" y="0"/>
                </a:lnTo>
                <a:lnTo>
                  <a:pt x="129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1" name=""/>
          <p:cNvSpPr/>
          <p:nvPr/>
        </p:nvSpPr>
        <p:spPr>
          <a:xfrm>
            <a:off x="8848440" y="331452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2" name=""/>
          <p:cNvSpPr/>
          <p:nvPr/>
        </p:nvSpPr>
        <p:spPr>
          <a:xfrm>
            <a:off x="590400" y="332388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3" name=""/>
          <p:cNvSpPr/>
          <p:nvPr/>
        </p:nvSpPr>
        <p:spPr>
          <a:xfrm>
            <a:off x="4171680" y="332388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4" name=""/>
          <p:cNvSpPr/>
          <p:nvPr/>
        </p:nvSpPr>
        <p:spPr>
          <a:xfrm>
            <a:off x="8839080" y="332388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5" name=""/>
          <p:cNvSpPr/>
          <p:nvPr/>
        </p:nvSpPr>
        <p:spPr>
          <a:xfrm>
            <a:off x="11591640" y="332388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6" name=""/>
          <p:cNvSpPr/>
          <p:nvPr/>
        </p:nvSpPr>
        <p:spPr>
          <a:xfrm>
            <a:off x="590400" y="3809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7" name=""/>
          <p:cNvSpPr/>
          <p:nvPr/>
        </p:nvSpPr>
        <p:spPr>
          <a:xfrm>
            <a:off x="590400" y="380016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8" name=""/>
          <p:cNvSpPr/>
          <p:nvPr/>
        </p:nvSpPr>
        <p:spPr>
          <a:xfrm>
            <a:off x="4171680" y="3809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9" name=""/>
          <p:cNvSpPr/>
          <p:nvPr/>
        </p:nvSpPr>
        <p:spPr>
          <a:xfrm>
            <a:off x="4181400" y="3800160"/>
            <a:ext cx="4667400" cy="10080"/>
          </a:xfrm>
          <a:custGeom>
            <a:avLst/>
            <a:gdLst/>
            <a:ahLst/>
            <a:rect l="0" t="0" r="r" b="b"/>
            <a:pathLst>
              <a:path w="12965" h="28">
                <a:moveTo>
                  <a:pt x="0" y="0"/>
                </a:moveTo>
                <a:lnTo>
                  <a:pt x="12965" y="0"/>
                </a:lnTo>
                <a:lnTo>
                  <a:pt x="129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0" name=""/>
          <p:cNvSpPr/>
          <p:nvPr/>
        </p:nvSpPr>
        <p:spPr>
          <a:xfrm>
            <a:off x="8839080" y="3809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1" name=""/>
          <p:cNvSpPr/>
          <p:nvPr/>
        </p:nvSpPr>
        <p:spPr>
          <a:xfrm>
            <a:off x="8848440" y="380016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2" name=""/>
          <p:cNvSpPr/>
          <p:nvPr/>
        </p:nvSpPr>
        <p:spPr>
          <a:xfrm>
            <a:off x="11591640" y="3809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3" name=""/>
          <p:cNvSpPr/>
          <p:nvPr/>
        </p:nvSpPr>
        <p:spPr>
          <a:xfrm>
            <a:off x="590400" y="427644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4" name=""/>
          <p:cNvSpPr/>
          <p:nvPr/>
        </p:nvSpPr>
        <p:spPr>
          <a:xfrm>
            <a:off x="4181400" y="4276440"/>
            <a:ext cx="4667400" cy="10080"/>
          </a:xfrm>
          <a:custGeom>
            <a:avLst/>
            <a:gdLst/>
            <a:ahLst/>
            <a:rect l="0" t="0" r="r" b="b"/>
            <a:pathLst>
              <a:path w="12965" h="28">
                <a:moveTo>
                  <a:pt x="0" y="0"/>
                </a:moveTo>
                <a:lnTo>
                  <a:pt x="12965" y="0"/>
                </a:lnTo>
                <a:lnTo>
                  <a:pt x="129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5" name=""/>
          <p:cNvSpPr/>
          <p:nvPr/>
        </p:nvSpPr>
        <p:spPr>
          <a:xfrm>
            <a:off x="8848440" y="427644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590400" y="1500840"/>
            <a:ext cx="819637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モデルでは、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件の合格が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件に減った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590400" y="2316960"/>
            <a:ext cx="600465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。比較した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操作の合格数。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723960" y="2962440"/>
            <a:ext cx="136785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指示の冒頭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4307400" y="2962440"/>
            <a:ext cx="191475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合格数を表す図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8968680" y="2962440"/>
            <a:ext cx="191475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合格数・合格率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723960" y="3438360"/>
            <a:ext cx="220827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から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4307400" y="3438360"/>
            <a:ext cx="382867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■■■■■■■■■■■■□□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8968680" y="3438360"/>
            <a:ext cx="223394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85.7%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723960" y="3924360"/>
            <a:ext cx="302841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に対して、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4307400" y="3924360"/>
            <a:ext cx="382867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■□□□□□□□□□□□□□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8968680" y="3924360"/>
            <a:ext cx="185679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/ 14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7.1%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590400" y="4536360"/>
            <a:ext cx="779479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■は合格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件、□は不合格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件。左から合格数を並べた図。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590400" y="5098320"/>
            <a:ext cx="799806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冒頭を変えただけで、ほとんど正しく生成できなくなった。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3" name=""/>
          <p:cNvSpPr/>
          <p:nvPr/>
        </p:nvSpPr>
        <p:spPr>
          <a:xfrm>
            <a:off x="599760" y="2904840"/>
            <a:ext cx="1800720" cy="467280"/>
          </a:xfrm>
          <a:custGeom>
            <a:avLst/>
            <a:gdLst/>
            <a:ahLst/>
            <a:rect l="0" t="0" r="r" b="b"/>
            <a:pathLst>
              <a:path w="5002" h="1298">
                <a:moveTo>
                  <a:pt x="0" y="0"/>
                </a:moveTo>
                <a:lnTo>
                  <a:pt x="5002" y="0"/>
                </a:lnTo>
                <a:lnTo>
                  <a:pt x="500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4" name=""/>
          <p:cNvSpPr/>
          <p:nvPr/>
        </p:nvSpPr>
        <p:spPr>
          <a:xfrm>
            <a:off x="2400120" y="2904840"/>
            <a:ext cx="3667320" cy="467280"/>
          </a:xfrm>
          <a:custGeom>
            <a:avLst/>
            <a:gdLst/>
            <a:ahLst/>
            <a:rect l="0" t="0" r="r" b="b"/>
            <a:pathLst>
              <a:path w="10187" h="1298">
                <a:moveTo>
                  <a:pt x="0" y="0"/>
                </a:moveTo>
                <a:lnTo>
                  <a:pt x="10187" y="0"/>
                </a:lnTo>
                <a:lnTo>
                  <a:pt x="1018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5" name=""/>
          <p:cNvSpPr/>
          <p:nvPr/>
        </p:nvSpPr>
        <p:spPr>
          <a:xfrm>
            <a:off x="6067080" y="2904840"/>
            <a:ext cx="5534640" cy="467280"/>
          </a:xfrm>
          <a:custGeom>
            <a:avLst/>
            <a:gdLst/>
            <a:ahLst/>
            <a:rect l="0" t="0" r="r" b="b"/>
            <a:pathLst>
              <a:path w="15374" h="1298">
                <a:moveTo>
                  <a:pt x="0" y="0"/>
                </a:moveTo>
                <a:lnTo>
                  <a:pt x="15374" y="0"/>
                </a:lnTo>
                <a:lnTo>
                  <a:pt x="1537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6" name=""/>
          <p:cNvSpPr/>
          <p:nvPr/>
        </p:nvSpPr>
        <p:spPr>
          <a:xfrm>
            <a:off x="599760" y="2904840"/>
            <a:ext cx="1800720" cy="467280"/>
          </a:xfrm>
          <a:custGeom>
            <a:avLst/>
            <a:gdLst/>
            <a:ahLst/>
            <a:rect l="0" t="0" r="r" b="b"/>
            <a:pathLst>
              <a:path w="5002" h="1298">
                <a:moveTo>
                  <a:pt x="0" y="0"/>
                </a:moveTo>
                <a:lnTo>
                  <a:pt x="5002" y="0"/>
                </a:lnTo>
                <a:lnTo>
                  <a:pt x="500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7" name=""/>
          <p:cNvSpPr/>
          <p:nvPr/>
        </p:nvSpPr>
        <p:spPr>
          <a:xfrm>
            <a:off x="2400120" y="2904840"/>
            <a:ext cx="3667320" cy="467280"/>
          </a:xfrm>
          <a:custGeom>
            <a:avLst/>
            <a:gdLst/>
            <a:ahLst/>
            <a:rect l="0" t="0" r="r" b="b"/>
            <a:pathLst>
              <a:path w="10187" h="1298">
                <a:moveTo>
                  <a:pt x="0" y="0"/>
                </a:moveTo>
                <a:lnTo>
                  <a:pt x="10187" y="0"/>
                </a:lnTo>
                <a:lnTo>
                  <a:pt x="1018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8" name=""/>
          <p:cNvSpPr/>
          <p:nvPr/>
        </p:nvSpPr>
        <p:spPr>
          <a:xfrm>
            <a:off x="6067080" y="2904840"/>
            <a:ext cx="5534640" cy="467280"/>
          </a:xfrm>
          <a:custGeom>
            <a:avLst/>
            <a:gdLst/>
            <a:ahLst/>
            <a:rect l="0" t="0" r="r" b="b"/>
            <a:pathLst>
              <a:path w="15374" h="1298">
                <a:moveTo>
                  <a:pt x="0" y="0"/>
                </a:moveTo>
                <a:lnTo>
                  <a:pt x="15374" y="0"/>
                </a:lnTo>
                <a:lnTo>
                  <a:pt x="1537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9" name=""/>
          <p:cNvSpPr/>
          <p:nvPr/>
        </p:nvSpPr>
        <p:spPr>
          <a:xfrm>
            <a:off x="599760" y="3371760"/>
            <a:ext cx="1800720" cy="466920"/>
          </a:xfrm>
          <a:custGeom>
            <a:avLst/>
            <a:gdLst/>
            <a:ahLst/>
            <a:rect l="0" t="0" r="r" b="b"/>
            <a:pathLst>
              <a:path w="5002" h="1297">
                <a:moveTo>
                  <a:pt x="0" y="0"/>
                </a:moveTo>
                <a:lnTo>
                  <a:pt x="5002" y="0"/>
                </a:lnTo>
                <a:lnTo>
                  <a:pt x="500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0" name=""/>
          <p:cNvSpPr/>
          <p:nvPr/>
        </p:nvSpPr>
        <p:spPr>
          <a:xfrm>
            <a:off x="2400120" y="3371760"/>
            <a:ext cx="3667320" cy="466920"/>
          </a:xfrm>
          <a:custGeom>
            <a:avLst/>
            <a:gdLst/>
            <a:ahLst/>
            <a:rect l="0" t="0" r="r" b="b"/>
            <a:pathLst>
              <a:path w="10187" h="1297">
                <a:moveTo>
                  <a:pt x="0" y="0"/>
                </a:moveTo>
                <a:lnTo>
                  <a:pt x="10187" y="0"/>
                </a:lnTo>
                <a:lnTo>
                  <a:pt x="1018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1" name=""/>
          <p:cNvSpPr/>
          <p:nvPr/>
        </p:nvSpPr>
        <p:spPr>
          <a:xfrm>
            <a:off x="6067080" y="3371760"/>
            <a:ext cx="5534640" cy="466920"/>
          </a:xfrm>
          <a:custGeom>
            <a:avLst/>
            <a:gdLst/>
            <a:ahLst/>
            <a:rect l="0" t="0" r="r" b="b"/>
            <a:pathLst>
              <a:path w="15374" h="1297">
                <a:moveTo>
                  <a:pt x="0" y="0"/>
                </a:moveTo>
                <a:lnTo>
                  <a:pt x="15374" y="0"/>
                </a:lnTo>
                <a:lnTo>
                  <a:pt x="1537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2" name=""/>
          <p:cNvSpPr/>
          <p:nvPr/>
        </p:nvSpPr>
        <p:spPr>
          <a:xfrm>
            <a:off x="599760" y="3838320"/>
            <a:ext cx="1800720" cy="467280"/>
          </a:xfrm>
          <a:custGeom>
            <a:avLst/>
            <a:gdLst/>
            <a:ahLst/>
            <a:rect l="0" t="0" r="r" b="b"/>
            <a:pathLst>
              <a:path w="5002" h="1298">
                <a:moveTo>
                  <a:pt x="0" y="0"/>
                </a:moveTo>
                <a:lnTo>
                  <a:pt x="5002" y="0"/>
                </a:lnTo>
                <a:lnTo>
                  <a:pt x="500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3" name=""/>
          <p:cNvSpPr/>
          <p:nvPr/>
        </p:nvSpPr>
        <p:spPr>
          <a:xfrm>
            <a:off x="2400120" y="3838320"/>
            <a:ext cx="3667320" cy="467280"/>
          </a:xfrm>
          <a:custGeom>
            <a:avLst/>
            <a:gdLst/>
            <a:ahLst/>
            <a:rect l="0" t="0" r="r" b="b"/>
            <a:pathLst>
              <a:path w="10187" h="1298">
                <a:moveTo>
                  <a:pt x="0" y="0"/>
                </a:moveTo>
                <a:lnTo>
                  <a:pt x="10187" y="0"/>
                </a:lnTo>
                <a:lnTo>
                  <a:pt x="1018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4" name=""/>
          <p:cNvSpPr/>
          <p:nvPr/>
        </p:nvSpPr>
        <p:spPr>
          <a:xfrm>
            <a:off x="6067080" y="3838320"/>
            <a:ext cx="5534640" cy="467280"/>
          </a:xfrm>
          <a:custGeom>
            <a:avLst/>
            <a:gdLst/>
            <a:ahLst/>
            <a:rect l="0" t="0" r="r" b="b"/>
            <a:pathLst>
              <a:path w="15374" h="1298">
                <a:moveTo>
                  <a:pt x="0" y="0"/>
                </a:moveTo>
                <a:lnTo>
                  <a:pt x="15374" y="0"/>
                </a:lnTo>
                <a:lnTo>
                  <a:pt x="1537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5" name=""/>
          <p:cNvSpPr/>
          <p:nvPr/>
        </p:nvSpPr>
        <p:spPr>
          <a:xfrm>
            <a:off x="599760" y="4305240"/>
            <a:ext cx="1800720" cy="466920"/>
          </a:xfrm>
          <a:custGeom>
            <a:avLst/>
            <a:gdLst/>
            <a:ahLst/>
            <a:rect l="0" t="0" r="r" b="b"/>
            <a:pathLst>
              <a:path w="5002" h="1297">
                <a:moveTo>
                  <a:pt x="0" y="0"/>
                </a:moveTo>
                <a:lnTo>
                  <a:pt x="5002" y="0"/>
                </a:lnTo>
                <a:lnTo>
                  <a:pt x="500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6" name=""/>
          <p:cNvSpPr/>
          <p:nvPr/>
        </p:nvSpPr>
        <p:spPr>
          <a:xfrm>
            <a:off x="2400120" y="4305240"/>
            <a:ext cx="3667320" cy="466920"/>
          </a:xfrm>
          <a:custGeom>
            <a:avLst/>
            <a:gdLst/>
            <a:ahLst/>
            <a:rect l="0" t="0" r="r" b="b"/>
            <a:pathLst>
              <a:path w="10187" h="1297">
                <a:moveTo>
                  <a:pt x="0" y="0"/>
                </a:moveTo>
                <a:lnTo>
                  <a:pt x="10187" y="0"/>
                </a:lnTo>
                <a:lnTo>
                  <a:pt x="1018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7" name=""/>
          <p:cNvSpPr/>
          <p:nvPr/>
        </p:nvSpPr>
        <p:spPr>
          <a:xfrm>
            <a:off x="6067080" y="4305240"/>
            <a:ext cx="5534640" cy="466920"/>
          </a:xfrm>
          <a:custGeom>
            <a:avLst/>
            <a:gdLst/>
            <a:ahLst/>
            <a:rect l="0" t="0" r="r" b="b"/>
            <a:pathLst>
              <a:path w="15374" h="1297">
                <a:moveTo>
                  <a:pt x="0" y="0"/>
                </a:moveTo>
                <a:lnTo>
                  <a:pt x="15374" y="0"/>
                </a:lnTo>
                <a:lnTo>
                  <a:pt x="1537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8" name=""/>
          <p:cNvSpPr/>
          <p:nvPr/>
        </p:nvSpPr>
        <p:spPr>
          <a:xfrm>
            <a:off x="590400" y="29048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9" name=""/>
          <p:cNvSpPr/>
          <p:nvPr/>
        </p:nvSpPr>
        <p:spPr>
          <a:xfrm>
            <a:off x="590400" y="290484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0" name=""/>
          <p:cNvSpPr/>
          <p:nvPr/>
        </p:nvSpPr>
        <p:spPr>
          <a:xfrm>
            <a:off x="2390760" y="29048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1" name=""/>
          <p:cNvSpPr/>
          <p:nvPr/>
        </p:nvSpPr>
        <p:spPr>
          <a:xfrm>
            <a:off x="2400120" y="290484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2" name=""/>
          <p:cNvSpPr/>
          <p:nvPr/>
        </p:nvSpPr>
        <p:spPr>
          <a:xfrm>
            <a:off x="6067080" y="29048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3" name=""/>
          <p:cNvSpPr/>
          <p:nvPr/>
        </p:nvSpPr>
        <p:spPr>
          <a:xfrm>
            <a:off x="6076800" y="2904840"/>
            <a:ext cx="5524920" cy="10080"/>
          </a:xfrm>
          <a:custGeom>
            <a:avLst/>
            <a:gdLst/>
            <a:ahLst/>
            <a:rect l="0" t="0" r="r" b="b"/>
            <a:pathLst>
              <a:path w="15347" h="28">
                <a:moveTo>
                  <a:pt x="0" y="0"/>
                </a:moveTo>
                <a:lnTo>
                  <a:pt x="15347" y="0"/>
                </a:lnTo>
                <a:lnTo>
                  <a:pt x="153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4" name=""/>
          <p:cNvSpPr/>
          <p:nvPr/>
        </p:nvSpPr>
        <p:spPr>
          <a:xfrm>
            <a:off x="11591640" y="29048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5" name=""/>
          <p:cNvSpPr/>
          <p:nvPr/>
        </p:nvSpPr>
        <p:spPr>
          <a:xfrm>
            <a:off x="590400" y="33717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6" name=""/>
          <p:cNvSpPr/>
          <p:nvPr/>
        </p:nvSpPr>
        <p:spPr>
          <a:xfrm>
            <a:off x="2400120" y="337176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7" name=""/>
          <p:cNvSpPr/>
          <p:nvPr/>
        </p:nvSpPr>
        <p:spPr>
          <a:xfrm>
            <a:off x="6076800" y="3371760"/>
            <a:ext cx="5524920" cy="9720"/>
          </a:xfrm>
          <a:custGeom>
            <a:avLst/>
            <a:gdLst/>
            <a:ahLst/>
            <a:rect l="0" t="0" r="r" b="b"/>
            <a:pathLst>
              <a:path w="15347" h="27">
                <a:moveTo>
                  <a:pt x="0" y="0"/>
                </a:moveTo>
                <a:lnTo>
                  <a:pt x="15347" y="0"/>
                </a:lnTo>
                <a:lnTo>
                  <a:pt x="153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8" name=""/>
          <p:cNvSpPr/>
          <p:nvPr/>
        </p:nvSpPr>
        <p:spPr>
          <a:xfrm>
            <a:off x="590400" y="33811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9" name=""/>
          <p:cNvSpPr/>
          <p:nvPr/>
        </p:nvSpPr>
        <p:spPr>
          <a:xfrm>
            <a:off x="2390760" y="33811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0" name=""/>
          <p:cNvSpPr/>
          <p:nvPr/>
        </p:nvSpPr>
        <p:spPr>
          <a:xfrm>
            <a:off x="6067080" y="33811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1" name=""/>
          <p:cNvSpPr/>
          <p:nvPr/>
        </p:nvSpPr>
        <p:spPr>
          <a:xfrm>
            <a:off x="11591640" y="33811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2" name=""/>
          <p:cNvSpPr/>
          <p:nvPr/>
        </p:nvSpPr>
        <p:spPr>
          <a:xfrm>
            <a:off x="590400" y="38480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3" name=""/>
          <p:cNvSpPr/>
          <p:nvPr/>
        </p:nvSpPr>
        <p:spPr>
          <a:xfrm>
            <a:off x="590400" y="383832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4" name=""/>
          <p:cNvSpPr/>
          <p:nvPr/>
        </p:nvSpPr>
        <p:spPr>
          <a:xfrm>
            <a:off x="2390760" y="38480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5" name=""/>
          <p:cNvSpPr/>
          <p:nvPr/>
        </p:nvSpPr>
        <p:spPr>
          <a:xfrm>
            <a:off x="2400120" y="383832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6" name=""/>
          <p:cNvSpPr/>
          <p:nvPr/>
        </p:nvSpPr>
        <p:spPr>
          <a:xfrm>
            <a:off x="6067080" y="38480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7" name=""/>
          <p:cNvSpPr/>
          <p:nvPr/>
        </p:nvSpPr>
        <p:spPr>
          <a:xfrm>
            <a:off x="6076800" y="3838320"/>
            <a:ext cx="5524920" cy="10080"/>
          </a:xfrm>
          <a:custGeom>
            <a:avLst/>
            <a:gdLst/>
            <a:ahLst/>
            <a:rect l="0" t="0" r="r" b="b"/>
            <a:pathLst>
              <a:path w="15347" h="28">
                <a:moveTo>
                  <a:pt x="0" y="0"/>
                </a:moveTo>
                <a:lnTo>
                  <a:pt x="15347" y="0"/>
                </a:lnTo>
                <a:lnTo>
                  <a:pt x="153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8" name=""/>
          <p:cNvSpPr/>
          <p:nvPr/>
        </p:nvSpPr>
        <p:spPr>
          <a:xfrm>
            <a:off x="11591640" y="38480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9" name=""/>
          <p:cNvSpPr/>
          <p:nvPr/>
        </p:nvSpPr>
        <p:spPr>
          <a:xfrm>
            <a:off x="590400" y="43146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0" name=""/>
          <p:cNvSpPr/>
          <p:nvPr/>
        </p:nvSpPr>
        <p:spPr>
          <a:xfrm>
            <a:off x="590400" y="430524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1" name=""/>
          <p:cNvSpPr/>
          <p:nvPr/>
        </p:nvSpPr>
        <p:spPr>
          <a:xfrm>
            <a:off x="2390760" y="43146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2" name=""/>
          <p:cNvSpPr/>
          <p:nvPr/>
        </p:nvSpPr>
        <p:spPr>
          <a:xfrm>
            <a:off x="2400120" y="430524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3" name=""/>
          <p:cNvSpPr/>
          <p:nvPr/>
        </p:nvSpPr>
        <p:spPr>
          <a:xfrm>
            <a:off x="6067080" y="43146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4" name=""/>
          <p:cNvSpPr/>
          <p:nvPr/>
        </p:nvSpPr>
        <p:spPr>
          <a:xfrm>
            <a:off x="6076800" y="4305240"/>
            <a:ext cx="5524920" cy="9720"/>
          </a:xfrm>
          <a:custGeom>
            <a:avLst/>
            <a:gdLst/>
            <a:ahLst/>
            <a:rect l="0" t="0" r="r" b="b"/>
            <a:pathLst>
              <a:path w="15347" h="27">
                <a:moveTo>
                  <a:pt x="0" y="0"/>
                </a:moveTo>
                <a:lnTo>
                  <a:pt x="15347" y="0"/>
                </a:lnTo>
                <a:lnTo>
                  <a:pt x="153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5" name=""/>
          <p:cNvSpPr/>
          <p:nvPr/>
        </p:nvSpPr>
        <p:spPr>
          <a:xfrm>
            <a:off x="11591640" y="43146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6" name=""/>
          <p:cNvSpPr/>
          <p:nvPr/>
        </p:nvSpPr>
        <p:spPr>
          <a:xfrm>
            <a:off x="590400" y="477180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7" name=""/>
          <p:cNvSpPr/>
          <p:nvPr/>
        </p:nvSpPr>
        <p:spPr>
          <a:xfrm>
            <a:off x="2400120" y="477180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8" name=""/>
          <p:cNvSpPr/>
          <p:nvPr/>
        </p:nvSpPr>
        <p:spPr>
          <a:xfrm>
            <a:off x="6076800" y="4771800"/>
            <a:ext cx="5524920" cy="10080"/>
          </a:xfrm>
          <a:custGeom>
            <a:avLst/>
            <a:gdLst/>
            <a:ahLst/>
            <a:rect l="0" t="0" r="r" b="b"/>
            <a:pathLst>
              <a:path w="15347" h="28">
                <a:moveTo>
                  <a:pt x="0" y="0"/>
                </a:moveTo>
                <a:lnTo>
                  <a:pt x="15347" y="0"/>
                </a:lnTo>
                <a:lnTo>
                  <a:pt x="153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590400" y="1567440"/>
            <a:ext cx="789291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失敗例：偶数を残す指示を別の処理にした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90400" y="238356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変更後の指示：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に対して、偶数だけを残す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2528280" y="302796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指示どおりの処理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197040" y="3027960"/>
            <a:ext cx="262972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変更後に生成した処理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723960" y="349452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2528280" y="349452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6197040" y="3494520"/>
            <a:ext cx="38323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順序を反転し、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以上の値を残す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6" name=""/>
          <p:cNvSpPr/>
          <p:nvPr/>
        </p:nvSpPr>
        <p:spPr>
          <a:xfrm>
            <a:off x="2523960" y="3933720"/>
            <a:ext cx="1133640" cy="314640"/>
          </a:xfrm>
          <a:custGeom>
            <a:avLst/>
            <a:gdLst/>
            <a:ahLst/>
            <a:rect l="0" t="0" r="r" b="b"/>
            <a:pathLst>
              <a:path w="3149" h="874">
                <a:moveTo>
                  <a:pt x="0" y="71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991" y="0"/>
                </a:lnTo>
                <a:cubicBezTo>
                  <a:pt x="3001" y="0"/>
                  <a:pt x="3011" y="1"/>
                  <a:pt x="3022" y="3"/>
                </a:cubicBezTo>
                <a:cubicBezTo>
                  <a:pt x="3032" y="5"/>
                  <a:pt x="3042" y="8"/>
                  <a:pt x="3052" y="12"/>
                </a:cubicBezTo>
                <a:cubicBezTo>
                  <a:pt x="3061" y="16"/>
                  <a:pt x="3070" y="21"/>
                  <a:pt x="3079" y="27"/>
                </a:cubicBezTo>
                <a:cubicBezTo>
                  <a:pt x="3088" y="32"/>
                  <a:pt x="3096" y="39"/>
                  <a:pt x="3103" y="46"/>
                </a:cubicBezTo>
                <a:cubicBezTo>
                  <a:pt x="3110" y="54"/>
                  <a:pt x="3117" y="62"/>
                  <a:pt x="3123" y="70"/>
                </a:cubicBezTo>
                <a:cubicBezTo>
                  <a:pt x="3129" y="79"/>
                  <a:pt x="3133" y="88"/>
                  <a:pt x="3137" y="98"/>
                </a:cubicBezTo>
                <a:cubicBezTo>
                  <a:pt x="3141" y="107"/>
                  <a:pt x="3144" y="117"/>
                  <a:pt x="3146" y="128"/>
                </a:cubicBezTo>
                <a:cubicBezTo>
                  <a:pt x="3148" y="138"/>
                  <a:pt x="3149" y="148"/>
                  <a:pt x="3149" y="159"/>
                </a:cubicBezTo>
                <a:lnTo>
                  <a:pt x="3149" y="714"/>
                </a:lnTo>
                <a:cubicBezTo>
                  <a:pt x="3149" y="725"/>
                  <a:pt x="3148" y="735"/>
                  <a:pt x="3146" y="745"/>
                </a:cubicBezTo>
                <a:cubicBezTo>
                  <a:pt x="3144" y="755"/>
                  <a:pt x="3141" y="765"/>
                  <a:pt x="3137" y="775"/>
                </a:cubicBezTo>
                <a:cubicBezTo>
                  <a:pt x="3133" y="785"/>
                  <a:pt x="3129" y="794"/>
                  <a:pt x="3123" y="802"/>
                </a:cubicBezTo>
                <a:cubicBezTo>
                  <a:pt x="3117" y="811"/>
                  <a:pt x="3110" y="819"/>
                  <a:pt x="3103" y="826"/>
                </a:cubicBezTo>
                <a:cubicBezTo>
                  <a:pt x="3096" y="834"/>
                  <a:pt x="3088" y="840"/>
                  <a:pt x="3079" y="846"/>
                </a:cubicBezTo>
                <a:cubicBezTo>
                  <a:pt x="3070" y="852"/>
                  <a:pt x="3061" y="857"/>
                  <a:pt x="3051" y="862"/>
                </a:cubicBezTo>
                <a:cubicBezTo>
                  <a:pt x="3042" y="866"/>
                  <a:pt x="3032" y="869"/>
                  <a:pt x="3022" y="871"/>
                </a:cubicBezTo>
                <a:cubicBezTo>
                  <a:pt x="3011" y="873"/>
                  <a:pt x="3001" y="874"/>
                  <a:pt x="2991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7"/>
                  <a:pt x="79" y="852"/>
                  <a:pt x="71" y="846"/>
                </a:cubicBezTo>
                <a:cubicBezTo>
                  <a:pt x="62" y="840"/>
                  <a:pt x="54" y="834"/>
                  <a:pt x="46" y="826"/>
                </a:cubicBezTo>
                <a:cubicBezTo>
                  <a:pt x="39" y="819"/>
                  <a:pt x="33" y="811"/>
                  <a:pt x="27" y="802"/>
                </a:cubicBezTo>
                <a:cubicBezTo>
                  <a:pt x="21" y="794"/>
                  <a:pt x="16" y="785"/>
                  <a:pt x="12" y="775"/>
                </a:cubicBezTo>
                <a:cubicBezTo>
                  <a:pt x="8" y="765"/>
                  <a:pt x="5" y="755"/>
                  <a:pt x="3" y="745"/>
                </a:cubicBezTo>
                <a:cubicBezTo>
                  <a:pt x="1" y="735"/>
                  <a:pt x="0" y="725"/>
                  <a:pt x="0" y="714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723960" y="3961080"/>
            <a:ext cx="10523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検査入力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8" name=""/>
          <p:cNvSpPr txBox="1"/>
          <p:nvPr/>
        </p:nvSpPr>
        <p:spPr>
          <a:xfrm>
            <a:off x="2608560" y="3978000"/>
            <a:ext cx="1114902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xs = [0]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9" name=""/>
          <p:cNvSpPr/>
          <p:nvPr/>
        </p:nvSpPr>
        <p:spPr>
          <a:xfrm>
            <a:off x="3885840" y="3933720"/>
            <a:ext cx="772200" cy="314640"/>
          </a:xfrm>
          <a:custGeom>
            <a:avLst/>
            <a:gdLst/>
            <a:ahLst/>
            <a:rect l="0" t="0" r="r" b="b"/>
            <a:pathLst>
              <a:path w="2145" h="874">
                <a:moveTo>
                  <a:pt x="0" y="714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986" y="0"/>
                </a:lnTo>
                <a:cubicBezTo>
                  <a:pt x="1996" y="0"/>
                  <a:pt x="2007" y="1"/>
                  <a:pt x="2017" y="3"/>
                </a:cubicBezTo>
                <a:cubicBezTo>
                  <a:pt x="2027" y="5"/>
                  <a:pt x="2037" y="8"/>
                  <a:pt x="2047" y="12"/>
                </a:cubicBezTo>
                <a:cubicBezTo>
                  <a:pt x="2056" y="16"/>
                  <a:pt x="2065" y="21"/>
                  <a:pt x="2074" y="27"/>
                </a:cubicBezTo>
                <a:cubicBezTo>
                  <a:pt x="2083" y="32"/>
                  <a:pt x="2091" y="39"/>
                  <a:pt x="2098" y="46"/>
                </a:cubicBezTo>
                <a:cubicBezTo>
                  <a:pt x="2105" y="54"/>
                  <a:pt x="2112" y="62"/>
                  <a:pt x="2118" y="70"/>
                </a:cubicBezTo>
                <a:cubicBezTo>
                  <a:pt x="2124" y="79"/>
                  <a:pt x="2129" y="88"/>
                  <a:pt x="2133" y="98"/>
                </a:cubicBezTo>
                <a:cubicBezTo>
                  <a:pt x="2137" y="107"/>
                  <a:pt x="2140" y="117"/>
                  <a:pt x="2142" y="128"/>
                </a:cubicBezTo>
                <a:cubicBezTo>
                  <a:pt x="2144" y="138"/>
                  <a:pt x="2145" y="148"/>
                  <a:pt x="2145" y="159"/>
                </a:cubicBezTo>
                <a:lnTo>
                  <a:pt x="2145" y="714"/>
                </a:lnTo>
                <a:cubicBezTo>
                  <a:pt x="2145" y="725"/>
                  <a:pt x="2144" y="735"/>
                  <a:pt x="2142" y="745"/>
                </a:cubicBezTo>
                <a:cubicBezTo>
                  <a:pt x="2140" y="755"/>
                  <a:pt x="2137" y="765"/>
                  <a:pt x="2133" y="775"/>
                </a:cubicBezTo>
                <a:cubicBezTo>
                  <a:pt x="2129" y="785"/>
                  <a:pt x="2124" y="794"/>
                  <a:pt x="2118" y="802"/>
                </a:cubicBezTo>
                <a:cubicBezTo>
                  <a:pt x="2112" y="811"/>
                  <a:pt x="2105" y="819"/>
                  <a:pt x="2098" y="826"/>
                </a:cubicBezTo>
                <a:cubicBezTo>
                  <a:pt x="2091" y="834"/>
                  <a:pt x="2083" y="840"/>
                  <a:pt x="2074" y="846"/>
                </a:cubicBezTo>
                <a:cubicBezTo>
                  <a:pt x="2065" y="852"/>
                  <a:pt x="2056" y="857"/>
                  <a:pt x="2047" y="862"/>
                </a:cubicBezTo>
                <a:cubicBezTo>
                  <a:pt x="2037" y="866"/>
                  <a:pt x="2027" y="869"/>
                  <a:pt x="2017" y="871"/>
                </a:cubicBezTo>
                <a:cubicBezTo>
                  <a:pt x="2007" y="873"/>
                  <a:pt x="1996" y="874"/>
                  <a:pt x="1986" y="874"/>
                </a:cubicBezTo>
                <a:lnTo>
                  <a:pt x="159" y="874"/>
                </a:lnTo>
                <a:cubicBezTo>
                  <a:pt x="149" y="874"/>
                  <a:pt x="139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9" y="857"/>
                  <a:pt x="80" y="852"/>
                  <a:pt x="71" y="846"/>
                </a:cubicBezTo>
                <a:cubicBezTo>
                  <a:pt x="62" y="840"/>
                  <a:pt x="54" y="834"/>
                  <a:pt x="47" y="826"/>
                </a:cubicBezTo>
                <a:cubicBezTo>
                  <a:pt x="40" y="819"/>
                  <a:pt x="33" y="811"/>
                  <a:pt x="27" y="802"/>
                </a:cubicBezTo>
                <a:cubicBezTo>
                  <a:pt x="21" y="794"/>
                  <a:pt x="17" y="785"/>
                  <a:pt x="13" y="775"/>
                </a:cubicBezTo>
                <a:cubicBezTo>
                  <a:pt x="9" y="765"/>
                  <a:pt x="6" y="755"/>
                  <a:pt x="4" y="745"/>
                </a:cubicBezTo>
                <a:cubicBezTo>
                  <a:pt x="2" y="735"/>
                  <a:pt x="0" y="725"/>
                  <a:pt x="0" y="714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3657960" y="3961080"/>
            <a:ext cx="26371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3966840" y="3978000"/>
            <a:ext cx="697176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k = 1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6197040" y="3961080"/>
            <a:ext cx="10523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同じ入力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3" name=""/>
          <p:cNvSpPr/>
          <p:nvPr/>
        </p:nvSpPr>
        <p:spPr>
          <a:xfrm>
            <a:off x="2523960" y="4400280"/>
            <a:ext cx="524160" cy="314640"/>
          </a:xfrm>
          <a:custGeom>
            <a:avLst/>
            <a:gdLst/>
            <a:ahLst/>
            <a:rect l="0" t="0" r="r" b="b"/>
            <a:pathLst>
              <a:path w="145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97" y="0"/>
                </a:lnTo>
                <a:cubicBezTo>
                  <a:pt x="1308" y="0"/>
                  <a:pt x="1318" y="1"/>
                  <a:pt x="1328" y="3"/>
                </a:cubicBezTo>
                <a:cubicBezTo>
                  <a:pt x="1339" y="5"/>
                  <a:pt x="1349" y="8"/>
                  <a:pt x="1358" y="12"/>
                </a:cubicBezTo>
                <a:cubicBezTo>
                  <a:pt x="1368" y="16"/>
                  <a:pt x="1377" y="21"/>
                  <a:pt x="1386" y="27"/>
                </a:cubicBezTo>
                <a:cubicBezTo>
                  <a:pt x="1394" y="33"/>
                  <a:pt x="1402" y="39"/>
                  <a:pt x="1410" y="47"/>
                </a:cubicBezTo>
                <a:cubicBezTo>
                  <a:pt x="1417" y="54"/>
                  <a:pt x="1424" y="62"/>
                  <a:pt x="1429" y="71"/>
                </a:cubicBezTo>
                <a:cubicBezTo>
                  <a:pt x="1435" y="79"/>
                  <a:pt x="1440" y="89"/>
                  <a:pt x="1444" y="98"/>
                </a:cubicBezTo>
                <a:cubicBezTo>
                  <a:pt x="1448" y="108"/>
                  <a:pt x="1451" y="118"/>
                  <a:pt x="1453" y="128"/>
                </a:cubicBezTo>
                <a:cubicBezTo>
                  <a:pt x="1455" y="138"/>
                  <a:pt x="1456" y="149"/>
                  <a:pt x="1456" y="159"/>
                </a:cubicBezTo>
                <a:lnTo>
                  <a:pt x="1456" y="716"/>
                </a:lnTo>
                <a:cubicBezTo>
                  <a:pt x="1456" y="726"/>
                  <a:pt x="1455" y="736"/>
                  <a:pt x="1453" y="747"/>
                </a:cubicBezTo>
                <a:cubicBezTo>
                  <a:pt x="1451" y="757"/>
                  <a:pt x="1448" y="767"/>
                  <a:pt x="1444" y="776"/>
                </a:cubicBezTo>
                <a:cubicBezTo>
                  <a:pt x="1440" y="786"/>
                  <a:pt x="1435" y="795"/>
                  <a:pt x="1429" y="804"/>
                </a:cubicBezTo>
                <a:cubicBezTo>
                  <a:pt x="1424" y="812"/>
                  <a:pt x="1417" y="821"/>
                  <a:pt x="1410" y="828"/>
                </a:cubicBezTo>
                <a:cubicBezTo>
                  <a:pt x="1402" y="835"/>
                  <a:pt x="1394" y="842"/>
                  <a:pt x="1386" y="848"/>
                </a:cubicBezTo>
                <a:cubicBezTo>
                  <a:pt x="1377" y="853"/>
                  <a:pt x="1368" y="858"/>
                  <a:pt x="1358" y="862"/>
                </a:cubicBezTo>
                <a:cubicBezTo>
                  <a:pt x="1349" y="866"/>
                  <a:pt x="1339" y="869"/>
                  <a:pt x="1328" y="871"/>
                </a:cubicBezTo>
                <a:cubicBezTo>
                  <a:pt x="1318" y="873"/>
                  <a:pt x="1308" y="874"/>
                  <a:pt x="129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6" y="828"/>
                </a:cubicBezTo>
                <a:cubicBezTo>
                  <a:pt x="39" y="821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723960" y="44280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5" name=""/>
          <p:cNvSpPr/>
          <p:nvPr/>
        </p:nvSpPr>
        <p:spPr>
          <a:xfrm>
            <a:off x="6200640" y="4400280"/>
            <a:ext cx="400320" cy="314640"/>
          </a:xfrm>
          <a:custGeom>
            <a:avLst/>
            <a:gdLst/>
            <a:ahLst/>
            <a:rect l="0" t="0" r="r" b="b"/>
            <a:pathLst>
              <a:path w="1112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52" y="0"/>
                </a:lnTo>
                <a:cubicBezTo>
                  <a:pt x="963" y="0"/>
                  <a:pt x="973" y="1"/>
                  <a:pt x="983" y="3"/>
                </a:cubicBezTo>
                <a:cubicBezTo>
                  <a:pt x="994" y="5"/>
                  <a:pt x="1003" y="8"/>
                  <a:pt x="1013" y="12"/>
                </a:cubicBezTo>
                <a:cubicBezTo>
                  <a:pt x="1023" y="16"/>
                  <a:pt x="1032" y="21"/>
                  <a:pt x="1041" y="27"/>
                </a:cubicBezTo>
                <a:cubicBezTo>
                  <a:pt x="1049" y="33"/>
                  <a:pt x="1057" y="39"/>
                  <a:pt x="1065" y="47"/>
                </a:cubicBezTo>
                <a:cubicBezTo>
                  <a:pt x="1072" y="54"/>
                  <a:pt x="1079" y="62"/>
                  <a:pt x="1084" y="71"/>
                </a:cubicBezTo>
                <a:cubicBezTo>
                  <a:pt x="1090" y="79"/>
                  <a:pt x="1095" y="89"/>
                  <a:pt x="1099" y="98"/>
                </a:cubicBezTo>
                <a:cubicBezTo>
                  <a:pt x="1103" y="108"/>
                  <a:pt x="1106" y="118"/>
                  <a:pt x="1109" y="128"/>
                </a:cubicBezTo>
                <a:cubicBezTo>
                  <a:pt x="1111" y="138"/>
                  <a:pt x="1112" y="149"/>
                  <a:pt x="1112" y="159"/>
                </a:cubicBezTo>
                <a:lnTo>
                  <a:pt x="1112" y="716"/>
                </a:lnTo>
                <a:cubicBezTo>
                  <a:pt x="1112" y="726"/>
                  <a:pt x="1111" y="736"/>
                  <a:pt x="1109" y="747"/>
                </a:cubicBezTo>
                <a:cubicBezTo>
                  <a:pt x="1106" y="757"/>
                  <a:pt x="1103" y="767"/>
                  <a:pt x="1099" y="776"/>
                </a:cubicBezTo>
                <a:cubicBezTo>
                  <a:pt x="1095" y="786"/>
                  <a:pt x="1090" y="795"/>
                  <a:pt x="1084" y="804"/>
                </a:cubicBezTo>
                <a:cubicBezTo>
                  <a:pt x="1079" y="812"/>
                  <a:pt x="1072" y="821"/>
                  <a:pt x="1065" y="828"/>
                </a:cubicBezTo>
                <a:cubicBezTo>
                  <a:pt x="1057" y="835"/>
                  <a:pt x="1049" y="842"/>
                  <a:pt x="1041" y="848"/>
                </a:cubicBezTo>
                <a:cubicBezTo>
                  <a:pt x="1032" y="853"/>
                  <a:pt x="1023" y="858"/>
                  <a:pt x="1013" y="862"/>
                </a:cubicBezTo>
                <a:cubicBezTo>
                  <a:pt x="1003" y="866"/>
                  <a:pt x="994" y="869"/>
                  <a:pt x="983" y="871"/>
                </a:cubicBezTo>
                <a:cubicBezTo>
                  <a:pt x="973" y="873"/>
                  <a:pt x="963" y="874"/>
                  <a:pt x="952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7" y="869"/>
                  <a:pt x="108" y="866"/>
                  <a:pt x="98" y="862"/>
                </a:cubicBezTo>
                <a:cubicBezTo>
                  <a:pt x="88" y="858"/>
                  <a:pt x="79" y="853"/>
                  <a:pt x="70" y="848"/>
                </a:cubicBezTo>
                <a:cubicBezTo>
                  <a:pt x="62" y="842"/>
                  <a:pt x="54" y="835"/>
                  <a:pt x="46" y="828"/>
                </a:cubicBezTo>
                <a:cubicBezTo>
                  <a:pt x="39" y="821"/>
                  <a:pt x="32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2608560" y="4444560"/>
            <a:ext cx="418554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[0]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277320" y="4444560"/>
            <a:ext cx="27945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[]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590400" y="5031360"/>
            <a:ext cx="622076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構文は正しかったが、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処理の意味が変わった。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3" name=""/>
          <p:cNvSpPr/>
          <p:nvPr/>
        </p:nvSpPr>
        <p:spPr>
          <a:xfrm>
            <a:off x="599760" y="3143160"/>
            <a:ext cx="2353320" cy="466920"/>
          </a:xfrm>
          <a:custGeom>
            <a:avLst/>
            <a:gdLst/>
            <a:ahLst/>
            <a:rect l="0" t="0" r="r" b="b"/>
            <a:pathLst>
              <a:path w="6537" h="1297">
                <a:moveTo>
                  <a:pt x="0" y="0"/>
                </a:moveTo>
                <a:lnTo>
                  <a:pt x="6537" y="0"/>
                </a:lnTo>
                <a:lnTo>
                  <a:pt x="653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4" name=""/>
          <p:cNvSpPr/>
          <p:nvPr/>
        </p:nvSpPr>
        <p:spPr>
          <a:xfrm>
            <a:off x="2952720" y="3143160"/>
            <a:ext cx="3629160" cy="466920"/>
          </a:xfrm>
          <a:custGeom>
            <a:avLst/>
            <a:gdLst/>
            <a:ahLst/>
            <a:rect l="0" t="0" r="r" b="b"/>
            <a:pathLst>
              <a:path w="10081" h="1297">
                <a:moveTo>
                  <a:pt x="0" y="0"/>
                </a:moveTo>
                <a:lnTo>
                  <a:pt x="10081" y="0"/>
                </a:lnTo>
                <a:lnTo>
                  <a:pt x="1008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5" name=""/>
          <p:cNvSpPr/>
          <p:nvPr/>
        </p:nvSpPr>
        <p:spPr>
          <a:xfrm>
            <a:off x="6581520" y="3143160"/>
            <a:ext cx="5020200" cy="466920"/>
          </a:xfrm>
          <a:custGeom>
            <a:avLst/>
            <a:gdLst/>
            <a:ahLst/>
            <a:rect l="0" t="0" r="r" b="b"/>
            <a:pathLst>
              <a:path w="13945" h="1297">
                <a:moveTo>
                  <a:pt x="0" y="0"/>
                </a:moveTo>
                <a:lnTo>
                  <a:pt x="13945" y="0"/>
                </a:lnTo>
                <a:lnTo>
                  <a:pt x="1394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6" name=""/>
          <p:cNvSpPr/>
          <p:nvPr/>
        </p:nvSpPr>
        <p:spPr>
          <a:xfrm>
            <a:off x="599760" y="3143160"/>
            <a:ext cx="2353320" cy="466920"/>
          </a:xfrm>
          <a:custGeom>
            <a:avLst/>
            <a:gdLst/>
            <a:ahLst/>
            <a:rect l="0" t="0" r="r" b="b"/>
            <a:pathLst>
              <a:path w="6537" h="1297">
                <a:moveTo>
                  <a:pt x="0" y="0"/>
                </a:moveTo>
                <a:lnTo>
                  <a:pt x="6537" y="0"/>
                </a:lnTo>
                <a:lnTo>
                  <a:pt x="653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7" name=""/>
          <p:cNvSpPr/>
          <p:nvPr/>
        </p:nvSpPr>
        <p:spPr>
          <a:xfrm>
            <a:off x="2952720" y="3143160"/>
            <a:ext cx="3629160" cy="466920"/>
          </a:xfrm>
          <a:custGeom>
            <a:avLst/>
            <a:gdLst/>
            <a:ahLst/>
            <a:rect l="0" t="0" r="r" b="b"/>
            <a:pathLst>
              <a:path w="10081" h="1297">
                <a:moveTo>
                  <a:pt x="0" y="0"/>
                </a:moveTo>
                <a:lnTo>
                  <a:pt x="10081" y="0"/>
                </a:lnTo>
                <a:lnTo>
                  <a:pt x="1008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8" name=""/>
          <p:cNvSpPr/>
          <p:nvPr/>
        </p:nvSpPr>
        <p:spPr>
          <a:xfrm>
            <a:off x="6581520" y="3143160"/>
            <a:ext cx="5020200" cy="466920"/>
          </a:xfrm>
          <a:custGeom>
            <a:avLst/>
            <a:gdLst/>
            <a:ahLst/>
            <a:rect l="0" t="0" r="r" b="b"/>
            <a:pathLst>
              <a:path w="13945" h="1297">
                <a:moveTo>
                  <a:pt x="0" y="0"/>
                </a:moveTo>
                <a:lnTo>
                  <a:pt x="13945" y="0"/>
                </a:lnTo>
                <a:lnTo>
                  <a:pt x="1394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9" name=""/>
          <p:cNvSpPr/>
          <p:nvPr/>
        </p:nvSpPr>
        <p:spPr>
          <a:xfrm>
            <a:off x="599760" y="3609720"/>
            <a:ext cx="2353320" cy="467280"/>
          </a:xfrm>
          <a:custGeom>
            <a:avLst/>
            <a:gdLst/>
            <a:ahLst/>
            <a:rect l="0" t="0" r="r" b="b"/>
            <a:pathLst>
              <a:path w="6537" h="1298">
                <a:moveTo>
                  <a:pt x="0" y="0"/>
                </a:moveTo>
                <a:lnTo>
                  <a:pt x="6537" y="0"/>
                </a:lnTo>
                <a:lnTo>
                  <a:pt x="653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0" name=""/>
          <p:cNvSpPr/>
          <p:nvPr/>
        </p:nvSpPr>
        <p:spPr>
          <a:xfrm>
            <a:off x="2952720" y="3609720"/>
            <a:ext cx="3629160" cy="467280"/>
          </a:xfrm>
          <a:custGeom>
            <a:avLst/>
            <a:gdLst/>
            <a:ahLst/>
            <a:rect l="0" t="0" r="r" b="b"/>
            <a:pathLst>
              <a:path w="10081" h="1298">
                <a:moveTo>
                  <a:pt x="0" y="0"/>
                </a:moveTo>
                <a:lnTo>
                  <a:pt x="10081" y="0"/>
                </a:lnTo>
                <a:lnTo>
                  <a:pt x="10081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1" name=""/>
          <p:cNvSpPr/>
          <p:nvPr/>
        </p:nvSpPr>
        <p:spPr>
          <a:xfrm>
            <a:off x="6581520" y="3609720"/>
            <a:ext cx="5020200" cy="467280"/>
          </a:xfrm>
          <a:custGeom>
            <a:avLst/>
            <a:gdLst/>
            <a:ahLst/>
            <a:rect l="0" t="0" r="r" b="b"/>
            <a:pathLst>
              <a:path w="13945" h="1298">
                <a:moveTo>
                  <a:pt x="0" y="0"/>
                </a:moveTo>
                <a:lnTo>
                  <a:pt x="13945" y="0"/>
                </a:lnTo>
                <a:lnTo>
                  <a:pt x="1394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2" name=""/>
          <p:cNvSpPr/>
          <p:nvPr/>
        </p:nvSpPr>
        <p:spPr>
          <a:xfrm>
            <a:off x="599760" y="4076640"/>
            <a:ext cx="2353320" cy="466920"/>
          </a:xfrm>
          <a:custGeom>
            <a:avLst/>
            <a:gdLst/>
            <a:ahLst/>
            <a:rect l="0" t="0" r="r" b="b"/>
            <a:pathLst>
              <a:path w="6537" h="1297">
                <a:moveTo>
                  <a:pt x="0" y="0"/>
                </a:moveTo>
                <a:lnTo>
                  <a:pt x="6537" y="0"/>
                </a:lnTo>
                <a:lnTo>
                  <a:pt x="653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3" name=""/>
          <p:cNvSpPr/>
          <p:nvPr/>
        </p:nvSpPr>
        <p:spPr>
          <a:xfrm>
            <a:off x="2952720" y="4076640"/>
            <a:ext cx="3629160" cy="466920"/>
          </a:xfrm>
          <a:custGeom>
            <a:avLst/>
            <a:gdLst/>
            <a:ahLst/>
            <a:rect l="0" t="0" r="r" b="b"/>
            <a:pathLst>
              <a:path w="10081" h="1297">
                <a:moveTo>
                  <a:pt x="0" y="0"/>
                </a:moveTo>
                <a:lnTo>
                  <a:pt x="10081" y="0"/>
                </a:lnTo>
                <a:lnTo>
                  <a:pt x="1008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4" name=""/>
          <p:cNvSpPr/>
          <p:nvPr/>
        </p:nvSpPr>
        <p:spPr>
          <a:xfrm>
            <a:off x="6581520" y="4076640"/>
            <a:ext cx="5020200" cy="466920"/>
          </a:xfrm>
          <a:custGeom>
            <a:avLst/>
            <a:gdLst/>
            <a:ahLst/>
            <a:rect l="0" t="0" r="r" b="b"/>
            <a:pathLst>
              <a:path w="13945" h="1297">
                <a:moveTo>
                  <a:pt x="0" y="0"/>
                </a:moveTo>
                <a:lnTo>
                  <a:pt x="13945" y="0"/>
                </a:lnTo>
                <a:lnTo>
                  <a:pt x="1394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5" name=""/>
          <p:cNvSpPr/>
          <p:nvPr/>
        </p:nvSpPr>
        <p:spPr>
          <a:xfrm>
            <a:off x="590400" y="31334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6" name=""/>
          <p:cNvSpPr/>
          <p:nvPr/>
        </p:nvSpPr>
        <p:spPr>
          <a:xfrm>
            <a:off x="590400" y="3133440"/>
            <a:ext cx="2362680" cy="10080"/>
          </a:xfrm>
          <a:custGeom>
            <a:avLst/>
            <a:gdLst/>
            <a:ahLst/>
            <a:rect l="0" t="0" r="r" b="b"/>
            <a:pathLst>
              <a:path w="6563" h="28">
                <a:moveTo>
                  <a:pt x="0" y="0"/>
                </a:moveTo>
                <a:lnTo>
                  <a:pt x="6563" y="0"/>
                </a:lnTo>
                <a:lnTo>
                  <a:pt x="65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7" name=""/>
          <p:cNvSpPr/>
          <p:nvPr/>
        </p:nvSpPr>
        <p:spPr>
          <a:xfrm>
            <a:off x="2943000" y="31334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8" name=""/>
          <p:cNvSpPr/>
          <p:nvPr/>
        </p:nvSpPr>
        <p:spPr>
          <a:xfrm>
            <a:off x="2952720" y="3133440"/>
            <a:ext cx="3629160" cy="10080"/>
          </a:xfrm>
          <a:custGeom>
            <a:avLst/>
            <a:gdLst/>
            <a:ahLst/>
            <a:rect l="0" t="0" r="r" b="b"/>
            <a:pathLst>
              <a:path w="10081" h="28">
                <a:moveTo>
                  <a:pt x="0" y="0"/>
                </a:moveTo>
                <a:lnTo>
                  <a:pt x="10081" y="0"/>
                </a:lnTo>
                <a:lnTo>
                  <a:pt x="100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9" name=""/>
          <p:cNvSpPr/>
          <p:nvPr/>
        </p:nvSpPr>
        <p:spPr>
          <a:xfrm>
            <a:off x="6572160" y="31334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0" name=""/>
          <p:cNvSpPr/>
          <p:nvPr/>
        </p:nvSpPr>
        <p:spPr>
          <a:xfrm>
            <a:off x="6581520" y="3133440"/>
            <a:ext cx="5020200" cy="10080"/>
          </a:xfrm>
          <a:custGeom>
            <a:avLst/>
            <a:gdLst/>
            <a:ahLst/>
            <a:rect l="0" t="0" r="r" b="b"/>
            <a:pathLst>
              <a:path w="13945" h="28">
                <a:moveTo>
                  <a:pt x="0" y="0"/>
                </a:moveTo>
                <a:lnTo>
                  <a:pt x="13945" y="0"/>
                </a:lnTo>
                <a:lnTo>
                  <a:pt x="139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1" name=""/>
          <p:cNvSpPr/>
          <p:nvPr/>
        </p:nvSpPr>
        <p:spPr>
          <a:xfrm>
            <a:off x="11591640" y="31334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2" name=""/>
          <p:cNvSpPr/>
          <p:nvPr/>
        </p:nvSpPr>
        <p:spPr>
          <a:xfrm>
            <a:off x="590400" y="3600360"/>
            <a:ext cx="2362680" cy="9720"/>
          </a:xfrm>
          <a:custGeom>
            <a:avLst/>
            <a:gdLst/>
            <a:ahLst/>
            <a:rect l="0" t="0" r="r" b="b"/>
            <a:pathLst>
              <a:path w="6563" h="27">
                <a:moveTo>
                  <a:pt x="0" y="0"/>
                </a:moveTo>
                <a:lnTo>
                  <a:pt x="6563" y="0"/>
                </a:lnTo>
                <a:lnTo>
                  <a:pt x="65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3" name=""/>
          <p:cNvSpPr/>
          <p:nvPr/>
        </p:nvSpPr>
        <p:spPr>
          <a:xfrm>
            <a:off x="2952720" y="3600360"/>
            <a:ext cx="3629160" cy="9720"/>
          </a:xfrm>
          <a:custGeom>
            <a:avLst/>
            <a:gdLst/>
            <a:ahLst/>
            <a:rect l="0" t="0" r="r" b="b"/>
            <a:pathLst>
              <a:path w="10081" h="27">
                <a:moveTo>
                  <a:pt x="0" y="0"/>
                </a:moveTo>
                <a:lnTo>
                  <a:pt x="10081" y="0"/>
                </a:lnTo>
                <a:lnTo>
                  <a:pt x="100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4" name=""/>
          <p:cNvSpPr/>
          <p:nvPr/>
        </p:nvSpPr>
        <p:spPr>
          <a:xfrm>
            <a:off x="6581520" y="3600360"/>
            <a:ext cx="5020200" cy="9720"/>
          </a:xfrm>
          <a:custGeom>
            <a:avLst/>
            <a:gdLst/>
            <a:ahLst/>
            <a:rect l="0" t="0" r="r" b="b"/>
            <a:pathLst>
              <a:path w="13945" h="27">
                <a:moveTo>
                  <a:pt x="0" y="0"/>
                </a:moveTo>
                <a:lnTo>
                  <a:pt x="13945" y="0"/>
                </a:lnTo>
                <a:lnTo>
                  <a:pt x="139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5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6" name=""/>
          <p:cNvSpPr/>
          <p:nvPr/>
        </p:nvSpPr>
        <p:spPr>
          <a:xfrm>
            <a:off x="294300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7" name=""/>
          <p:cNvSpPr/>
          <p:nvPr/>
        </p:nvSpPr>
        <p:spPr>
          <a:xfrm>
            <a:off x="657216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8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9" name=""/>
          <p:cNvSpPr/>
          <p:nvPr/>
        </p:nvSpPr>
        <p:spPr>
          <a:xfrm>
            <a:off x="59040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0" name=""/>
          <p:cNvSpPr/>
          <p:nvPr/>
        </p:nvSpPr>
        <p:spPr>
          <a:xfrm>
            <a:off x="590400" y="4066920"/>
            <a:ext cx="2362680" cy="10080"/>
          </a:xfrm>
          <a:custGeom>
            <a:avLst/>
            <a:gdLst/>
            <a:ahLst/>
            <a:rect l="0" t="0" r="r" b="b"/>
            <a:pathLst>
              <a:path w="6563" h="28">
                <a:moveTo>
                  <a:pt x="0" y="0"/>
                </a:moveTo>
                <a:lnTo>
                  <a:pt x="6563" y="0"/>
                </a:lnTo>
                <a:lnTo>
                  <a:pt x="65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1" name=""/>
          <p:cNvSpPr/>
          <p:nvPr/>
        </p:nvSpPr>
        <p:spPr>
          <a:xfrm>
            <a:off x="294300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2" name=""/>
          <p:cNvSpPr/>
          <p:nvPr/>
        </p:nvSpPr>
        <p:spPr>
          <a:xfrm>
            <a:off x="2952720" y="4066920"/>
            <a:ext cx="3629160" cy="10080"/>
          </a:xfrm>
          <a:custGeom>
            <a:avLst/>
            <a:gdLst/>
            <a:ahLst/>
            <a:rect l="0" t="0" r="r" b="b"/>
            <a:pathLst>
              <a:path w="10081" h="28">
                <a:moveTo>
                  <a:pt x="0" y="0"/>
                </a:moveTo>
                <a:lnTo>
                  <a:pt x="10081" y="0"/>
                </a:lnTo>
                <a:lnTo>
                  <a:pt x="100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3" name=""/>
          <p:cNvSpPr/>
          <p:nvPr/>
        </p:nvSpPr>
        <p:spPr>
          <a:xfrm>
            <a:off x="657216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4" name=""/>
          <p:cNvSpPr/>
          <p:nvPr/>
        </p:nvSpPr>
        <p:spPr>
          <a:xfrm>
            <a:off x="6581520" y="4066920"/>
            <a:ext cx="5020200" cy="10080"/>
          </a:xfrm>
          <a:custGeom>
            <a:avLst/>
            <a:gdLst/>
            <a:ahLst/>
            <a:rect l="0" t="0" r="r" b="b"/>
            <a:pathLst>
              <a:path w="13945" h="28">
                <a:moveTo>
                  <a:pt x="0" y="0"/>
                </a:moveTo>
                <a:lnTo>
                  <a:pt x="13945" y="0"/>
                </a:lnTo>
                <a:lnTo>
                  <a:pt x="139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5" name=""/>
          <p:cNvSpPr/>
          <p:nvPr/>
        </p:nvSpPr>
        <p:spPr>
          <a:xfrm>
            <a:off x="1159164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6" name=""/>
          <p:cNvSpPr/>
          <p:nvPr/>
        </p:nvSpPr>
        <p:spPr>
          <a:xfrm>
            <a:off x="590400" y="4533840"/>
            <a:ext cx="2362680" cy="9720"/>
          </a:xfrm>
          <a:custGeom>
            <a:avLst/>
            <a:gdLst/>
            <a:ahLst/>
            <a:rect l="0" t="0" r="r" b="b"/>
            <a:pathLst>
              <a:path w="6563" h="27">
                <a:moveTo>
                  <a:pt x="0" y="0"/>
                </a:moveTo>
                <a:lnTo>
                  <a:pt x="6563" y="0"/>
                </a:lnTo>
                <a:lnTo>
                  <a:pt x="65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7" name=""/>
          <p:cNvSpPr/>
          <p:nvPr/>
        </p:nvSpPr>
        <p:spPr>
          <a:xfrm>
            <a:off x="2952720" y="4533840"/>
            <a:ext cx="3629160" cy="9720"/>
          </a:xfrm>
          <a:custGeom>
            <a:avLst/>
            <a:gdLst/>
            <a:ahLst/>
            <a:rect l="0" t="0" r="r" b="b"/>
            <a:pathLst>
              <a:path w="10081" h="27">
                <a:moveTo>
                  <a:pt x="0" y="0"/>
                </a:moveTo>
                <a:lnTo>
                  <a:pt x="10081" y="0"/>
                </a:lnTo>
                <a:lnTo>
                  <a:pt x="100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8" name=""/>
          <p:cNvSpPr/>
          <p:nvPr/>
        </p:nvSpPr>
        <p:spPr>
          <a:xfrm>
            <a:off x="6581520" y="4533840"/>
            <a:ext cx="5020200" cy="9720"/>
          </a:xfrm>
          <a:custGeom>
            <a:avLst/>
            <a:gdLst/>
            <a:ahLst/>
            <a:rect l="0" t="0" r="r" b="b"/>
            <a:pathLst>
              <a:path w="13945" h="27">
                <a:moveTo>
                  <a:pt x="0" y="0"/>
                </a:moveTo>
                <a:lnTo>
                  <a:pt x="13945" y="0"/>
                </a:lnTo>
                <a:lnTo>
                  <a:pt x="139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590400" y="17960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表現への強さは、モデルによって違う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590400" y="2621520"/>
            <a:ext cx="721684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すべて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。冒頭だけを変えた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操作の合格数。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723960" y="325656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5273280" y="3256560"/>
            <a:ext cx="135585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「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から」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9741240" y="3256560"/>
            <a:ext cx="2144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「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に対して、」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723960" y="3723120"/>
            <a:ext cx="42186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5553720" y="3723120"/>
            <a:ext cx="103334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10728000" y="3723120"/>
            <a:ext cx="8515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723960" y="4189680"/>
            <a:ext cx="59450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5589360" y="4189680"/>
            <a:ext cx="9923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10605960" y="4189680"/>
            <a:ext cx="9923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590400" y="4793400"/>
            <a:ext cx="879253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では合格数を保った。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すべてが同様に崩れるわけではない。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5" name=""/>
          <p:cNvSpPr/>
          <p:nvPr/>
        </p:nvSpPr>
        <p:spPr>
          <a:xfrm>
            <a:off x="599760" y="2628720"/>
            <a:ext cx="8744400" cy="466920"/>
          </a:xfrm>
          <a:custGeom>
            <a:avLst/>
            <a:gdLst/>
            <a:ahLst/>
            <a:rect l="0" t="0" r="r" b="b"/>
            <a:pathLst>
              <a:path w="24290" h="1297">
                <a:moveTo>
                  <a:pt x="0" y="0"/>
                </a:moveTo>
                <a:lnTo>
                  <a:pt x="24290" y="0"/>
                </a:lnTo>
                <a:lnTo>
                  <a:pt x="2429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6" name=""/>
          <p:cNvSpPr/>
          <p:nvPr/>
        </p:nvSpPr>
        <p:spPr>
          <a:xfrm>
            <a:off x="9343800" y="2628720"/>
            <a:ext cx="2257920" cy="466920"/>
          </a:xfrm>
          <a:custGeom>
            <a:avLst/>
            <a:gdLst/>
            <a:ahLst/>
            <a:rect l="0" t="0" r="r" b="b"/>
            <a:pathLst>
              <a:path w="6272" h="1297">
                <a:moveTo>
                  <a:pt x="0" y="0"/>
                </a:moveTo>
                <a:lnTo>
                  <a:pt x="6272" y="0"/>
                </a:lnTo>
                <a:lnTo>
                  <a:pt x="627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7" name=""/>
          <p:cNvSpPr/>
          <p:nvPr/>
        </p:nvSpPr>
        <p:spPr>
          <a:xfrm>
            <a:off x="599760" y="2628720"/>
            <a:ext cx="8744400" cy="466920"/>
          </a:xfrm>
          <a:custGeom>
            <a:avLst/>
            <a:gdLst/>
            <a:ahLst/>
            <a:rect l="0" t="0" r="r" b="b"/>
            <a:pathLst>
              <a:path w="24290" h="1297">
                <a:moveTo>
                  <a:pt x="0" y="0"/>
                </a:moveTo>
                <a:lnTo>
                  <a:pt x="24290" y="0"/>
                </a:lnTo>
                <a:lnTo>
                  <a:pt x="2429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8" name=""/>
          <p:cNvSpPr/>
          <p:nvPr/>
        </p:nvSpPr>
        <p:spPr>
          <a:xfrm>
            <a:off x="9343800" y="2628720"/>
            <a:ext cx="2257920" cy="466920"/>
          </a:xfrm>
          <a:custGeom>
            <a:avLst/>
            <a:gdLst/>
            <a:ahLst/>
            <a:rect l="0" t="0" r="r" b="b"/>
            <a:pathLst>
              <a:path w="6272" h="1297">
                <a:moveTo>
                  <a:pt x="0" y="0"/>
                </a:moveTo>
                <a:lnTo>
                  <a:pt x="6272" y="0"/>
                </a:lnTo>
                <a:lnTo>
                  <a:pt x="627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9" name=""/>
          <p:cNvSpPr/>
          <p:nvPr/>
        </p:nvSpPr>
        <p:spPr>
          <a:xfrm>
            <a:off x="599760" y="3095280"/>
            <a:ext cx="8744400" cy="467280"/>
          </a:xfrm>
          <a:custGeom>
            <a:avLst/>
            <a:gdLst/>
            <a:ahLst/>
            <a:rect l="0" t="0" r="r" b="b"/>
            <a:pathLst>
              <a:path w="24290" h="1298">
                <a:moveTo>
                  <a:pt x="0" y="0"/>
                </a:moveTo>
                <a:lnTo>
                  <a:pt x="24290" y="0"/>
                </a:lnTo>
                <a:lnTo>
                  <a:pt x="2429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0" name=""/>
          <p:cNvSpPr/>
          <p:nvPr/>
        </p:nvSpPr>
        <p:spPr>
          <a:xfrm>
            <a:off x="9343800" y="3095280"/>
            <a:ext cx="2257920" cy="467280"/>
          </a:xfrm>
          <a:custGeom>
            <a:avLst/>
            <a:gdLst/>
            <a:ahLst/>
            <a:rect l="0" t="0" r="r" b="b"/>
            <a:pathLst>
              <a:path w="6272" h="1298">
                <a:moveTo>
                  <a:pt x="0" y="0"/>
                </a:moveTo>
                <a:lnTo>
                  <a:pt x="6272" y="0"/>
                </a:lnTo>
                <a:lnTo>
                  <a:pt x="627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1" name=""/>
          <p:cNvSpPr/>
          <p:nvPr/>
        </p:nvSpPr>
        <p:spPr>
          <a:xfrm>
            <a:off x="599760" y="3562200"/>
            <a:ext cx="8744400" cy="466920"/>
          </a:xfrm>
          <a:custGeom>
            <a:avLst/>
            <a:gdLst/>
            <a:ahLst/>
            <a:rect l="0" t="0" r="r" b="b"/>
            <a:pathLst>
              <a:path w="24290" h="1297">
                <a:moveTo>
                  <a:pt x="0" y="0"/>
                </a:moveTo>
                <a:lnTo>
                  <a:pt x="24290" y="0"/>
                </a:lnTo>
                <a:lnTo>
                  <a:pt x="2429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2" name=""/>
          <p:cNvSpPr/>
          <p:nvPr/>
        </p:nvSpPr>
        <p:spPr>
          <a:xfrm>
            <a:off x="9343800" y="3562200"/>
            <a:ext cx="2257920" cy="466920"/>
          </a:xfrm>
          <a:custGeom>
            <a:avLst/>
            <a:gdLst/>
            <a:ahLst/>
            <a:rect l="0" t="0" r="r" b="b"/>
            <a:pathLst>
              <a:path w="6272" h="1297">
                <a:moveTo>
                  <a:pt x="0" y="0"/>
                </a:moveTo>
                <a:lnTo>
                  <a:pt x="6272" y="0"/>
                </a:lnTo>
                <a:lnTo>
                  <a:pt x="627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3" name=""/>
          <p:cNvSpPr/>
          <p:nvPr/>
        </p:nvSpPr>
        <p:spPr>
          <a:xfrm>
            <a:off x="599760" y="4028760"/>
            <a:ext cx="8744400" cy="467280"/>
          </a:xfrm>
          <a:custGeom>
            <a:avLst/>
            <a:gdLst/>
            <a:ahLst/>
            <a:rect l="0" t="0" r="r" b="b"/>
            <a:pathLst>
              <a:path w="24290" h="1298">
                <a:moveTo>
                  <a:pt x="0" y="0"/>
                </a:moveTo>
                <a:lnTo>
                  <a:pt x="24290" y="0"/>
                </a:lnTo>
                <a:lnTo>
                  <a:pt x="2429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4" name=""/>
          <p:cNvSpPr/>
          <p:nvPr/>
        </p:nvSpPr>
        <p:spPr>
          <a:xfrm>
            <a:off x="9343800" y="4028760"/>
            <a:ext cx="2257920" cy="467280"/>
          </a:xfrm>
          <a:custGeom>
            <a:avLst/>
            <a:gdLst/>
            <a:ahLst/>
            <a:rect l="0" t="0" r="r" b="b"/>
            <a:pathLst>
              <a:path w="6272" h="1298">
                <a:moveTo>
                  <a:pt x="0" y="0"/>
                </a:moveTo>
                <a:lnTo>
                  <a:pt x="6272" y="0"/>
                </a:lnTo>
                <a:lnTo>
                  <a:pt x="627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5" name=""/>
          <p:cNvSpPr/>
          <p:nvPr/>
        </p:nvSpPr>
        <p:spPr>
          <a:xfrm>
            <a:off x="590400" y="2628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6" name=""/>
          <p:cNvSpPr/>
          <p:nvPr/>
        </p:nvSpPr>
        <p:spPr>
          <a:xfrm>
            <a:off x="590400" y="2628720"/>
            <a:ext cx="8753760" cy="9720"/>
          </a:xfrm>
          <a:custGeom>
            <a:avLst/>
            <a:gdLst/>
            <a:ahLst/>
            <a:rect l="0" t="0" r="r" b="b"/>
            <a:pathLst>
              <a:path w="24316" h="27">
                <a:moveTo>
                  <a:pt x="0" y="0"/>
                </a:moveTo>
                <a:lnTo>
                  <a:pt x="24316" y="0"/>
                </a:lnTo>
                <a:lnTo>
                  <a:pt x="243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7" name=""/>
          <p:cNvSpPr/>
          <p:nvPr/>
        </p:nvSpPr>
        <p:spPr>
          <a:xfrm>
            <a:off x="9334440" y="2628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8" name=""/>
          <p:cNvSpPr/>
          <p:nvPr/>
        </p:nvSpPr>
        <p:spPr>
          <a:xfrm>
            <a:off x="9343800" y="2628720"/>
            <a:ext cx="2257920" cy="9720"/>
          </a:xfrm>
          <a:custGeom>
            <a:avLst/>
            <a:gdLst/>
            <a:ahLst/>
            <a:rect l="0" t="0" r="r" b="b"/>
            <a:pathLst>
              <a:path w="6272" h="27">
                <a:moveTo>
                  <a:pt x="0" y="0"/>
                </a:moveTo>
                <a:lnTo>
                  <a:pt x="6272" y="0"/>
                </a:lnTo>
                <a:lnTo>
                  <a:pt x="62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9" name=""/>
          <p:cNvSpPr/>
          <p:nvPr/>
        </p:nvSpPr>
        <p:spPr>
          <a:xfrm>
            <a:off x="11591640" y="26287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0" name=""/>
          <p:cNvSpPr/>
          <p:nvPr/>
        </p:nvSpPr>
        <p:spPr>
          <a:xfrm>
            <a:off x="590400" y="3095280"/>
            <a:ext cx="8753760" cy="10080"/>
          </a:xfrm>
          <a:custGeom>
            <a:avLst/>
            <a:gdLst/>
            <a:ahLst/>
            <a:rect l="0" t="0" r="r" b="b"/>
            <a:pathLst>
              <a:path w="24316" h="28">
                <a:moveTo>
                  <a:pt x="0" y="0"/>
                </a:moveTo>
                <a:lnTo>
                  <a:pt x="24316" y="0"/>
                </a:lnTo>
                <a:lnTo>
                  <a:pt x="243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1" name=""/>
          <p:cNvSpPr/>
          <p:nvPr/>
        </p:nvSpPr>
        <p:spPr>
          <a:xfrm>
            <a:off x="9343800" y="3095280"/>
            <a:ext cx="2257920" cy="10080"/>
          </a:xfrm>
          <a:custGeom>
            <a:avLst/>
            <a:gdLst/>
            <a:ahLst/>
            <a:rect l="0" t="0" r="r" b="b"/>
            <a:pathLst>
              <a:path w="6272" h="28">
                <a:moveTo>
                  <a:pt x="0" y="0"/>
                </a:moveTo>
                <a:lnTo>
                  <a:pt x="6272" y="0"/>
                </a:lnTo>
                <a:lnTo>
                  <a:pt x="62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2" name=""/>
          <p:cNvSpPr/>
          <p:nvPr/>
        </p:nvSpPr>
        <p:spPr>
          <a:xfrm>
            <a:off x="590400" y="31050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3" name=""/>
          <p:cNvSpPr/>
          <p:nvPr/>
        </p:nvSpPr>
        <p:spPr>
          <a:xfrm>
            <a:off x="9334440" y="31050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4" name=""/>
          <p:cNvSpPr/>
          <p:nvPr/>
        </p:nvSpPr>
        <p:spPr>
          <a:xfrm>
            <a:off x="11591640" y="310500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5" name=""/>
          <p:cNvSpPr/>
          <p:nvPr/>
        </p:nvSpPr>
        <p:spPr>
          <a:xfrm>
            <a:off x="590400" y="35715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6" name=""/>
          <p:cNvSpPr/>
          <p:nvPr/>
        </p:nvSpPr>
        <p:spPr>
          <a:xfrm>
            <a:off x="590400" y="3562200"/>
            <a:ext cx="8753760" cy="9720"/>
          </a:xfrm>
          <a:custGeom>
            <a:avLst/>
            <a:gdLst/>
            <a:ahLst/>
            <a:rect l="0" t="0" r="r" b="b"/>
            <a:pathLst>
              <a:path w="24316" h="27">
                <a:moveTo>
                  <a:pt x="0" y="0"/>
                </a:moveTo>
                <a:lnTo>
                  <a:pt x="24316" y="0"/>
                </a:lnTo>
                <a:lnTo>
                  <a:pt x="243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7" name=""/>
          <p:cNvSpPr/>
          <p:nvPr/>
        </p:nvSpPr>
        <p:spPr>
          <a:xfrm>
            <a:off x="9334440" y="35715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8" name=""/>
          <p:cNvSpPr/>
          <p:nvPr/>
        </p:nvSpPr>
        <p:spPr>
          <a:xfrm>
            <a:off x="9343800" y="3562200"/>
            <a:ext cx="2257920" cy="9720"/>
          </a:xfrm>
          <a:custGeom>
            <a:avLst/>
            <a:gdLst/>
            <a:ahLst/>
            <a:rect l="0" t="0" r="r" b="b"/>
            <a:pathLst>
              <a:path w="6272" h="27">
                <a:moveTo>
                  <a:pt x="0" y="0"/>
                </a:moveTo>
                <a:lnTo>
                  <a:pt x="6272" y="0"/>
                </a:lnTo>
                <a:lnTo>
                  <a:pt x="62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9" name=""/>
          <p:cNvSpPr/>
          <p:nvPr/>
        </p:nvSpPr>
        <p:spPr>
          <a:xfrm>
            <a:off x="11591640" y="35715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0" name=""/>
          <p:cNvSpPr/>
          <p:nvPr/>
        </p:nvSpPr>
        <p:spPr>
          <a:xfrm>
            <a:off x="590400" y="4038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1" name=""/>
          <p:cNvSpPr/>
          <p:nvPr/>
        </p:nvSpPr>
        <p:spPr>
          <a:xfrm>
            <a:off x="590400" y="4028760"/>
            <a:ext cx="8753760" cy="10080"/>
          </a:xfrm>
          <a:custGeom>
            <a:avLst/>
            <a:gdLst/>
            <a:ahLst/>
            <a:rect l="0" t="0" r="r" b="b"/>
            <a:pathLst>
              <a:path w="24316" h="28">
                <a:moveTo>
                  <a:pt x="0" y="0"/>
                </a:moveTo>
                <a:lnTo>
                  <a:pt x="24316" y="0"/>
                </a:lnTo>
                <a:lnTo>
                  <a:pt x="243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2" name=""/>
          <p:cNvSpPr/>
          <p:nvPr/>
        </p:nvSpPr>
        <p:spPr>
          <a:xfrm>
            <a:off x="9334440" y="4038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3" name=""/>
          <p:cNvSpPr/>
          <p:nvPr/>
        </p:nvSpPr>
        <p:spPr>
          <a:xfrm>
            <a:off x="9343800" y="4028760"/>
            <a:ext cx="2257920" cy="10080"/>
          </a:xfrm>
          <a:custGeom>
            <a:avLst/>
            <a:gdLst/>
            <a:ahLst/>
            <a:rect l="0" t="0" r="r" b="b"/>
            <a:pathLst>
              <a:path w="6272" h="28">
                <a:moveTo>
                  <a:pt x="0" y="0"/>
                </a:moveTo>
                <a:lnTo>
                  <a:pt x="6272" y="0"/>
                </a:lnTo>
                <a:lnTo>
                  <a:pt x="62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4" name=""/>
          <p:cNvSpPr/>
          <p:nvPr/>
        </p:nvSpPr>
        <p:spPr>
          <a:xfrm>
            <a:off x="11591640" y="40384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5" name=""/>
          <p:cNvSpPr/>
          <p:nvPr/>
        </p:nvSpPr>
        <p:spPr>
          <a:xfrm>
            <a:off x="590400" y="4495680"/>
            <a:ext cx="8753760" cy="9720"/>
          </a:xfrm>
          <a:custGeom>
            <a:avLst/>
            <a:gdLst/>
            <a:ahLst/>
            <a:rect l="0" t="0" r="r" b="b"/>
            <a:pathLst>
              <a:path w="24316" h="27">
                <a:moveTo>
                  <a:pt x="0" y="0"/>
                </a:moveTo>
                <a:lnTo>
                  <a:pt x="24316" y="0"/>
                </a:lnTo>
                <a:lnTo>
                  <a:pt x="243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6" name=""/>
          <p:cNvSpPr/>
          <p:nvPr/>
        </p:nvSpPr>
        <p:spPr>
          <a:xfrm>
            <a:off x="9343800" y="4495680"/>
            <a:ext cx="2257920" cy="9720"/>
          </a:xfrm>
          <a:custGeom>
            <a:avLst/>
            <a:gdLst/>
            <a:ahLst/>
            <a:rect l="0" t="0" r="r" b="b"/>
            <a:pathLst>
              <a:path w="6272" h="27">
                <a:moveTo>
                  <a:pt x="0" y="0"/>
                </a:moveTo>
                <a:lnTo>
                  <a:pt x="6272" y="0"/>
                </a:lnTo>
                <a:lnTo>
                  <a:pt x="62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590400" y="1281600"/>
            <a:ext cx="830815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学習データの文型との結び付きが考えられる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90400" y="2107440"/>
            <a:ext cx="87064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訓練データで「整数リスト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に対して、」と始まる指示は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723960" y="2751480"/>
            <a:ext cx="289261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その文型で学習した処理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11010960" y="275148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723960" y="321840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11310480" y="321840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723960" y="368496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11317680" y="368496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723960" y="415188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11167560" y="4151880"/>
            <a:ext cx="34610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590400" y="4755240"/>
            <a:ext cx="799806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この文型を、複数の操作と結び付けて覚えた可能性がある。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590400" y="5307840"/>
            <a:ext cx="65171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原因の確定には、教材を変えた追加比較が必要。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3" name=""/>
          <p:cNvSpPr/>
          <p:nvPr/>
        </p:nvSpPr>
        <p:spPr>
          <a:xfrm>
            <a:off x="599760" y="259056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4" name=""/>
          <p:cNvSpPr/>
          <p:nvPr/>
        </p:nvSpPr>
        <p:spPr>
          <a:xfrm>
            <a:off x="5010120" y="259056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5" name=""/>
          <p:cNvSpPr/>
          <p:nvPr/>
        </p:nvSpPr>
        <p:spPr>
          <a:xfrm>
            <a:off x="599760" y="259056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6" name=""/>
          <p:cNvSpPr/>
          <p:nvPr/>
        </p:nvSpPr>
        <p:spPr>
          <a:xfrm>
            <a:off x="5010120" y="259056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7" name=""/>
          <p:cNvSpPr/>
          <p:nvPr/>
        </p:nvSpPr>
        <p:spPr>
          <a:xfrm>
            <a:off x="599760" y="308592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8" name=""/>
          <p:cNvSpPr/>
          <p:nvPr/>
        </p:nvSpPr>
        <p:spPr>
          <a:xfrm>
            <a:off x="5010120" y="308592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9" name=""/>
          <p:cNvSpPr/>
          <p:nvPr/>
        </p:nvSpPr>
        <p:spPr>
          <a:xfrm>
            <a:off x="599760" y="358128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0" name=""/>
          <p:cNvSpPr/>
          <p:nvPr/>
        </p:nvSpPr>
        <p:spPr>
          <a:xfrm>
            <a:off x="5010120" y="358128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1" name=""/>
          <p:cNvSpPr/>
          <p:nvPr/>
        </p:nvSpPr>
        <p:spPr>
          <a:xfrm>
            <a:off x="599760" y="4076640"/>
            <a:ext cx="4410720" cy="495360"/>
          </a:xfrm>
          <a:custGeom>
            <a:avLst/>
            <a:gdLst/>
            <a:ahLst/>
            <a:rect l="0" t="0" r="r" b="b"/>
            <a:pathLst>
              <a:path w="12252" h="1376">
                <a:moveTo>
                  <a:pt x="0" y="0"/>
                </a:moveTo>
                <a:lnTo>
                  <a:pt x="12252" y="0"/>
                </a:lnTo>
                <a:lnTo>
                  <a:pt x="12252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2" name=""/>
          <p:cNvSpPr/>
          <p:nvPr/>
        </p:nvSpPr>
        <p:spPr>
          <a:xfrm>
            <a:off x="5010120" y="4076640"/>
            <a:ext cx="6591600" cy="495360"/>
          </a:xfrm>
          <a:custGeom>
            <a:avLst/>
            <a:gdLst/>
            <a:ahLst/>
            <a:rect l="0" t="0" r="r" b="b"/>
            <a:pathLst>
              <a:path w="18310" h="1376">
                <a:moveTo>
                  <a:pt x="0" y="0"/>
                </a:moveTo>
                <a:lnTo>
                  <a:pt x="18310" y="0"/>
                </a:lnTo>
                <a:lnTo>
                  <a:pt x="1831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3" name=""/>
          <p:cNvSpPr/>
          <p:nvPr/>
        </p:nvSpPr>
        <p:spPr>
          <a:xfrm>
            <a:off x="5904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4" name=""/>
          <p:cNvSpPr/>
          <p:nvPr/>
        </p:nvSpPr>
        <p:spPr>
          <a:xfrm>
            <a:off x="590400" y="2581200"/>
            <a:ext cx="4420080" cy="9720"/>
          </a:xfrm>
          <a:custGeom>
            <a:avLst/>
            <a:gdLst/>
            <a:ahLst/>
            <a:rect l="0" t="0" r="r" b="b"/>
            <a:pathLst>
              <a:path w="12278" h="27">
                <a:moveTo>
                  <a:pt x="0" y="0"/>
                </a:moveTo>
                <a:lnTo>
                  <a:pt x="12278" y="0"/>
                </a:lnTo>
                <a:lnTo>
                  <a:pt x="122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5" name=""/>
          <p:cNvSpPr/>
          <p:nvPr/>
        </p:nvSpPr>
        <p:spPr>
          <a:xfrm>
            <a:off x="500040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6" name=""/>
          <p:cNvSpPr/>
          <p:nvPr/>
        </p:nvSpPr>
        <p:spPr>
          <a:xfrm>
            <a:off x="5010120" y="2581200"/>
            <a:ext cx="6591600" cy="9720"/>
          </a:xfrm>
          <a:custGeom>
            <a:avLst/>
            <a:gdLst/>
            <a:ahLst/>
            <a:rect l="0" t="0" r="r" b="b"/>
            <a:pathLst>
              <a:path w="18310" h="27">
                <a:moveTo>
                  <a:pt x="0" y="0"/>
                </a:moveTo>
                <a:lnTo>
                  <a:pt x="18310" y="0"/>
                </a:lnTo>
                <a:lnTo>
                  <a:pt x="183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7" name=""/>
          <p:cNvSpPr/>
          <p:nvPr/>
        </p:nvSpPr>
        <p:spPr>
          <a:xfrm>
            <a:off x="115916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8" name=""/>
          <p:cNvSpPr/>
          <p:nvPr/>
        </p:nvSpPr>
        <p:spPr>
          <a:xfrm>
            <a:off x="590400" y="3076560"/>
            <a:ext cx="4420080" cy="9720"/>
          </a:xfrm>
          <a:custGeom>
            <a:avLst/>
            <a:gdLst/>
            <a:ahLst/>
            <a:rect l="0" t="0" r="r" b="b"/>
            <a:pathLst>
              <a:path w="12278" h="27">
                <a:moveTo>
                  <a:pt x="0" y="0"/>
                </a:moveTo>
                <a:lnTo>
                  <a:pt x="12278" y="0"/>
                </a:lnTo>
                <a:lnTo>
                  <a:pt x="122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9" name=""/>
          <p:cNvSpPr/>
          <p:nvPr/>
        </p:nvSpPr>
        <p:spPr>
          <a:xfrm>
            <a:off x="5010120" y="3076560"/>
            <a:ext cx="6591600" cy="9720"/>
          </a:xfrm>
          <a:custGeom>
            <a:avLst/>
            <a:gdLst/>
            <a:ahLst/>
            <a:rect l="0" t="0" r="r" b="b"/>
            <a:pathLst>
              <a:path w="18310" h="27">
                <a:moveTo>
                  <a:pt x="0" y="0"/>
                </a:moveTo>
                <a:lnTo>
                  <a:pt x="18310" y="0"/>
                </a:lnTo>
                <a:lnTo>
                  <a:pt x="183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0" name=""/>
          <p:cNvSpPr/>
          <p:nvPr/>
        </p:nvSpPr>
        <p:spPr>
          <a:xfrm>
            <a:off x="5904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1" name=""/>
          <p:cNvSpPr/>
          <p:nvPr/>
        </p:nvSpPr>
        <p:spPr>
          <a:xfrm>
            <a:off x="500040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2" name=""/>
          <p:cNvSpPr/>
          <p:nvPr/>
        </p:nvSpPr>
        <p:spPr>
          <a:xfrm>
            <a:off x="115916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3" name=""/>
          <p:cNvSpPr/>
          <p:nvPr/>
        </p:nvSpPr>
        <p:spPr>
          <a:xfrm>
            <a:off x="5904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4" name=""/>
          <p:cNvSpPr/>
          <p:nvPr/>
        </p:nvSpPr>
        <p:spPr>
          <a:xfrm>
            <a:off x="590400" y="3571560"/>
            <a:ext cx="4420080" cy="10080"/>
          </a:xfrm>
          <a:custGeom>
            <a:avLst/>
            <a:gdLst/>
            <a:ahLst/>
            <a:rect l="0" t="0" r="r" b="b"/>
            <a:pathLst>
              <a:path w="12278" h="28">
                <a:moveTo>
                  <a:pt x="0" y="0"/>
                </a:moveTo>
                <a:lnTo>
                  <a:pt x="12278" y="0"/>
                </a:lnTo>
                <a:lnTo>
                  <a:pt x="122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5" name=""/>
          <p:cNvSpPr/>
          <p:nvPr/>
        </p:nvSpPr>
        <p:spPr>
          <a:xfrm>
            <a:off x="500040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6" name=""/>
          <p:cNvSpPr/>
          <p:nvPr/>
        </p:nvSpPr>
        <p:spPr>
          <a:xfrm>
            <a:off x="5010120" y="3571560"/>
            <a:ext cx="6591600" cy="10080"/>
          </a:xfrm>
          <a:custGeom>
            <a:avLst/>
            <a:gdLst/>
            <a:ahLst/>
            <a:rect l="0" t="0" r="r" b="b"/>
            <a:pathLst>
              <a:path w="18310" h="28">
                <a:moveTo>
                  <a:pt x="0" y="0"/>
                </a:moveTo>
                <a:lnTo>
                  <a:pt x="18310" y="0"/>
                </a:lnTo>
                <a:lnTo>
                  <a:pt x="183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7" name=""/>
          <p:cNvSpPr/>
          <p:nvPr/>
        </p:nvSpPr>
        <p:spPr>
          <a:xfrm>
            <a:off x="115916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8" name=""/>
          <p:cNvSpPr/>
          <p:nvPr/>
        </p:nvSpPr>
        <p:spPr>
          <a:xfrm>
            <a:off x="5904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9" name=""/>
          <p:cNvSpPr/>
          <p:nvPr/>
        </p:nvSpPr>
        <p:spPr>
          <a:xfrm>
            <a:off x="590400" y="4066920"/>
            <a:ext cx="4420080" cy="10080"/>
          </a:xfrm>
          <a:custGeom>
            <a:avLst/>
            <a:gdLst/>
            <a:ahLst/>
            <a:rect l="0" t="0" r="r" b="b"/>
            <a:pathLst>
              <a:path w="12278" h="28">
                <a:moveTo>
                  <a:pt x="0" y="0"/>
                </a:moveTo>
                <a:lnTo>
                  <a:pt x="12278" y="0"/>
                </a:lnTo>
                <a:lnTo>
                  <a:pt x="122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0" name=""/>
          <p:cNvSpPr/>
          <p:nvPr/>
        </p:nvSpPr>
        <p:spPr>
          <a:xfrm>
            <a:off x="500040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1" name=""/>
          <p:cNvSpPr/>
          <p:nvPr/>
        </p:nvSpPr>
        <p:spPr>
          <a:xfrm>
            <a:off x="5010120" y="4066920"/>
            <a:ext cx="6591600" cy="10080"/>
          </a:xfrm>
          <a:custGeom>
            <a:avLst/>
            <a:gdLst/>
            <a:ahLst/>
            <a:rect l="0" t="0" r="r" b="b"/>
            <a:pathLst>
              <a:path w="18310" h="28">
                <a:moveTo>
                  <a:pt x="0" y="0"/>
                </a:moveTo>
                <a:lnTo>
                  <a:pt x="18310" y="0"/>
                </a:lnTo>
                <a:lnTo>
                  <a:pt x="183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2" name=""/>
          <p:cNvSpPr/>
          <p:nvPr/>
        </p:nvSpPr>
        <p:spPr>
          <a:xfrm>
            <a:off x="115916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3" name=""/>
          <p:cNvSpPr/>
          <p:nvPr/>
        </p:nvSpPr>
        <p:spPr>
          <a:xfrm>
            <a:off x="590400" y="4562280"/>
            <a:ext cx="4420080" cy="9720"/>
          </a:xfrm>
          <a:custGeom>
            <a:avLst/>
            <a:gdLst/>
            <a:ahLst/>
            <a:rect l="0" t="0" r="r" b="b"/>
            <a:pathLst>
              <a:path w="12278" h="27">
                <a:moveTo>
                  <a:pt x="0" y="0"/>
                </a:moveTo>
                <a:lnTo>
                  <a:pt x="12278" y="0"/>
                </a:lnTo>
                <a:lnTo>
                  <a:pt x="122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4" name=""/>
          <p:cNvSpPr/>
          <p:nvPr/>
        </p:nvSpPr>
        <p:spPr>
          <a:xfrm>
            <a:off x="5010120" y="4562280"/>
            <a:ext cx="6591600" cy="9720"/>
          </a:xfrm>
          <a:custGeom>
            <a:avLst/>
            <a:gdLst/>
            <a:ahLst/>
            <a:rect l="0" t="0" r="r" b="b"/>
            <a:pathLst>
              <a:path w="18310" h="27">
                <a:moveTo>
                  <a:pt x="0" y="0"/>
                </a:moveTo>
                <a:lnTo>
                  <a:pt x="18310" y="0"/>
                </a:lnTo>
                <a:lnTo>
                  <a:pt x="183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590400" y="1272240"/>
            <a:ext cx="581587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モデルが情報を読み取る仕組み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590400" y="2095560"/>
            <a:ext cx="1039015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アテンション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は、次のコードを作るときに、どこから情報を読むかを決める仕組み。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714240" y="272088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参照できる情報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5125680" y="272088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内容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714240" y="3215880"/>
            <a:ext cx="144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日本語の指示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5125680" y="3215880"/>
            <a:ext cx="38423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「偶数」「残す」など、求める処理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714240" y="3711240"/>
            <a:ext cx="24020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すでに生成したコード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5125680" y="371124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変数名、構文、処理の続き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714240" y="4206600"/>
            <a:ext cx="144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開始の印など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5125680" y="4206600"/>
            <a:ext cx="24020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入力の始まりや区切り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590400" y="4819680"/>
            <a:ext cx="765610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参照割合だけでは、その情報が必要だったかは確定できない。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590400" y="5353200"/>
            <a:ext cx="710920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情報の受け渡しを止めて、生成結果が変わるかを調べる。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590400" y="786240"/>
            <a:ext cx="498538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アテンションの図の読み方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3143160" y="1482480"/>
            <a:ext cx="21619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入力の指示・区切り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6915240" y="148248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生成済みコード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1619280" y="3007440"/>
            <a:ext cx="50549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1619280" y="3350520"/>
            <a:ext cx="10101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ステップ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736" name=""/>
          <p:cNvPicPr/>
          <p:nvPr/>
        </p:nvPicPr>
        <p:blipFill>
          <a:blip r:embed="rId1"/>
          <a:stretch/>
        </p:blipFill>
        <p:spPr>
          <a:xfrm>
            <a:off x="3143160" y="1828800"/>
            <a:ext cx="5238360" cy="32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7" name=""/>
          <p:cNvSpPr txBox="1"/>
          <p:nvPr/>
        </p:nvSpPr>
        <p:spPr>
          <a:xfrm>
            <a:off x="1619280" y="3683880"/>
            <a:ext cx="25336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8715240" y="3007440"/>
            <a:ext cx="12627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薄い：弱い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8715240" y="3683880"/>
            <a:ext cx="12627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濃い：強い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4572000" y="5256720"/>
            <a:ext cx="350575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横：参照するトークン位置 →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590400" y="5848200"/>
            <a:ext cx="700239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濃い位置ほど強く参照。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エポックの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L8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H5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590400" y="203760"/>
            <a:ext cx="24612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5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11705760" y="645732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0400" y="725760"/>
            <a:ext cx="4484862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748" name=""/>
          <p:cNvPicPr/>
          <p:nvPr/>
        </p:nvPicPr>
        <p:blipFill>
          <a:blip r:embed="rId1"/>
          <a:stretch/>
        </p:blipFill>
        <p:spPr>
          <a:xfrm>
            <a:off x="2600280" y="1781280"/>
            <a:ext cx="69908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9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590400" y="5569920"/>
            <a:ext cx="82386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生成結果：未定義の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result 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を参照し、この指示では実行できなかった。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590400" y="725760"/>
            <a:ext cx="664677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L1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L3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758" name=""/>
          <p:cNvPicPr/>
          <p:nvPr/>
        </p:nvPicPr>
        <p:blipFill>
          <a:blip r:embed="rId1"/>
          <a:stretch/>
        </p:blipFill>
        <p:spPr>
          <a:xfrm>
            <a:off x="2600280" y="1781280"/>
            <a:ext cx="69908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9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590400" y="5569920"/>
            <a:ext cx="873829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生成結果：絶対値の処理は生成したが、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加算が入り、降順の処理が抜けた。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590400" y="725760"/>
            <a:ext cx="664677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L4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L5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768" name=""/>
          <p:cNvPicPr/>
          <p:nvPr/>
        </p:nvPicPr>
        <p:blipFill>
          <a:blip r:embed="rId1"/>
          <a:stretch/>
        </p:blipFill>
        <p:spPr>
          <a:xfrm>
            <a:off x="866880" y="1781280"/>
            <a:ext cx="1045800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9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590400" y="5569920"/>
            <a:ext cx="873829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生成結果：絶対値の処理は生成したが、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加算が入り、降順の処理が抜けた。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590400" y="725760"/>
            <a:ext cx="691173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L1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L4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778" name=""/>
          <p:cNvPicPr/>
          <p:nvPr/>
        </p:nvPicPr>
        <p:blipFill>
          <a:blip r:embed="rId1"/>
          <a:stretch/>
        </p:blipFill>
        <p:spPr>
          <a:xfrm>
            <a:off x="2124000" y="1781280"/>
            <a:ext cx="794340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9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590400" y="5569920"/>
            <a:ext cx="681485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生成結果：絶対値を取って降順に並べるコードを生成した。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590400" y="725760"/>
            <a:ext cx="691173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L5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L8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788" name=""/>
          <p:cNvPicPr/>
          <p:nvPr/>
        </p:nvPicPr>
        <p:blipFill>
          <a:blip r:embed="rId1"/>
          <a:stretch/>
        </p:blipFill>
        <p:spPr>
          <a:xfrm>
            <a:off x="2124000" y="1781280"/>
            <a:ext cx="794340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9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590400" y="5569920"/>
            <a:ext cx="681485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生成結果：絶対値を取って降順に並べるコードを生成した。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7" name=""/>
          <p:cNvSpPr/>
          <p:nvPr/>
        </p:nvSpPr>
        <p:spPr>
          <a:xfrm>
            <a:off x="599760" y="259056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8" name=""/>
          <p:cNvSpPr/>
          <p:nvPr/>
        </p:nvSpPr>
        <p:spPr>
          <a:xfrm>
            <a:off x="2609640" y="259056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9" name=""/>
          <p:cNvSpPr/>
          <p:nvPr/>
        </p:nvSpPr>
        <p:spPr>
          <a:xfrm>
            <a:off x="5628960" y="259056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0" name=""/>
          <p:cNvSpPr/>
          <p:nvPr/>
        </p:nvSpPr>
        <p:spPr>
          <a:xfrm>
            <a:off x="599760" y="259056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1" name=""/>
          <p:cNvSpPr/>
          <p:nvPr/>
        </p:nvSpPr>
        <p:spPr>
          <a:xfrm>
            <a:off x="2609640" y="259056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2" name=""/>
          <p:cNvSpPr/>
          <p:nvPr/>
        </p:nvSpPr>
        <p:spPr>
          <a:xfrm>
            <a:off x="5628960" y="259056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3" name=""/>
          <p:cNvSpPr/>
          <p:nvPr/>
        </p:nvSpPr>
        <p:spPr>
          <a:xfrm>
            <a:off x="599760" y="308592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4" name=""/>
          <p:cNvSpPr/>
          <p:nvPr/>
        </p:nvSpPr>
        <p:spPr>
          <a:xfrm>
            <a:off x="2609640" y="308592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5" name=""/>
          <p:cNvSpPr/>
          <p:nvPr/>
        </p:nvSpPr>
        <p:spPr>
          <a:xfrm>
            <a:off x="5628960" y="308592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6" name=""/>
          <p:cNvSpPr/>
          <p:nvPr/>
        </p:nvSpPr>
        <p:spPr>
          <a:xfrm>
            <a:off x="599760" y="358128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7" name=""/>
          <p:cNvSpPr/>
          <p:nvPr/>
        </p:nvSpPr>
        <p:spPr>
          <a:xfrm>
            <a:off x="2609640" y="358128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8" name=""/>
          <p:cNvSpPr/>
          <p:nvPr/>
        </p:nvSpPr>
        <p:spPr>
          <a:xfrm>
            <a:off x="5628960" y="358128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9" name=""/>
          <p:cNvSpPr/>
          <p:nvPr/>
        </p:nvSpPr>
        <p:spPr>
          <a:xfrm>
            <a:off x="599760" y="4076640"/>
            <a:ext cx="2010240" cy="495360"/>
          </a:xfrm>
          <a:custGeom>
            <a:avLst/>
            <a:gdLst/>
            <a:ahLst/>
            <a:rect l="0" t="0" r="r" b="b"/>
            <a:pathLst>
              <a:path w="5584" h="1376">
                <a:moveTo>
                  <a:pt x="0" y="0"/>
                </a:moveTo>
                <a:lnTo>
                  <a:pt x="5584" y="0"/>
                </a:lnTo>
                <a:lnTo>
                  <a:pt x="5584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0" name=""/>
          <p:cNvSpPr/>
          <p:nvPr/>
        </p:nvSpPr>
        <p:spPr>
          <a:xfrm>
            <a:off x="2609640" y="4076640"/>
            <a:ext cx="3019680" cy="495360"/>
          </a:xfrm>
          <a:custGeom>
            <a:avLst/>
            <a:gdLst/>
            <a:ahLst/>
            <a:rect l="0" t="0" r="r" b="b"/>
            <a:pathLst>
              <a:path w="8388" h="1376">
                <a:moveTo>
                  <a:pt x="0" y="0"/>
                </a:moveTo>
                <a:lnTo>
                  <a:pt x="8388" y="0"/>
                </a:lnTo>
                <a:lnTo>
                  <a:pt x="838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1" name=""/>
          <p:cNvSpPr/>
          <p:nvPr/>
        </p:nvSpPr>
        <p:spPr>
          <a:xfrm>
            <a:off x="5628960" y="4076640"/>
            <a:ext cx="5972760" cy="495360"/>
          </a:xfrm>
          <a:custGeom>
            <a:avLst/>
            <a:gdLst/>
            <a:ahLst/>
            <a:rect l="0" t="0" r="r" b="b"/>
            <a:pathLst>
              <a:path w="16591" h="1376">
                <a:moveTo>
                  <a:pt x="0" y="0"/>
                </a:moveTo>
                <a:lnTo>
                  <a:pt x="16591" y="0"/>
                </a:lnTo>
                <a:lnTo>
                  <a:pt x="16591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2" name=""/>
          <p:cNvSpPr/>
          <p:nvPr/>
        </p:nvSpPr>
        <p:spPr>
          <a:xfrm>
            <a:off x="5904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3" name=""/>
          <p:cNvSpPr/>
          <p:nvPr/>
        </p:nvSpPr>
        <p:spPr>
          <a:xfrm>
            <a:off x="590400" y="258120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4" name=""/>
          <p:cNvSpPr/>
          <p:nvPr/>
        </p:nvSpPr>
        <p:spPr>
          <a:xfrm>
            <a:off x="260028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5" name=""/>
          <p:cNvSpPr/>
          <p:nvPr/>
        </p:nvSpPr>
        <p:spPr>
          <a:xfrm>
            <a:off x="2609640" y="2581200"/>
            <a:ext cx="3019680" cy="9720"/>
          </a:xfrm>
          <a:custGeom>
            <a:avLst/>
            <a:gdLst/>
            <a:ahLst/>
            <a:rect l="0" t="0" r="r" b="b"/>
            <a:pathLst>
              <a:path w="8388" h="27">
                <a:moveTo>
                  <a:pt x="0" y="0"/>
                </a:moveTo>
                <a:lnTo>
                  <a:pt x="8388" y="0"/>
                </a:lnTo>
                <a:lnTo>
                  <a:pt x="8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6" name=""/>
          <p:cNvSpPr/>
          <p:nvPr/>
        </p:nvSpPr>
        <p:spPr>
          <a:xfrm>
            <a:off x="56196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7" name=""/>
          <p:cNvSpPr/>
          <p:nvPr/>
        </p:nvSpPr>
        <p:spPr>
          <a:xfrm>
            <a:off x="5628960" y="2581200"/>
            <a:ext cx="5972760" cy="9720"/>
          </a:xfrm>
          <a:custGeom>
            <a:avLst/>
            <a:gdLst/>
            <a:ahLst/>
            <a:rect l="0" t="0" r="r" b="b"/>
            <a:pathLst>
              <a:path w="16591" h="27">
                <a:moveTo>
                  <a:pt x="0" y="0"/>
                </a:moveTo>
                <a:lnTo>
                  <a:pt x="16591" y="0"/>
                </a:lnTo>
                <a:lnTo>
                  <a:pt x="165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8" name=""/>
          <p:cNvSpPr/>
          <p:nvPr/>
        </p:nvSpPr>
        <p:spPr>
          <a:xfrm>
            <a:off x="115916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9" name=""/>
          <p:cNvSpPr/>
          <p:nvPr/>
        </p:nvSpPr>
        <p:spPr>
          <a:xfrm>
            <a:off x="590400" y="30765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0" name=""/>
          <p:cNvSpPr/>
          <p:nvPr/>
        </p:nvSpPr>
        <p:spPr>
          <a:xfrm>
            <a:off x="2609640" y="3076560"/>
            <a:ext cx="3019680" cy="9720"/>
          </a:xfrm>
          <a:custGeom>
            <a:avLst/>
            <a:gdLst/>
            <a:ahLst/>
            <a:rect l="0" t="0" r="r" b="b"/>
            <a:pathLst>
              <a:path w="8388" h="27">
                <a:moveTo>
                  <a:pt x="0" y="0"/>
                </a:moveTo>
                <a:lnTo>
                  <a:pt x="8388" y="0"/>
                </a:lnTo>
                <a:lnTo>
                  <a:pt x="8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1" name=""/>
          <p:cNvSpPr/>
          <p:nvPr/>
        </p:nvSpPr>
        <p:spPr>
          <a:xfrm>
            <a:off x="5628960" y="3076560"/>
            <a:ext cx="5972760" cy="9720"/>
          </a:xfrm>
          <a:custGeom>
            <a:avLst/>
            <a:gdLst/>
            <a:ahLst/>
            <a:rect l="0" t="0" r="r" b="b"/>
            <a:pathLst>
              <a:path w="16591" h="27">
                <a:moveTo>
                  <a:pt x="0" y="0"/>
                </a:moveTo>
                <a:lnTo>
                  <a:pt x="16591" y="0"/>
                </a:lnTo>
                <a:lnTo>
                  <a:pt x="165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2" name=""/>
          <p:cNvSpPr/>
          <p:nvPr/>
        </p:nvSpPr>
        <p:spPr>
          <a:xfrm>
            <a:off x="5904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3" name=""/>
          <p:cNvSpPr/>
          <p:nvPr/>
        </p:nvSpPr>
        <p:spPr>
          <a:xfrm>
            <a:off x="260028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4" name=""/>
          <p:cNvSpPr/>
          <p:nvPr/>
        </p:nvSpPr>
        <p:spPr>
          <a:xfrm>
            <a:off x="56196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5" name=""/>
          <p:cNvSpPr/>
          <p:nvPr/>
        </p:nvSpPr>
        <p:spPr>
          <a:xfrm>
            <a:off x="115916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6" name=""/>
          <p:cNvSpPr/>
          <p:nvPr/>
        </p:nvSpPr>
        <p:spPr>
          <a:xfrm>
            <a:off x="5904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7" name=""/>
          <p:cNvSpPr/>
          <p:nvPr/>
        </p:nvSpPr>
        <p:spPr>
          <a:xfrm>
            <a:off x="590400" y="357156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8" name=""/>
          <p:cNvSpPr/>
          <p:nvPr/>
        </p:nvSpPr>
        <p:spPr>
          <a:xfrm>
            <a:off x="260028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9" name=""/>
          <p:cNvSpPr/>
          <p:nvPr/>
        </p:nvSpPr>
        <p:spPr>
          <a:xfrm>
            <a:off x="2609640" y="3571560"/>
            <a:ext cx="3019680" cy="10080"/>
          </a:xfrm>
          <a:custGeom>
            <a:avLst/>
            <a:gdLst/>
            <a:ahLst/>
            <a:rect l="0" t="0" r="r" b="b"/>
            <a:pathLst>
              <a:path w="8388" h="28">
                <a:moveTo>
                  <a:pt x="0" y="0"/>
                </a:moveTo>
                <a:lnTo>
                  <a:pt x="8388" y="0"/>
                </a:lnTo>
                <a:lnTo>
                  <a:pt x="8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0" name=""/>
          <p:cNvSpPr/>
          <p:nvPr/>
        </p:nvSpPr>
        <p:spPr>
          <a:xfrm>
            <a:off x="56196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1" name=""/>
          <p:cNvSpPr/>
          <p:nvPr/>
        </p:nvSpPr>
        <p:spPr>
          <a:xfrm>
            <a:off x="5628960" y="3571560"/>
            <a:ext cx="5972760" cy="10080"/>
          </a:xfrm>
          <a:custGeom>
            <a:avLst/>
            <a:gdLst/>
            <a:ahLst/>
            <a:rect l="0" t="0" r="r" b="b"/>
            <a:pathLst>
              <a:path w="16591" h="28">
                <a:moveTo>
                  <a:pt x="0" y="0"/>
                </a:moveTo>
                <a:lnTo>
                  <a:pt x="16591" y="0"/>
                </a:lnTo>
                <a:lnTo>
                  <a:pt x="165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2" name=""/>
          <p:cNvSpPr/>
          <p:nvPr/>
        </p:nvSpPr>
        <p:spPr>
          <a:xfrm>
            <a:off x="115916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3" name=""/>
          <p:cNvSpPr/>
          <p:nvPr/>
        </p:nvSpPr>
        <p:spPr>
          <a:xfrm>
            <a:off x="5904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4" name=""/>
          <p:cNvSpPr/>
          <p:nvPr/>
        </p:nvSpPr>
        <p:spPr>
          <a:xfrm>
            <a:off x="590400" y="406692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5" name=""/>
          <p:cNvSpPr/>
          <p:nvPr/>
        </p:nvSpPr>
        <p:spPr>
          <a:xfrm>
            <a:off x="260028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6" name=""/>
          <p:cNvSpPr/>
          <p:nvPr/>
        </p:nvSpPr>
        <p:spPr>
          <a:xfrm>
            <a:off x="2609640" y="4066920"/>
            <a:ext cx="3019680" cy="10080"/>
          </a:xfrm>
          <a:custGeom>
            <a:avLst/>
            <a:gdLst/>
            <a:ahLst/>
            <a:rect l="0" t="0" r="r" b="b"/>
            <a:pathLst>
              <a:path w="8388" h="28">
                <a:moveTo>
                  <a:pt x="0" y="0"/>
                </a:moveTo>
                <a:lnTo>
                  <a:pt x="8388" y="0"/>
                </a:lnTo>
                <a:lnTo>
                  <a:pt x="8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7" name=""/>
          <p:cNvSpPr/>
          <p:nvPr/>
        </p:nvSpPr>
        <p:spPr>
          <a:xfrm>
            <a:off x="56196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8" name=""/>
          <p:cNvSpPr/>
          <p:nvPr/>
        </p:nvSpPr>
        <p:spPr>
          <a:xfrm>
            <a:off x="5628960" y="4066920"/>
            <a:ext cx="5972760" cy="10080"/>
          </a:xfrm>
          <a:custGeom>
            <a:avLst/>
            <a:gdLst/>
            <a:ahLst/>
            <a:rect l="0" t="0" r="r" b="b"/>
            <a:pathLst>
              <a:path w="16591" h="28">
                <a:moveTo>
                  <a:pt x="0" y="0"/>
                </a:moveTo>
                <a:lnTo>
                  <a:pt x="16591" y="0"/>
                </a:lnTo>
                <a:lnTo>
                  <a:pt x="165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9" name=""/>
          <p:cNvSpPr/>
          <p:nvPr/>
        </p:nvSpPr>
        <p:spPr>
          <a:xfrm>
            <a:off x="115916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0" name=""/>
          <p:cNvSpPr/>
          <p:nvPr/>
        </p:nvSpPr>
        <p:spPr>
          <a:xfrm>
            <a:off x="590400" y="456228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1" name=""/>
          <p:cNvSpPr/>
          <p:nvPr/>
        </p:nvSpPr>
        <p:spPr>
          <a:xfrm>
            <a:off x="2609640" y="4562280"/>
            <a:ext cx="3019680" cy="9720"/>
          </a:xfrm>
          <a:custGeom>
            <a:avLst/>
            <a:gdLst/>
            <a:ahLst/>
            <a:rect l="0" t="0" r="r" b="b"/>
            <a:pathLst>
              <a:path w="8388" h="27">
                <a:moveTo>
                  <a:pt x="0" y="0"/>
                </a:moveTo>
                <a:lnTo>
                  <a:pt x="8388" y="0"/>
                </a:lnTo>
                <a:lnTo>
                  <a:pt x="8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2" name=""/>
          <p:cNvSpPr/>
          <p:nvPr/>
        </p:nvSpPr>
        <p:spPr>
          <a:xfrm>
            <a:off x="5628960" y="4562280"/>
            <a:ext cx="5972760" cy="9720"/>
          </a:xfrm>
          <a:custGeom>
            <a:avLst/>
            <a:gdLst/>
            <a:ahLst/>
            <a:rect l="0" t="0" r="r" b="b"/>
            <a:pathLst>
              <a:path w="16591" h="27">
                <a:moveTo>
                  <a:pt x="0" y="0"/>
                </a:moveTo>
                <a:lnTo>
                  <a:pt x="16591" y="0"/>
                </a:lnTo>
                <a:lnTo>
                  <a:pt x="165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590400" y="12722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指示の情報を止めると合格数が落ちる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590400" y="2095560"/>
            <a:ext cx="748139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モデル。学習時に準拠した文型で、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操作を診断。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71424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4458240" y="2720880"/>
            <a:ext cx="12014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通常の生成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9172440" y="2720880"/>
            <a:ext cx="26421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指示の情報を止めた生成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714240" y="321588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4853160" y="3215880"/>
            <a:ext cx="74892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10799280" y="3215880"/>
            <a:ext cx="7779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714240" y="371124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4715640" y="3711240"/>
            <a:ext cx="9066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22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10799280" y="3711240"/>
            <a:ext cx="7779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714240" y="4206600"/>
            <a:ext cx="5431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4715640" y="4206600"/>
            <a:ext cx="9066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22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10799280" y="4206600"/>
            <a:ext cx="7779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590400" y="4819680"/>
            <a:ext cx="683596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指示から受け取る情報が、操作の選択に寄与している。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590400" y="5353200"/>
            <a:ext cx="773600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操作の内部診断。冒頭変更の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操作、固定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テストとは別。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3" name=""/>
          <p:cNvSpPr/>
          <p:nvPr/>
        </p:nvSpPr>
        <p:spPr>
          <a:xfrm>
            <a:off x="599760" y="2428560"/>
            <a:ext cx="3962880" cy="467280"/>
          </a:xfrm>
          <a:custGeom>
            <a:avLst/>
            <a:gdLst/>
            <a:ahLst/>
            <a:rect l="0" t="0" r="r" b="b"/>
            <a:pathLst>
              <a:path w="11008" h="1298">
                <a:moveTo>
                  <a:pt x="0" y="0"/>
                </a:moveTo>
                <a:lnTo>
                  <a:pt x="11008" y="0"/>
                </a:lnTo>
                <a:lnTo>
                  <a:pt x="1100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4" name=""/>
          <p:cNvSpPr/>
          <p:nvPr/>
        </p:nvSpPr>
        <p:spPr>
          <a:xfrm>
            <a:off x="4562280" y="2428560"/>
            <a:ext cx="7039440" cy="467280"/>
          </a:xfrm>
          <a:custGeom>
            <a:avLst/>
            <a:gdLst/>
            <a:ahLst/>
            <a:rect l="0" t="0" r="r" b="b"/>
            <a:pathLst>
              <a:path w="19554" h="1298">
                <a:moveTo>
                  <a:pt x="0" y="0"/>
                </a:moveTo>
                <a:lnTo>
                  <a:pt x="19554" y="0"/>
                </a:lnTo>
                <a:lnTo>
                  <a:pt x="1955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5" name=""/>
          <p:cNvSpPr/>
          <p:nvPr/>
        </p:nvSpPr>
        <p:spPr>
          <a:xfrm>
            <a:off x="599760" y="2428560"/>
            <a:ext cx="3962880" cy="467280"/>
          </a:xfrm>
          <a:custGeom>
            <a:avLst/>
            <a:gdLst/>
            <a:ahLst/>
            <a:rect l="0" t="0" r="r" b="b"/>
            <a:pathLst>
              <a:path w="11008" h="1298">
                <a:moveTo>
                  <a:pt x="0" y="0"/>
                </a:moveTo>
                <a:lnTo>
                  <a:pt x="11008" y="0"/>
                </a:lnTo>
                <a:lnTo>
                  <a:pt x="1100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6" name=""/>
          <p:cNvSpPr/>
          <p:nvPr/>
        </p:nvSpPr>
        <p:spPr>
          <a:xfrm>
            <a:off x="4562280" y="2428560"/>
            <a:ext cx="7039440" cy="467280"/>
          </a:xfrm>
          <a:custGeom>
            <a:avLst/>
            <a:gdLst/>
            <a:ahLst/>
            <a:rect l="0" t="0" r="r" b="b"/>
            <a:pathLst>
              <a:path w="19554" h="1298">
                <a:moveTo>
                  <a:pt x="0" y="0"/>
                </a:moveTo>
                <a:lnTo>
                  <a:pt x="19554" y="0"/>
                </a:lnTo>
                <a:lnTo>
                  <a:pt x="1955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7" name=""/>
          <p:cNvSpPr/>
          <p:nvPr/>
        </p:nvSpPr>
        <p:spPr>
          <a:xfrm>
            <a:off x="599760" y="2895480"/>
            <a:ext cx="3962880" cy="466920"/>
          </a:xfrm>
          <a:custGeom>
            <a:avLst/>
            <a:gdLst/>
            <a:ahLst/>
            <a:rect l="0" t="0" r="r" b="b"/>
            <a:pathLst>
              <a:path w="11008" h="1297">
                <a:moveTo>
                  <a:pt x="0" y="0"/>
                </a:moveTo>
                <a:lnTo>
                  <a:pt x="11008" y="0"/>
                </a:lnTo>
                <a:lnTo>
                  <a:pt x="1100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8" name=""/>
          <p:cNvSpPr/>
          <p:nvPr/>
        </p:nvSpPr>
        <p:spPr>
          <a:xfrm>
            <a:off x="4562280" y="2895480"/>
            <a:ext cx="7039440" cy="466920"/>
          </a:xfrm>
          <a:custGeom>
            <a:avLst/>
            <a:gdLst/>
            <a:ahLst/>
            <a:rect l="0" t="0" r="r" b="b"/>
            <a:pathLst>
              <a:path w="19554" h="1297">
                <a:moveTo>
                  <a:pt x="0" y="0"/>
                </a:moveTo>
                <a:lnTo>
                  <a:pt x="19554" y="0"/>
                </a:lnTo>
                <a:lnTo>
                  <a:pt x="1955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9" name=""/>
          <p:cNvSpPr/>
          <p:nvPr/>
        </p:nvSpPr>
        <p:spPr>
          <a:xfrm>
            <a:off x="599760" y="3362040"/>
            <a:ext cx="3962880" cy="467280"/>
          </a:xfrm>
          <a:custGeom>
            <a:avLst/>
            <a:gdLst/>
            <a:ahLst/>
            <a:rect l="0" t="0" r="r" b="b"/>
            <a:pathLst>
              <a:path w="11008" h="1298">
                <a:moveTo>
                  <a:pt x="0" y="0"/>
                </a:moveTo>
                <a:lnTo>
                  <a:pt x="11008" y="0"/>
                </a:lnTo>
                <a:lnTo>
                  <a:pt x="1100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0" name=""/>
          <p:cNvSpPr/>
          <p:nvPr/>
        </p:nvSpPr>
        <p:spPr>
          <a:xfrm>
            <a:off x="4562280" y="3362040"/>
            <a:ext cx="7039440" cy="467280"/>
          </a:xfrm>
          <a:custGeom>
            <a:avLst/>
            <a:gdLst/>
            <a:ahLst/>
            <a:rect l="0" t="0" r="r" b="b"/>
            <a:pathLst>
              <a:path w="19554" h="1298">
                <a:moveTo>
                  <a:pt x="0" y="0"/>
                </a:moveTo>
                <a:lnTo>
                  <a:pt x="19554" y="0"/>
                </a:lnTo>
                <a:lnTo>
                  <a:pt x="1955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1" name=""/>
          <p:cNvSpPr/>
          <p:nvPr/>
        </p:nvSpPr>
        <p:spPr>
          <a:xfrm>
            <a:off x="599760" y="3828960"/>
            <a:ext cx="3962880" cy="466920"/>
          </a:xfrm>
          <a:custGeom>
            <a:avLst/>
            <a:gdLst/>
            <a:ahLst/>
            <a:rect l="0" t="0" r="r" b="b"/>
            <a:pathLst>
              <a:path w="11008" h="1297">
                <a:moveTo>
                  <a:pt x="0" y="0"/>
                </a:moveTo>
                <a:lnTo>
                  <a:pt x="11008" y="0"/>
                </a:lnTo>
                <a:lnTo>
                  <a:pt x="1100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2" name=""/>
          <p:cNvSpPr/>
          <p:nvPr/>
        </p:nvSpPr>
        <p:spPr>
          <a:xfrm>
            <a:off x="4562280" y="3828960"/>
            <a:ext cx="7039440" cy="466920"/>
          </a:xfrm>
          <a:custGeom>
            <a:avLst/>
            <a:gdLst/>
            <a:ahLst/>
            <a:rect l="0" t="0" r="r" b="b"/>
            <a:pathLst>
              <a:path w="19554" h="1297">
                <a:moveTo>
                  <a:pt x="0" y="0"/>
                </a:moveTo>
                <a:lnTo>
                  <a:pt x="19554" y="0"/>
                </a:lnTo>
                <a:lnTo>
                  <a:pt x="1955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3" name=""/>
          <p:cNvSpPr/>
          <p:nvPr/>
        </p:nvSpPr>
        <p:spPr>
          <a:xfrm>
            <a:off x="590400" y="241920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4" name=""/>
          <p:cNvSpPr/>
          <p:nvPr/>
        </p:nvSpPr>
        <p:spPr>
          <a:xfrm>
            <a:off x="590400" y="241920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5" name=""/>
          <p:cNvSpPr/>
          <p:nvPr/>
        </p:nvSpPr>
        <p:spPr>
          <a:xfrm>
            <a:off x="4552920" y="241920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6" name=""/>
          <p:cNvSpPr/>
          <p:nvPr/>
        </p:nvSpPr>
        <p:spPr>
          <a:xfrm>
            <a:off x="4562280" y="2419200"/>
            <a:ext cx="7039440" cy="9720"/>
          </a:xfrm>
          <a:custGeom>
            <a:avLst/>
            <a:gdLst/>
            <a:ahLst/>
            <a:rect l="0" t="0" r="r" b="b"/>
            <a:pathLst>
              <a:path w="19554" h="27">
                <a:moveTo>
                  <a:pt x="0" y="0"/>
                </a:moveTo>
                <a:lnTo>
                  <a:pt x="19554" y="0"/>
                </a:lnTo>
                <a:lnTo>
                  <a:pt x="195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7" name=""/>
          <p:cNvSpPr/>
          <p:nvPr/>
        </p:nvSpPr>
        <p:spPr>
          <a:xfrm>
            <a:off x="11591640" y="241920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8" name=""/>
          <p:cNvSpPr/>
          <p:nvPr/>
        </p:nvSpPr>
        <p:spPr>
          <a:xfrm>
            <a:off x="590400" y="288576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9" name=""/>
          <p:cNvSpPr/>
          <p:nvPr/>
        </p:nvSpPr>
        <p:spPr>
          <a:xfrm>
            <a:off x="4562280" y="2885760"/>
            <a:ext cx="7039440" cy="10080"/>
          </a:xfrm>
          <a:custGeom>
            <a:avLst/>
            <a:gdLst/>
            <a:ahLst/>
            <a:rect l="0" t="0" r="r" b="b"/>
            <a:pathLst>
              <a:path w="19554" h="28">
                <a:moveTo>
                  <a:pt x="0" y="0"/>
                </a:moveTo>
                <a:lnTo>
                  <a:pt x="19554" y="0"/>
                </a:lnTo>
                <a:lnTo>
                  <a:pt x="195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0" name=""/>
          <p:cNvSpPr/>
          <p:nvPr/>
        </p:nvSpPr>
        <p:spPr>
          <a:xfrm>
            <a:off x="590400" y="2895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1" name=""/>
          <p:cNvSpPr/>
          <p:nvPr/>
        </p:nvSpPr>
        <p:spPr>
          <a:xfrm>
            <a:off x="4552920" y="2895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2" name=""/>
          <p:cNvSpPr/>
          <p:nvPr/>
        </p:nvSpPr>
        <p:spPr>
          <a:xfrm>
            <a:off x="11591640" y="28954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3" name=""/>
          <p:cNvSpPr/>
          <p:nvPr/>
        </p:nvSpPr>
        <p:spPr>
          <a:xfrm>
            <a:off x="590400" y="336204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4" name=""/>
          <p:cNvSpPr/>
          <p:nvPr/>
        </p:nvSpPr>
        <p:spPr>
          <a:xfrm>
            <a:off x="590400" y="335268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5" name=""/>
          <p:cNvSpPr/>
          <p:nvPr/>
        </p:nvSpPr>
        <p:spPr>
          <a:xfrm>
            <a:off x="4552920" y="336204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6" name=""/>
          <p:cNvSpPr/>
          <p:nvPr/>
        </p:nvSpPr>
        <p:spPr>
          <a:xfrm>
            <a:off x="4562280" y="3352680"/>
            <a:ext cx="7039440" cy="9720"/>
          </a:xfrm>
          <a:custGeom>
            <a:avLst/>
            <a:gdLst/>
            <a:ahLst/>
            <a:rect l="0" t="0" r="r" b="b"/>
            <a:pathLst>
              <a:path w="19554" h="27">
                <a:moveTo>
                  <a:pt x="0" y="0"/>
                </a:moveTo>
                <a:lnTo>
                  <a:pt x="19554" y="0"/>
                </a:lnTo>
                <a:lnTo>
                  <a:pt x="195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7" name=""/>
          <p:cNvSpPr/>
          <p:nvPr/>
        </p:nvSpPr>
        <p:spPr>
          <a:xfrm>
            <a:off x="11591640" y="336204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8" name=""/>
          <p:cNvSpPr/>
          <p:nvPr/>
        </p:nvSpPr>
        <p:spPr>
          <a:xfrm>
            <a:off x="590400" y="38289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9" name=""/>
          <p:cNvSpPr/>
          <p:nvPr/>
        </p:nvSpPr>
        <p:spPr>
          <a:xfrm>
            <a:off x="590400" y="381924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0" name=""/>
          <p:cNvSpPr/>
          <p:nvPr/>
        </p:nvSpPr>
        <p:spPr>
          <a:xfrm>
            <a:off x="4552920" y="38289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1" name=""/>
          <p:cNvSpPr/>
          <p:nvPr/>
        </p:nvSpPr>
        <p:spPr>
          <a:xfrm>
            <a:off x="4562280" y="3819240"/>
            <a:ext cx="7039440" cy="10080"/>
          </a:xfrm>
          <a:custGeom>
            <a:avLst/>
            <a:gdLst/>
            <a:ahLst/>
            <a:rect l="0" t="0" r="r" b="b"/>
            <a:pathLst>
              <a:path w="19554" h="28">
                <a:moveTo>
                  <a:pt x="0" y="0"/>
                </a:moveTo>
                <a:lnTo>
                  <a:pt x="19554" y="0"/>
                </a:lnTo>
                <a:lnTo>
                  <a:pt x="195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2" name=""/>
          <p:cNvSpPr/>
          <p:nvPr/>
        </p:nvSpPr>
        <p:spPr>
          <a:xfrm>
            <a:off x="11591640" y="38289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3" name=""/>
          <p:cNvSpPr/>
          <p:nvPr/>
        </p:nvSpPr>
        <p:spPr>
          <a:xfrm>
            <a:off x="590400" y="42861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4" name=""/>
          <p:cNvSpPr/>
          <p:nvPr/>
        </p:nvSpPr>
        <p:spPr>
          <a:xfrm>
            <a:off x="4562280" y="4286160"/>
            <a:ext cx="7039440" cy="9720"/>
          </a:xfrm>
          <a:custGeom>
            <a:avLst/>
            <a:gdLst/>
            <a:ahLst/>
            <a:rect l="0" t="0" r="r" b="b"/>
            <a:pathLst>
              <a:path w="19554" h="27">
                <a:moveTo>
                  <a:pt x="0" y="0"/>
                </a:moveTo>
                <a:lnTo>
                  <a:pt x="19554" y="0"/>
                </a:lnTo>
                <a:lnTo>
                  <a:pt x="195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590400" y="166284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評価では、表現を変えた場合も確かめる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723960" y="254196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調べること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4686120" y="254196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今回、分かったこと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723960" y="300888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決めた文型での動作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4686120" y="3008880"/>
            <a:ext cx="443311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は高い全体合格率を示した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723960" y="347544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未学習の言い換え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4686120" y="3475440"/>
            <a:ext cx="33881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でも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件中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件の合格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723960" y="394236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指示の冒頭の変更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4686120" y="3942360"/>
            <a:ext cx="39151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件中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件から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件へ低下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590400" y="454572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一種類のプロンプトでの精度に加え、表現を変えても性能が保たれるかを評価する必要があ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590400" y="4936320"/>
            <a:ext cx="59326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0" name=""/>
          <p:cNvSpPr/>
          <p:nvPr/>
        </p:nvSpPr>
        <p:spPr>
          <a:xfrm>
            <a:off x="599760" y="329544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1" name=""/>
          <p:cNvSpPr/>
          <p:nvPr/>
        </p:nvSpPr>
        <p:spPr>
          <a:xfrm>
            <a:off x="5047920" y="329544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2" name=""/>
          <p:cNvSpPr/>
          <p:nvPr/>
        </p:nvSpPr>
        <p:spPr>
          <a:xfrm>
            <a:off x="599760" y="329544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3" name=""/>
          <p:cNvSpPr/>
          <p:nvPr/>
        </p:nvSpPr>
        <p:spPr>
          <a:xfrm>
            <a:off x="5047920" y="329544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4" name=""/>
          <p:cNvSpPr/>
          <p:nvPr/>
        </p:nvSpPr>
        <p:spPr>
          <a:xfrm>
            <a:off x="599760" y="379080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5" name=""/>
          <p:cNvSpPr/>
          <p:nvPr/>
        </p:nvSpPr>
        <p:spPr>
          <a:xfrm>
            <a:off x="5047920" y="379080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6" name=""/>
          <p:cNvSpPr/>
          <p:nvPr/>
        </p:nvSpPr>
        <p:spPr>
          <a:xfrm>
            <a:off x="599760" y="428616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7" name=""/>
          <p:cNvSpPr/>
          <p:nvPr/>
        </p:nvSpPr>
        <p:spPr>
          <a:xfrm>
            <a:off x="5047920" y="428616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8" name=""/>
          <p:cNvSpPr/>
          <p:nvPr/>
        </p:nvSpPr>
        <p:spPr>
          <a:xfrm>
            <a:off x="599760" y="4781520"/>
            <a:ext cx="4448520" cy="495360"/>
          </a:xfrm>
          <a:custGeom>
            <a:avLst/>
            <a:gdLst/>
            <a:ahLst/>
            <a:rect l="0" t="0" r="r" b="b"/>
            <a:pathLst>
              <a:path w="12357" h="1376">
                <a:moveTo>
                  <a:pt x="0" y="0"/>
                </a:moveTo>
                <a:lnTo>
                  <a:pt x="12357" y="0"/>
                </a:lnTo>
                <a:lnTo>
                  <a:pt x="1235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9" name=""/>
          <p:cNvSpPr/>
          <p:nvPr/>
        </p:nvSpPr>
        <p:spPr>
          <a:xfrm>
            <a:off x="5047920" y="4781520"/>
            <a:ext cx="6553800" cy="495360"/>
          </a:xfrm>
          <a:custGeom>
            <a:avLst/>
            <a:gdLst/>
            <a:ahLst/>
            <a:rect l="0" t="0" r="r" b="b"/>
            <a:pathLst>
              <a:path w="18205" h="1376">
                <a:moveTo>
                  <a:pt x="0" y="0"/>
                </a:moveTo>
                <a:lnTo>
                  <a:pt x="18205" y="0"/>
                </a:lnTo>
                <a:lnTo>
                  <a:pt x="18205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0" name=""/>
          <p:cNvSpPr/>
          <p:nvPr/>
        </p:nvSpPr>
        <p:spPr>
          <a:xfrm>
            <a:off x="590400" y="328608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1" name=""/>
          <p:cNvSpPr/>
          <p:nvPr/>
        </p:nvSpPr>
        <p:spPr>
          <a:xfrm>
            <a:off x="590400" y="328608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2" name=""/>
          <p:cNvSpPr/>
          <p:nvPr/>
        </p:nvSpPr>
        <p:spPr>
          <a:xfrm>
            <a:off x="5047920" y="32860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3" name=""/>
          <p:cNvSpPr/>
          <p:nvPr/>
        </p:nvSpPr>
        <p:spPr>
          <a:xfrm>
            <a:off x="5057640" y="328608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4" name=""/>
          <p:cNvSpPr/>
          <p:nvPr/>
        </p:nvSpPr>
        <p:spPr>
          <a:xfrm>
            <a:off x="11591640" y="32860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5" name=""/>
          <p:cNvSpPr/>
          <p:nvPr/>
        </p:nvSpPr>
        <p:spPr>
          <a:xfrm>
            <a:off x="590400" y="378108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6" name=""/>
          <p:cNvSpPr/>
          <p:nvPr/>
        </p:nvSpPr>
        <p:spPr>
          <a:xfrm>
            <a:off x="5057640" y="378108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7" name=""/>
          <p:cNvSpPr/>
          <p:nvPr/>
        </p:nvSpPr>
        <p:spPr>
          <a:xfrm>
            <a:off x="590400" y="37908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8" name=""/>
          <p:cNvSpPr/>
          <p:nvPr/>
        </p:nvSpPr>
        <p:spPr>
          <a:xfrm>
            <a:off x="5047920" y="3790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9" name=""/>
          <p:cNvSpPr/>
          <p:nvPr/>
        </p:nvSpPr>
        <p:spPr>
          <a:xfrm>
            <a:off x="11591640" y="3790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0" name=""/>
          <p:cNvSpPr/>
          <p:nvPr/>
        </p:nvSpPr>
        <p:spPr>
          <a:xfrm>
            <a:off x="590400" y="42861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1" name=""/>
          <p:cNvSpPr/>
          <p:nvPr/>
        </p:nvSpPr>
        <p:spPr>
          <a:xfrm>
            <a:off x="590400" y="427644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2" name=""/>
          <p:cNvSpPr/>
          <p:nvPr/>
        </p:nvSpPr>
        <p:spPr>
          <a:xfrm>
            <a:off x="5047920" y="4286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3" name=""/>
          <p:cNvSpPr/>
          <p:nvPr/>
        </p:nvSpPr>
        <p:spPr>
          <a:xfrm>
            <a:off x="5057640" y="427644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4" name=""/>
          <p:cNvSpPr/>
          <p:nvPr/>
        </p:nvSpPr>
        <p:spPr>
          <a:xfrm>
            <a:off x="11591640" y="4286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5" name=""/>
          <p:cNvSpPr/>
          <p:nvPr/>
        </p:nvSpPr>
        <p:spPr>
          <a:xfrm>
            <a:off x="590400" y="478152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6" name=""/>
          <p:cNvSpPr/>
          <p:nvPr/>
        </p:nvSpPr>
        <p:spPr>
          <a:xfrm>
            <a:off x="590400" y="477180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7" name=""/>
          <p:cNvSpPr/>
          <p:nvPr/>
        </p:nvSpPr>
        <p:spPr>
          <a:xfrm>
            <a:off x="5047920" y="478152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8" name=""/>
          <p:cNvSpPr/>
          <p:nvPr/>
        </p:nvSpPr>
        <p:spPr>
          <a:xfrm>
            <a:off x="5057640" y="477180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9" name=""/>
          <p:cNvSpPr/>
          <p:nvPr/>
        </p:nvSpPr>
        <p:spPr>
          <a:xfrm>
            <a:off x="11591640" y="478152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0" name=""/>
          <p:cNvSpPr/>
          <p:nvPr/>
        </p:nvSpPr>
        <p:spPr>
          <a:xfrm>
            <a:off x="590400" y="526716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1" name=""/>
          <p:cNvSpPr/>
          <p:nvPr/>
        </p:nvSpPr>
        <p:spPr>
          <a:xfrm>
            <a:off x="5057640" y="526716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2" name=""/>
          <p:cNvSpPr txBox="1"/>
          <p:nvPr/>
        </p:nvSpPr>
        <p:spPr>
          <a:xfrm>
            <a:off x="590400" y="1091160"/>
            <a:ext cx="66467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組み合わせ汎化ベンチマークの前提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590400" y="1914480"/>
            <a:ext cx="756295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各操作を表す日本語表現は、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の訓練データに登場する。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590400" y="2266920"/>
            <a:ext cx="710920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ただし、完成した指示文は訓練データと完全一致しない。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590400" y="2800440"/>
            <a:ext cx="78784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評価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872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問と訓練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件を照合し、指示全文の一致は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714240" y="342540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課題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5170320" y="342540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訓練と評価で何が変わるか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714240" y="3920760"/>
            <a:ext cx="40004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複数操作で学んだ表現を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5170320" y="3920760"/>
            <a:ext cx="600341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複数操作の指示でだけ使った言い方を、単独操作に使う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714240" y="441612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初めて組み合わせる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5170320" y="4416120"/>
            <a:ext cx="568132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訓練では同じ指示に登場しない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714240" y="4911480"/>
            <a:ext cx="36779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操作で学んだ順序を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5170320" y="4911480"/>
            <a:ext cx="58390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操作中の既知の順序を、未学習の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操作列として使う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590400" y="5524560"/>
            <a:ext cx="1066339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未知の日本語表現への強さとは分けて、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既知の表現を異なる構成で使う能力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を調べる。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組み合わせ汎化を測る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0" name=""/>
          <p:cNvSpPr/>
          <p:nvPr/>
        </p:nvSpPr>
        <p:spPr>
          <a:xfrm>
            <a:off x="599760" y="145728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1" name=""/>
          <p:cNvSpPr/>
          <p:nvPr/>
        </p:nvSpPr>
        <p:spPr>
          <a:xfrm>
            <a:off x="1800000" y="145728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2" name=""/>
          <p:cNvSpPr/>
          <p:nvPr/>
        </p:nvSpPr>
        <p:spPr>
          <a:xfrm>
            <a:off x="6972120" y="145728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3" name=""/>
          <p:cNvSpPr/>
          <p:nvPr/>
        </p:nvSpPr>
        <p:spPr>
          <a:xfrm>
            <a:off x="7886520" y="145728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4" name=""/>
          <p:cNvSpPr/>
          <p:nvPr/>
        </p:nvSpPr>
        <p:spPr>
          <a:xfrm>
            <a:off x="599760" y="145728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5" name=""/>
          <p:cNvSpPr/>
          <p:nvPr/>
        </p:nvSpPr>
        <p:spPr>
          <a:xfrm>
            <a:off x="1800000" y="145728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6" name=""/>
          <p:cNvSpPr/>
          <p:nvPr/>
        </p:nvSpPr>
        <p:spPr>
          <a:xfrm>
            <a:off x="6972120" y="145728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7" name=""/>
          <p:cNvSpPr/>
          <p:nvPr/>
        </p:nvSpPr>
        <p:spPr>
          <a:xfrm>
            <a:off x="7886520" y="145728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8" name=""/>
          <p:cNvSpPr/>
          <p:nvPr/>
        </p:nvSpPr>
        <p:spPr>
          <a:xfrm>
            <a:off x="599760" y="188568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9" name=""/>
          <p:cNvSpPr/>
          <p:nvPr/>
        </p:nvSpPr>
        <p:spPr>
          <a:xfrm>
            <a:off x="1800000" y="188568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0" name=""/>
          <p:cNvSpPr/>
          <p:nvPr/>
        </p:nvSpPr>
        <p:spPr>
          <a:xfrm>
            <a:off x="6972120" y="188568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1" name=""/>
          <p:cNvSpPr/>
          <p:nvPr/>
        </p:nvSpPr>
        <p:spPr>
          <a:xfrm>
            <a:off x="7886520" y="188568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2" name=""/>
          <p:cNvSpPr/>
          <p:nvPr/>
        </p:nvSpPr>
        <p:spPr>
          <a:xfrm>
            <a:off x="599760" y="231444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3" name=""/>
          <p:cNvSpPr/>
          <p:nvPr/>
        </p:nvSpPr>
        <p:spPr>
          <a:xfrm>
            <a:off x="1800000" y="231444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4" name=""/>
          <p:cNvSpPr/>
          <p:nvPr/>
        </p:nvSpPr>
        <p:spPr>
          <a:xfrm>
            <a:off x="6972120" y="231444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5" name=""/>
          <p:cNvSpPr/>
          <p:nvPr/>
        </p:nvSpPr>
        <p:spPr>
          <a:xfrm>
            <a:off x="7886520" y="231444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6" name=""/>
          <p:cNvSpPr/>
          <p:nvPr/>
        </p:nvSpPr>
        <p:spPr>
          <a:xfrm>
            <a:off x="599760" y="274284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7" name=""/>
          <p:cNvSpPr/>
          <p:nvPr/>
        </p:nvSpPr>
        <p:spPr>
          <a:xfrm>
            <a:off x="1800000" y="274284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8" name=""/>
          <p:cNvSpPr/>
          <p:nvPr/>
        </p:nvSpPr>
        <p:spPr>
          <a:xfrm>
            <a:off x="6972120" y="274284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9" name=""/>
          <p:cNvSpPr/>
          <p:nvPr/>
        </p:nvSpPr>
        <p:spPr>
          <a:xfrm>
            <a:off x="7886520" y="274284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0" name=""/>
          <p:cNvSpPr/>
          <p:nvPr/>
        </p:nvSpPr>
        <p:spPr>
          <a:xfrm>
            <a:off x="599760" y="317160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1" name=""/>
          <p:cNvSpPr/>
          <p:nvPr/>
        </p:nvSpPr>
        <p:spPr>
          <a:xfrm>
            <a:off x="1800000" y="317160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2" name=""/>
          <p:cNvSpPr/>
          <p:nvPr/>
        </p:nvSpPr>
        <p:spPr>
          <a:xfrm>
            <a:off x="6972120" y="317160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3" name=""/>
          <p:cNvSpPr/>
          <p:nvPr/>
        </p:nvSpPr>
        <p:spPr>
          <a:xfrm>
            <a:off x="7886520" y="317160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4" name=""/>
          <p:cNvSpPr/>
          <p:nvPr/>
        </p:nvSpPr>
        <p:spPr>
          <a:xfrm>
            <a:off x="599760" y="360036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5" name=""/>
          <p:cNvSpPr/>
          <p:nvPr/>
        </p:nvSpPr>
        <p:spPr>
          <a:xfrm>
            <a:off x="1800000" y="360036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6" name=""/>
          <p:cNvSpPr/>
          <p:nvPr/>
        </p:nvSpPr>
        <p:spPr>
          <a:xfrm>
            <a:off x="6972120" y="360036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7" name=""/>
          <p:cNvSpPr/>
          <p:nvPr/>
        </p:nvSpPr>
        <p:spPr>
          <a:xfrm>
            <a:off x="7886520" y="360036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8" name=""/>
          <p:cNvSpPr/>
          <p:nvPr/>
        </p:nvSpPr>
        <p:spPr>
          <a:xfrm>
            <a:off x="599760" y="402876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9" name=""/>
          <p:cNvSpPr/>
          <p:nvPr/>
        </p:nvSpPr>
        <p:spPr>
          <a:xfrm>
            <a:off x="1800000" y="402876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0" name=""/>
          <p:cNvSpPr/>
          <p:nvPr/>
        </p:nvSpPr>
        <p:spPr>
          <a:xfrm>
            <a:off x="6972120" y="402876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1" name=""/>
          <p:cNvSpPr/>
          <p:nvPr/>
        </p:nvSpPr>
        <p:spPr>
          <a:xfrm>
            <a:off x="7886520" y="402876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2" name=""/>
          <p:cNvSpPr/>
          <p:nvPr/>
        </p:nvSpPr>
        <p:spPr>
          <a:xfrm>
            <a:off x="599760" y="445752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3" name=""/>
          <p:cNvSpPr/>
          <p:nvPr/>
        </p:nvSpPr>
        <p:spPr>
          <a:xfrm>
            <a:off x="1800000" y="445752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4" name=""/>
          <p:cNvSpPr/>
          <p:nvPr/>
        </p:nvSpPr>
        <p:spPr>
          <a:xfrm>
            <a:off x="6972120" y="445752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5" name=""/>
          <p:cNvSpPr/>
          <p:nvPr/>
        </p:nvSpPr>
        <p:spPr>
          <a:xfrm>
            <a:off x="7886520" y="445752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6" name=""/>
          <p:cNvSpPr/>
          <p:nvPr/>
        </p:nvSpPr>
        <p:spPr>
          <a:xfrm>
            <a:off x="599760" y="488628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7" name=""/>
          <p:cNvSpPr/>
          <p:nvPr/>
        </p:nvSpPr>
        <p:spPr>
          <a:xfrm>
            <a:off x="1800000" y="488628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8" name=""/>
          <p:cNvSpPr/>
          <p:nvPr/>
        </p:nvSpPr>
        <p:spPr>
          <a:xfrm>
            <a:off x="6972120" y="488628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9" name=""/>
          <p:cNvSpPr/>
          <p:nvPr/>
        </p:nvSpPr>
        <p:spPr>
          <a:xfrm>
            <a:off x="7886520" y="488628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0" name=""/>
          <p:cNvSpPr/>
          <p:nvPr/>
        </p:nvSpPr>
        <p:spPr>
          <a:xfrm>
            <a:off x="599760" y="531468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1" name=""/>
          <p:cNvSpPr/>
          <p:nvPr/>
        </p:nvSpPr>
        <p:spPr>
          <a:xfrm>
            <a:off x="1800000" y="531468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2" name=""/>
          <p:cNvSpPr/>
          <p:nvPr/>
        </p:nvSpPr>
        <p:spPr>
          <a:xfrm>
            <a:off x="6972120" y="531468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3" name=""/>
          <p:cNvSpPr/>
          <p:nvPr/>
        </p:nvSpPr>
        <p:spPr>
          <a:xfrm>
            <a:off x="7886520" y="531468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4" name=""/>
          <p:cNvSpPr/>
          <p:nvPr/>
        </p:nvSpPr>
        <p:spPr>
          <a:xfrm>
            <a:off x="590400" y="1447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5" name=""/>
          <p:cNvSpPr/>
          <p:nvPr/>
        </p:nvSpPr>
        <p:spPr>
          <a:xfrm>
            <a:off x="590400" y="144756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6" name=""/>
          <p:cNvSpPr/>
          <p:nvPr/>
        </p:nvSpPr>
        <p:spPr>
          <a:xfrm>
            <a:off x="1800000" y="1447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7" name=""/>
          <p:cNvSpPr/>
          <p:nvPr/>
        </p:nvSpPr>
        <p:spPr>
          <a:xfrm>
            <a:off x="1809720" y="144756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8" name=""/>
          <p:cNvSpPr/>
          <p:nvPr/>
        </p:nvSpPr>
        <p:spPr>
          <a:xfrm>
            <a:off x="6972120" y="1447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9" name=""/>
          <p:cNvSpPr/>
          <p:nvPr/>
        </p:nvSpPr>
        <p:spPr>
          <a:xfrm>
            <a:off x="6981480" y="144756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0" name=""/>
          <p:cNvSpPr/>
          <p:nvPr/>
        </p:nvSpPr>
        <p:spPr>
          <a:xfrm>
            <a:off x="7886520" y="1447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1" name=""/>
          <p:cNvSpPr/>
          <p:nvPr/>
        </p:nvSpPr>
        <p:spPr>
          <a:xfrm>
            <a:off x="7895880" y="144756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2" name=""/>
          <p:cNvSpPr/>
          <p:nvPr/>
        </p:nvSpPr>
        <p:spPr>
          <a:xfrm>
            <a:off x="11591640" y="1447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3" name=""/>
          <p:cNvSpPr/>
          <p:nvPr/>
        </p:nvSpPr>
        <p:spPr>
          <a:xfrm>
            <a:off x="590400" y="187632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4" name=""/>
          <p:cNvSpPr/>
          <p:nvPr/>
        </p:nvSpPr>
        <p:spPr>
          <a:xfrm>
            <a:off x="1809720" y="187632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5" name=""/>
          <p:cNvSpPr/>
          <p:nvPr/>
        </p:nvSpPr>
        <p:spPr>
          <a:xfrm>
            <a:off x="6981480" y="187632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6" name=""/>
          <p:cNvSpPr/>
          <p:nvPr/>
        </p:nvSpPr>
        <p:spPr>
          <a:xfrm>
            <a:off x="7895880" y="187632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7" name=""/>
          <p:cNvSpPr/>
          <p:nvPr/>
        </p:nvSpPr>
        <p:spPr>
          <a:xfrm>
            <a:off x="590400" y="1885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8" name=""/>
          <p:cNvSpPr/>
          <p:nvPr/>
        </p:nvSpPr>
        <p:spPr>
          <a:xfrm>
            <a:off x="1800000" y="1885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9" name=""/>
          <p:cNvSpPr/>
          <p:nvPr/>
        </p:nvSpPr>
        <p:spPr>
          <a:xfrm>
            <a:off x="6972120" y="1885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0" name=""/>
          <p:cNvSpPr/>
          <p:nvPr/>
        </p:nvSpPr>
        <p:spPr>
          <a:xfrm>
            <a:off x="7886520" y="1885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1" name=""/>
          <p:cNvSpPr/>
          <p:nvPr/>
        </p:nvSpPr>
        <p:spPr>
          <a:xfrm>
            <a:off x="11591640" y="1885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2" name=""/>
          <p:cNvSpPr/>
          <p:nvPr/>
        </p:nvSpPr>
        <p:spPr>
          <a:xfrm>
            <a:off x="590400" y="231444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3" name=""/>
          <p:cNvSpPr/>
          <p:nvPr/>
        </p:nvSpPr>
        <p:spPr>
          <a:xfrm>
            <a:off x="590400" y="230472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4" name=""/>
          <p:cNvSpPr/>
          <p:nvPr/>
        </p:nvSpPr>
        <p:spPr>
          <a:xfrm>
            <a:off x="1800000" y="23144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5" name=""/>
          <p:cNvSpPr/>
          <p:nvPr/>
        </p:nvSpPr>
        <p:spPr>
          <a:xfrm>
            <a:off x="1809720" y="230472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6" name=""/>
          <p:cNvSpPr/>
          <p:nvPr/>
        </p:nvSpPr>
        <p:spPr>
          <a:xfrm>
            <a:off x="6972120" y="231444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7" name=""/>
          <p:cNvSpPr/>
          <p:nvPr/>
        </p:nvSpPr>
        <p:spPr>
          <a:xfrm>
            <a:off x="6981480" y="23047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8" name=""/>
          <p:cNvSpPr/>
          <p:nvPr/>
        </p:nvSpPr>
        <p:spPr>
          <a:xfrm>
            <a:off x="7886520" y="231444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9" name=""/>
          <p:cNvSpPr/>
          <p:nvPr/>
        </p:nvSpPr>
        <p:spPr>
          <a:xfrm>
            <a:off x="7895880" y="230472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0" name=""/>
          <p:cNvSpPr/>
          <p:nvPr/>
        </p:nvSpPr>
        <p:spPr>
          <a:xfrm>
            <a:off x="11591640" y="23144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1" name=""/>
          <p:cNvSpPr/>
          <p:nvPr/>
        </p:nvSpPr>
        <p:spPr>
          <a:xfrm>
            <a:off x="590400" y="27428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2" name=""/>
          <p:cNvSpPr/>
          <p:nvPr/>
        </p:nvSpPr>
        <p:spPr>
          <a:xfrm>
            <a:off x="590400" y="273348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3" name=""/>
          <p:cNvSpPr/>
          <p:nvPr/>
        </p:nvSpPr>
        <p:spPr>
          <a:xfrm>
            <a:off x="1800000" y="27428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4" name=""/>
          <p:cNvSpPr/>
          <p:nvPr/>
        </p:nvSpPr>
        <p:spPr>
          <a:xfrm>
            <a:off x="1809720" y="273348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5" name=""/>
          <p:cNvSpPr/>
          <p:nvPr/>
        </p:nvSpPr>
        <p:spPr>
          <a:xfrm>
            <a:off x="6972120" y="27428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6" name=""/>
          <p:cNvSpPr/>
          <p:nvPr/>
        </p:nvSpPr>
        <p:spPr>
          <a:xfrm>
            <a:off x="6981480" y="273348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7" name=""/>
          <p:cNvSpPr/>
          <p:nvPr/>
        </p:nvSpPr>
        <p:spPr>
          <a:xfrm>
            <a:off x="7886520" y="27428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8" name=""/>
          <p:cNvSpPr/>
          <p:nvPr/>
        </p:nvSpPr>
        <p:spPr>
          <a:xfrm>
            <a:off x="7895880" y="273348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9" name=""/>
          <p:cNvSpPr/>
          <p:nvPr/>
        </p:nvSpPr>
        <p:spPr>
          <a:xfrm>
            <a:off x="11591640" y="27428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0" name=""/>
          <p:cNvSpPr/>
          <p:nvPr/>
        </p:nvSpPr>
        <p:spPr>
          <a:xfrm>
            <a:off x="590400" y="3171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1" name=""/>
          <p:cNvSpPr/>
          <p:nvPr/>
        </p:nvSpPr>
        <p:spPr>
          <a:xfrm>
            <a:off x="590400" y="316224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2" name=""/>
          <p:cNvSpPr/>
          <p:nvPr/>
        </p:nvSpPr>
        <p:spPr>
          <a:xfrm>
            <a:off x="1800000" y="31716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3" name=""/>
          <p:cNvSpPr/>
          <p:nvPr/>
        </p:nvSpPr>
        <p:spPr>
          <a:xfrm>
            <a:off x="1809720" y="316224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4" name=""/>
          <p:cNvSpPr/>
          <p:nvPr/>
        </p:nvSpPr>
        <p:spPr>
          <a:xfrm>
            <a:off x="6972120" y="3171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5" name=""/>
          <p:cNvSpPr/>
          <p:nvPr/>
        </p:nvSpPr>
        <p:spPr>
          <a:xfrm>
            <a:off x="6981480" y="316224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6" name=""/>
          <p:cNvSpPr/>
          <p:nvPr/>
        </p:nvSpPr>
        <p:spPr>
          <a:xfrm>
            <a:off x="7886520" y="3171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7" name=""/>
          <p:cNvSpPr/>
          <p:nvPr/>
        </p:nvSpPr>
        <p:spPr>
          <a:xfrm>
            <a:off x="7895880" y="316224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8" name=""/>
          <p:cNvSpPr/>
          <p:nvPr/>
        </p:nvSpPr>
        <p:spPr>
          <a:xfrm>
            <a:off x="11591640" y="31716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9" name=""/>
          <p:cNvSpPr/>
          <p:nvPr/>
        </p:nvSpPr>
        <p:spPr>
          <a:xfrm>
            <a:off x="590400" y="360036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0" name=""/>
          <p:cNvSpPr/>
          <p:nvPr/>
        </p:nvSpPr>
        <p:spPr>
          <a:xfrm>
            <a:off x="590400" y="359064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1" name=""/>
          <p:cNvSpPr/>
          <p:nvPr/>
        </p:nvSpPr>
        <p:spPr>
          <a:xfrm>
            <a:off x="1800000" y="360036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2" name=""/>
          <p:cNvSpPr/>
          <p:nvPr/>
        </p:nvSpPr>
        <p:spPr>
          <a:xfrm>
            <a:off x="1809720" y="359064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3" name=""/>
          <p:cNvSpPr/>
          <p:nvPr/>
        </p:nvSpPr>
        <p:spPr>
          <a:xfrm>
            <a:off x="6972120" y="360036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4" name=""/>
          <p:cNvSpPr/>
          <p:nvPr/>
        </p:nvSpPr>
        <p:spPr>
          <a:xfrm>
            <a:off x="6981480" y="359064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5" name=""/>
          <p:cNvSpPr/>
          <p:nvPr/>
        </p:nvSpPr>
        <p:spPr>
          <a:xfrm>
            <a:off x="7886520" y="360036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6" name=""/>
          <p:cNvSpPr/>
          <p:nvPr/>
        </p:nvSpPr>
        <p:spPr>
          <a:xfrm>
            <a:off x="7895880" y="359064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7" name=""/>
          <p:cNvSpPr/>
          <p:nvPr/>
        </p:nvSpPr>
        <p:spPr>
          <a:xfrm>
            <a:off x="11591640" y="360036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8" name=""/>
          <p:cNvSpPr/>
          <p:nvPr/>
        </p:nvSpPr>
        <p:spPr>
          <a:xfrm>
            <a:off x="590400" y="40287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9" name=""/>
          <p:cNvSpPr/>
          <p:nvPr/>
        </p:nvSpPr>
        <p:spPr>
          <a:xfrm>
            <a:off x="590400" y="401940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0" name=""/>
          <p:cNvSpPr/>
          <p:nvPr/>
        </p:nvSpPr>
        <p:spPr>
          <a:xfrm>
            <a:off x="1800000" y="402876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1" name=""/>
          <p:cNvSpPr/>
          <p:nvPr/>
        </p:nvSpPr>
        <p:spPr>
          <a:xfrm>
            <a:off x="1809720" y="401940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2" name=""/>
          <p:cNvSpPr/>
          <p:nvPr/>
        </p:nvSpPr>
        <p:spPr>
          <a:xfrm>
            <a:off x="6972120" y="40287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3" name=""/>
          <p:cNvSpPr/>
          <p:nvPr/>
        </p:nvSpPr>
        <p:spPr>
          <a:xfrm>
            <a:off x="6981480" y="401940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4" name=""/>
          <p:cNvSpPr/>
          <p:nvPr/>
        </p:nvSpPr>
        <p:spPr>
          <a:xfrm>
            <a:off x="7886520" y="40287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5" name=""/>
          <p:cNvSpPr/>
          <p:nvPr/>
        </p:nvSpPr>
        <p:spPr>
          <a:xfrm>
            <a:off x="7895880" y="401940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6" name=""/>
          <p:cNvSpPr/>
          <p:nvPr/>
        </p:nvSpPr>
        <p:spPr>
          <a:xfrm>
            <a:off x="11591640" y="402876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7" name=""/>
          <p:cNvSpPr/>
          <p:nvPr/>
        </p:nvSpPr>
        <p:spPr>
          <a:xfrm>
            <a:off x="590400" y="44575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8" name=""/>
          <p:cNvSpPr/>
          <p:nvPr/>
        </p:nvSpPr>
        <p:spPr>
          <a:xfrm>
            <a:off x="590400" y="444816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9" name=""/>
          <p:cNvSpPr/>
          <p:nvPr/>
        </p:nvSpPr>
        <p:spPr>
          <a:xfrm>
            <a:off x="1800000" y="44575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0" name=""/>
          <p:cNvSpPr/>
          <p:nvPr/>
        </p:nvSpPr>
        <p:spPr>
          <a:xfrm>
            <a:off x="1809720" y="444816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1" name=""/>
          <p:cNvSpPr/>
          <p:nvPr/>
        </p:nvSpPr>
        <p:spPr>
          <a:xfrm>
            <a:off x="6972120" y="44575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2" name=""/>
          <p:cNvSpPr/>
          <p:nvPr/>
        </p:nvSpPr>
        <p:spPr>
          <a:xfrm>
            <a:off x="6981480" y="444816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3" name=""/>
          <p:cNvSpPr/>
          <p:nvPr/>
        </p:nvSpPr>
        <p:spPr>
          <a:xfrm>
            <a:off x="7886520" y="44575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4" name=""/>
          <p:cNvSpPr/>
          <p:nvPr/>
        </p:nvSpPr>
        <p:spPr>
          <a:xfrm>
            <a:off x="7895880" y="444816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5" name=""/>
          <p:cNvSpPr/>
          <p:nvPr/>
        </p:nvSpPr>
        <p:spPr>
          <a:xfrm>
            <a:off x="11591640" y="44575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6" name=""/>
          <p:cNvSpPr/>
          <p:nvPr/>
        </p:nvSpPr>
        <p:spPr>
          <a:xfrm>
            <a:off x="590400" y="48862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7" name=""/>
          <p:cNvSpPr/>
          <p:nvPr/>
        </p:nvSpPr>
        <p:spPr>
          <a:xfrm>
            <a:off x="590400" y="487656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8" name=""/>
          <p:cNvSpPr/>
          <p:nvPr/>
        </p:nvSpPr>
        <p:spPr>
          <a:xfrm>
            <a:off x="1800000" y="488628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9" name=""/>
          <p:cNvSpPr/>
          <p:nvPr/>
        </p:nvSpPr>
        <p:spPr>
          <a:xfrm>
            <a:off x="1809720" y="487656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0" name=""/>
          <p:cNvSpPr/>
          <p:nvPr/>
        </p:nvSpPr>
        <p:spPr>
          <a:xfrm>
            <a:off x="6972120" y="48862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1" name=""/>
          <p:cNvSpPr/>
          <p:nvPr/>
        </p:nvSpPr>
        <p:spPr>
          <a:xfrm>
            <a:off x="6981480" y="487656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2" name=""/>
          <p:cNvSpPr/>
          <p:nvPr/>
        </p:nvSpPr>
        <p:spPr>
          <a:xfrm>
            <a:off x="7886520" y="48862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3" name=""/>
          <p:cNvSpPr/>
          <p:nvPr/>
        </p:nvSpPr>
        <p:spPr>
          <a:xfrm>
            <a:off x="7895880" y="487656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4" name=""/>
          <p:cNvSpPr/>
          <p:nvPr/>
        </p:nvSpPr>
        <p:spPr>
          <a:xfrm>
            <a:off x="11591640" y="488628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5" name=""/>
          <p:cNvSpPr/>
          <p:nvPr/>
        </p:nvSpPr>
        <p:spPr>
          <a:xfrm>
            <a:off x="590400" y="5314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6" name=""/>
          <p:cNvSpPr/>
          <p:nvPr/>
        </p:nvSpPr>
        <p:spPr>
          <a:xfrm>
            <a:off x="590400" y="530532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7" name=""/>
          <p:cNvSpPr/>
          <p:nvPr/>
        </p:nvSpPr>
        <p:spPr>
          <a:xfrm>
            <a:off x="1800000" y="5314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8" name=""/>
          <p:cNvSpPr/>
          <p:nvPr/>
        </p:nvSpPr>
        <p:spPr>
          <a:xfrm>
            <a:off x="1809720" y="530532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9" name=""/>
          <p:cNvSpPr/>
          <p:nvPr/>
        </p:nvSpPr>
        <p:spPr>
          <a:xfrm>
            <a:off x="6972120" y="5314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0" name=""/>
          <p:cNvSpPr/>
          <p:nvPr/>
        </p:nvSpPr>
        <p:spPr>
          <a:xfrm>
            <a:off x="6981480" y="530532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1" name=""/>
          <p:cNvSpPr/>
          <p:nvPr/>
        </p:nvSpPr>
        <p:spPr>
          <a:xfrm>
            <a:off x="7886520" y="5314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2" name=""/>
          <p:cNvSpPr/>
          <p:nvPr/>
        </p:nvSpPr>
        <p:spPr>
          <a:xfrm>
            <a:off x="7895880" y="530532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3" name=""/>
          <p:cNvSpPr/>
          <p:nvPr/>
        </p:nvSpPr>
        <p:spPr>
          <a:xfrm>
            <a:off x="11591640" y="5314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4" name=""/>
          <p:cNvSpPr/>
          <p:nvPr/>
        </p:nvSpPr>
        <p:spPr>
          <a:xfrm>
            <a:off x="590400" y="573372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5" name=""/>
          <p:cNvSpPr/>
          <p:nvPr/>
        </p:nvSpPr>
        <p:spPr>
          <a:xfrm>
            <a:off x="1809720" y="573372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6" name=""/>
          <p:cNvSpPr/>
          <p:nvPr/>
        </p:nvSpPr>
        <p:spPr>
          <a:xfrm>
            <a:off x="6981480" y="57337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7" name=""/>
          <p:cNvSpPr/>
          <p:nvPr/>
        </p:nvSpPr>
        <p:spPr>
          <a:xfrm>
            <a:off x="7895880" y="573372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8" name=""/>
          <p:cNvSpPr txBox="1"/>
          <p:nvPr/>
        </p:nvSpPr>
        <p:spPr>
          <a:xfrm>
            <a:off x="590400" y="691200"/>
            <a:ext cx="696223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データセットの構成：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9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種類・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872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問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9" name=""/>
          <p:cNvSpPr txBox="1"/>
          <p:nvPr/>
        </p:nvSpPr>
        <p:spPr>
          <a:xfrm>
            <a:off x="1119600" y="1575360"/>
            <a:ext cx="182656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操作数 問題の種類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0" name=""/>
          <p:cNvSpPr txBox="1"/>
          <p:nvPr/>
        </p:nvSpPr>
        <p:spPr>
          <a:xfrm>
            <a:off x="7397640" y="1575360"/>
            <a:ext cx="9501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問数 構成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1" name=""/>
          <p:cNvSpPr txBox="1"/>
          <p:nvPr/>
        </p:nvSpPr>
        <p:spPr>
          <a:xfrm>
            <a:off x="1566000" y="200412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2" name=""/>
          <p:cNvSpPr txBox="1"/>
          <p:nvPr/>
        </p:nvSpPr>
        <p:spPr>
          <a:xfrm>
            <a:off x="1910160" y="2004120"/>
            <a:ext cx="365023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複数操作で学んだ表現を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3" name=""/>
          <p:cNvSpPr txBox="1"/>
          <p:nvPr/>
        </p:nvSpPr>
        <p:spPr>
          <a:xfrm>
            <a:off x="7528320" y="200412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4" name=""/>
          <p:cNvSpPr txBox="1"/>
          <p:nvPr/>
        </p:nvSpPr>
        <p:spPr>
          <a:xfrm>
            <a:off x="7997760" y="200412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5" name=""/>
          <p:cNvSpPr txBox="1"/>
          <p:nvPr/>
        </p:nvSpPr>
        <p:spPr>
          <a:xfrm>
            <a:off x="1566000" y="243252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6" name=""/>
          <p:cNvSpPr txBox="1"/>
          <p:nvPr/>
        </p:nvSpPr>
        <p:spPr>
          <a:xfrm>
            <a:off x="1910160" y="2432520"/>
            <a:ext cx="2554794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初めて組み合わせる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7" name=""/>
          <p:cNvSpPr txBox="1"/>
          <p:nvPr/>
        </p:nvSpPr>
        <p:spPr>
          <a:xfrm>
            <a:off x="7403040" y="243252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8" name=""/>
          <p:cNvSpPr txBox="1"/>
          <p:nvPr/>
        </p:nvSpPr>
        <p:spPr>
          <a:xfrm>
            <a:off x="7997760" y="2432520"/>
            <a:ext cx="254568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ペア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両順序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10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9" name=""/>
          <p:cNvSpPr txBox="1"/>
          <p:nvPr/>
        </p:nvSpPr>
        <p:spPr>
          <a:xfrm>
            <a:off x="1566000" y="286128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0" name=""/>
          <p:cNvSpPr txBox="1"/>
          <p:nvPr/>
        </p:nvSpPr>
        <p:spPr>
          <a:xfrm>
            <a:off x="1910160" y="2861280"/>
            <a:ext cx="145935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1" name=""/>
          <p:cNvSpPr txBox="1"/>
          <p:nvPr/>
        </p:nvSpPr>
        <p:spPr>
          <a:xfrm>
            <a:off x="7528320" y="286128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2" name=""/>
          <p:cNvSpPr txBox="1"/>
          <p:nvPr/>
        </p:nvSpPr>
        <p:spPr>
          <a:xfrm>
            <a:off x="7997760" y="286128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3" name=""/>
          <p:cNvSpPr txBox="1"/>
          <p:nvPr/>
        </p:nvSpPr>
        <p:spPr>
          <a:xfrm>
            <a:off x="1566000" y="32900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1910160" y="3290040"/>
            <a:ext cx="335629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操作で学んだ順序を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5" name=""/>
          <p:cNvSpPr txBox="1"/>
          <p:nvPr/>
        </p:nvSpPr>
        <p:spPr>
          <a:xfrm>
            <a:off x="7528320" y="329004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6" name=""/>
          <p:cNvSpPr txBox="1"/>
          <p:nvPr/>
        </p:nvSpPr>
        <p:spPr>
          <a:xfrm>
            <a:off x="7997760" y="3290040"/>
            <a:ext cx="16030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88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種類の操作列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7" name=""/>
          <p:cNvSpPr txBox="1"/>
          <p:nvPr/>
        </p:nvSpPr>
        <p:spPr>
          <a:xfrm>
            <a:off x="1566000" y="37184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8" name=""/>
          <p:cNvSpPr txBox="1"/>
          <p:nvPr/>
        </p:nvSpPr>
        <p:spPr>
          <a:xfrm>
            <a:off x="1910160" y="3718440"/>
            <a:ext cx="2554794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初めてのペアを含む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9" name=""/>
          <p:cNvSpPr txBox="1"/>
          <p:nvPr/>
        </p:nvSpPr>
        <p:spPr>
          <a:xfrm>
            <a:off x="7403040" y="371844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0" name=""/>
          <p:cNvSpPr txBox="1"/>
          <p:nvPr/>
        </p:nvSpPr>
        <p:spPr>
          <a:xfrm>
            <a:off x="7997760" y="3718440"/>
            <a:ext cx="17470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種類の操作列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1" name=""/>
          <p:cNvSpPr txBox="1"/>
          <p:nvPr/>
        </p:nvSpPr>
        <p:spPr>
          <a:xfrm>
            <a:off x="1566000" y="414720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2" name=""/>
          <p:cNvSpPr txBox="1"/>
          <p:nvPr/>
        </p:nvSpPr>
        <p:spPr>
          <a:xfrm>
            <a:off x="1910160" y="4147200"/>
            <a:ext cx="145935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3" name=""/>
          <p:cNvSpPr txBox="1"/>
          <p:nvPr/>
        </p:nvSpPr>
        <p:spPr>
          <a:xfrm>
            <a:off x="7528320" y="414720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4" name=""/>
          <p:cNvSpPr txBox="1"/>
          <p:nvPr/>
        </p:nvSpPr>
        <p:spPr>
          <a:xfrm>
            <a:off x="7997760" y="414720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5" name=""/>
          <p:cNvSpPr txBox="1"/>
          <p:nvPr/>
        </p:nvSpPr>
        <p:spPr>
          <a:xfrm>
            <a:off x="1564920" y="45759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6" name=""/>
          <p:cNvSpPr txBox="1"/>
          <p:nvPr/>
        </p:nvSpPr>
        <p:spPr>
          <a:xfrm>
            <a:off x="1910160" y="4575960"/>
            <a:ext cx="146017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7" name=""/>
          <p:cNvSpPr txBox="1"/>
          <p:nvPr/>
        </p:nvSpPr>
        <p:spPr>
          <a:xfrm>
            <a:off x="7528320" y="457596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8" name=""/>
          <p:cNvSpPr txBox="1"/>
          <p:nvPr/>
        </p:nvSpPr>
        <p:spPr>
          <a:xfrm>
            <a:off x="7997760" y="457596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9" name=""/>
          <p:cNvSpPr txBox="1"/>
          <p:nvPr/>
        </p:nvSpPr>
        <p:spPr>
          <a:xfrm>
            <a:off x="1564920" y="50043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0" name=""/>
          <p:cNvSpPr txBox="1"/>
          <p:nvPr/>
        </p:nvSpPr>
        <p:spPr>
          <a:xfrm>
            <a:off x="1910160" y="5004360"/>
            <a:ext cx="277504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異なる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1" name=""/>
          <p:cNvSpPr txBox="1"/>
          <p:nvPr/>
        </p:nvSpPr>
        <p:spPr>
          <a:xfrm>
            <a:off x="7403040" y="500436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2" name=""/>
          <p:cNvSpPr txBox="1"/>
          <p:nvPr/>
        </p:nvSpPr>
        <p:spPr>
          <a:xfrm>
            <a:off x="7997760" y="5004360"/>
            <a:ext cx="17470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種類の操作列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3" name=""/>
          <p:cNvSpPr txBox="1"/>
          <p:nvPr/>
        </p:nvSpPr>
        <p:spPr>
          <a:xfrm>
            <a:off x="1564920" y="543312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4" name=""/>
          <p:cNvSpPr txBox="1"/>
          <p:nvPr/>
        </p:nvSpPr>
        <p:spPr>
          <a:xfrm>
            <a:off x="1910160" y="5433120"/>
            <a:ext cx="24798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操作の組を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回繰り返す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5" name=""/>
          <p:cNvSpPr txBox="1"/>
          <p:nvPr/>
        </p:nvSpPr>
        <p:spPr>
          <a:xfrm>
            <a:off x="7403040" y="543312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6" name=""/>
          <p:cNvSpPr txBox="1"/>
          <p:nvPr/>
        </p:nvSpPr>
        <p:spPr>
          <a:xfrm>
            <a:off x="7997760" y="5433120"/>
            <a:ext cx="238753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7" name=""/>
          <p:cNvSpPr txBox="1"/>
          <p:nvPr/>
        </p:nvSpPr>
        <p:spPr>
          <a:xfrm>
            <a:off x="590400" y="5959080"/>
            <a:ext cx="1098052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各問題でコードを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つ生成。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179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通りの共通テスト入力ですべて合格した問題の割合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を正答率とする。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8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2142" name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3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7" name=""/>
          <p:cNvSpPr/>
          <p:nvPr/>
        </p:nvSpPr>
        <p:spPr>
          <a:xfrm>
            <a:off x="599760" y="204768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8" name=""/>
          <p:cNvSpPr/>
          <p:nvPr/>
        </p:nvSpPr>
        <p:spPr>
          <a:xfrm>
            <a:off x="4429080" y="204768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9" name=""/>
          <p:cNvSpPr/>
          <p:nvPr/>
        </p:nvSpPr>
        <p:spPr>
          <a:xfrm>
            <a:off x="7067520" y="204768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0" name=""/>
          <p:cNvSpPr/>
          <p:nvPr/>
        </p:nvSpPr>
        <p:spPr>
          <a:xfrm>
            <a:off x="9505800" y="204768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1" name=""/>
          <p:cNvSpPr/>
          <p:nvPr/>
        </p:nvSpPr>
        <p:spPr>
          <a:xfrm>
            <a:off x="599760" y="204768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2" name=""/>
          <p:cNvSpPr/>
          <p:nvPr/>
        </p:nvSpPr>
        <p:spPr>
          <a:xfrm>
            <a:off x="4429080" y="204768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3" name=""/>
          <p:cNvSpPr/>
          <p:nvPr/>
        </p:nvSpPr>
        <p:spPr>
          <a:xfrm>
            <a:off x="7067520" y="204768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4" name=""/>
          <p:cNvSpPr/>
          <p:nvPr/>
        </p:nvSpPr>
        <p:spPr>
          <a:xfrm>
            <a:off x="9505800" y="204768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5" name=""/>
          <p:cNvSpPr/>
          <p:nvPr/>
        </p:nvSpPr>
        <p:spPr>
          <a:xfrm>
            <a:off x="599760" y="254304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6" name=""/>
          <p:cNvSpPr/>
          <p:nvPr/>
        </p:nvSpPr>
        <p:spPr>
          <a:xfrm>
            <a:off x="4429080" y="254304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7" name=""/>
          <p:cNvSpPr/>
          <p:nvPr/>
        </p:nvSpPr>
        <p:spPr>
          <a:xfrm>
            <a:off x="7067520" y="254304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8" name=""/>
          <p:cNvSpPr/>
          <p:nvPr/>
        </p:nvSpPr>
        <p:spPr>
          <a:xfrm>
            <a:off x="9505800" y="254304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9" name=""/>
          <p:cNvSpPr/>
          <p:nvPr/>
        </p:nvSpPr>
        <p:spPr>
          <a:xfrm>
            <a:off x="599760" y="303840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0" name=""/>
          <p:cNvSpPr/>
          <p:nvPr/>
        </p:nvSpPr>
        <p:spPr>
          <a:xfrm>
            <a:off x="4429080" y="303840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1" name=""/>
          <p:cNvSpPr/>
          <p:nvPr/>
        </p:nvSpPr>
        <p:spPr>
          <a:xfrm>
            <a:off x="7067520" y="303840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2" name=""/>
          <p:cNvSpPr/>
          <p:nvPr/>
        </p:nvSpPr>
        <p:spPr>
          <a:xfrm>
            <a:off x="9505800" y="303840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3" name=""/>
          <p:cNvSpPr/>
          <p:nvPr/>
        </p:nvSpPr>
        <p:spPr>
          <a:xfrm>
            <a:off x="599760" y="3533760"/>
            <a:ext cx="3829680" cy="495360"/>
          </a:xfrm>
          <a:custGeom>
            <a:avLst/>
            <a:gdLst/>
            <a:ahLst/>
            <a:rect l="0" t="0" r="r" b="b"/>
            <a:pathLst>
              <a:path w="10638" h="1376">
                <a:moveTo>
                  <a:pt x="0" y="0"/>
                </a:moveTo>
                <a:lnTo>
                  <a:pt x="10638" y="0"/>
                </a:lnTo>
                <a:lnTo>
                  <a:pt x="1063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4" name=""/>
          <p:cNvSpPr/>
          <p:nvPr/>
        </p:nvSpPr>
        <p:spPr>
          <a:xfrm>
            <a:off x="4429080" y="3533760"/>
            <a:ext cx="2638800" cy="495360"/>
          </a:xfrm>
          <a:custGeom>
            <a:avLst/>
            <a:gdLst/>
            <a:ahLst/>
            <a:rect l="0" t="0" r="r" b="b"/>
            <a:pathLst>
              <a:path w="7330" h="1376">
                <a:moveTo>
                  <a:pt x="0" y="0"/>
                </a:moveTo>
                <a:lnTo>
                  <a:pt x="7330" y="0"/>
                </a:lnTo>
                <a:lnTo>
                  <a:pt x="733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5" name=""/>
          <p:cNvSpPr/>
          <p:nvPr/>
        </p:nvSpPr>
        <p:spPr>
          <a:xfrm>
            <a:off x="7067520" y="3533760"/>
            <a:ext cx="2438640" cy="495360"/>
          </a:xfrm>
          <a:custGeom>
            <a:avLst/>
            <a:gdLst/>
            <a:ahLst/>
            <a:rect l="0" t="0" r="r" b="b"/>
            <a:pathLst>
              <a:path w="6774" h="1376">
                <a:moveTo>
                  <a:pt x="0" y="0"/>
                </a:moveTo>
                <a:lnTo>
                  <a:pt x="6774" y="0"/>
                </a:lnTo>
                <a:lnTo>
                  <a:pt x="6774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6" name=""/>
          <p:cNvSpPr/>
          <p:nvPr/>
        </p:nvSpPr>
        <p:spPr>
          <a:xfrm>
            <a:off x="9505800" y="3533760"/>
            <a:ext cx="2095920" cy="495360"/>
          </a:xfrm>
          <a:custGeom>
            <a:avLst/>
            <a:gdLst/>
            <a:ahLst/>
            <a:rect l="0" t="0" r="r" b="b"/>
            <a:pathLst>
              <a:path w="5822" h="1376">
                <a:moveTo>
                  <a:pt x="0" y="0"/>
                </a:moveTo>
                <a:lnTo>
                  <a:pt x="5822" y="0"/>
                </a:lnTo>
                <a:lnTo>
                  <a:pt x="5822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7" name=""/>
          <p:cNvSpPr/>
          <p:nvPr/>
        </p:nvSpPr>
        <p:spPr>
          <a:xfrm>
            <a:off x="590400" y="204768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8" name=""/>
          <p:cNvSpPr/>
          <p:nvPr/>
        </p:nvSpPr>
        <p:spPr>
          <a:xfrm>
            <a:off x="590400" y="204768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9" name=""/>
          <p:cNvSpPr/>
          <p:nvPr/>
        </p:nvSpPr>
        <p:spPr>
          <a:xfrm>
            <a:off x="4419360" y="20476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0" name=""/>
          <p:cNvSpPr/>
          <p:nvPr/>
        </p:nvSpPr>
        <p:spPr>
          <a:xfrm>
            <a:off x="4429080" y="20476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1" name=""/>
          <p:cNvSpPr/>
          <p:nvPr/>
        </p:nvSpPr>
        <p:spPr>
          <a:xfrm>
            <a:off x="7057800" y="20476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2" name=""/>
          <p:cNvSpPr/>
          <p:nvPr/>
        </p:nvSpPr>
        <p:spPr>
          <a:xfrm>
            <a:off x="7067520" y="204768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3" name=""/>
          <p:cNvSpPr/>
          <p:nvPr/>
        </p:nvSpPr>
        <p:spPr>
          <a:xfrm>
            <a:off x="9505800" y="204768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4" name=""/>
          <p:cNvSpPr/>
          <p:nvPr/>
        </p:nvSpPr>
        <p:spPr>
          <a:xfrm>
            <a:off x="9515160" y="204768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5" name=""/>
          <p:cNvSpPr/>
          <p:nvPr/>
        </p:nvSpPr>
        <p:spPr>
          <a:xfrm>
            <a:off x="11591640" y="20476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6" name=""/>
          <p:cNvSpPr/>
          <p:nvPr/>
        </p:nvSpPr>
        <p:spPr>
          <a:xfrm>
            <a:off x="590400" y="254304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7" name=""/>
          <p:cNvSpPr/>
          <p:nvPr/>
        </p:nvSpPr>
        <p:spPr>
          <a:xfrm>
            <a:off x="4429080" y="254304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8" name=""/>
          <p:cNvSpPr/>
          <p:nvPr/>
        </p:nvSpPr>
        <p:spPr>
          <a:xfrm>
            <a:off x="7067520" y="254304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9" name=""/>
          <p:cNvSpPr/>
          <p:nvPr/>
        </p:nvSpPr>
        <p:spPr>
          <a:xfrm>
            <a:off x="9515160" y="254304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0" name=""/>
          <p:cNvSpPr/>
          <p:nvPr/>
        </p:nvSpPr>
        <p:spPr>
          <a:xfrm>
            <a:off x="590400" y="25524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1" name=""/>
          <p:cNvSpPr/>
          <p:nvPr/>
        </p:nvSpPr>
        <p:spPr>
          <a:xfrm>
            <a:off x="4419360" y="2552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2" name=""/>
          <p:cNvSpPr/>
          <p:nvPr/>
        </p:nvSpPr>
        <p:spPr>
          <a:xfrm>
            <a:off x="7057800" y="2552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3" name=""/>
          <p:cNvSpPr/>
          <p:nvPr/>
        </p:nvSpPr>
        <p:spPr>
          <a:xfrm>
            <a:off x="9505800" y="25524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4" name=""/>
          <p:cNvSpPr/>
          <p:nvPr/>
        </p:nvSpPr>
        <p:spPr>
          <a:xfrm>
            <a:off x="11591640" y="2552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5" name=""/>
          <p:cNvSpPr/>
          <p:nvPr/>
        </p:nvSpPr>
        <p:spPr>
          <a:xfrm>
            <a:off x="590400" y="30477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6" name=""/>
          <p:cNvSpPr/>
          <p:nvPr/>
        </p:nvSpPr>
        <p:spPr>
          <a:xfrm>
            <a:off x="590400" y="303840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7" name=""/>
          <p:cNvSpPr/>
          <p:nvPr/>
        </p:nvSpPr>
        <p:spPr>
          <a:xfrm>
            <a:off x="4419360" y="30477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8" name=""/>
          <p:cNvSpPr/>
          <p:nvPr/>
        </p:nvSpPr>
        <p:spPr>
          <a:xfrm>
            <a:off x="4429080" y="303840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9" name=""/>
          <p:cNvSpPr/>
          <p:nvPr/>
        </p:nvSpPr>
        <p:spPr>
          <a:xfrm>
            <a:off x="7057800" y="30477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0" name=""/>
          <p:cNvSpPr/>
          <p:nvPr/>
        </p:nvSpPr>
        <p:spPr>
          <a:xfrm>
            <a:off x="7067520" y="303840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1" name=""/>
          <p:cNvSpPr/>
          <p:nvPr/>
        </p:nvSpPr>
        <p:spPr>
          <a:xfrm>
            <a:off x="9505800" y="30477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2" name=""/>
          <p:cNvSpPr/>
          <p:nvPr/>
        </p:nvSpPr>
        <p:spPr>
          <a:xfrm>
            <a:off x="9515160" y="303840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3" name=""/>
          <p:cNvSpPr/>
          <p:nvPr/>
        </p:nvSpPr>
        <p:spPr>
          <a:xfrm>
            <a:off x="11591640" y="30477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4" name=""/>
          <p:cNvSpPr/>
          <p:nvPr/>
        </p:nvSpPr>
        <p:spPr>
          <a:xfrm>
            <a:off x="590400" y="35431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5" name=""/>
          <p:cNvSpPr/>
          <p:nvPr/>
        </p:nvSpPr>
        <p:spPr>
          <a:xfrm>
            <a:off x="590400" y="353376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6" name=""/>
          <p:cNvSpPr/>
          <p:nvPr/>
        </p:nvSpPr>
        <p:spPr>
          <a:xfrm>
            <a:off x="4419360" y="35431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7" name=""/>
          <p:cNvSpPr/>
          <p:nvPr/>
        </p:nvSpPr>
        <p:spPr>
          <a:xfrm>
            <a:off x="4429080" y="353376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8" name=""/>
          <p:cNvSpPr/>
          <p:nvPr/>
        </p:nvSpPr>
        <p:spPr>
          <a:xfrm>
            <a:off x="7057800" y="35431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9" name=""/>
          <p:cNvSpPr/>
          <p:nvPr/>
        </p:nvSpPr>
        <p:spPr>
          <a:xfrm>
            <a:off x="7067520" y="353376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0" name=""/>
          <p:cNvSpPr/>
          <p:nvPr/>
        </p:nvSpPr>
        <p:spPr>
          <a:xfrm>
            <a:off x="9505800" y="35431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1" name=""/>
          <p:cNvSpPr/>
          <p:nvPr/>
        </p:nvSpPr>
        <p:spPr>
          <a:xfrm>
            <a:off x="9515160" y="353376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2" name=""/>
          <p:cNvSpPr/>
          <p:nvPr/>
        </p:nvSpPr>
        <p:spPr>
          <a:xfrm>
            <a:off x="11591640" y="35431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3" name=""/>
          <p:cNvSpPr/>
          <p:nvPr/>
        </p:nvSpPr>
        <p:spPr>
          <a:xfrm>
            <a:off x="590400" y="4028760"/>
            <a:ext cx="3839040" cy="10080"/>
          </a:xfrm>
          <a:custGeom>
            <a:avLst/>
            <a:gdLst/>
            <a:ahLst/>
            <a:rect l="0" t="0" r="r" b="b"/>
            <a:pathLst>
              <a:path w="10664" h="28">
                <a:moveTo>
                  <a:pt x="0" y="0"/>
                </a:moveTo>
                <a:lnTo>
                  <a:pt x="10664" y="0"/>
                </a:lnTo>
                <a:lnTo>
                  <a:pt x="106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4" name=""/>
          <p:cNvSpPr/>
          <p:nvPr/>
        </p:nvSpPr>
        <p:spPr>
          <a:xfrm>
            <a:off x="4429080" y="4028760"/>
            <a:ext cx="2638800" cy="10080"/>
          </a:xfrm>
          <a:custGeom>
            <a:avLst/>
            <a:gdLst/>
            <a:ahLst/>
            <a:rect l="0" t="0" r="r" b="b"/>
            <a:pathLst>
              <a:path w="7330" h="28">
                <a:moveTo>
                  <a:pt x="0" y="0"/>
                </a:moveTo>
                <a:lnTo>
                  <a:pt x="7330" y="0"/>
                </a:lnTo>
                <a:lnTo>
                  <a:pt x="73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5" name=""/>
          <p:cNvSpPr/>
          <p:nvPr/>
        </p:nvSpPr>
        <p:spPr>
          <a:xfrm>
            <a:off x="7067520" y="4028760"/>
            <a:ext cx="2448000" cy="10080"/>
          </a:xfrm>
          <a:custGeom>
            <a:avLst/>
            <a:gdLst/>
            <a:ahLst/>
            <a:rect l="0" t="0" r="r" b="b"/>
            <a:pathLst>
              <a:path w="6800" h="28">
                <a:moveTo>
                  <a:pt x="0" y="0"/>
                </a:moveTo>
                <a:lnTo>
                  <a:pt x="6800" y="0"/>
                </a:lnTo>
                <a:lnTo>
                  <a:pt x="68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6" name=""/>
          <p:cNvSpPr/>
          <p:nvPr/>
        </p:nvSpPr>
        <p:spPr>
          <a:xfrm>
            <a:off x="9515160" y="402876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7" name=""/>
          <p:cNvSpPr txBox="1"/>
          <p:nvPr/>
        </p:nvSpPr>
        <p:spPr>
          <a:xfrm>
            <a:off x="590400" y="128160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高得点の課題と、残る課題を分けて読む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8" name=""/>
          <p:cNvSpPr txBox="1"/>
          <p:nvPr/>
        </p:nvSpPr>
        <p:spPr>
          <a:xfrm>
            <a:off x="714240" y="2187360"/>
            <a:ext cx="12014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問題の種類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9" name=""/>
          <p:cNvSpPr txBox="1"/>
          <p:nvPr/>
        </p:nvSpPr>
        <p:spPr>
          <a:xfrm>
            <a:off x="5199480" y="2187360"/>
            <a:ext cx="20012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 15M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1ep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0" name=""/>
          <p:cNvSpPr txBox="1"/>
          <p:nvPr/>
        </p:nvSpPr>
        <p:spPr>
          <a:xfrm>
            <a:off x="7788240" y="2187360"/>
            <a:ext cx="18356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 1M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3ep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1" name=""/>
          <p:cNvSpPr txBox="1"/>
          <p:nvPr/>
        </p:nvSpPr>
        <p:spPr>
          <a:xfrm>
            <a:off x="10144440" y="2187360"/>
            <a:ext cx="15284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Qwen3-1.7B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2" name=""/>
          <p:cNvSpPr txBox="1"/>
          <p:nvPr/>
        </p:nvSpPr>
        <p:spPr>
          <a:xfrm>
            <a:off x="714240" y="268272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初めて組み合わせる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3" name=""/>
          <p:cNvSpPr txBox="1"/>
          <p:nvPr/>
        </p:nvSpPr>
        <p:spPr>
          <a:xfrm>
            <a:off x="6018480" y="268272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98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4" name=""/>
          <p:cNvSpPr txBox="1"/>
          <p:nvPr/>
        </p:nvSpPr>
        <p:spPr>
          <a:xfrm>
            <a:off x="8462520" y="268272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5" name=""/>
          <p:cNvSpPr txBox="1"/>
          <p:nvPr/>
        </p:nvSpPr>
        <p:spPr>
          <a:xfrm>
            <a:off x="10549440" y="2682720"/>
            <a:ext cx="10643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34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6" name=""/>
          <p:cNvSpPr txBox="1"/>
          <p:nvPr/>
        </p:nvSpPr>
        <p:spPr>
          <a:xfrm>
            <a:off x="714240" y="317808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初めてのペアを含む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7" name=""/>
          <p:cNvSpPr txBox="1"/>
          <p:nvPr/>
        </p:nvSpPr>
        <p:spPr>
          <a:xfrm>
            <a:off x="6018480" y="3178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8" name=""/>
          <p:cNvSpPr txBox="1"/>
          <p:nvPr/>
        </p:nvSpPr>
        <p:spPr>
          <a:xfrm>
            <a:off x="8324640" y="3178080"/>
            <a:ext cx="12208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9" name=""/>
          <p:cNvSpPr txBox="1"/>
          <p:nvPr/>
        </p:nvSpPr>
        <p:spPr>
          <a:xfrm>
            <a:off x="10550160" y="3178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27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0" name=""/>
          <p:cNvSpPr txBox="1"/>
          <p:nvPr/>
        </p:nvSpPr>
        <p:spPr>
          <a:xfrm>
            <a:off x="714240" y="3673080"/>
            <a:ext cx="304083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異なる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1" name=""/>
          <p:cNvSpPr txBox="1"/>
          <p:nvPr/>
        </p:nvSpPr>
        <p:spPr>
          <a:xfrm>
            <a:off x="6018480" y="3673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29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2" name=""/>
          <p:cNvSpPr txBox="1"/>
          <p:nvPr/>
        </p:nvSpPr>
        <p:spPr>
          <a:xfrm>
            <a:off x="8461440" y="3673080"/>
            <a:ext cx="10643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43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3" name=""/>
          <p:cNvSpPr/>
          <p:nvPr/>
        </p:nvSpPr>
        <p:spPr>
          <a:xfrm>
            <a:off x="685440" y="4400280"/>
            <a:ext cx="67320" cy="66960"/>
          </a:xfrm>
          <a:custGeom>
            <a:avLst/>
            <a:gdLst/>
            <a:ahLst/>
            <a:rect l="0" t="0" r="r" b="b"/>
            <a:pathLst>
              <a:path w="187" h="186">
                <a:moveTo>
                  <a:pt x="187" y="94"/>
                </a:moveTo>
                <a:cubicBezTo>
                  <a:pt x="187" y="106"/>
                  <a:pt x="184" y="118"/>
                  <a:pt x="180" y="129"/>
                </a:cubicBezTo>
                <a:cubicBezTo>
                  <a:pt x="175" y="141"/>
                  <a:pt x="168" y="151"/>
                  <a:pt x="160" y="159"/>
                </a:cubicBezTo>
                <a:cubicBezTo>
                  <a:pt x="151" y="168"/>
                  <a:pt x="141" y="175"/>
                  <a:pt x="130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2" y="186"/>
                  <a:pt x="70" y="184"/>
                  <a:pt x="59" y="179"/>
                </a:cubicBezTo>
                <a:cubicBezTo>
                  <a:pt x="47" y="175"/>
                  <a:pt x="36" y="168"/>
                  <a:pt x="28" y="159"/>
                </a:cubicBezTo>
                <a:cubicBezTo>
                  <a:pt x="19" y="151"/>
                  <a:pt x="12" y="141"/>
                  <a:pt x="8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8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9"/>
                  <a:pt x="47" y="12"/>
                  <a:pt x="59" y="7"/>
                </a:cubicBezTo>
                <a:cubicBezTo>
                  <a:pt x="70" y="3"/>
                  <a:pt x="82" y="0"/>
                  <a:pt x="94" y="0"/>
                </a:cubicBezTo>
                <a:cubicBezTo>
                  <a:pt x="106" y="0"/>
                  <a:pt x="118" y="3"/>
                  <a:pt x="130" y="7"/>
                </a:cubicBezTo>
                <a:cubicBezTo>
                  <a:pt x="141" y="12"/>
                  <a:pt x="151" y="19"/>
                  <a:pt x="160" y="27"/>
                </a:cubicBezTo>
                <a:cubicBezTo>
                  <a:pt x="168" y="36"/>
                  <a:pt x="175" y="46"/>
                  <a:pt x="180" y="57"/>
                </a:cubicBezTo>
                <a:cubicBezTo>
                  <a:pt x="184" y="69"/>
                  <a:pt x="187" y="82"/>
                  <a:pt x="187" y="94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4" name=""/>
          <p:cNvSpPr txBox="1"/>
          <p:nvPr/>
        </p:nvSpPr>
        <p:spPr>
          <a:xfrm>
            <a:off x="10550160" y="3673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26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5" name=""/>
          <p:cNvSpPr/>
          <p:nvPr/>
        </p:nvSpPr>
        <p:spPr>
          <a:xfrm>
            <a:off x="685440" y="4867200"/>
            <a:ext cx="67320" cy="66960"/>
          </a:xfrm>
          <a:custGeom>
            <a:avLst/>
            <a:gdLst/>
            <a:ahLst/>
            <a:rect l="0" t="0" r="r" b="b"/>
            <a:pathLst>
              <a:path w="187" h="186">
                <a:moveTo>
                  <a:pt x="187" y="93"/>
                </a:moveTo>
                <a:cubicBezTo>
                  <a:pt x="187" y="106"/>
                  <a:pt x="184" y="117"/>
                  <a:pt x="180" y="129"/>
                </a:cubicBezTo>
                <a:cubicBezTo>
                  <a:pt x="175" y="140"/>
                  <a:pt x="168" y="150"/>
                  <a:pt x="160" y="159"/>
                </a:cubicBezTo>
                <a:cubicBezTo>
                  <a:pt x="151" y="167"/>
                  <a:pt x="141" y="174"/>
                  <a:pt x="130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2" y="186"/>
                  <a:pt x="70" y="184"/>
                  <a:pt x="59" y="179"/>
                </a:cubicBezTo>
                <a:cubicBezTo>
                  <a:pt x="47" y="174"/>
                  <a:pt x="36" y="167"/>
                  <a:pt x="28" y="159"/>
                </a:cubicBezTo>
                <a:cubicBezTo>
                  <a:pt x="19" y="150"/>
                  <a:pt x="12" y="140"/>
                  <a:pt x="8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8"/>
                  <a:pt x="8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7" y="11"/>
                  <a:pt x="59" y="7"/>
                </a:cubicBezTo>
                <a:cubicBezTo>
                  <a:pt x="70" y="2"/>
                  <a:pt x="82" y="0"/>
                  <a:pt x="94" y="0"/>
                </a:cubicBezTo>
                <a:cubicBezTo>
                  <a:pt x="106" y="0"/>
                  <a:pt x="118" y="2"/>
                  <a:pt x="130" y="7"/>
                </a:cubicBezTo>
                <a:cubicBezTo>
                  <a:pt x="141" y="11"/>
                  <a:pt x="151" y="18"/>
                  <a:pt x="160" y="27"/>
                </a:cubicBezTo>
                <a:cubicBezTo>
                  <a:pt x="168" y="36"/>
                  <a:pt x="175" y="46"/>
                  <a:pt x="180" y="57"/>
                </a:cubicBezTo>
                <a:cubicBezTo>
                  <a:pt x="184" y="68"/>
                  <a:pt x="187" y="81"/>
                  <a:pt x="187" y="93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6" name=""/>
          <p:cNvSpPr txBox="1"/>
          <p:nvPr/>
        </p:nvSpPr>
        <p:spPr>
          <a:xfrm>
            <a:off x="888120" y="4286160"/>
            <a:ext cx="830691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操作の課題では、小規模モデルにも有望な結果がある。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7" name=""/>
          <p:cNvSpPr/>
          <p:nvPr/>
        </p:nvSpPr>
        <p:spPr>
          <a:xfrm>
            <a:off x="685440" y="5343480"/>
            <a:ext cx="67320" cy="66960"/>
          </a:xfrm>
          <a:custGeom>
            <a:avLst/>
            <a:gdLst/>
            <a:ahLst/>
            <a:rect l="0" t="0" r="r" b="b"/>
            <a:pathLst>
              <a:path w="187" h="186">
                <a:moveTo>
                  <a:pt x="187" y="93"/>
                </a:moveTo>
                <a:cubicBezTo>
                  <a:pt x="187" y="106"/>
                  <a:pt x="184" y="117"/>
                  <a:pt x="180" y="129"/>
                </a:cubicBezTo>
                <a:cubicBezTo>
                  <a:pt x="175" y="140"/>
                  <a:pt x="168" y="150"/>
                  <a:pt x="160" y="159"/>
                </a:cubicBezTo>
                <a:cubicBezTo>
                  <a:pt x="151" y="167"/>
                  <a:pt x="141" y="174"/>
                  <a:pt x="130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2" y="186"/>
                  <a:pt x="70" y="183"/>
                  <a:pt x="59" y="179"/>
                </a:cubicBezTo>
                <a:cubicBezTo>
                  <a:pt x="47" y="174"/>
                  <a:pt x="36" y="167"/>
                  <a:pt x="28" y="159"/>
                </a:cubicBezTo>
                <a:cubicBezTo>
                  <a:pt x="19" y="150"/>
                  <a:pt x="12" y="140"/>
                  <a:pt x="8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8" y="58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7" y="11"/>
                  <a:pt x="59" y="7"/>
                </a:cubicBezTo>
                <a:cubicBezTo>
                  <a:pt x="70" y="2"/>
                  <a:pt x="82" y="0"/>
                  <a:pt x="94" y="0"/>
                </a:cubicBezTo>
                <a:cubicBezTo>
                  <a:pt x="106" y="0"/>
                  <a:pt x="118" y="2"/>
                  <a:pt x="130" y="7"/>
                </a:cubicBezTo>
                <a:cubicBezTo>
                  <a:pt x="141" y="11"/>
                  <a:pt x="151" y="18"/>
                  <a:pt x="160" y="27"/>
                </a:cubicBezTo>
                <a:cubicBezTo>
                  <a:pt x="168" y="35"/>
                  <a:pt x="175" y="45"/>
                  <a:pt x="180" y="58"/>
                </a:cubicBezTo>
                <a:cubicBezTo>
                  <a:pt x="184" y="69"/>
                  <a:pt x="187" y="81"/>
                  <a:pt x="187" y="93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8" name=""/>
          <p:cNvSpPr txBox="1"/>
          <p:nvPr/>
        </p:nvSpPr>
        <p:spPr>
          <a:xfrm>
            <a:off x="888120" y="4753080"/>
            <a:ext cx="975094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操作では誤りが多く残る。どの操作を落とすか、順序を変えるかを分析する。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9" name=""/>
          <p:cNvSpPr txBox="1"/>
          <p:nvPr/>
        </p:nvSpPr>
        <p:spPr>
          <a:xfrm>
            <a:off x="888120" y="5229360"/>
            <a:ext cx="1074081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。生成条件も異なり、規模だけの優劣とは解釈しない。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0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組み合わせ汎化を測る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1" name=""/>
          <p:cNvSpPr txBox="1"/>
          <p:nvPr/>
        </p:nvSpPr>
        <p:spPr>
          <a:xfrm>
            <a:off x="11704680" y="6466680"/>
            <a:ext cx="23266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5" name=""/>
          <p:cNvSpPr txBox="1"/>
          <p:nvPr/>
        </p:nvSpPr>
        <p:spPr>
          <a:xfrm>
            <a:off x="590400" y="1576800"/>
            <a:ext cx="66467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今回の結果の意義と、次の研究課題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6" name=""/>
          <p:cNvSpPr txBox="1"/>
          <p:nvPr/>
        </p:nvSpPr>
        <p:spPr>
          <a:xfrm>
            <a:off x="590400" y="240264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今回のベンチマークでは、小規模モデルの組み合わせ汎化について有望な結果が得られた。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7" name=""/>
          <p:cNvSpPr txBox="1"/>
          <p:nvPr/>
        </p:nvSpPr>
        <p:spPr>
          <a:xfrm>
            <a:off x="590400" y="295488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今後は比較条件を揃え、より大きなモデルとの比較を追加するとともに、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評価設計と作成手順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8" name=""/>
          <p:cNvSpPr/>
          <p:nvPr/>
        </p:nvSpPr>
        <p:spPr>
          <a:xfrm>
            <a:off x="695160" y="40096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199" y="161"/>
                  <a:pt x="192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2" y="41"/>
                  <a:pt x="199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9" name=""/>
          <p:cNvSpPr txBox="1"/>
          <p:nvPr/>
        </p:nvSpPr>
        <p:spPr>
          <a:xfrm>
            <a:off x="590400" y="3345480"/>
            <a:ext cx="207414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を明文化する。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0" name=""/>
          <p:cNvSpPr/>
          <p:nvPr/>
        </p:nvSpPr>
        <p:spPr>
          <a:xfrm>
            <a:off x="695160" y="4514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2"/>
                  <a:pt x="182" y="32"/>
                </a:cubicBezTo>
                <a:cubicBezTo>
                  <a:pt x="192" y="42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1" name=""/>
          <p:cNvSpPr txBox="1"/>
          <p:nvPr/>
        </p:nvSpPr>
        <p:spPr>
          <a:xfrm>
            <a:off x="911880" y="389808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比較条件：訓練回数、プロンプト、生成上限などを記録し、揃えられる条件を揃える。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2" name=""/>
          <p:cNvSpPr/>
          <p:nvPr/>
        </p:nvSpPr>
        <p:spPr>
          <a:xfrm>
            <a:off x="695160" y="50101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3" name=""/>
          <p:cNvSpPr txBox="1"/>
          <p:nvPr/>
        </p:nvSpPr>
        <p:spPr>
          <a:xfrm>
            <a:off x="911880" y="4402800"/>
            <a:ext cx="977495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評価設計：何を既知・未知とするか、どの誤りを検出したいかを定める。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4" name=""/>
          <p:cNvSpPr txBox="1"/>
          <p:nvPr/>
        </p:nvSpPr>
        <p:spPr>
          <a:xfrm>
            <a:off x="911880" y="489816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作成手順：問題の選定、訓練との照合、採点方法、再現手順を公開可能な形に整理する。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5" name=""/>
          <p:cNvSpPr txBox="1"/>
          <p:nvPr/>
        </p:nvSpPr>
        <p:spPr>
          <a:xfrm>
            <a:off x="285840" y="239760"/>
            <a:ext cx="338279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7.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ベンチマークから研究課題を考える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6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0" name=""/>
          <p:cNvSpPr txBox="1"/>
          <p:nvPr/>
        </p:nvSpPr>
        <p:spPr>
          <a:xfrm>
            <a:off x="590400" y="1634040"/>
            <a:ext cx="373924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ベンチマークの役割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1" name=""/>
          <p:cNvSpPr/>
          <p:nvPr/>
        </p:nvSpPr>
        <p:spPr>
          <a:xfrm>
            <a:off x="695160" y="3124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2" name=""/>
          <p:cNvSpPr txBox="1"/>
          <p:nvPr/>
        </p:nvSpPr>
        <p:spPr>
          <a:xfrm>
            <a:off x="590400" y="2459880"/>
            <a:ext cx="91825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モデルの能力と限界を観測し、次に取り組む研究課題を明確にする。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3" name=""/>
          <p:cNvSpPr/>
          <p:nvPr/>
        </p:nvSpPr>
        <p:spPr>
          <a:xfrm>
            <a:off x="695160" y="36288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4" name=""/>
          <p:cNvSpPr txBox="1"/>
          <p:nvPr/>
        </p:nvSpPr>
        <p:spPr>
          <a:xfrm>
            <a:off x="911880" y="301212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入出力の成功例だけでは、能力を獲得したか判断できない。共通の基準で定量評価する。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5" name=""/>
          <p:cNvSpPr txBox="1"/>
          <p:nvPr/>
        </p:nvSpPr>
        <p:spPr>
          <a:xfrm>
            <a:off x="911880" y="351684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正誤を検証できる課題では、評価基準を明確にしやすい。小規模モデルでも改善を確かめら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6" name=""/>
          <p:cNvSpPr/>
          <p:nvPr/>
        </p:nvSpPr>
        <p:spPr>
          <a:xfrm>
            <a:off x="695160" y="4514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2"/>
                  <a:pt x="182" y="32"/>
                </a:cubicBezTo>
                <a:cubicBezTo>
                  <a:pt x="192" y="42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7" name=""/>
          <p:cNvSpPr txBox="1"/>
          <p:nvPr/>
        </p:nvSpPr>
        <p:spPr>
          <a:xfrm>
            <a:off x="911880" y="3898080"/>
            <a:ext cx="88927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れる。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8" name=""/>
          <p:cNvSpPr txBox="1"/>
          <p:nvPr/>
        </p:nvSpPr>
        <p:spPr>
          <a:xfrm>
            <a:off x="911880" y="4402800"/>
            <a:ext cx="91825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得点だけでなく、どの条件で成功し、どの条件で失敗するかを見る。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9" name=""/>
          <p:cNvSpPr txBox="1"/>
          <p:nvPr/>
        </p:nvSpPr>
        <p:spPr>
          <a:xfrm>
            <a:off x="590400" y="495540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今回なら、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操作での高得点と、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操作で残る誤り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が、次の分析対象を教えてくれる。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0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4" name=""/>
          <p:cNvSpPr txBox="1"/>
          <p:nvPr/>
        </p:nvSpPr>
        <p:spPr>
          <a:xfrm>
            <a:off x="590400" y="16628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自分の研究でベンチマークを作るには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5" name=""/>
          <p:cNvSpPr txBox="1"/>
          <p:nvPr/>
        </p:nvSpPr>
        <p:spPr>
          <a:xfrm>
            <a:off x="595440" y="2488320"/>
            <a:ext cx="1140606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測りたい能力を先に決める。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例：既知の操作を、新しい組み合わせで実行できるか。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6" name=""/>
          <p:cNvSpPr txBox="1"/>
          <p:nvPr/>
        </p:nvSpPr>
        <p:spPr>
          <a:xfrm>
            <a:off x="595440" y="2983680"/>
            <a:ext cx="105342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目的に沿って課題と正解基準を作る。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何を変え、何を固定するかを決める。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7" name=""/>
          <p:cNvSpPr txBox="1"/>
          <p:nvPr/>
        </p:nvSpPr>
        <p:spPr>
          <a:xfrm>
            <a:off x="595440" y="3488400"/>
            <a:ext cx="105342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共通条件で測り、成功と失敗を分析する。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作成手順と比較条件も記録する。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8" name=""/>
          <p:cNvSpPr txBox="1"/>
          <p:nvPr/>
        </p:nvSpPr>
        <p:spPr>
          <a:xfrm>
            <a:off x="594720" y="3983760"/>
            <a:ext cx="1140678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高得点で差が見えなくなったら、評価の役割を見直す。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元の結果を残し、次に測る能力を定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9" name=""/>
          <p:cNvSpPr txBox="1"/>
          <p:nvPr/>
        </p:nvSpPr>
        <p:spPr>
          <a:xfrm>
            <a:off x="911880" y="4374360"/>
            <a:ext cx="88927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0" name=""/>
          <p:cNvSpPr txBox="1"/>
          <p:nvPr/>
        </p:nvSpPr>
        <p:spPr>
          <a:xfrm>
            <a:off x="590400" y="4926600"/>
            <a:ext cx="103673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得点を上げる研究と、能力向上を観測できる評価を作る研究を、両方考える。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1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5" name=""/>
          <p:cNvSpPr/>
          <p:nvPr/>
        </p:nvSpPr>
        <p:spPr>
          <a:xfrm>
            <a:off x="695160" y="30384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6" name=""/>
          <p:cNvSpPr txBox="1"/>
          <p:nvPr/>
        </p:nvSpPr>
        <p:spPr>
          <a:xfrm>
            <a:off x="590400" y="2110320"/>
            <a:ext cx="373924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この結果が示す範囲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7" name=""/>
          <p:cNvSpPr/>
          <p:nvPr/>
        </p:nvSpPr>
        <p:spPr>
          <a:xfrm>
            <a:off x="695160" y="3543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199" y="159"/>
                  <a:pt x="192" y="171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8" name=""/>
          <p:cNvSpPr txBox="1"/>
          <p:nvPr/>
        </p:nvSpPr>
        <p:spPr>
          <a:xfrm>
            <a:off x="911880" y="292644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操作を最大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つ組み合わせるコード生成。追加評価では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操作まで調べた。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9" name=""/>
          <p:cNvSpPr/>
          <p:nvPr/>
        </p:nvSpPr>
        <p:spPr>
          <a:xfrm>
            <a:off x="695160" y="40384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0" name=""/>
          <p:cNvSpPr txBox="1"/>
          <p:nvPr/>
        </p:nvSpPr>
        <p:spPr>
          <a:xfrm>
            <a:off x="911880" y="3431160"/>
            <a:ext cx="809204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冒頭変更の比較は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操作。日本語能力全体の測定ではない。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1" name=""/>
          <p:cNvSpPr txBox="1"/>
          <p:nvPr/>
        </p:nvSpPr>
        <p:spPr>
          <a:xfrm>
            <a:off x="911880" y="3926520"/>
            <a:ext cx="799806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学習は一つの乱数設定。繰り返し実験のばらつきは未確認。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2" name=""/>
          <p:cNvSpPr txBox="1"/>
          <p:nvPr/>
        </p:nvSpPr>
        <p:spPr>
          <a:xfrm>
            <a:off x="590400" y="4488480"/>
            <a:ext cx="888651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今後は文型の偏りを減らした教材で、表現への強さを再評価する。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3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7" name=""/>
          <p:cNvSpPr/>
          <p:nvPr/>
        </p:nvSpPr>
        <p:spPr>
          <a:xfrm>
            <a:off x="599760" y="3447720"/>
            <a:ext cx="5048640" cy="476640"/>
          </a:xfrm>
          <a:custGeom>
            <a:avLst/>
            <a:gdLst/>
            <a:ahLst/>
            <a:rect l="0" t="0" r="r" b="b"/>
            <a:pathLst>
              <a:path w="14024" h="1324">
                <a:moveTo>
                  <a:pt x="0" y="0"/>
                </a:moveTo>
                <a:lnTo>
                  <a:pt x="14024" y="0"/>
                </a:lnTo>
                <a:lnTo>
                  <a:pt x="1402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8" name=""/>
          <p:cNvSpPr/>
          <p:nvPr/>
        </p:nvSpPr>
        <p:spPr>
          <a:xfrm>
            <a:off x="5648040" y="3447720"/>
            <a:ext cx="5953680" cy="476640"/>
          </a:xfrm>
          <a:custGeom>
            <a:avLst/>
            <a:gdLst/>
            <a:ahLst/>
            <a:rect l="0" t="0" r="r" b="b"/>
            <a:pathLst>
              <a:path w="16538" h="1324">
                <a:moveTo>
                  <a:pt x="0" y="0"/>
                </a:moveTo>
                <a:lnTo>
                  <a:pt x="16538" y="0"/>
                </a:lnTo>
                <a:lnTo>
                  <a:pt x="1653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9" name=""/>
          <p:cNvSpPr/>
          <p:nvPr/>
        </p:nvSpPr>
        <p:spPr>
          <a:xfrm>
            <a:off x="599760" y="3447720"/>
            <a:ext cx="5048640" cy="476640"/>
          </a:xfrm>
          <a:custGeom>
            <a:avLst/>
            <a:gdLst/>
            <a:ahLst/>
            <a:rect l="0" t="0" r="r" b="b"/>
            <a:pathLst>
              <a:path w="14024" h="1324">
                <a:moveTo>
                  <a:pt x="0" y="0"/>
                </a:moveTo>
                <a:lnTo>
                  <a:pt x="14024" y="0"/>
                </a:lnTo>
                <a:lnTo>
                  <a:pt x="1402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0" name=""/>
          <p:cNvSpPr/>
          <p:nvPr/>
        </p:nvSpPr>
        <p:spPr>
          <a:xfrm>
            <a:off x="5648040" y="3447720"/>
            <a:ext cx="5953680" cy="476640"/>
          </a:xfrm>
          <a:custGeom>
            <a:avLst/>
            <a:gdLst/>
            <a:ahLst/>
            <a:rect l="0" t="0" r="r" b="b"/>
            <a:pathLst>
              <a:path w="16538" h="1324">
                <a:moveTo>
                  <a:pt x="0" y="0"/>
                </a:moveTo>
                <a:lnTo>
                  <a:pt x="16538" y="0"/>
                </a:lnTo>
                <a:lnTo>
                  <a:pt x="1653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1" name=""/>
          <p:cNvSpPr/>
          <p:nvPr/>
        </p:nvSpPr>
        <p:spPr>
          <a:xfrm>
            <a:off x="599760" y="3924000"/>
            <a:ext cx="5048640" cy="486360"/>
          </a:xfrm>
          <a:custGeom>
            <a:avLst/>
            <a:gdLst/>
            <a:ahLst/>
            <a:rect l="0" t="0" r="r" b="b"/>
            <a:pathLst>
              <a:path w="14024" h="1351">
                <a:moveTo>
                  <a:pt x="0" y="0"/>
                </a:moveTo>
                <a:lnTo>
                  <a:pt x="14024" y="0"/>
                </a:lnTo>
                <a:lnTo>
                  <a:pt x="14024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2" name=""/>
          <p:cNvSpPr/>
          <p:nvPr/>
        </p:nvSpPr>
        <p:spPr>
          <a:xfrm>
            <a:off x="5648040" y="3924000"/>
            <a:ext cx="5953680" cy="486360"/>
          </a:xfrm>
          <a:custGeom>
            <a:avLst/>
            <a:gdLst/>
            <a:ahLst/>
            <a:rect l="0" t="0" r="r" b="b"/>
            <a:pathLst>
              <a:path w="16538" h="1351">
                <a:moveTo>
                  <a:pt x="0" y="0"/>
                </a:moveTo>
                <a:lnTo>
                  <a:pt x="16538" y="0"/>
                </a:lnTo>
                <a:lnTo>
                  <a:pt x="1653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3" name=""/>
          <p:cNvSpPr/>
          <p:nvPr/>
        </p:nvSpPr>
        <p:spPr>
          <a:xfrm>
            <a:off x="599760" y="4410000"/>
            <a:ext cx="5048640" cy="476640"/>
          </a:xfrm>
          <a:custGeom>
            <a:avLst/>
            <a:gdLst/>
            <a:ahLst/>
            <a:rect l="0" t="0" r="r" b="b"/>
            <a:pathLst>
              <a:path w="14024" h="1324">
                <a:moveTo>
                  <a:pt x="0" y="0"/>
                </a:moveTo>
                <a:lnTo>
                  <a:pt x="14024" y="0"/>
                </a:lnTo>
                <a:lnTo>
                  <a:pt x="1402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4" name=""/>
          <p:cNvSpPr/>
          <p:nvPr/>
        </p:nvSpPr>
        <p:spPr>
          <a:xfrm>
            <a:off x="5648040" y="4410000"/>
            <a:ext cx="5953680" cy="476640"/>
          </a:xfrm>
          <a:custGeom>
            <a:avLst/>
            <a:gdLst/>
            <a:ahLst/>
            <a:rect l="0" t="0" r="r" b="b"/>
            <a:pathLst>
              <a:path w="16538" h="1324">
                <a:moveTo>
                  <a:pt x="0" y="0"/>
                </a:moveTo>
                <a:lnTo>
                  <a:pt x="16538" y="0"/>
                </a:lnTo>
                <a:lnTo>
                  <a:pt x="1653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5" name=""/>
          <p:cNvSpPr/>
          <p:nvPr/>
        </p:nvSpPr>
        <p:spPr>
          <a:xfrm>
            <a:off x="599760" y="4886280"/>
            <a:ext cx="5048640" cy="486000"/>
          </a:xfrm>
          <a:custGeom>
            <a:avLst/>
            <a:gdLst/>
            <a:ahLst/>
            <a:rect l="0" t="0" r="r" b="b"/>
            <a:pathLst>
              <a:path w="14024" h="1350">
                <a:moveTo>
                  <a:pt x="0" y="0"/>
                </a:moveTo>
                <a:lnTo>
                  <a:pt x="14024" y="0"/>
                </a:lnTo>
                <a:lnTo>
                  <a:pt x="1402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6" name=""/>
          <p:cNvSpPr/>
          <p:nvPr/>
        </p:nvSpPr>
        <p:spPr>
          <a:xfrm>
            <a:off x="5648040" y="4886280"/>
            <a:ext cx="5953680" cy="486000"/>
          </a:xfrm>
          <a:custGeom>
            <a:avLst/>
            <a:gdLst/>
            <a:ahLst/>
            <a:rect l="0" t="0" r="r" b="b"/>
            <a:pathLst>
              <a:path w="16538" h="1350">
                <a:moveTo>
                  <a:pt x="0" y="0"/>
                </a:moveTo>
                <a:lnTo>
                  <a:pt x="16538" y="0"/>
                </a:lnTo>
                <a:lnTo>
                  <a:pt x="1653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7" name=""/>
          <p:cNvSpPr/>
          <p:nvPr/>
        </p:nvSpPr>
        <p:spPr>
          <a:xfrm>
            <a:off x="590400" y="34383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8" name=""/>
          <p:cNvSpPr/>
          <p:nvPr/>
        </p:nvSpPr>
        <p:spPr>
          <a:xfrm>
            <a:off x="590400" y="343836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9" name=""/>
          <p:cNvSpPr/>
          <p:nvPr/>
        </p:nvSpPr>
        <p:spPr>
          <a:xfrm>
            <a:off x="5638680" y="34383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0" name=""/>
          <p:cNvSpPr/>
          <p:nvPr/>
        </p:nvSpPr>
        <p:spPr>
          <a:xfrm>
            <a:off x="5648040" y="3438360"/>
            <a:ext cx="5953680" cy="9720"/>
          </a:xfrm>
          <a:custGeom>
            <a:avLst/>
            <a:gdLst/>
            <a:ahLst/>
            <a:rect l="0" t="0" r="r" b="b"/>
            <a:pathLst>
              <a:path w="16538" h="27">
                <a:moveTo>
                  <a:pt x="0" y="0"/>
                </a:moveTo>
                <a:lnTo>
                  <a:pt x="16538" y="0"/>
                </a:lnTo>
                <a:lnTo>
                  <a:pt x="165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1" name=""/>
          <p:cNvSpPr/>
          <p:nvPr/>
        </p:nvSpPr>
        <p:spPr>
          <a:xfrm>
            <a:off x="11591640" y="34383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2" name=""/>
          <p:cNvSpPr/>
          <p:nvPr/>
        </p:nvSpPr>
        <p:spPr>
          <a:xfrm>
            <a:off x="590400" y="392400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3" name=""/>
          <p:cNvSpPr/>
          <p:nvPr/>
        </p:nvSpPr>
        <p:spPr>
          <a:xfrm>
            <a:off x="5648040" y="3924000"/>
            <a:ext cx="5953680" cy="10080"/>
          </a:xfrm>
          <a:custGeom>
            <a:avLst/>
            <a:gdLst/>
            <a:ahLst/>
            <a:rect l="0" t="0" r="r" b="b"/>
            <a:pathLst>
              <a:path w="16538" h="28">
                <a:moveTo>
                  <a:pt x="0" y="0"/>
                </a:moveTo>
                <a:lnTo>
                  <a:pt x="16538" y="0"/>
                </a:lnTo>
                <a:lnTo>
                  <a:pt x="165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4" name=""/>
          <p:cNvSpPr/>
          <p:nvPr/>
        </p:nvSpPr>
        <p:spPr>
          <a:xfrm>
            <a:off x="590400" y="3933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5" name=""/>
          <p:cNvSpPr/>
          <p:nvPr/>
        </p:nvSpPr>
        <p:spPr>
          <a:xfrm>
            <a:off x="5638680" y="3933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6" name=""/>
          <p:cNvSpPr/>
          <p:nvPr/>
        </p:nvSpPr>
        <p:spPr>
          <a:xfrm>
            <a:off x="11591640" y="39337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7" name=""/>
          <p:cNvSpPr/>
          <p:nvPr/>
        </p:nvSpPr>
        <p:spPr>
          <a:xfrm>
            <a:off x="590400" y="44100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8" name=""/>
          <p:cNvSpPr/>
          <p:nvPr/>
        </p:nvSpPr>
        <p:spPr>
          <a:xfrm>
            <a:off x="590400" y="440028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9" name=""/>
          <p:cNvSpPr/>
          <p:nvPr/>
        </p:nvSpPr>
        <p:spPr>
          <a:xfrm>
            <a:off x="5638680" y="44100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0" name=""/>
          <p:cNvSpPr/>
          <p:nvPr/>
        </p:nvSpPr>
        <p:spPr>
          <a:xfrm>
            <a:off x="5648040" y="4400280"/>
            <a:ext cx="5953680" cy="10080"/>
          </a:xfrm>
          <a:custGeom>
            <a:avLst/>
            <a:gdLst/>
            <a:ahLst/>
            <a:rect l="0" t="0" r="r" b="b"/>
            <a:pathLst>
              <a:path w="16538" h="28">
                <a:moveTo>
                  <a:pt x="0" y="0"/>
                </a:moveTo>
                <a:lnTo>
                  <a:pt x="16538" y="0"/>
                </a:lnTo>
                <a:lnTo>
                  <a:pt x="165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1" name=""/>
          <p:cNvSpPr/>
          <p:nvPr/>
        </p:nvSpPr>
        <p:spPr>
          <a:xfrm>
            <a:off x="11591640" y="44100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2" name=""/>
          <p:cNvSpPr/>
          <p:nvPr/>
        </p:nvSpPr>
        <p:spPr>
          <a:xfrm>
            <a:off x="590400" y="4895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3" name=""/>
          <p:cNvSpPr/>
          <p:nvPr/>
        </p:nvSpPr>
        <p:spPr>
          <a:xfrm>
            <a:off x="590400" y="488628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4" name=""/>
          <p:cNvSpPr/>
          <p:nvPr/>
        </p:nvSpPr>
        <p:spPr>
          <a:xfrm>
            <a:off x="5638680" y="4895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5" name=""/>
          <p:cNvSpPr/>
          <p:nvPr/>
        </p:nvSpPr>
        <p:spPr>
          <a:xfrm>
            <a:off x="5648040" y="4886280"/>
            <a:ext cx="5953680" cy="9720"/>
          </a:xfrm>
          <a:custGeom>
            <a:avLst/>
            <a:gdLst/>
            <a:ahLst/>
            <a:rect l="0" t="0" r="r" b="b"/>
            <a:pathLst>
              <a:path w="16538" h="27">
                <a:moveTo>
                  <a:pt x="0" y="0"/>
                </a:moveTo>
                <a:lnTo>
                  <a:pt x="16538" y="0"/>
                </a:lnTo>
                <a:lnTo>
                  <a:pt x="165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6" name=""/>
          <p:cNvSpPr/>
          <p:nvPr/>
        </p:nvSpPr>
        <p:spPr>
          <a:xfrm>
            <a:off x="11591640" y="4895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7" name=""/>
          <p:cNvSpPr/>
          <p:nvPr/>
        </p:nvSpPr>
        <p:spPr>
          <a:xfrm>
            <a:off x="590400" y="536256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8" name=""/>
          <p:cNvSpPr/>
          <p:nvPr/>
        </p:nvSpPr>
        <p:spPr>
          <a:xfrm>
            <a:off x="5648040" y="5362560"/>
            <a:ext cx="5953680" cy="9720"/>
          </a:xfrm>
          <a:custGeom>
            <a:avLst/>
            <a:gdLst/>
            <a:ahLst/>
            <a:rect l="0" t="0" r="r" b="b"/>
            <a:pathLst>
              <a:path w="16538" h="27">
                <a:moveTo>
                  <a:pt x="0" y="0"/>
                </a:moveTo>
                <a:lnTo>
                  <a:pt x="16538" y="0"/>
                </a:lnTo>
                <a:lnTo>
                  <a:pt x="165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19" name=""/>
          <p:cNvSpPr txBox="1"/>
          <p:nvPr/>
        </p:nvSpPr>
        <p:spPr>
          <a:xfrm>
            <a:off x="590400" y="1548360"/>
            <a:ext cx="346352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まとめと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Web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デモ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0" name=""/>
          <p:cNvSpPr txBox="1"/>
          <p:nvPr/>
        </p:nvSpPr>
        <p:spPr>
          <a:xfrm>
            <a:off x="590400" y="2364480"/>
            <a:ext cx="89548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限定したコード生成は、小さなモデルでも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で学習できた。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1" name=""/>
          <p:cNvSpPr txBox="1"/>
          <p:nvPr/>
        </p:nvSpPr>
        <p:spPr>
          <a:xfrm>
            <a:off x="590400" y="292644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表現を変えた場合の性能と、操作を組み合わせる能力は、分けて確かめる必要がある。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2" name=""/>
          <p:cNvSpPr txBox="1"/>
          <p:nvPr/>
        </p:nvSpPr>
        <p:spPr>
          <a:xfrm>
            <a:off x="723960" y="3562200"/>
            <a:ext cx="136785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デモの流れ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3" name=""/>
          <p:cNvSpPr txBox="1"/>
          <p:nvPr/>
        </p:nvSpPr>
        <p:spPr>
          <a:xfrm>
            <a:off x="5775120" y="3562200"/>
            <a:ext cx="54772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役割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4" name=""/>
          <p:cNvSpPr txBox="1"/>
          <p:nvPr/>
        </p:nvSpPr>
        <p:spPr>
          <a:xfrm>
            <a:off x="723960" y="4048200"/>
            <a:ext cx="282596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① 自由な日本語を入力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5" name=""/>
          <p:cNvSpPr txBox="1"/>
          <p:nvPr/>
        </p:nvSpPr>
        <p:spPr>
          <a:xfrm>
            <a:off x="5775120" y="4048200"/>
            <a:ext cx="273488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作りたい処理を伝える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6" name=""/>
          <p:cNvSpPr txBox="1"/>
          <p:nvPr/>
        </p:nvSpPr>
        <p:spPr>
          <a:xfrm>
            <a:off x="723960" y="4524480"/>
            <a:ext cx="364609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② 補助モデルで文型を整える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7" name=""/>
          <p:cNvSpPr txBox="1"/>
          <p:nvPr/>
        </p:nvSpPr>
        <p:spPr>
          <a:xfrm>
            <a:off x="5775120" y="4524480"/>
            <a:ext cx="355501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対象の操作と表現にそろえる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8" name=""/>
          <p:cNvSpPr txBox="1"/>
          <p:nvPr/>
        </p:nvSpPr>
        <p:spPr>
          <a:xfrm>
            <a:off x="723960" y="5010120"/>
            <a:ext cx="337285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③ 指示を確認して生成する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9" name=""/>
          <p:cNvSpPr txBox="1"/>
          <p:nvPr/>
        </p:nvSpPr>
        <p:spPr>
          <a:xfrm>
            <a:off x="5775120" y="5010120"/>
            <a:ext cx="43180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Boku-nano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コードを作る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30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