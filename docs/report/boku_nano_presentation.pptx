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5.xml" ContentType="application/vnd.openxmlformats-officedocument.presentationml.slide+xml"/>
  <Override PartName="/ppt/slides/slide33.xml" ContentType="application/vnd.openxmlformats-officedocument.presentationml.slide+xml"/>
  <Override PartName="/ppt/slides/slide21.xml" ContentType="application/vnd.openxmlformats-officedocument.presentationml.slide+xml"/>
  <Override PartName="/ppt/slides/slide6.xml" ContentType="application/vnd.openxmlformats-officedocument.presentationml.slide+xml"/>
  <Override PartName="/ppt/slides/slide9.xml" ContentType="application/vnd.openxmlformats-officedocument.presentationml.slide+xml"/>
  <Override PartName="/ppt/slides/slide20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8.xml" ContentType="application/vnd.openxmlformats-officedocument.presentationml.slide+xml"/>
  <Override PartName="/ppt/slides/slide36.xml" ContentType="application/vnd.openxmlformats-officedocument.presentationml.slide+xml"/>
  <Override PartName="/ppt/slides/slide1.xml" ContentType="application/vnd.openxmlformats-officedocument.presentationml.slide+xml"/>
  <Override PartName="/ppt/slides/slide13.xml" ContentType="application/vnd.openxmlformats-officedocument.presentationml.slide+xml"/>
  <Override PartName="/ppt/slides/slide23.xml" ContentType="application/vnd.openxmlformats-officedocument.presentationml.slide+xml"/>
  <Override PartName="/ppt/slides/slide28.xml" ContentType="application/vnd.openxmlformats-officedocument.presentationml.slide+xml"/>
  <Override PartName="/ppt/slides/slide39.xml" ContentType="application/vnd.openxmlformats-officedocument.presentationml.slide+xml"/>
  <Override PartName="/ppt/slides/slide27.xml" ContentType="application/vnd.openxmlformats-officedocument.presentationml.slide+xml"/>
  <Override PartName="/ppt/slides/slide30.xml" ContentType="application/vnd.openxmlformats-officedocument.presentationml.slide+xml"/>
  <Override PartName="/ppt/slides/slide19.xml" ContentType="application/vnd.openxmlformats-officedocument.presentationml.slide+xml"/>
  <Override PartName="/ppt/slides/slide25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22.xml" ContentType="application/vnd.openxmlformats-officedocument.presentationml.slide+xml"/>
  <Override PartName="/ppt/slides/slide29.xml" ContentType="application/vnd.openxmlformats-officedocument.presentationml.slide+xml"/>
  <Override PartName="/ppt/slides/slide35.xml" ContentType="application/vnd.openxmlformats-officedocument.presentationml.slide+xml"/>
  <Override PartName="/ppt/slides/slide10.xml" ContentType="application/vnd.openxmlformats-officedocument.presentationml.slide+xml"/>
  <Override PartName="/ppt/slides/slide26.xml" ContentType="application/vnd.openxmlformats-officedocument.presentationml.slide+xml"/>
  <Override PartName="/ppt/slides/slide24.xml" ContentType="application/vnd.openxmlformats-officedocument.presentationml.slide+xml"/>
  <Override PartName="/ppt/slides/slide32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37.xml" ContentType="application/vnd.openxmlformats-officedocument.presentationml.slide+xml"/>
  <Override PartName="/ppt/slides/slide16.xml" ContentType="application/vnd.openxmlformats-officedocument.presentationml.slide+xml"/>
  <Override PartName="/ppt/slides/slide38.xml" ContentType="application/vnd.openxmlformats-officedocument.presentationml.slide+xml"/>
  <Override PartName="/ppt/slides/slide45.xml" ContentType="application/vnd.openxmlformats-officedocument.presentationml.slide+xml"/>
  <Override PartName="/ppt/slides/slide44.xml" ContentType="application/vnd.openxmlformats-officedocument.presentationml.slide+xml"/>
  <Override PartName="/ppt/slides/slide34.xml" ContentType="application/vnd.openxmlformats-officedocument.presentationml.slide+xml"/>
  <Override PartName="/ppt/slides/slide41.xml" ContentType="application/vnd.openxmlformats-officedocument.presentationml.slide+xml"/>
  <Override PartName="/ppt/slides/slide47.xml" ContentType="application/vnd.openxmlformats-officedocument.presentationml.slide+xml"/>
  <Override PartName="/ppt/slides/slide42.xml" ContentType="application/vnd.openxmlformats-officedocument.presentationml.slide+xml"/>
  <Override PartName="/ppt/slides/slide31.xml" ContentType="application/vnd.openxmlformats-officedocument.presentationml.slide+xml"/>
  <Override PartName="/ppt/slides/slide8.xml" ContentType="application/vnd.openxmlformats-officedocument.presentationml.slide+xml"/>
  <Override PartName="/ppt/slides/slide43.xml" ContentType="application/vnd.openxmlformats-officedocument.presentationml.slide+xml"/>
  <Override PartName="/ppt/slides/slide46.xml" ContentType="application/vnd.openxmlformats-officedocument.presentationml.slide+xml"/>
  <Override PartName="/ppt/slides/slide7.xml" ContentType="application/vnd.openxmlformats-officedocument.presentationml.slide+xml"/>
  <Override PartName="/ppt/slides/slide48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  <p:sldId id="294" r:id="rId41"/>
    <p:sldId id="295" r:id="rId42"/>
    <p:sldId id="296" r:id="rId43"/>
    <p:sldId id="297" r:id="rId44"/>
    <p:sldId id="298" r:id="rId45"/>
    <p:sldId id="299" r:id="rId46"/>
    <p:sldId id="300" r:id="rId47"/>
    <p:sldId id="301" r:id="rId48"/>
    <p:sldId id="302" r:id="rId49"/>
    <p:sldId id="303" r:id="rId50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2.xml"/><Relationship Id="rId35" Type="http://schemas.openxmlformats.org/officeDocument/2006/relationships/slide" Target="slides/slide33.xml"/><Relationship Id="rId36" Type="http://schemas.openxmlformats.org/officeDocument/2006/relationships/slide" Target="slides/slide34.xml"/><Relationship Id="rId37" Type="http://schemas.openxmlformats.org/officeDocument/2006/relationships/slide" Target="slides/slide35.xml"/><Relationship Id="rId38" Type="http://schemas.openxmlformats.org/officeDocument/2006/relationships/slide" Target="slides/slide36.xml"/><Relationship Id="rId39" Type="http://schemas.openxmlformats.org/officeDocument/2006/relationships/slide" Target="slides/slide37.xml"/><Relationship Id="rId40" Type="http://schemas.openxmlformats.org/officeDocument/2006/relationships/slide" Target="slides/slide38.xml"/><Relationship Id="rId41" Type="http://schemas.openxmlformats.org/officeDocument/2006/relationships/slide" Target="slides/slide39.xml"/><Relationship Id="rId42" Type="http://schemas.openxmlformats.org/officeDocument/2006/relationships/slide" Target="slides/slide40.xml"/><Relationship Id="rId43" Type="http://schemas.openxmlformats.org/officeDocument/2006/relationships/slide" Target="slides/slide41.xml"/><Relationship Id="rId44" Type="http://schemas.openxmlformats.org/officeDocument/2006/relationships/slide" Target="slides/slide42.xml"/><Relationship Id="rId45" Type="http://schemas.openxmlformats.org/officeDocument/2006/relationships/slide" Target="slides/slide43.xml"/><Relationship Id="rId46" Type="http://schemas.openxmlformats.org/officeDocument/2006/relationships/slide" Target="slides/slide44.xml"/><Relationship Id="rId47" Type="http://schemas.openxmlformats.org/officeDocument/2006/relationships/slide" Target="slides/slide45.xml"/><Relationship Id="rId48" Type="http://schemas.openxmlformats.org/officeDocument/2006/relationships/slide" Target="slides/slide46.xml"/><Relationship Id="rId49" Type="http://schemas.openxmlformats.org/officeDocument/2006/relationships/slide" Target="slides/slide47.xml"/><Relationship Id="rId50" Type="http://schemas.openxmlformats.org/officeDocument/2006/relationships/slide" Target="slides/slide48.xml"/><Relationship Id="rId51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1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" name=""/>
          <p:cNvSpPr txBox="1"/>
          <p:nvPr/>
        </p:nvSpPr>
        <p:spPr>
          <a:xfrm>
            <a:off x="619200" y="2309400"/>
            <a:ext cx="3807972" cy="590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46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Boku-nano</a:t>
            </a:r>
            <a:endParaRPr lang="en-US" sz="4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" name=""/>
          <p:cNvSpPr txBox="1"/>
          <p:nvPr/>
        </p:nvSpPr>
        <p:spPr>
          <a:xfrm>
            <a:off x="619200" y="3651120"/>
            <a:ext cx="11302200" cy="3434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700" b="1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制限された日本語から</a:t>
            </a:r>
            <a:r>
              <a:rPr lang="en-US" sz="2700" b="1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Python</a:t>
            </a:r>
            <a:r>
              <a:rPr lang="ja-JP" sz="2700" b="1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の関数を生成する小型言語モデル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" name=""/>
          <p:cNvSpPr txBox="1"/>
          <p:nvPr/>
        </p:nvSpPr>
        <p:spPr>
          <a:xfrm>
            <a:off x="619200" y="4127400"/>
            <a:ext cx="1693674" cy="3434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700" b="1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（</a:t>
            </a:r>
            <a:r>
              <a:rPr lang="en-US" sz="2700" b="1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SLM</a:t>
            </a:r>
            <a:r>
              <a:rPr lang="ja-JP" sz="2700" b="1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）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" name=""/>
          <p:cNvSpPr/>
          <p:nvPr/>
        </p:nvSpPr>
        <p:spPr>
          <a:xfrm>
            <a:off x="590400" y="6572160"/>
            <a:ext cx="11011320" cy="285840"/>
          </a:xfrm>
          <a:custGeom>
            <a:avLst/>
            <a:gdLst/>
            <a:ahLst/>
            <a:rect l="0" t="0" r="r" b="b"/>
            <a:pathLst>
              <a:path w="30587" h="794">
                <a:moveTo>
                  <a:pt x="0" y="794"/>
                </a:moveTo>
                <a:lnTo>
                  <a:pt x="0" y="291"/>
                </a:lnTo>
                <a:cubicBezTo>
                  <a:pt x="0" y="272"/>
                  <a:pt x="2" y="253"/>
                  <a:pt x="6" y="234"/>
                </a:cubicBezTo>
                <a:cubicBezTo>
                  <a:pt x="9" y="215"/>
                  <a:pt x="15" y="197"/>
                  <a:pt x="22" y="179"/>
                </a:cubicBezTo>
                <a:cubicBezTo>
                  <a:pt x="29" y="162"/>
                  <a:pt x="38" y="145"/>
                  <a:pt x="49" y="129"/>
                </a:cubicBezTo>
                <a:cubicBezTo>
                  <a:pt x="60" y="113"/>
                  <a:pt x="72" y="99"/>
                  <a:pt x="85" y="85"/>
                </a:cubicBezTo>
                <a:cubicBezTo>
                  <a:pt x="99" y="71"/>
                  <a:pt x="113" y="59"/>
                  <a:pt x="129" y="49"/>
                </a:cubicBezTo>
                <a:cubicBezTo>
                  <a:pt x="145" y="38"/>
                  <a:pt x="162" y="29"/>
                  <a:pt x="180" y="22"/>
                </a:cubicBezTo>
                <a:cubicBezTo>
                  <a:pt x="197" y="15"/>
                  <a:pt x="215" y="9"/>
                  <a:pt x="234" y="5"/>
                </a:cubicBezTo>
                <a:cubicBezTo>
                  <a:pt x="253" y="2"/>
                  <a:pt x="272" y="0"/>
                  <a:pt x="291" y="0"/>
                </a:cubicBezTo>
                <a:lnTo>
                  <a:pt x="30296" y="0"/>
                </a:lnTo>
                <a:cubicBezTo>
                  <a:pt x="30315" y="0"/>
                  <a:pt x="30334" y="2"/>
                  <a:pt x="30352" y="5"/>
                </a:cubicBezTo>
                <a:cubicBezTo>
                  <a:pt x="30371" y="9"/>
                  <a:pt x="30389" y="15"/>
                  <a:pt x="30407" y="22"/>
                </a:cubicBezTo>
                <a:cubicBezTo>
                  <a:pt x="30425" y="29"/>
                  <a:pt x="30442" y="38"/>
                  <a:pt x="30457" y="49"/>
                </a:cubicBezTo>
                <a:cubicBezTo>
                  <a:pt x="30473" y="59"/>
                  <a:pt x="30488" y="71"/>
                  <a:pt x="30502" y="85"/>
                </a:cubicBezTo>
                <a:cubicBezTo>
                  <a:pt x="30515" y="99"/>
                  <a:pt x="30527" y="113"/>
                  <a:pt x="30538" y="129"/>
                </a:cubicBezTo>
                <a:cubicBezTo>
                  <a:pt x="30548" y="145"/>
                  <a:pt x="30557" y="162"/>
                  <a:pt x="30565" y="179"/>
                </a:cubicBezTo>
                <a:cubicBezTo>
                  <a:pt x="30572" y="197"/>
                  <a:pt x="30577" y="215"/>
                  <a:pt x="30581" y="234"/>
                </a:cubicBezTo>
                <a:cubicBezTo>
                  <a:pt x="30585" y="253"/>
                  <a:pt x="30587" y="272"/>
                  <a:pt x="30587" y="291"/>
                </a:cubicBezTo>
                <a:lnTo>
                  <a:pt x="30587" y="794"/>
                </a:lnTo>
                <a:lnTo>
                  <a:pt x="0" y="794"/>
                </a:lnTo>
                <a:close/>
              </a:path>
            </a:pathLst>
          </a:custGeom>
          <a:solidFill>
            <a:srgbClr val="F4F6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" name=""/>
          <p:cNvSpPr txBox="1"/>
          <p:nvPr/>
        </p:nvSpPr>
        <p:spPr>
          <a:xfrm>
            <a:off x="590400" y="497160"/>
            <a:ext cx="11411100" cy="334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2620" b="1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Boku-nano</a:t>
            </a:r>
            <a:r>
              <a:rPr lang="ja-JP" sz="2620" b="1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：制限された日本語から</a:t>
            </a:r>
            <a:r>
              <a:rPr lang="en-US" sz="2620" b="1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Python</a:t>
            </a:r>
            <a:r>
              <a:rPr lang="ja-JP" sz="2620" b="1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の関数を生成する小型言語</a:t>
            </a:r>
            <a:endParaRPr lang="en-US" sz="262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" name=""/>
          <p:cNvSpPr txBox="1"/>
          <p:nvPr/>
        </p:nvSpPr>
        <p:spPr>
          <a:xfrm>
            <a:off x="590400" y="916200"/>
            <a:ext cx="2799468" cy="334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620" b="1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モデル（</a:t>
            </a:r>
            <a:r>
              <a:rPr lang="en-US" sz="2620" b="1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SLM</a:t>
            </a:r>
            <a:r>
              <a:rPr lang="ja-JP" sz="2620" b="1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）</a:t>
            </a:r>
            <a:endParaRPr lang="en-US" sz="262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" name=""/>
          <p:cNvSpPr txBox="1"/>
          <p:nvPr/>
        </p:nvSpPr>
        <p:spPr>
          <a:xfrm>
            <a:off x="590400" y="1487520"/>
            <a:ext cx="634455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350" b="0" u="none" strike="noStrike">
                <a:solidFill>
                  <a:srgbClr val="52606D"/>
                </a:solidFill>
                <a:effectLst/>
                <a:uFillTx/>
                <a:latin typeface="Hiragino Sans"/>
                <a:ea typeface="Hiragino Sans"/>
              </a:rPr>
              <a:t>24</a:t>
            </a:r>
            <a:r>
              <a:rPr lang="ja-JP" sz="1350" b="0" u="none" strike="noStrike">
                <a:solidFill>
                  <a:srgbClr val="52606D"/>
                </a:solidFill>
                <a:effectLst/>
                <a:uFillTx/>
                <a:latin typeface="Hiragino Sans"/>
                <a:ea typeface="Hiragino Sans"/>
              </a:rPr>
              <a:t>種類の整数リスト操作を扱う、小型言語モデルをフルスクラッチ学習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" name=""/>
          <p:cNvSpPr txBox="1"/>
          <p:nvPr/>
        </p:nvSpPr>
        <p:spPr>
          <a:xfrm>
            <a:off x="590400" y="1974240"/>
            <a:ext cx="835038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430" b="1" u="none" strike="noStrike">
                <a:solidFill>
                  <a:srgbClr val="334155"/>
                </a:solidFill>
                <a:effectLst/>
                <a:uFillTx/>
                <a:latin typeface="Hiragino Sans"/>
                <a:ea typeface="Hiragino Sans"/>
              </a:rPr>
              <a:t>使うとき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" name=""/>
          <p:cNvSpPr txBox="1"/>
          <p:nvPr/>
        </p:nvSpPr>
        <p:spPr>
          <a:xfrm>
            <a:off x="590400" y="4384080"/>
            <a:ext cx="1669248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430" b="1" u="none" strike="noStrike">
                <a:solidFill>
                  <a:srgbClr val="334155"/>
                </a:solidFill>
                <a:effectLst/>
                <a:uFillTx/>
                <a:latin typeface="Hiragino Sans"/>
                <a:ea typeface="Hiragino Sans"/>
              </a:rPr>
              <a:t>作り方と確かめ方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" name=""/>
          <p:cNvSpPr/>
          <p:nvPr/>
        </p:nvSpPr>
        <p:spPr>
          <a:xfrm>
            <a:off x="590400" y="2352600"/>
            <a:ext cx="3353040" cy="1752840"/>
          </a:xfrm>
          <a:custGeom>
            <a:avLst/>
            <a:gdLst/>
            <a:ahLst/>
            <a:rect l="0" t="0" r="r" b="b"/>
            <a:pathLst>
              <a:path w="9314" h="4869">
                <a:moveTo>
                  <a:pt x="0" y="4499"/>
                </a:moveTo>
                <a:lnTo>
                  <a:pt x="0" y="370"/>
                </a:lnTo>
                <a:cubicBezTo>
                  <a:pt x="0" y="346"/>
                  <a:pt x="2" y="322"/>
                  <a:pt x="7" y="298"/>
                </a:cubicBezTo>
                <a:cubicBezTo>
                  <a:pt x="12" y="274"/>
                  <a:pt x="19" y="251"/>
                  <a:pt x="28" y="228"/>
                </a:cubicBezTo>
                <a:cubicBezTo>
                  <a:pt x="37" y="206"/>
                  <a:pt x="49" y="185"/>
                  <a:pt x="62" y="164"/>
                </a:cubicBezTo>
                <a:cubicBezTo>
                  <a:pt x="76" y="144"/>
                  <a:pt x="91" y="125"/>
                  <a:pt x="108" y="108"/>
                </a:cubicBezTo>
                <a:cubicBezTo>
                  <a:pt x="126" y="91"/>
                  <a:pt x="144" y="76"/>
                  <a:pt x="165" y="62"/>
                </a:cubicBezTo>
                <a:cubicBezTo>
                  <a:pt x="185" y="49"/>
                  <a:pt x="206" y="37"/>
                  <a:pt x="229" y="28"/>
                </a:cubicBezTo>
                <a:cubicBezTo>
                  <a:pt x="251" y="19"/>
                  <a:pt x="274" y="12"/>
                  <a:pt x="298" y="7"/>
                </a:cubicBezTo>
                <a:cubicBezTo>
                  <a:pt x="322" y="2"/>
                  <a:pt x="346" y="0"/>
                  <a:pt x="370" y="0"/>
                </a:cubicBezTo>
                <a:lnTo>
                  <a:pt x="8944" y="0"/>
                </a:lnTo>
                <a:cubicBezTo>
                  <a:pt x="8968" y="0"/>
                  <a:pt x="8992" y="2"/>
                  <a:pt x="9016" y="7"/>
                </a:cubicBezTo>
                <a:cubicBezTo>
                  <a:pt x="9040" y="12"/>
                  <a:pt x="9063" y="19"/>
                  <a:pt x="9086" y="28"/>
                </a:cubicBezTo>
                <a:cubicBezTo>
                  <a:pt x="9108" y="37"/>
                  <a:pt x="9129" y="49"/>
                  <a:pt x="9150" y="62"/>
                </a:cubicBezTo>
                <a:cubicBezTo>
                  <a:pt x="9170" y="76"/>
                  <a:pt x="9189" y="91"/>
                  <a:pt x="9206" y="108"/>
                </a:cubicBezTo>
                <a:cubicBezTo>
                  <a:pt x="9223" y="125"/>
                  <a:pt x="9238" y="144"/>
                  <a:pt x="9252" y="164"/>
                </a:cubicBezTo>
                <a:cubicBezTo>
                  <a:pt x="9265" y="185"/>
                  <a:pt x="9277" y="206"/>
                  <a:pt x="9286" y="228"/>
                </a:cubicBezTo>
                <a:cubicBezTo>
                  <a:pt x="9295" y="251"/>
                  <a:pt x="9302" y="274"/>
                  <a:pt x="9307" y="298"/>
                </a:cubicBezTo>
                <a:cubicBezTo>
                  <a:pt x="9312" y="322"/>
                  <a:pt x="9314" y="346"/>
                  <a:pt x="9314" y="370"/>
                </a:cubicBezTo>
                <a:lnTo>
                  <a:pt x="9314" y="4499"/>
                </a:lnTo>
                <a:cubicBezTo>
                  <a:pt x="9314" y="4523"/>
                  <a:pt x="9312" y="4547"/>
                  <a:pt x="9307" y="4571"/>
                </a:cubicBezTo>
                <a:cubicBezTo>
                  <a:pt x="9302" y="4595"/>
                  <a:pt x="9295" y="4618"/>
                  <a:pt x="9286" y="4640"/>
                </a:cubicBezTo>
                <a:cubicBezTo>
                  <a:pt x="9277" y="4663"/>
                  <a:pt x="9265" y="4684"/>
                  <a:pt x="9252" y="4704"/>
                </a:cubicBezTo>
                <a:cubicBezTo>
                  <a:pt x="9238" y="4725"/>
                  <a:pt x="9223" y="4743"/>
                  <a:pt x="9206" y="4761"/>
                </a:cubicBezTo>
                <a:cubicBezTo>
                  <a:pt x="9189" y="4778"/>
                  <a:pt x="9170" y="4793"/>
                  <a:pt x="9150" y="4807"/>
                </a:cubicBezTo>
                <a:cubicBezTo>
                  <a:pt x="9129" y="4820"/>
                  <a:pt x="9108" y="4832"/>
                  <a:pt x="9086" y="4841"/>
                </a:cubicBezTo>
                <a:cubicBezTo>
                  <a:pt x="9063" y="4850"/>
                  <a:pt x="9040" y="4857"/>
                  <a:pt x="9016" y="4862"/>
                </a:cubicBezTo>
                <a:cubicBezTo>
                  <a:pt x="8992" y="4867"/>
                  <a:pt x="8968" y="4869"/>
                  <a:pt x="8944" y="4869"/>
                </a:cubicBezTo>
                <a:lnTo>
                  <a:pt x="370" y="4869"/>
                </a:lnTo>
                <a:cubicBezTo>
                  <a:pt x="346" y="4869"/>
                  <a:pt x="322" y="4867"/>
                  <a:pt x="298" y="4862"/>
                </a:cubicBezTo>
                <a:cubicBezTo>
                  <a:pt x="274" y="4857"/>
                  <a:pt x="251" y="4850"/>
                  <a:pt x="229" y="4841"/>
                </a:cubicBezTo>
                <a:cubicBezTo>
                  <a:pt x="206" y="4832"/>
                  <a:pt x="185" y="4820"/>
                  <a:pt x="165" y="4807"/>
                </a:cubicBezTo>
                <a:cubicBezTo>
                  <a:pt x="144" y="4793"/>
                  <a:pt x="126" y="4778"/>
                  <a:pt x="108" y="4761"/>
                </a:cubicBezTo>
                <a:cubicBezTo>
                  <a:pt x="91" y="4743"/>
                  <a:pt x="76" y="4725"/>
                  <a:pt x="62" y="4704"/>
                </a:cubicBezTo>
                <a:cubicBezTo>
                  <a:pt x="49" y="4684"/>
                  <a:pt x="37" y="4663"/>
                  <a:pt x="28" y="4640"/>
                </a:cubicBezTo>
                <a:cubicBezTo>
                  <a:pt x="19" y="4618"/>
                  <a:pt x="12" y="4595"/>
                  <a:pt x="7" y="4571"/>
                </a:cubicBezTo>
                <a:cubicBezTo>
                  <a:pt x="2" y="4547"/>
                  <a:pt x="0" y="4523"/>
                  <a:pt x="0" y="4499"/>
                </a:cubicBez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2" name=""/>
          <p:cNvSpPr txBox="1"/>
          <p:nvPr/>
        </p:nvSpPr>
        <p:spPr>
          <a:xfrm>
            <a:off x="762120" y="6693120"/>
            <a:ext cx="11239380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050" b="0" u="none" strike="noStrike">
                <a:solidFill>
                  <a:srgbClr val="46566A"/>
                </a:solidFill>
                <a:effectLst/>
                <a:uFillTx/>
                <a:latin typeface="Hiragino Sans"/>
                <a:ea typeface="Hiragino Sans"/>
              </a:rPr>
              <a:t>評価結果は「</a:t>
            </a:r>
            <a:r>
              <a:rPr lang="en-US" sz="1050" b="0" u="none" strike="noStrike">
                <a:solidFill>
                  <a:srgbClr val="46566A"/>
                </a:solidFill>
                <a:effectLst/>
                <a:uFillTx/>
                <a:latin typeface="Hiragino Sans"/>
                <a:ea typeface="Hiragino Sans"/>
              </a:rPr>
              <a:t>24</a:t>
            </a:r>
            <a:r>
              <a:rPr lang="ja-JP" sz="1050" b="0" u="none" strike="noStrike">
                <a:solidFill>
                  <a:srgbClr val="46566A"/>
                </a:solidFill>
                <a:effectLst/>
                <a:uFillTx/>
                <a:latin typeface="Hiragino Sans"/>
                <a:ea typeface="Hiragino Sans"/>
              </a:rPr>
              <a:t>操作・最大</a:t>
            </a:r>
            <a:r>
              <a:rPr lang="en-US" sz="1050" b="0" u="none" strike="noStrike">
                <a:solidFill>
                  <a:srgbClr val="46566A"/>
                </a:solidFill>
                <a:effectLst/>
                <a:uFillTx/>
                <a:latin typeface="Hiragino Sans"/>
                <a:ea typeface="Hiragino Sans"/>
              </a:rPr>
              <a:t>3</a:t>
            </a:r>
            <a:r>
              <a:rPr lang="ja-JP" sz="1050" b="0" u="none" strike="noStrike">
                <a:solidFill>
                  <a:srgbClr val="46566A"/>
                </a:solidFill>
                <a:effectLst/>
                <a:uFillTx/>
                <a:latin typeface="Hiragino Sans"/>
                <a:ea typeface="Hiragino Sans"/>
              </a:rPr>
              <a:t>操作」という限定された範囲でのものです。</a:t>
            </a:r>
            <a:r>
              <a:rPr lang="en-US" sz="1050" b="0" u="none" strike="noStrike">
                <a:solidFill>
                  <a:srgbClr val="46566A"/>
                </a:solidFill>
                <a:effectLst/>
                <a:uFillTx/>
                <a:latin typeface="Hiragino Sans"/>
                <a:ea typeface="Hiragino Sans"/>
              </a:rPr>
              <a:t>Web</a:t>
            </a:r>
            <a:r>
              <a:rPr lang="ja-JP" sz="1050" b="0" u="none" strike="noStrike">
                <a:solidFill>
                  <a:srgbClr val="46566A"/>
                </a:solidFill>
                <a:effectLst/>
                <a:uFillTx/>
                <a:latin typeface="Hiragino Sans"/>
                <a:ea typeface="Hiragino Sans"/>
              </a:rPr>
              <a:t>デモの自由な日本語入力は、別モデルで決められた文型に整えてから </a:t>
            </a:r>
            <a:r>
              <a:rPr lang="en-US" sz="1050" b="0" u="none" strike="noStrike">
                <a:solidFill>
                  <a:srgbClr val="46566A"/>
                </a:solidFill>
                <a:effectLst/>
                <a:uFillTx/>
                <a:latin typeface="Hiragino Sans"/>
                <a:ea typeface="Hiragino Sans"/>
              </a:rPr>
              <a:t>-nano </a:t>
            </a:r>
            <a:r>
              <a:rPr lang="ja-JP" sz="1050" b="0" u="none" strike="noStrike">
                <a:solidFill>
                  <a:srgbClr val="46566A"/>
                </a:solidFill>
                <a:effectLst/>
                <a:uFillTx/>
                <a:latin typeface="Hiragino Sans"/>
                <a:ea typeface="Hiragino Sans"/>
              </a:rPr>
              <a:t>に渡します。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3" name=""/>
          <p:cNvSpPr txBox="1"/>
          <p:nvPr/>
        </p:nvSpPr>
        <p:spPr>
          <a:xfrm>
            <a:off x="781200" y="2529000"/>
            <a:ext cx="1684566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8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① 日本語の指示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4" name=""/>
          <p:cNvSpPr txBox="1"/>
          <p:nvPr/>
        </p:nvSpPr>
        <p:spPr>
          <a:xfrm>
            <a:off x="781200" y="2905560"/>
            <a:ext cx="1562436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28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整数リスト</a:t>
            </a:r>
            <a:r>
              <a:rPr lang="en-US" sz="128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xs </a:t>
            </a:r>
            <a:r>
              <a:rPr lang="ja-JP" sz="128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から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5" name=""/>
          <p:cNvSpPr txBox="1"/>
          <p:nvPr/>
        </p:nvSpPr>
        <p:spPr>
          <a:xfrm>
            <a:off x="781200" y="3134160"/>
            <a:ext cx="1487088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28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偶数だけを残し、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6" name=""/>
          <p:cNvSpPr txBox="1"/>
          <p:nvPr/>
        </p:nvSpPr>
        <p:spPr>
          <a:xfrm>
            <a:off x="781200" y="3372120"/>
            <a:ext cx="1717272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28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各要素に </a:t>
            </a:r>
            <a:r>
              <a:rPr lang="en-US" sz="128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k </a:t>
            </a:r>
            <a:r>
              <a:rPr lang="ja-JP" sz="128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を加える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7" name=""/>
          <p:cNvSpPr txBox="1"/>
          <p:nvPr/>
        </p:nvSpPr>
        <p:spPr>
          <a:xfrm>
            <a:off x="781200" y="3610440"/>
            <a:ext cx="1646478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solve </a:t>
            </a:r>
            <a:r>
              <a:rPr lang="ja-JP" sz="128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関数を書いて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8" name=""/>
          <p:cNvSpPr txBox="1"/>
          <p:nvPr/>
        </p:nvSpPr>
        <p:spPr>
          <a:xfrm>
            <a:off x="781200" y="3797280"/>
            <a:ext cx="1983060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050" b="0" u="none" strike="noStrike">
                <a:solidFill>
                  <a:srgbClr val="52606D"/>
                </a:solidFill>
                <a:effectLst/>
                <a:uFillTx/>
                <a:latin typeface="Hiragino Sans"/>
                <a:ea typeface="Hiragino Sans"/>
              </a:rPr>
              <a:t>決められた操作・文型の範囲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9" name=""/>
          <p:cNvSpPr/>
          <p:nvPr/>
        </p:nvSpPr>
        <p:spPr>
          <a:xfrm>
            <a:off x="4419360" y="2352600"/>
            <a:ext cx="3353040" cy="1752840"/>
          </a:xfrm>
          <a:custGeom>
            <a:avLst/>
            <a:gdLst/>
            <a:ahLst/>
            <a:rect l="0" t="0" r="r" b="b"/>
            <a:pathLst>
              <a:path w="9314" h="4869">
                <a:moveTo>
                  <a:pt x="0" y="4499"/>
                </a:moveTo>
                <a:lnTo>
                  <a:pt x="0" y="370"/>
                </a:lnTo>
                <a:cubicBezTo>
                  <a:pt x="0" y="346"/>
                  <a:pt x="3" y="322"/>
                  <a:pt x="7" y="298"/>
                </a:cubicBezTo>
                <a:cubicBezTo>
                  <a:pt x="12" y="274"/>
                  <a:pt x="19" y="251"/>
                  <a:pt x="28" y="228"/>
                </a:cubicBezTo>
                <a:cubicBezTo>
                  <a:pt x="38" y="206"/>
                  <a:pt x="49" y="185"/>
                  <a:pt x="63" y="164"/>
                </a:cubicBezTo>
                <a:cubicBezTo>
                  <a:pt x="76" y="144"/>
                  <a:pt x="91" y="125"/>
                  <a:pt x="109" y="108"/>
                </a:cubicBezTo>
                <a:cubicBezTo>
                  <a:pt x="126" y="91"/>
                  <a:pt x="145" y="76"/>
                  <a:pt x="165" y="62"/>
                </a:cubicBezTo>
                <a:cubicBezTo>
                  <a:pt x="185" y="49"/>
                  <a:pt x="206" y="37"/>
                  <a:pt x="229" y="28"/>
                </a:cubicBezTo>
                <a:cubicBezTo>
                  <a:pt x="251" y="19"/>
                  <a:pt x="274" y="12"/>
                  <a:pt x="298" y="7"/>
                </a:cubicBezTo>
                <a:cubicBezTo>
                  <a:pt x="322" y="2"/>
                  <a:pt x="346" y="0"/>
                  <a:pt x="371" y="0"/>
                </a:cubicBezTo>
                <a:lnTo>
                  <a:pt x="8944" y="0"/>
                </a:lnTo>
                <a:cubicBezTo>
                  <a:pt x="8968" y="0"/>
                  <a:pt x="8992" y="2"/>
                  <a:pt x="9016" y="7"/>
                </a:cubicBezTo>
                <a:cubicBezTo>
                  <a:pt x="9040" y="12"/>
                  <a:pt x="9063" y="19"/>
                  <a:pt x="9086" y="28"/>
                </a:cubicBezTo>
                <a:cubicBezTo>
                  <a:pt x="9108" y="37"/>
                  <a:pt x="9130" y="49"/>
                  <a:pt x="9150" y="62"/>
                </a:cubicBezTo>
                <a:cubicBezTo>
                  <a:pt x="9170" y="76"/>
                  <a:pt x="9189" y="91"/>
                  <a:pt x="9206" y="108"/>
                </a:cubicBezTo>
                <a:cubicBezTo>
                  <a:pt x="9223" y="125"/>
                  <a:pt x="9239" y="144"/>
                  <a:pt x="9252" y="164"/>
                </a:cubicBezTo>
                <a:cubicBezTo>
                  <a:pt x="9266" y="185"/>
                  <a:pt x="9277" y="206"/>
                  <a:pt x="9286" y="228"/>
                </a:cubicBezTo>
                <a:cubicBezTo>
                  <a:pt x="9296" y="251"/>
                  <a:pt x="9303" y="274"/>
                  <a:pt x="9307" y="298"/>
                </a:cubicBezTo>
                <a:cubicBezTo>
                  <a:pt x="9312" y="322"/>
                  <a:pt x="9314" y="346"/>
                  <a:pt x="9314" y="370"/>
                </a:cubicBezTo>
                <a:lnTo>
                  <a:pt x="9314" y="4499"/>
                </a:lnTo>
                <a:cubicBezTo>
                  <a:pt x="9314" y="4523"/>
                  <a:pt x="9312" y="4547"/>
                  <a:pt x="9307" y="4571"/>
                </a:cubicBezTo>
                <a:cubicBezTo>
                  <a:pt x="9303" y="4595"/>
                  <a:pt x="9296" y="4618"/>
                  <a:pt x="9286" y="4640"/>
                </a:cubicBezTo>
                <a:cubicBezTo>
                  <a:pt x="9277" y="4663"/>
                  <a:pt x="9266" y="4684"/>
                  <a:pt x="9252" y="4704"/>
                </a:cubicBezTo>
                <a:cubicBezTo>
                  <a:pt x="9239" y="4725"/>
                  <a:pt x="9223" y="4743"/>
                  <a:pt x="9206" y="4761"/>
                </a:cubicBezTo>
                <a:cubicBezTo>
                  <a:pt x="9189" y="4778"/>
                  <a:pt x="9170" y="4793"/>
                  <a:pt x="9150" y="4807"/>
                </a:cubicBezTo>
                <a:cubicBezTo>
                  <a:pt x="9130" y="4820"/>
                  <a:pt x="9108" y="4832"/>
                  <a:pt x="9086" y="4841"/>
                </a:cubicBezTo>
                <a:cubicBezTo>
                  <a:pt x="9063" y="4850"/>
                  <a:pt x="9040" y="4857"/>
                  <a:pt x="9016" y="4862"/>
                </a:cubicBezTo>
                <a:cubicBezTo>
                  <a:pt x="8992" y="4867"/>
                  <a:pt x="8968" y="4869"/>
                  <a:pt x="8944" y="4869"/>
                </a:cubicBezTo>
                <a:lnTo>
                  <a:pt x="371" y="4869"/>
                </a:lnTo>
                <a:cubicBezTo>
                  <a:pt x="346" y="4869"/>
                  <a:pt x="322" y="4867"/>
                  <a:pt x="298" y="4862"/>
                </a:cubicBezTo>
                <a:cubicBezTo>
                  <a:pt x="274" y="4857"/>
                  <a:pt x="251" y="4850"/>
                  <a:pt x="229" y="4841"/>
                </a:cubicBezTo>
                <a:cubicBezTo>
                  <a:pt x="206" y="4832"/>
                  <a:pt x="185" y="4820"/>
                  <a:pt x="165" y="4807"/>
                </a:cubicBezTo>
                <a:cubicBezTo>
                  <a:pt x="145" y="4793"/>
                  <a:pt x="126" y="4778"/>
                  <a:pt x="109" y="4761"/>
                </a:cubicBezTo>
                <a:cubicBezTo>
                  <a:pt x="91" y="4743"/>
                  <a:pt x="76" y="4725"/>
                  <a:pt x="63" y="4704"/>
                </a:cubicBezTo>
                <a:cubicBezTo>
                  <a:pt x="49" y="4684"/>
                  <a:pt x="38" y="4663"/>
                  <a:pt x="28" y="4640"/>
                </a:cubicBezTo>
                <a:cubicBezTo>
                  <a:pt x="19" y="4618"/>
                  <a:pt x="12" y="4595"/>
                  <a:pt x="7" y="4571"/>
                </a:cubicBezTo>
                <a:cubicBezTo>
                  <a:pt x="3" y="4547"/>
                  <a:pt x="0" y="4523"/>
                  <a:pt x="0" y="4499"/>
                </a:cubicBezTo>
                <a:close/>
              </a:path>
            </a:pathLst>
          </a:custGeom>
          <a:solidFill>
            <a:srgbClr val="E9E7F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0" name=""/>
          <p:cNvSpPr txBox="1"/>
          <p:nvPr/>
        </p:nvSpPr>
        <p:spPr>
          <a:xfrm>
            <a:off x="4057560" y="3093120"/>
            <a:ext cx="340722" cy="29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2320" b="0" u="none" strike="noStrike">
                <a:solidFill>
                  <a:srgbClr val="45556A"/>
                </a:solidFill>
                <a:effectLst/>
                <a:uFillTx/>
                <a:latin typeface="Hiragino Sans"/>
                <a:ea typeface="Hiragino Sans"/>
              </a:rPr>
              <a:t>→</a:t>
            </a:r>
            <a:endParaRPr lang="en-US" sz="232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1" name=""/>
          <p:cNvSpPr txBox="1"/>
          <p:nvPr/>
        </p:nvSpPr>
        <p:spPr>
          <a:xfrm>
            <a:off x="4610160" y="2529000"/>
            <a:ext cx="1595556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8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② Boku-nano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2" name=""/>
          <p:cNvSpPr txBox="1"/>
          <p:nvPr/>
        </p:nvSpPr>
        <p:spPr>
          <a:xfrm>
            <a:off x="4610160" y="2905560"/>
            <a:ext cx="1411326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15M </a:t>
            </a:r>
            <a:r>
              <a:rPr lang="ja-JP" sz="128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パラメータ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3" name=""/>
          <p:cNvSpPr txBox="1"/>
          <p:nvPr/>
        </p:nvSpPr>
        <p:spPr>
          <a:xfrm>
            <a:off x="4610160" y="3210480"/>
            <a:ext cx="2446326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Decoder-only Transformer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4" name=""/>
          <p:cNvSpPr txBox="1"/>
          <p:nvPr/>
        </p:nvSpPr>
        <p:spPr>
          <a:xfrm>
            <a:off x="4610160" y="3797280"/>
            <a:ext cx="1830708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050" b="0" u="none" strike="noStrike">
                <a:solidFill>
                  <a:srgbClr val="52606D"/>
                </a:solidFill>
                <a:effectLst/>
                <a:uFillTx/>
                <a:latin typeface="Hiragino Sans"/>
                <a:ea typeface="Hiragino Sans"/>
              </a:rPr>
              <a:t>指示を読み、コードを生成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5" name=""/>
          <p:cNvSpPr/>
          <p:nvPr/>
        </p:nvSpPr>
        <p:spPr>
          <a:xfrm>
            <a:off x="8248320" y="2352600"/>
            <a:ext cx="3353400" cy="1752840"/>
          </a:xfrm>
          <a:custGeom>
            <a:avLst/>
            <a:gdLst/>
            <a:ahLst/>
            <a:rect l="0" t="0" r="r" b="b"/>
            <a:pathLst>
              <a:path w="9315" h="4869">
                <a:moveTo>
                  <a:pt x="0" y="4499"/>
                </a:moveTo>
                <a:lnTo>
                  <a:pt x="0" y="370"/>
                </a:lnTo>
                <a:cubicBezTo>
                  <a:pt x="0" y="346"/>
                  <a:pt x="3" y="322"/>
                  <a:pt x="8" y="298"/>
                </a:cubicBezTo>
                <a:cubicBezTo>
                  <a:pt x="12" y="274"/>
                  <a:pt x="19" y="251"/>
                  <a:pt x="29" y="228"/>
                </a:cubicBezTo>
                <a:cubicBezTo>
                  <a:pt x="38" y="206"/>
                  <a:pt x="49" y="185"/>
                  <a:pt x="63" y="164"/>
                </a:cubicBezTo>
                <a:cubicBezTo>
                  <a:pt x="76" y="144"/>
                  <a:pt x="92" y="125"/>
                  <a:pt x="109" y="108"/>
                </a:cubicBezTo>
                <a:cubicBezTo>
                  <a:pt x="126" y="91"/>
                  <a:pt x="145" y="76"/>
                  <a:pt x="165" y="62"/>
                </a:cubicBezTo>
                <a:cubicBezTo>
                  <a:pt x="185" y="49"/>
                  <a:pt x="207" y="37"/>
                  <a:pt x="229" y="28"/>
                </a:cubicBezTo>
                <a:cubicBezTo>
                  <a:pt x="252" y="19"/>
                  <a:pt x="275" y="12"/>
                  <a:pt x="299" y="7"/>
                </a:cubicBezTo>
                <a:cubicBezTo>
                  <a:pt x="322" y="2"/>
                  <a:pt x="347" y="0"/>
                  <a:pt x="372" y="0"/>
                </a:cubicBezTo>
                <a:lnTo>
                  <a:pt x="8944" y="0"/>
                </a:lnTo>
                <a:cubicBezTo>
                  <a:pt x="8969" y="0"/>
                  <a:pt x="8993" y="2"/>
                  <a:pt x="9017" y="7"/>
                </a:cubicBezTo>
                <a:cubicBezTo>
                  <a:pt x="9040" y="12"/>
                  <a:pt x="9064" y="19"/>
                  <a:pt x="9086" y="28"/>
                </a:cubicBezTo>
                <a:cubicBezTo>
                  <a:pt x="9109" y="37"/>
                  <a:pt x="9130" y="49"/>
                  <a:pt x="9150" y="62"/>
                </a:cubicBezTo>
                <a:cubicBezTo>
                  <a:pt x="9170" y="76"/>
                  <a:pt x="9189" y="91"/>
                  <a:pt x="9206" y="108"/>
                </a:cubicBezTo>
                <a:cubicBezTo>
                  <a:pt x="9223" y="125"/>
                  <a:pt x="9239" y="144"/>
                  <a:pt x="9252" y="164"/>
                </a:cubicBezTo>
                <a:cubicBezTo>
                  <a:pt x="9266" y="185"/>
                  <a:pt x="9277" y="206"/>
                  <a:pt x="9287" y="228"/>
                </a:cubicBezTo>
                <a:cubicBezTo>
                  <a:pt x="9296" y="251"/>
                  <a:pt x="9303" y="274"/>
                  <a:pt x="9308" y="298"/>
                </a:cubicBezTo>
                <a:cubicBezTo>
                  <a:pt x="9312" y="322"/>
                  <a:pt x="9315" y="346"/>
                  <a:pt x="9315" y="370"/>
                </a:cubicBezTo>
                <a:lnTo>
                  <a:pt x="9315" y="4499"/>
                </a:lnTo>
                <a:cubicBezTo>
                  <a:pt x="9315" y="4523"/>
                  <a:pt x="9312" y="4547"/>
                  <a:pt x="9308" y="4571"/>
                </a:cubicBezTo>
                <a:cubicBezTo>
                  <a:pt x="9303" y="4595"/>
                  <a:pt x="9296" y="4618"/>
                  <a:pt x="9287" y="4640"/>
                </a:cubicBezTo>
                <a:cubicBezTo>
                  <a:pt x="9277" y="4663"/>
                  <a:pt x="9266" y="4684"/>
                  <a:pt x="9252" y="4704"/>
                </a:cubicBezTo>
                <a:cubicBezTo>
                  <a:pt x="9239" y="4725"/>
                  <a:pt x="9223" y="4743"/>
                  <a:pt x="9206" y="4761"/>
                </a:cubicBezTo>
                <a:cubicBezTo>
                  <a:pt x="9189" y="4778"/>
                  <a:pt x="9170" y="4793"/>
                  <a:pt x="9150" y="4807"/>
                </a:cubicBezTo>
                <a:cubicBezTo>
                  <a:pt x="9130" y="4820"/>
                  <a:pt x="9109" y="4832"/>
                  <a:pt x="9086" y="4841"/>
                </a:cubicBezTo>
                <a:cubicBezTo>
                  <a:pt x="9064" y="4850"/>
                  <a:pt x="9040" y="4857"/>
                  <a:pt x="9017" y="4862"/>
                </a:cubicBezTo>
                <a:cubicBezTo>
                  <a:pt x="8993" y="4867"/>
                  <a:pt x="8969" y="4869"/>
                  <a:pt x="8944" y="4869"/>
                </a:cubicBezTo>
                <a:lnTo>
                  <a:pt x="372" y="4869"/>
                </a:lnTo>
                <a:cubicBezTo>
                  <a:pt x="347" y="4869"/>
                  <a:pt x="322" y="4867"/>
                  <a:pt x="299" y="4862"/>
                </a:cubicBezTo>
                <a:cubicBezTo>
                  <a:pt x="275" y="4857"/>
                  <a:pt x="252" y="4850"/>
                  <a:pt x="229" y="4841"/>
                </a:cubicBezTo>
                <a:cubicBezTo>
                  <a:pt x="207" y="4832"/>
                  <a:pt x="185" y="4820"/>
                  <a:pt x="165" y="4807"/>
                </a:cubicBezTo>
                <a:cubicBezTo>
                  <a:pt x="145" y="4793"/>
                  <a:pt x="126" y="4778"/>
                  <a:pt x="109" y="4761"/>
                </a:cubicBezTo>
                <a:cubicBezTo>
                  <a:pt x="92" y="4743"/>
                  <a:pt x="76" y="4725"/>
                  <a:pt x="63" y="4704"/>
                </a:cubicBezTo>
                <a:cubicBezTo>
                  <a:pt x="49" y="4684"/>
                  <a:pt x="38" y="4663"/>
                  <a:pt x="29" y="4640"/>
                </a:cubicBezTo>
                <a:cubicBezTo>
                  <a:pt x="19" y="4618"/>
                  <a:pt x="12" y="4595"/>
                  <a:pt x="8" y="4571"/>
                </a:cubicBezTo>
                <a:cubicBezTo>
                  <a:pt x="3" y="4547"/>
                  <a:pt x="0" y="4523"/>
                  <a:pt x="0" y="4499"/>
                </a:cubicBezTo>
                <a:close/>
              </a:path>
            </a:pathLst>
          </a:custGeom>
          <a:solidFill>
            <a:srgbClr val="E9F5E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6" name=""/>
          <p:cNvSpPr txBox="1"/>
          <p:nvPr/>
        </p:nvSpPr>
        <p:spPr>
          <a:xfrm>
            <a:off x="7886520" y="3093120"/>
            <a:ext cx="340722" cy="29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2320" b="0" u="none" strike="noStrike">
                <a:solidFill>
                  <a:srgbClr val="45556A"/>
                </a:solidFill>
                <a:effectLst/>
                <a:uFillTx/>
                <a:latin typeface="Hiragino Sans"/>
                <a:ea typeface="Hiragino Sans"/>
              </a:rPr>
              <a:t>→</a:t>
            </a:r>
            <a:endParaRPr lang="en-US" sz="232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7" name=""/>
          <p:cNvSpPr txBox="1"/>
          <p:nvPr/>
        </p:nvSpPr>
        <p:spPr>
          <a:xfrm>
            <a:off x="8439120" y="2529000"/>
            <a:ext cx="1912266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8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③ Python </a:t>
            </a:r>
            <a:r>
              <a:rPr lang="ja-JP" sz="158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の関数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8" name=""/>
          <p:cNvSpPr txBox="1"/>
          <p:nvPr/>
        </p:nvSpPr>
        <p:spPr>
          <a:xfrm>
            <a:off x="8496360" y="2915280"/>
            <a:ext cx="1687050" cy="16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130" b="0" u="none" strike="noStrike">
                <a:solidFill>
                  <a:srgbClr val="17212B"/>
                </a:solidFill>
                <a:effectLst/>
                <a:uFillTx/>
                <a:latin typeface="Menlo"/>
                <a:ea typeface="Menlo"/>
              </a:rPr>
              <a:t>def solve(xs, k):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9" name=""/>
          <p:cNvSpPr txBox="1"/>
          <p:nvPr/>
        </p:nvSpPr>
        <p:spPr>
          <a:xfrm>
            <a:off x="8496360" y="3210840"/>
            <a:ext cx="2480274" cy="16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130" b="0" u="none" strike="noStrike">
                <a:solidFill>
                  <a:srgbClr val="17212B"/>
                </a:solidFill>
                <a:effectLst/>
                <a:uFillTx/>
                <a:latin typeface="Menlo"/>
                <a:ea typeface="Menlo"/>
              </a:rPr>
              <a:t>return [x + k for x in xs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0" name=""/>
          <p:cNvSpPr/>
          <p:nvPr/>
        </p:nvSpPr>
        <p:spPr>
          <a:xfrm>
            <a:off x="590400" y="5095800"/>
            <a:ext cx="11011320" cy="38520"/>
          </a:xfrm>
          <a:custGeom>
            <a:avLst/>
            <a:gdLst/>
            <a:ahLst/>
            <a:rect l="0" t="0" r="r" b="b"/>
            <a:pathLst>
              <a:path w="30587" h="107">
                <a:moveTo>
                  <a:pt x="0" y="0"/>
                </a:moveTo>
                <a:lnTo>
                  <a:pt x="30587" y="0"/>
                </a:lnTo>
                <a:lnTo>
                  <a:pt x="30587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CED7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1" name=""/>
          <p:cNvSpPr txBox="1"/>
          <p:nvPr/>
        </p:nvSpPr>
        <p:spPr>
          <a:xfrm>
            <a:off x="8496360" y="3420360"/>
            <a:ext cx="1389384" cy="16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130" b="0" u="none" strike="noStrike">
                <a:solidFill>
                  <a:srgbClr val="17212B"/>
                </a:solidFill>
                <a:effectLst/>
                <a:uFillTx/>
                <a:latin typeface="Menlo"/>
                <a:ea typeface="Menlo"/>
              </a:rPr>
              <a:t>if x % 2 == 0]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2" name=""/>
          <p:cNvSpPr txBox="1"/>
          <p:nvPr/>
        </p:nvSpPr>
        <p:spPr>
          <a:xfrm>
            <a:off x="666720" y="5423400"/>
            <a:ext cx="1096272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5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意味を定義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3" name=""/>
          <p:cNvSpPr txBox="1"/>
          <p:nvPr/>
        </p:nvSpPr>
        <p:spPr>
          <a:xfrm>
            <a:off x="666720" y="5762880"/>
            <a:ext cx="1482534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24</a:t>
            </a:r>
            <a:r>
              <a:rPr lang="ja-JP" sz="128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操作を最大</a:t>
            </a:r>
            <a:r>
              <a:rPr lang="en-US" sz="128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3</a:t>
            </a:r>
            <a:r>
              <a:rPr lang="ja-JP" sz="128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つ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4" name=""/>
          <p:cNvSpPr/>
          <p:nvPr/>
        </p:nvSpPr>
        <p:spPr>
          <a:xfrm>
            <a:off x="1609560" y="4914720"/>
            <a:ext cx="400320" cy="400320"/>
          </a:xfrm>
          <a:custGeom>
            <a:avLst/>
            <a:gdLst/>
            <a:ahLst/>
            <a:rect l="0" t="0" r="r" b="b"/>
            <a:pathLst>
              <a:path w="1112" h="1112">
                <a:moveTo>
                  <a:pt x="1112" y="557"/>
                </a:moveTo>
                <a:cubicBezTo>
                  <a:pt x="1112" y="593"/>
                  <a:pt x="1109" y="629"/>
                  <a:pt x="1102" y="665"/>
                </a:cubicBezTo>
                <a:cubicBezTo>
                  <a:pt x="1094" y="701"/>
                  <a:pt x="1084" y="736"/>
                  <a:pt x="1070" y="769"/>
                </a:cubicBezTo>
                <a:cubicBezTo>
                  <a:pt x="1056" y="803"/>
                  <a:pt x="1039" y="835"/>
                  <a:pt x="1019" y="865"/>
                </a:cubicBezTo>
                <a:cubicBezTo>
                  <a:pt x="998" y="896"/>
                  <a:pt x="975" y="924"/>
                  <a:pt x="949" y="950"/>
                </a:cubicBezTo>
                <a:cubicBezTo>
                  <a:pt x="924" y="975"/>
                  <a:pt x="896" y="998"/>
                  <a:pt x="865" y="1019"/>
                </a:cubicBezTo>
                <a:cubicBezTo>
                  <a:pt x="835" y="1039"/>
                  <a:pt x="803" y="1056"/>
                  <a:pt x="769" y="1070"/>
                </a:cubicBezTo>
                <a:cubicBezTo>
                  <a:pt x="736" y="1084"/>
                  <a:pt x="701" y="1094"/>
                  <a:pt x="665" y="1102"/>
                </a:cubicBezTo>
                <a:cubicBezTo>
                  <a:pt x="629" y="1109"/>
                  <a:pt x="593" y="1112"/>
                  <a:pt x="557" y="1112"/>
                </a:cubicBezTo>
                <a:cubicBezTo>
                  <a:pt x="519" y="1112"/>
                  <a:pt x="483" y="1109"/>
                  <a:pt x="447" y="1102"/>
                </a:cubicBezTo>
                <a:cubicBezTo>
                  <a:pt x="411" y="1094"/>
                  <a:pt x="377" y="1084"/>
                  <a:pt x="343" y="1070"/>
                </a:cubicBezTo>
                <a:cubicBezTo>
                  <a:pt x="309" y="1056"/>
                  <a:pt x="277" y="1039"/>
                  <a:pt x="247" y="1019"/>
                </a:cubicBezTo>
                <a:cubicBezTo>
                  <a:pt x="217" y="998"/>
                  <a:pt x="188" y="975"/>
                  <a:pt x="163" y="950"/>
                </a:cubicBezTo>
                <a:cubicBezTo>
                  <a:pt x="137" y="924"/>
                  <a:pt x="114" y="896"/>
                  <a:pt x="94" y="865"/>
                </a:cubicBezTo>
                <a:cubicBezTo>
                  <a:pt x="73" y="835"/>
                  <a:pt x="56" y="803"/>
                  <a:pt x="42" y="769"/>
                </a:cubicBezTo>
                <a:cubicBezTo>
                  <a:pt x="28" y="736"/>
                  <a:pt x="18" y="701"/>
                  <a:pt x="11" y="665"/>
                </a:cubicBezTo>
                <a:cubicBezTo>
                  <a:pt x="4" y="629"/>
                  <a:pt x="0" y="593"/>
                  <a:pt x="0" y="557"/>
                </a:cubicBezTo>
                <a:cubicBezTo>
                  <a:pt x="0" y="520"/>
                  <a:pt x="4" y="484"/>
                  <a:pt x="11" y="448"/>
                </a:cubicBezTo>
                <a:cubicBezTo>
                  <a:pt x="18" y="412"/>
                  <a:pt x="28" y="378"/>
                  <a:pt x="42" y="344"/>
                </a:cubicBezTo>
                <a:cubicBezTo>
                  <a:pt x="56" y="310"/>
                  <a:pt x="73" y="278"/>
                  <a:pt x="94" y="248"/>
                </a:cubicBezTo>
                <a:cubicBezTo>
                  <a:pt x="114" y="217"/>
                  <a:pt x="137" y="189"/>
                  <a:pt x="163" y="163"/>
                </a:cubicBezTo>
                <a:cubicBezTo>
                  <a:pt x="188" y="137"/>
                  <a:pt x="217" y="114"/>
                  <a:pt x="247" y="94"/>
                </a:cubicBezTo>
                <a:cubicBezTo>
                  <a:pt x="277" y="73"/>
                  <a:pt x="309" y="56"/>
                  <a:pt x="343" y="42"/>
                </a:cubicBezTo>
                <a:cubicBezTo>
                  <a:pt x="377" y="28"/>
                  <a:pt x="411" y="18"/>
                  <a:pt x="447" y="11"/>
                </a:cubicBezTo>
                <a:cubicBezTo>
                  <a:pt x="483" y="4"/>
                  <a:pt x="519" y="0"/>
                  <a:pt x="557" y="0"/>
                </a:cubicBezTo>
                <a:cubicBezTo>
                  <a:pt x="593" y="0"/>
                  <a:pt x="629" y="4"/>
                  <a:pt x="665" y="11"/>
                </a:cubicBezTo>
                <a:cubicBezTo>
                  <a:pt x="701" y="18"/>
                  <a:pt x="736" y="28"/>
                  <a:pt x="769" y="42"/>
                </a:cubicBezTo>
                <a:cubicBezTo>
                  <a:pt x="803" y="56"/>
                  <a:pt x="835" y="73"/>
                  <a:pt x="865" y="94"/>
                </a:cubicBezTo>
                <a:cubicBezTo>
                  <a:pt x="896" y="114"/>
                  <a:pt x="924" y="137"/>
                  <a:pt x="949" y="163"/>
                </a:cubicBezTo>
                <a:cubicBezTo>
                  <a:pt x="975" y="189"/>
                  <a:pt x="998" y="217"/>
                  <a:pt x="1019" y="248"/>
                </a:cubicBezTo>
                <a:cubicBezTo>
                  <a:pt x="1039" y="278"/>
                  <a:pt x="1056" y="310"/>
                  <a:pt x="1070" y="344"/>
                </a:cubicBezTo>
                <a:cubicBezTo>
                  <a:pt x="1084" y="378"/>
                  <a:pt x="1094" y="412"/>
                  <a:pt x="1102" y="448"/>
                </a:cubicBezTo>
                <a:cubicBezTo>
                  <a:pt x="1109" y="484"/>
                  <a:pt x="1112" y="520"/>
                  <a:pt x="1112" y="557"/>
                </a:cubicBezTo>
                <a:close/>
              </a:path>
            </a:pathLst>
          </a:custGeom>
          <a:solidFill>
            <a:srgbClr val="2877A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FFFFFF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666720" y="6054840"/>
            <a:ext cx="1830708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050" b="0" u="none" strike="noStrike">
                <a:solidFill>
                  <a:srgbClr val="52606D"/>
                </a:solidFill>
                <a:effectLst/>
                <a:uFillTx/>
                <a:latin typeface="Hiragino Sans"/>
                <a:ea typeface="Hiragino Sans"/>
              </a:rPr>
              <a:t>順序も含めて組み合わせる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6" name=""/>
          <p:cNvSpPr txBox="1"/>
          <p:nvPr/>
        </p:nvSpPr>
        <p:spPr>
          <a:xfrm>
            <a:off x="1735920" y="5006880"/>
            <a:ext cx="240534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650" b="1" u="none" strike="noStrike">
                <a:solidFill>
                  <a:srgbClr val="FFFFFF"/>
                </a:solidFill>
                <a:effectLst/>
                <a:uFillTx/>
                <a:latin typeface="Hiragino Sans"/>
                <a:ea typeface="Hiragino Sans"/>
              </a:rPr>
              <a:t>1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3467160" y="5423400"/>
            <a:ext cx="1096272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5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教材を作る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8" name=""/>
          <p:cNvSpPr txBox="1"/>
          <p:nvPr/>
        </p:nvSpPr>
        <p:spPr>
          <a:xfrm>
            <a:off x="3467160" y="5762880"/>
            <a:ext cx="2044332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28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日本語指示と正解コード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9" name=""/>
          <p:cNvSpPr/>
          <p:nvPr/>
        </p:nvSpPr>
        <p:spPr>
          <a:xfrm>
            <a:off x="4410000" y="4914720"/>
            <a:ext cx="400320" cy="400320"/>
          </a:xfrm>
          <a:custGeom>
            <a:avLst/>
            <a:gdLst/>
            <a:ahLst/>
            <a:rect l="0" t="0" r="r" b="b"/>
            <a:pathLst>
              <a:path w="1112" h="1112">
                <a:moveTo>
                  <a:pt x="1112" y="557"/>
                </a:moveTo>
                <a:cubicBezTo>
                  <a:pt x="1112" y="593"/>
                  <a:pt x="1108" y="629"/>
                  <a:pt x="1101" y="665"/>
                </a:cubicBezTo>
                <a:cubicBezTo>
                  <a:pt x="1094" y="701"/>
                  <a:pt x="1084" y="736"/>
                  <a:pt x="1070" y="769"/>
                </a:cubicBezTo>
                <a:cubicBezTo>
                  <a:pt x="1056" y="803"/>
                  <a:pt x="1039" y="835"/>
                  <a:pt x="1018" y="865"/>
                </a:cubicBezTo>
                <a:cubicBezTo>
                  <a:pt x="998" y="896"/>
                  <a:pt x="975" y="924"/>
                  <a:pt x="949" y="950"/>
                </a:cubicBezTo>
                <a:cubicBezTo>
                  <a:pt x="923" y="975"/>
                  <a:pt x="895" y="998"/>
                  <a:pt x="865" y="1019"/>
                </a:cubicBezTo>
                <a:cubicBezTo>
                  <a:pt x="835" y="1039"/>
                  <a:pt x="803" y="1056"/>
                  <a:pt x="769" y="1070"/>
                </a:cubicBezTo>
                <a:cubicBezTo>
                  <a:pt x="735" y="1084"/>
                  <a:pt x="701" y="1094"/>
                  <a:pt x="665" y="1102"/>
                </a:cubicBezTo>
                <a:cubicBezTo>
                  <a:pt x="629" y="1109"/>
                  <a:pt x="593" y="1112"/>
                  <a:pt x="556" y="1112"/>
                </a:cubicBezTo>
                <a:cubicBezTo>
                  <a:pt x="519" y="1112"/>
                  <a:pt x="483" y="1109"/>
                  <a:pt x="447" y="1102"/>
                </a:cubicBezTo>
                <a:cubicBezTo>
                  <a:pt x="411" y="1094"/>
                  <a:pt x="376" y="1084"/>
                  <a:pt x="343" y="1070"/>
                </a:cubicBezTo>
                <a:cubicBezTo>
                  <a:pt x="309" y="1056"/>
                  <a:pt x="277" y="1039"/>
                  <a:pt x="247" y="1019"/>
                </a:cubicBezTo>
                <a:cubicBezTo>
                  <a:pt x="216" y="998"/>
                  <a:pt x="188" y="975"/>
                  <a:pt x="162" y="950"/>
                </a:cubicBezTo>
                <a:cubicBezTo>
                  <a:pt x="137" y="924"/>
                  <a:pt x="114" y="896"/>
                  <a:pt x="93" y="865"/>
                </a:cubicBezTo>
                <a:cubicBezTo>
                  <a:pt x="73" y="835"/>
                  <a:pt x="56" y="803"/>
                  <a:pt x="42" y="769"/>
                </a:cubicBezTo>
                <a:cubicBezTo>
                  <a:pt x="28" y="736"/>
                  <a:pt x="18" y="701"/>
                  <a:pt x="10" y="665"/>
                </a:cubicBezTo>
                <a:cubicBezTo>
                  <a:pt x="3" y="629"/>
                  <a:pt x="0" y="593"/>
                  <a:pt x="0" y="557"/>
                </a:cubicBezTo>
                <a:cubicBezTo>
                  <a:pt x="0" y="520"/>
                  <a:pt x="3" y="484"/>
                  <a:pt x="10" y="448"/>
                </a:cubicBezTo>
                <a:cubicBezTo>
                  <a:pt x="18" y="412"/>
                  <a:pt x="28" y="378"/>
                  <a:pt x="42" y="344"/>
                </a:cubicBezTo>
                <a:cubicBezTo>
                  <a:pt x="56" y="310"/>
                  <a:pt x="73" y="278"/>
                  <a:pt x="93" y="248"/>
                </a:cubicBezTo>
                <a:cubicBezTo>
                  <a:pt x="114" y="217"/>
                  <a:pt x="137" y="189"/>
                  <a:pt x="162" y="163"/>
                </a:cubicBezTo>
                <a:cubicBezTo>
                  <a:pt x="188" y="137"/>
                  <a:pt x="216" y="114"/>
                  <a:pt x="247" y="94"/>
                </a:cubicBezTo>
                <a:cubicBezTo>
                  <a:pt x="277" y="73"/>
                  <a:pt x="309" y="56"/>
                  <a:pt x="343" y="42"/>
                </a:cubicBezTo>
                <a:cubicBezTo>
                  <a:pt x="376" y="28"/>
                  <a:pt x="411" y="18"/>
                  <a:pt x="447" y="11"/>
                </a:cubicBezTo>
                <a:cubicBezTo>
                  <a:pt x="483" y="4"/>
                  <a:pt x="519" y="0"/>
                  <a:pt x="556" y="0"/>
                </a:cubicBezTo>
                <a:cubicBezTo>
                  <a:pt x="593" y="0"/>
                  <a:pt x="629" y="4"/>
                  <a:pt x="665" y="11"/>
                </a:cubicBezTo>
                <a:cubicBezTo>
                  <a:pt x="701" y="18"/>
                  <a:pt x="735" y="28"/>
                  <a:pt x="769" y="42"/>
                </a:cubicBezTo>
                <a:cubicBezTo>
                  <a:pt x="803" y="56"/>
                  <a:pt x="835" y="73"/>
                  <a:pt x="865" y="94"/>
                </a:cubicBezTo>
                <a:cubicBezTo>
                  <a:pt x="895" y="114"/>
                  <a:pt x="923" y="137"/>
                  <a:pt x="949" y="163"/>
                </a:cubicBezTo>
                <a:cubicBezTo>
                  <a:pt x="975" y="189"/>
                  <a:pt x="998" y="217"/>
                  <a:pt x="1018" y="248"/>
                </a:cubicBezTo>
                <a:cubicBezTo>
                  <a:pt x="1039" y="278"/>
                  <a:pt x="1056" y="310"/>
                  <a:pt x="1070" y="344"/>
                </a:cubicBezTo>
                <a:cubicBezTo>
                  <a:pt x="1084" y="378"/>
                  <a:pt x="1094" y="412"/>
                  <a:pt x="1101" y="448"/>
                </a:cubicBezTo>
                <a:cubicBezTo>
                  <a:pt x="1108" y="484"/>
                  <a:pt x="1112" y="520"/>
                  <a:pt x="1112" y="557"/>
                </a:cubicBezTo>
                <a:close/>
              </a:path>
            </a:pathLst>
          </a:custGeom>
          <a:solidFill>
            <a:srgbClr val="2877A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FFFFFF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0" name=""/>
          <p:cNvSpPr txBox="1"/>
          <p:nvPr/>
        </p:nvSpPr>
        <p:spPr>
          <a:xfrm>
            <a:off x="3467160" y="6054840"/>
            <a:ext cx="1603836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050" b="0" u="none" strike="noStrike">
                <a:solidFill>
                  <a:srgbClr val="52606D"/>
                </a:solidFill>
                <a:effectLst/>
                <a:uFillTx/>
                <a:latin typeface="Hiragino Sans"/>
                <a:ea typeface="Hiragino Sans"/>
              </a:rPr>
              <a:t>訓練データ </a:t>
            </a:r>
            <a:r>
              <a:rPr lang="en-US" sz="1050" b="0" u="none" strike="noStrike">
                <a:solidFill>
                  <a:srgbClr val="52606D"/>
                </a:solidFill>
                <a:effectLst/>
                <a:uFillTx/>
                <a:latin typeface="Hiragino Sans"/>
                <a:ea typeface="Hiragino Sans"/>
              </a:rPr>
              <a:t>192,900</a:t>
            </a:r>
            <a:r>
              <a:rPr lang="ja-JP" sz="1050" b="0" u="none" strike="noStrike">
                <a:solidFill>
                  <a:srgbClr val="52606D"/>
                </a:solidFill>
                <a:effectLst/>
                <a:uFillTx/>
                <a:latin typeface="Hiragino Sans"/>
                <a:ea typeface="Hiragino Sans"/>
              </a:rPr>
              <a:t>件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1" name=""/>
          <p:cNvSpPr txBox="1"/>
          <p:nvPr/>
        </p:nvSpPr>
        <p:spPr>
          <a:xfrm>
            <a:off x="4536360" y="5006880"/>
            <a:ext cx="240534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650" b="1" u="none" strike="noStrike">
                <a:solidFill>
                  <a:srgbClr val="FFFFFF"/>
                </a:solidFill>
                <a:effectLst/>
                <a:uFillTx/>
                <a:latin typeface="Hiragino Sans"/>
                <a:ea typeface="Hiragino Sans"/>
              </a:rPr>
              <a:t>2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2" name=""/>
          <p:cNvSpPr txBox="1"/>
          <p:nvPr/>
        </p:nvSpPr>
        <p:spPr>
          <a:xfrm>
            <a:off x="6267600" y="5423400"/>
            <a:ext cx="1315278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5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モデルを学習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3" name=""/>
          <p:cNvSpPr txBox="1"/>
          <p:nvPr/>
        </p:nvSpPr>
        <p:spPr>
          <a:xfrm>
            <a:off x="6267600" y="5762880"/>
            <a:ext cx="2044332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28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トークナイザもモデルも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4" name=""/>
          <p:cNvSpPr/>
          <p:nvPr/>
        </p:nvSpPr>
        <p:spPr>
          <a:xfrm>
            <a:off x="7210080" y="4914720"/>
            <a:ext cx="400680" cy="400320"/>
          </a:xfrm>
          <a:custGeom>
            <a:avLst/>
            <a:gdLst/>
            <a:ahLst/>
            <a:rect l="0" t="0" r="r" b="b"/>
            <a:pathLst>
              <a:path w="1113" h="1112">
                <a:moveTo>
                  <a:pt x="1113" y="557"/>
                </a:moveTo>
                <a:cubicBezTo>
                  <a:pt x="1113" y="593"/>
                  <a:pt x="1109" y="629"/>
                  <a:pt x="1102" y="665"/>
                </a:cubicBezTo>
                <a:cubicBezTo>
                  <a:pt x="1095" y="701"/>
                  <a:pt x="1084" y="736"/>
                  <a:pt x="1070" y="769"/>
                </a:cubicBezTo>
                <a:cubicBezTo>
                  <a:pt x="1056" y="803"/>
                  <a:pt x="1039" y="835"/>
                  <a:pt x="1019" y="865"/>
                </a:cubicBezTo>
                <a:cubicBezTo>
                  <a:pt x="999" y="896"/>
                  <a:pt x="976" y="924"/>
                  <a:pt x="950" y="950"/>
                </a:cubicBezTo>
                <a:cubicBezTo>
                  <a:pt x="924" y="975"/>
                  <a:pt x="896" y="998"/>
                  <a:pt x="866" y="1019"/>
                </a:cubicBezTo>
                <a:cubicBezTo>
                  <a:pt x="835" y="1039"/>
                  <a:pt x="803" y="1056"/>
                  <a:pt x="770" y="1070"/>
                </a:cubicBezTo>
                <a:cubicBezTo>
                  <a:pt x="736" y="1084"/>
                  <a:pt x="701" y="1094"/>
                  <a:pt x="665" y="1102"/>
                </a:cubicBezTo>
                <a:cubicBezTo>
                  <a:pt x="630" y="1109"/>
                  <a:pt x="594" y="1112"/>
                  <a:pt x="557" y="1112"/>
                </a:cubicBezTo>
                <a:cubicBezTo>
                  <a:pt x="520" y="1112"/>
                  <a:pt x="483" y="1109"/>
                  <a:pt x="448" y="1102"/>
                </a:cubicBezTo>
                <a:cubicBezTo>
                  <a:pt x="412" y="1094"/>
                  <a:pt x="377" y="1084"/>
                  <a:pt x="343" y="1070"/>
                </a:cubicBezTo>
                <a:cubicBezTo>
                  <a:pt x="310" y="1056"/>
                  <a:pt x="278" y="1039"/>
                  <a:pt x="247" y="1019"/>
                </a:cubicBezTo>
                <a:cubicBezTo>
                  <a:pt x="217" y="998"/>
                  <a:pt x="189" y="975"/>
                  <a:pt x="163" y="950"/>
                </a:cubicBezTo>
                <a:cubicBezTo>
                  <a:pt x="137" y="924"/>
                  <a:pt x="114" y="896"/>
                  <a:pt x="94" y="865"/>
                </a:cubicBezTo>
                <a:cubicBezTo>
                  <a:pt x="74" y="835"/>
                  <a:pt x="57" y="803"/>
                  <a:pt x="43" y="769"/>
                </a:cubicBezTo>
                <a:cubicBezTo>
                  <a:pt x="29" y="736"/>
                  <a:pt x="18" y="701"/>
                  <a:pt x="11" y="665"/>
                </a:cubicBezTo>
                <a:cubicBezTo>
                  <a:pt x="4" y="629"/>
                  <a:pt x="0" y="593"/>
                  <a:pt x="0" y="557"/>
                </a:cubicBezTo>
                <a:cubicBezTo>
                  <a:pt x="0" y="520"/>
                  <a:pt x="4" y="484"/>
                  <a:pt x="11" y="448"/>
                </a:cubicBezTo>
                <a:cubicBezTo>
                  <a:pt x="18" y="412"/>
                  <a:pt x="29" y="378"/>
                  <a:pt x="43" y="344"/>
                </a:cubicBezTo>
                <a:cubicBezTo>
                  <a:pt x="57" y="310"/>
                  <a:pt x="74" y="278"/>
                  <a:pt x="94" y="248"/>
                </a:cubicBezTo>
                <a:cubicBezTo>
                  <a:pt x="114" y="217"/>
                  <a:pt x="137" y="189"/>
                  <a:pt x="163" y="163"/>
                </a:cubicBezTo>
                <a:cubicBezTo>
                  <a:pt x="189" y="137"/>
                  <a:pt x="217" y="114"/>
                  <a:pt x="247" y="94"/>
                </a:cubicBezTo>
                <a:cubicBezTo>
                  <a:pt x="278" y="73"/>
                  <a:pt x="310" y="56"/>
                  <a:pt x="343" y="42"/>
                </a:cubicBezTo>
                <a:cubicBezTo>
                  <a:pt x="377" y="28"/>
                  <a:pt x="412" y="18"/>
                  <a:pt x="448" y="11"/>
                </a:cubicBezTo>
                <a:cubicBezTo>
                  <a:pt x="483" y="4"/>
                  <a:pt x="520" y="0"/>
                  <a:pt x="557" y="0"/>
                </a:cubicBezTo>
                <a:cubicBezTo>
                  <a:pt x="594" y="0"/>
                  <a:pt x="630" y="4"/>
                  <a:pt x="665" y="11"/>
                </a:cubicBezTo>
                <a:cubicBezTo>
                  <a:pt x="701" y="18"/>
                  <a:pt x="736" y="28"/>
                  <a:pt x="770" y="42"/>
                </a:cubicBezTo>
                <a:cubicBezTo>
                  <a:pt x="803" y="56"/>
                  <a:pt x="835" y="73"/>
                  <a:pt x="866" y="94"/>
                </a:cubicBezTo>
                <a:cubicBezTo>
                  <a:pt x="896" y="114"/>
                  <a:pt x="924" y="137"/>
                  <a:pt x="950" y="163"/>
                </a:cubicBezTo>
                <a:cubicBezTo>
                  <a:pt x="976" y="189"/>
                  <a:pt x="999" y="217"/>
                  <a:pt x="1019" y="248"/>
                </a:cubicBezTo>
                <a:cubicBezTo>
                  <a:pt x="1039" y="278"/>
                  <a:pt x="1056" y="310"/>
                  <a:pt x="1070" y="344"/>
                </a:cubicBezTo>
                <a:cubicBezTo>
                  <a:pt x="1084" y="378"/>
                  <a:pt x="1095" y="412"/>
                  <a:pt x="1102" y="448"/>
                </a:cubicBezTo>
                <a:cubicBezTo>
                  <a:pt x="1109" y="484"/>
                  <a:pt x="1113" y="520"/>
                  <a:pt x="1113" y="557"/>
                </a:cubicBezTo>
                <a:close/>
              </a:path>
            </a:pathLst>
          </a:custGeom>
          <a:solidFill>
            <a:srgbClr val="745DB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FFFFFF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5" name=""/>
          <p:cNvSpPr txBox="1"/>
          <p:nvPr/>
        </p:nvSpPr>
        <p:spPr>
          <a:xfrm>
            <a:off x="6267600" y="6054840"/>
            <a:ext cx="1677942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050" b="0" u="none" strike="noStrike">
                <a:solidFill>
                  <a:srgbClr val="52606D"/>
                </a:solidFill>
                <a:effectLst/>
                <a:uFillTx/>
                <a:latin typeface="Hiragino Sans"/>
                <a:ea typeface="Hiragino Sans"/>
              </a:rPr>
              <a:t>既存の重みを使わず学習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6" name=""/>
          <p:cNvSpPr txBox="1"/>
          <p:nvPr/>
        </p:nvSpPr>
        <p:spPr>
          <a:xfrm>
            <a:off x="7336800" y="5006880"/>
            <a:ext cx="240534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650" b="1" u="none" strike="noStrike">
                <a:solidFill>
                  <a:srgbClr val="FFFFFF"/>
                </a:solidFill>
                <a:effectLst/>
                <a:uFillTx/>
                <a:latin typeface="Hiragino Sans"/>
                <a:ea typeface="Hiragino Sans"/>
              </a:rPr>
              <a:t>3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9067680" y="5423400"/>
            <a:ext cx="1315278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5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実行して評価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8" name=""/>
          <p:cNvSpPr txBox="1"/>
          <p:nvPr/>
        </p:nvSpPr>
        <p:spPr>
          <a:xfrm>
            <a:off x="9067680" y="5762880"/>
            <a:ext cx="2044332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28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生成コードの動作を確認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9" name=""/>
          <p:cNvSpPr/>
          <p:nvPr/>
        </p:nvSpPr>
        <p:spPr>
          <a:xfrm>
            <a:off x="10010520" y="4914720"/>
            <a:ext cx="400320" cy="400320"/>
          </a:xfrm>
          <a:custGeom>
            <a:avLst/>
            <a:gdLst/>
            <a:ahLst/>
            <a:rect l="0" t="0" r="r" b="b"/>
            <a:pathLst>
              <a:path w="1112" h="1112">
                <a:moveTo>
                  <a:pt x="1112" y="557"/>
                </a:moveTo>
                <a:cubicBezTo>
                  <a:pt x="1112" y="593"/>
                  <a:pt x="1109" y="629"/>
                  <a:pt x="1102" y="665"/>
                </a:cubicBezTo>
                <a:cubicBezTo>
                  <a:pt x="1095" y="701"/>
                  <a:pt x="1084" y="736"/>
                  <a:pt x="1070" y="769"/>
                </a:cubicBezTo>
                <a:cubicBezTo>
                  <a:pt x="1056" y="803"/>
                  <a:pt x="1039" y="835"/>
                  <a:pt x="1019" y="865"/>
                </a:cubicBezTo>
                <a:cubicBezTo>
                  <a:pt x="999" y="896"/>
                  <a:pt x="976" y="924"/>
                  <a:pt x="950" y="950"/>
                </a:cubicBezTo>
                <a:cubicBezTo>
                  <a:pt x="924" y="975"/>
                  <a:pt x="896" y="998"/>
                  <a:pt x="866" y="1019"/>
                </a:cubicBezTo>
                <a:cubicBezTo>
                  <a:pt x="835" y="1039"/>
                  <a:pt x="803" y="1056"/>
                  <a:pt x="769" y="1070"/>
                </a:cubicBezTo>
                <a:cubicBezTo>
                  <a:pt x="736" y="1084"/>
                  <a:pt x="701" y="1094"/>
                  <a:pt x="665" y="1102"/>
                </a:cubicBezTo>
                <a:cubicBezTo>
                  <a:pt x="629" y="1109"/>
                  <a:pt x="593" y="1112"/>
                  <a:pt x="557" y="1112"/>
                </a:cubicBezTo>
                <a:cubicBezTo>
                  <a:pt x="519" y="1112"/>
                  <a:pt x="483" y="1109"/>
                  <a:pt x="447" y="1102"/>
                </a:cubicBezTo>
                <a:cubicBezTo>
                  <a:pt x="412" y="1094"/>
                  <a:pt x="377" y="1084"/>
                  <a:pt x="343" y="1070"/>
                </a:cubicBezTo>
                <a:cubicBezTo>
                  <a:pt x="309" y="1056"/>
                  <a:pt x="277" y="1039"/>
                  <a:pt x="247" y="1019"/>
                </a:cubicBezTo>
                <a:cubicBezTo>
                  <a:pt x="217" y="998"/>
                  <a:pt x="189" y="975"/>
                  <a:pt x="163" y="950"/>
                </a:cubicBezTo>
                <a:cubicBezTo>
                  <a:pt x="137" y="924"/>
                  <a:pt x="114" y="896"/>
                  <a:pt x="94" y="865"/>
                </a:cubicBezTo>
                <a:cubicBezTo>
                  <a:pt x="74" y="835"/>
                  <a:pt x="56" y="803"/>
                  <a:pt x="42" y="769"/>
                </a:cubicBezTo>
                <a:cubicBezTo>
                  <a:pt x="29" y="736"/>
                  <a:pt x="18" y="701"/>
                  <a:pt x="11" y="665"/>
                </a:cubicBezTo>
                <a:cubicBezTo>
                  <a:pt x="4" y="629"/>
                  <a:pt x="0" y="593"/>
                  <a:pt x="0" y="557"/>
                </a:cubicBezTo>
                <a:cubicBezTo>
                  <a:pt x="0" y="520"/>
                  <a:pt x="4" y="484"/>
                  <a:pt x="11" y="448"/>
                </a:cubicBezTo>
                <a:cubicBezTo>
                  <a:pt x="18" y="412"/>
                  <a:pt x="29" y="378"/>
                  <a:pt x="42" y="344"/>
                </a:cubicBezTo>
                <a:cubicBezTo>
                  <a:pt x="56" y="310"/>
                  <a:pt x="74" y="278"/>
                  <a:pt x="94" y="248"/>
                </a:cubicBezTo>
                <a:cubicBezTo>
                  <a:pt x="114" y="217"/>
                  <a:pt x="137" y="189"/>
                  <a:pt x="163" y="163"/>
                </a:cubicBezTo>
                <a:cubicBezTo>
                  <a:pt x="189" y="137"/>
                  <a:pt x="217" y="114"/>
                  <a:pt x="247" y="94"/>
                </a:cubicBezTo>
                <a:cubicBezTo>
                  <a:pt x="277" y="73"/>
                  <a:pt x="309" y="56"/>
                  <a:pt x="343" y="42"/>
                </a:cubicBezTo>
                <a:cubicBezTo>
                  <a:pt x="377" y="28"/>
                  <a:pt x="412" y="18"/>
                  <a:pt x="447" y="11"/>
                </a:cubicBezTo>
                <a:cubicBezTo>
                  <a:pt x="483" y="4"/>
                  <a:pt x="519" y="0"/>
                  <a:pt x="557" y="0"/>
                </a:cubicBezTo>
                <a:cubicBezTo>
                  <a:pt x="593" y="0"/>
                  <a:pt x="629" y="4"/>
                  <a:pt x="665" y="11"/>
                </a:cubicBezTo>
                <a:cubicBezTo>
                  <a:pt x="701" y="18"/>
                  <a:pt x="736" y="28"/>
                  <a:pt x="769" y="42"/>
                </a:cubicBezTo>
                <a:cubicBezTo>
                  <a:pt x="803" y="56"/>
                  <a:pt x="835" y="73"/>
                  <a:pt x="866" y="94"/>
                </a:cubicBezTo>
                <a:cubicBezTo>
                  <a:pt x="896" y="114"/>
                  <a:pt x="924" y="137"/>
                  <a:pt x="950" y="163"/>
                </a:cubicBezTo>
                <a:cubicBezTo>
                  <a:pt x="976" y="189"/>
                  <a:pt x="999" y="217"/>
                  <a:pt x="1019" y="248"/>
                </a:cubicBezTo>
                <a:cubicBezTo>
                  <a:pt x="1039" y="278"/>
                  <a:pt x="1056" y="310"/>
                  <a:pt x="1070" y="344"/>
                </a:cubicBezTo>
                <a:cubicBezTo>
                  <a:pt x="1084" y="378"/>
                  <a:pt x="1095" y="412"/>
                  <a:pt x="1102" y="448"/>
                </a:cubicBezTo>
                <a:cubicBezTo>
                  <a:pt x="1109" y="484"/>
                  <a:pt x="1112" y="520"/>
                  <a:pt x="1112" y="557"/>
                </a:cubicBezTo>
                <a:close/>
              </a:path>
            </a:pathLst>
          </a:custGeom>
          <a:solidFill>
            <a:srgbClr val="3B946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FFFFFF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9067680" y="6054840"/>
            <a:ext cx="1759086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050" b="0" u="none" strike="noStrike">
                <a:solidFill>
                  <a:srgbClr val="52606D"/>
                </a:solidFill>
                <a:effectLst/>
                <a:uFillTx/>
                <a:latin typeface="Hiragino Sans"/>
                <a:ea typeface="Hiragino Sans"/>
              </a:rPr>
              <a:t>84,180 / 84,550</a:t>
            </a:r>
            <a:r>
              <a:rPr lang="ja-JP" sz="1050" b="0" u="none" strike="noStrike">
                <a:solidFill>
                  <a:srgbClr val="52606D"/>
                </a:solidFill>
                <a:effectLst/>
                <a:uFillTx/>
                <a:latin typeface="Hiragino Sans"/>
                <a:ea typeface="Hiragino Sans"/>
              </a:rPr>
              <a:t>問 合格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10137240" y="5006880"/>
            <a:ext cx="240534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650" b="1" u="none" strike="noStrike">
                <a:solidFill>
                  <a:srgbClr val="FFFFFF"/>
                </a:solidFill>
                <a:effectLst/>
                <a:uFillTx/>
                <a:latin typeface="Hiragino Sans"/>
                <a:ea typeface="Hiragino Sans"/>
              </a:rPr>
              <a:t>4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11806200" y="6466680"/>
            <a:ext cx="174708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Hiragino Sans"/>
                <a:ea typeface="Hiragino Sans"/>
              </a:rPr>
              <a:t>2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6" name=""/>
          <p:cNvSpPr/>
          <p:nvPr/>
        </p:nvSpPr>
        <p:spPr>
          <a:xfrm>
            <a:off x="590400" y="2333520"/>
            <a:ext cx="5277240" cy="695520"/>
          </a:xfrm>
          <a:custGeom>
            <a:avLst/>
            <a:gdLst/>
            <a:ahLst/>
            <a:rect l="0" t="0" r="r" b="b"/>
            <a:pathLst>
              <a:path w="14659" h="1932">
                <a:moveTo>
                  <a:pt x="0" y="0"/>
                </a:moveTo>
                <a:lnTo>
                  <a:pt x="14659" y="0"/>
                </a:lnTo>
                <a:lnTo>
                  <a:pt x="14659" y="1932"/>
                </a:lnTo>
                <a:lnTo>
                  <a:pt x="0" y="193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7" name=""/>
          <p:cNvSpPr/>
          <p:nvPr/>
        </p:nvSpPr>
        <p:spPr>
          <a:xfrm>
            <a:off x="6019560" y="2333520"/>
            <a:ext cx="5277240" cy="695520"/>
          </a:xfrm>
          <a:custGeom>
            <a:avLst/>
            <a:gdLst/>
            <a:ahLst/>
            <a:rect l="0" t="0" r="r" b="b"/>
            <a:pathLst>
              <a:path w="14659" h="1932">
                <a:moveTo>
                  <a:pt x="0" y="0"/>
                </a:moveTo>
                <a:lnTo>
                  <a:pt x="14659" y="0"/>
                </a:lnTo>
                <a:lnTo>
                  <a:pt x="14659" y="1932"/>
                </a:lnTo>
                <a:lnTo>
                  <a:pt x="0" y="193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8" name=""/>
          <p:cNvSpPr/>
          <p:nvPr/>
        </p:nvSpPr>
        <p:spPr>
          <a:xfrm>
            <a:off x="590400" y="2333520"/>
            <a:ext cx="5277240" cy="695520"/>
          </a:xfrm>
          <a:custGeom>
            <a:avLst/>
            <a:gdLst/>
            <a:ahLst/>
            <a:rect l="0" t="0" r="r" b="b"/>
            <a:pathLst>
              <a:path w="14659" h="1932">
                <a:moveTo>
                  <a:pt x="0" y="0"/>
                </a:moveTo>
                <a:lnTo>
                  <a:pt x="14659" y="0"/>
                </a:lnTo>
                <a:lnTo>
                  <a:pt x="14659" y="1932"/>
                </a:lnTo>
                <a:lnTo>
                  <a:pt x="0" y="1932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9" name=""/>
          <p:cNvSpPr/>
          <p:nvPr/>
        </p:nvSpPr>
        <p:spPr>
          <a:xfrm>
            <a:off x="595080" y="2338200"/>
            <a:ext cx="5267880" cy="686160"/>
          </a:xfrm>
          <a:custGeom>
            <a:avLst/>
            <a:gdLst/>
            <a:ahLst/>
            <a:rect l="0" t="0" r="r" b="b"/>
            <a:pathLst>
              <a:path w="14633" h="1906">
                <a:moveTo>
                  <a:pt x="0" y="0"/>
                </a:moveTo>
                <a:lnTo>
                  <a:pt x="14633" y="0"/>
                </a:lnTo>
                <a:lnTo>
                  <a:pt x="14633" y="1906"/>
                </a:lnTo>
                <a:lnTo>
                  <a:pt x="0" y="1906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tIns="4680" rIns="4680" bIns="468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0" name=""/>
          <p:cNvSpPr/>
          <p:nvPr/>
        </p:nvSpPr>
        <p:spPr>
          <a:xfrm>
            <a:off x="6019560" y="2333520"/>
            <a:ext cx="5277240" cy="695520"/>
          </a:xfrm>
          <a:custGeom>
            <a:avLst/>
            <a:gdLst/>
            <a:ahLst/>
            <a:rect l="0" t="0" r="r" b="b"/>
            <a:pathLst>
              <a:path w="14659" h="1932">
                <a:moveTo>
                  <a:pt x="0" y="0"/>
                </a:moveTo>
                <a:lnTo>
                  <a:pt x="14659" y="0"/>
                </a:lnTo>
                <a:lnTo>
                  <a:pt x="14659" y="1932"/>
                </a:lnTo>
                <a:lnTo>
                  <a:pt x="0" y="1932"/>
                </a:lnTo>
                <a:lnTo>
                  <a:pt x="0" y="0"/>
                </a:lnTo>
                <a:close/>
              </a:path>
            </a:pathLst>
          </a:custGeom>
          <a:solidFill>
            <a:srgbClr val="E9F5E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1" name=""/>
          <p:cNvSpPr/>
          <p:nvPr/>
        </p:nvSpPr>
        <p:spPr>
          <a:xfrm>
            <a:off x="6024240" y="2338200"/>
            <a:ext cx="5267880" cy="686160"/>
          </a:xfrm>
          <a:custGeom>
            <a:avLst/>
            <a:gdLst/>
            <a:ahLst/>
            <a:rect l="0" t="0" r="r" b="b"/>
            <a:pathLst>
              <a:path w="14633" h="1906">
                <a:moveTo>
                  <a:pt x="0" y="0"/>
                </a:moveTo>
                <a:lnTo>
                  <a:pt x="14633" y="0"/>
                </a:lnTo>
                <a:lnTo>
                  <a:pt x="14633" y="1906"/>
                </a:lnTo>
                <a:lnTo>
                  <a:pt x="0" y="1906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tIns="4680" rIns="4680" bIns="468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2" name=""/>
          <p:cNvSpPr/>
          <p:nvPr/>
        </p:nvSpPr>
        <p:spPr>
          <a:xfrm>
            <a:off x="590400" y="3028680"/>
            <a:ext cx="5277240" cy="600480"/>
          </a:xfrm>
          <a:custGeom>
            <a:avLst/>
            <a:gdLst/>
            <a:ahLst/>
            <a:rect l="0" t="0" r="r" b="b"/>
            <a:pathLst>
              <a:path w="14659" h="1668">
                <a:moveTo>
                  <a:pt x="0" y="0"/>
                </a:moveTo>
                <a:lnTo>
                  <a:pt x="14659" y="0"/>
                </a:lnTo>
                <a:lnTo>
                  <a:pt x="14659" y="1668"/>
                </a:lnTo>
                <a:lnTo>
                  <a:pt x="0" y="166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3" name=""/>
          <p:cNvSpPr/>
          <p:nvPr/>
        </p:nvSpPr>
        <p:spPr>
          <a:xfrm>
            <a:off x="6019560" y="3028680"/>
            <a:ext cx="5277240" cy="600480"/>
          </a:xfrm>
          <a:custGeom>
            <a:avLst/>
            <a:gdLst/>
            <a:ahLst/>
            <a:rect l="0" t="0" r="r" b="b"/>
            <a:pathLst>
              <a:path w="14659" h="1668">
                <a:moveTo>
                  <a:pt x="0" y="0"/>
                </a:moveTo>
                <a:lnTo>
                  <a:pt x="14659" y="0"/>
                </a:lnTo>
                <a:lnTo>
                  <a:pt x="14659" y="1668"/>
                </a:lnTo>
                <a:lnTo>
                  <a:pt x="0" y="166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4" name=""/>
          <p:cNvSpPr/>
          <p:nvPr/>
        </p:nvSpPr>
        <p:spPr>
          <a:xfrm>
            <a:off x="590400" y="3028680"/>
            <a:ext cx="5277240" cy="600480"/>
          </a:xfrm>
          <a:custGeom>
            <a:avLst/>
            <a:gdLst/>
            <a:ahLst/>
            <a:rect l="0" t="0" r="r" b="b"/>
            <a:pathLst>
              <a:path w="14659" h="1668">
                <a:moveTo>
                  <a:pt x="0" y="0"/>
                </a:moveTo>
                <a:lnTo>
                  <a:pt x="14659" y="0"/>
                </a:lnTo>
                <a:lnTo>
                  <a:pt x="14659" y="1668"/>
                </a:lnTo>
                <a:lnTo>
                  <a:pt x="0" y="1668"/>
                </a:lnTo>
                <a:lnTo>
                  <a:pt x="0" y="0"/>
                </a:lnTo>
                <a:close/>
              </a:path>
            </a:pathLst>
          </a:custGeom>
          <a:solidFill>
            <a:srgbClr val="F1F6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5" name=""/>
          <p:cNvSpPr/>
          <p:nvPr/>
        </p:nvSpPr>
        <p:spPr>
          <a:xfrm>
            <a:off x="595080" y="3033360"/>
            <a:ext cx="5267880" cy="591120"/>
          </a:xfrm>
          <a:custGeom>
            <a:avLst/>
            <a:gdLst/>
            <a:ahLst/>
            <a:rect l="0" t="0" r="r" b="b"/>
            <a:pathLst>
              <a:path w="14633" h="1642">
                <a:moveTo>
                  <a:pt x="0" y="0"/>
                </a:moveTo>
                <a:lnTo>
                  <a:pt x="14633" y="0"/>
                </a:lnTo>
                <a:lnTo>
                  <a:pt x="14633" y="1642"/>
                </a:lnTo>
                <a:lnTo>
                  <a:pt x="0" y="1642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tIns="4680" rIns="4680" bIns="468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6" name=""/>
          <p:cNvSpPr/>
          <p:nvPr/>
        </p:nvSpPr>
        <p:spPr>
          <a:xfrm>
            <a:off x="6019560" y="3028680"/>
            <a:ext cx="5277240" cy="600480"/>
          </a:xfrm>
          <a:custGeom>
            <a:avLst/>
            <a:gdLst/>
            <a:ahLst/>
            <a:rect l="0" t="0" r="r" b="b"/>
            <a:pathLst>
              <a:path w="14659" h="1668">
                <a:moveTo>
                  <a:pt x="0" y="0"/>
                </a:moveTo>
                <a:lnTo>
                  <a:pt x="14659" y="0"/>
                </a:lnTo>
                <a:lnTo>
                  <a:pt x="14659" y="1668"/>
                </a:lnTo>
                <a:lnTo>
                  <a:pt x="0" y="1668"/>
                </a:lnTo>
                <a:lnTo>
                  <a:pt x="0" y="0"/>
                </a:lnTo>
                <a:close/>
              </a:path>
            </a:pathLst>
          </a:custGeom>
          <a:solidFill>
            <a:srgbClr val="F1F8F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7" name=""/>
          <p:cNvSpPr/>
          <p:nvPr/>
        </p:nvSpPr>
        <p:spPr>
          <a:xfrm>
            <a:off x="6024240" y="3033360"/>
            <a:ext cx="5267880" cy="591120"/>
          </a:xfrm>
          <a:custGeom>
            <a:avLst/>
            <a:gdLst/>
            <a:ahLst/>
            <a:rect l="0" t="0" r="r" b="b"/>
            <a:pathLst>
              <a:path w="14633" h="1642">
                <a:moveTo>
                  <a:pt x="0" y="0"/>
                </a:moveTo>
                <a:lnTo>
                  <a:pt x="14633" y="0"/>
                </a:lnTo>
                <a:lnTo>
                  <a:pt x="14633" y="1642"/>
                </a:lnTo>
                <a:lnTo>
                  <a:pt x="0" y="1642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tIns="4680" rIns="4680" bIns="468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8" name=""/>
          <p:cNvSpPr/>
          <p:nvPr/>
        </p:nvSpPr>
        <p:spPr>
          <a:xfrm>
            <a:off x="590400" y="3628800"/>
            <a:ext cx="5277240" cy="609840"/>
          </a:xfrm>
          <a:custGeom>
            <a:avLst/>
            <a:gdLst/>
            <a:ahLst/>
            <a:rect l="0" t="0" r="r" b="b"/>
            <a:pathLst>
              <a:path w="14659" h="1694">
                <a:moveTo>
                  <a:pt x="0" y="0"/>
                </a:moveTo>
                <a:lnTo>
                  <a:pt x="14659" y="0"/>
                </a:lnTo>
                <a:lnTo>
                  <a:pt x="14659" y="1694"/>
                </a:lnTo>
                <a:lnTo>
                  <a:pt x="0" y="1694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9" name=""/>
          <p:cNvSpPr/>
          <p:nvPr/>
        </p:nvSpPr>
        <p:spPr>
          <a:xfrm>
            <a:off x="6019560" y="3628800"/>
            <a:ext cx="5277240" cy="609840"/>
          </a:xfrm>
          <a:custGeom>
            <a:avLst/>
            <a:gdLst/>
            <a:ahLst/>
            <a:rect l="0" t="0" r="r" b="b"/>
            <a:pathLst>
              <a:path w="14659" h="1694">
                <a:moveTo>
                  <a:pt x="0" y="0"/>
                </a:moveTo>
                <a:lnTo>
                  <a:pt x="14659" y="0"/>
                </a:lnTo>
                <a:lnTo>
                  <a:pt x="14659" y="1694"/>
                </a:lnTo>
                <a:lnTo>
                  <a:pt x="0" y="1694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0" name=""/>
          <p:cNvSpPr/>
          <p:nvPr/>
        </p:nvSpPr>
        <p:spPr>
          <a:xfrm>
            <a:off x="590400" y="3628800"/>
            <a:ext cx="5277240" cy="609840"/>
          </a:xfrm>
          <a:custGeom>
            <a:avLst/>
            <a:gdLst/>
            <a:ahLst/>
            <a:rect l="0" t="0" r="r" b="b"/>
            <a:pathLst>
              <a:path w="14659" h="1694">
                <a:moveTo>
                  <a:pt x="0" y="0"/>
                </a:moveTo>
                <a:lnTo>
                  <a:pt x="14659" y="0"/>
                </a:lnTo>
                <a:lnTo>
                  <a:pt x="14659" y="1694"/>
                </a:lnTo>
                <a:lnTo>
                  <a:pt x="0" y="1694"/>
                </a:lnTo>
                <a:lnTo>
                  <a:pt x="0" y="0"/>
                </a:lnTo>
                <a:close/>
              </a:path>
            </a:pathLst>
          </a:custGeom>
          <a:solidFill>
            <a:srgbClr val="F1F6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1" name=""/>
          <p:cNvSpPr/>
          <p:nvPr/>
        </p:nvSpPr>
        <p:spPr>
          <a:xfrm>
            <a:off x="595080" y="3633480"/>
            <a:ext cx="5267880" cy="600480"/>
          </a:xfrm>
          <a:custGeom>
            <a:avLst/>
            <a:gdLst/>
            <a:ahLst/>
            <a:rect l="0" t="0" r="r" b="b"/>
            <a:pathLst>
              <a:path w="14633" h="1668">
                <a:moveTo>
                  <a:pt x="0" y="0"/>
                </a:moveTo>
                <a:lnTo>
                  <a:pt x="14633" y="0"/>
                </a:lnTo>
                <a:lnTo>
                  <a:pt x="14633" y="1668"/>
                </a:lnTo>
                <a:lnTo>
                  <a:pt x="0" y="1668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tIns="4680" rIns="4680" bIns="468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2" name=""/>
          <p:cNvSpPr/>
          <p:nvPr/>
        </p:nvSpPr>
        <p:spPr>
          <a:xfrm>
            <a:off x="6019560" y="3628800"/>
            <a:ext cx="5277240" cy="609840"/>
          </a:xfrm>
          <a:custGeom>
            <a:avLst/>
            <a:gdLst/>
            <a:ahLst/>
            <a:rect l="0" t="0" r="r" b="b"/>
            <a:pathLst>
              <a:path w="14659" h="1694">
                <a:moveTo>
                  <a:pt x="0" y="0"/>
                </a:moveTo>
                <a:lnTo>
                  <a:pt x="14659" y="0"/>
                </a:lnTo>
                <a:lnTo>
                  <a:pt x="14659" y="1694"/>
                </a:lnTo>
                <a:lnTo>
                  <a:pt x="0" y="1694"/>
                </a:lnTo>
                <a:lnTo>
                  <a:pt x="0" y="0"/>
                </a:lnTo>
                <a:close/>
              </a:path>
            </a:pathLst>
          </a:custGeom>
          <a:solidFill>
            <a:srgbClr val="F1F8F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3" name=""/>
          <p:cNvSpPr/>
          <p:nvPr/>
        </p:nvSpPr>
        <p:spPr>
          <a:xfrm>
            <a:off x="6024240" y="3633480"/>
            <a:ext cx="5267880" cy="600480"/>
          </a:xfrm>
          <a:custGeom>
            <a:avLst/>
            <a:gdLst/>
            <a:ahLst/>
            <a:rect l="0" t="0" r="r" b="b"/>
            <a:pathLst>
              <a:path w="14633" h="1668">
                <a:moveTo>
                  <a:pt x="0" y="0"/>
                </a:moveTo>
                <a:lnTo>
                  <a:pt x="14633" y="0"/>
                </a:lnTo>
                <a:lnTo>
                  <a:pt x="14633" y="1668"/>
                </a:lnTo>
                <a:lnTo>
                  <a:pt x="0" y="1668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tIns="4680" rIns="4680" bIns="468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4" name=""/>
          <p:cNvSpPr txBox="1"/>
          <p:nvPr/>
        </p:nvSpPr>
        <p:spPr>
          <a:xfrm>
            <a:off x="590400" y="977040"/>
            <a:ext cx="2077866" cy="36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8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課題と狙い</a:t>
            </a:r>
            <a:endParaRPr lang="en-US" sz="28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5" name=""/>
          <p:cNvSpPr txBox="1"/>
          <p:nvPr/>
        </p:nvSpPr>
        <p:spPr>
          <a:xfrm>
            <a:off x="590400" y="1813320"/>
            <a:ext cx="7785270" cy="267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1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抽出や順序の変更など、</a:t>
            </a:r>
            <a:r>
              <a:rPr lang="ja-JP" sz="21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対象を</a:t>
            </a:r>
            <a:r>
              <a:rPr lang="en-US" sz="21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24</a:t>
            </a:r>
            <a:r>
              <a:rPr lang="ja-JP" sz="21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種類の操作に限定</a:t>
            </a:r>
            <a:r>
              <a:rPr lang="ja-JP" sz="21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する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6" name=""/>
          <p:cNvSpPr txBox="1"/>
          <p:nvPr/>
        </p:nvSpPr>
        <p:spPr>
          <a:xfrm>
            <a:off x="790560" y="2545560"/>
            <a:ext cx="1481706" cy="258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0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範囲を絞る</a:t>
            </a:r>
            <a:endParaRPr lang="en-US" sz="202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7" name=""/>
          <p:cNvSpPr txBox="1"/>
          <p:nvPr/>
        </p:nvSpPr>
        <p:spPr>
          <a:xfrm>
            <a:off x="6219720" y="2545560"/>
            <a:ext cx="1778130" cy="258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020" b="1" u="none" strike="noStrike">
                <a:solidFill>
                  <a:srgbClr val="327C50"/>
                </a:solidFill>
                <a:effectLst/>
                <a:uFillTx/>
                <a:latin typeface="Hiragino Sans"/>
                <a:ea typeface="Hiragino Sans"/>
              </a:rPr>
              <a:t>目指すモデル</a:t>
            </a:r>
            <a:endParaRPr lang="en-US" sz="202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8" name=""/>
          <p:cNvSpPr txBox="1"/>
          <p:nvPr/>
        </p:nvSpPr>
        <p:spPr>
          <a:xfrm>
            <a:off x="790560" y="3209760"/>
            <a:ext cx="4375152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あらかじめ定めた整数リストの操作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9" name=""/>
          <p:cNvSpPr txBox="1"/>
          <p:nvPr/>
        </p:nvSpPr>
        <p:spPr>
          <a:xfrm>
            <a:off x="6219720" y="3209760"/>
            <a:ext cx="4648806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学生一人でもフルスクラッチで作れる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0" name=""/>
          <p:cNvSpPr txBox="1"/>
          <p:nvPr/>
        </p:nvSpPr>
        <p:spPr>
          <a:xfrm>
            <a:off x="790560" y="3809880"/>
            <a:ext cx="3828672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操作を組み合わせて処理を表す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1" name=""/>
          <p:cNvSpPr txBox="1"/>
          <p:nvPr/>
        </p:nvSpPr>
        <p:spPr>
          <a:xfrm>
            <a:off x="6219720" y="3809880"/>
            <a:ext cx="3361680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7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小規模言語モデル（</a:t>
            </a:r>
            <a:r>
              <a:rPr lang="en-US" sz="187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SLM</a:t>
            </a:r>
            <a:r>
              <a:rPr lang="ja-JP" sz="187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）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2" name=""/>
          <p:cNvSpPr txBox="1"/>
          <p:nvPr/>
        </p:nvSpPr>
        <p:spPr>
          <a:xfrm>
            <a:off x="590400" y="4557600"/>
            <a:ext cx="2538648" cy="276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170" b="1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別の用途への応用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3" name=""/>
          <p:cNvSpPr txBox="1"/>
          <p:nvPr/>
        </p:nvSpPr>
        <p:spPr>
          <a:xfrm>
            <a:off x="590400" y="5213520"/>
            <a:ext cx="5214744" cy="267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1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関数の組み合わせで表せる処理なら、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4" name=""/>
          <p:cNvSpPr txBox="1"/>
          <p:nvPr/>
        </p:nvSpPr>
        <p:spPr>
          <a:xfrm>
            <a:off x="590400" y="5613480"/>
            <a:ext cx="8159940" cy="267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1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同じ考え方を </a:t>
            </a:r>
            <a:r>
              <a:rPr lang="en-US" sz="21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NPC</a:t>
            </a:r>
            <a:r>
              <a:rPr lang="ja-JP" sz="21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の挙動などにも応用できる可能性</a:t>
            </a:r>
            <a:r>
              <a:rPr lang="ja-JP" sz="21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がある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5" name=""/>
          <p:cNvSpPr txBox="1"/>
          <p:nvPr/>
        </p:nvSpPr>
        <p:spPr>
          <a:xfrm>
            <a:off x="285840" y="239760"/>
            <a:ext cx="1223784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350" b="0" u="none" strike="noStrike">
                <a:solidFill>
                  <a:srgbClr val="666666"/>
                </a:solidFill>
                <a:effectLst/>
                <a:uFillTx/>
                <a:latin typeface="Hiragino Sans"/>
                <a:ea typeface="Hiragino Sans"/>
              </a:rPr>
              <a:t>1. </a:t>
            </a:r>
            <a:r>
              <a:rPr lang="ja-JP" sz="1350" b="0" u="none" strike="noStrike">
                <a:solidFill>
                  <a:srgbClr val="666666"/>
                </a:solidFill>
                <a:effectLst/>
                <a:uFillTx/>
                <a:latin typeface="Hiragino Sans"/>
                <a:ea typeface="Hiragino Sans"/>
              </a:rPr>
              <a:t>課題と狙い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6" name=""/>
          <p:cNvSpPr txBox="1"/>
          <p:nvPr/>
        </p:nvSpPr>
        <p:spPr>
          <a:xfrm>
            <a:off x="11806200" y="6466680"/>
            <a:ext cx="174708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Hiragino Sans"/>
                <a:ea typeface="Hiragino Sans"/>
              </a:rPr>
              <a:t>3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0" name=""/>
          <p:cNvSpPr/>
          <p:nvPr/>
        </p:nvSpPr>
        <p:spPr>
          <a:xfrm>
            <a:off x="595080" y="2728800"/>
            <a:ext cx="11001960" cy="2229120"/>
          </a:xfrm>
          <a:custGeom>
            <a:avLst/>
            <a:gdLst/>
            <a:ahLst/>
            <a:rect l="0" t="0" r="r" b="b"/>
            <a:pathLst>
              <a:path w="30561" h="6192">
                <a:moveTo>
                  <a:pt x="0" y="6047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7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4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30415" y="0"/>
                </a:lnTo>
                <a:cubicBezTo>
                  <a:pt x="30425" y="0"/>
                  <a:pt x="30434" y="1"/>
                  <a:pt x="30443" y="3"/>
                </a:cubicBezTo>
                <a:cubicBezTo>
                  <a:pt x="30453" y="4"/>
                  <a:pt x="30462" y="7"/>
                  <a:pt x="30471" y="11"/>
                </a:cubicBezTo>
                <a:cubicBezTo>
                  <a:pt x="30480" y="15"/>
                  <a:pt x="30488" y="19"/>
                  <a:pt x="30496" y="24"/>
                </a:cubicBezTo>
                <a:cubicBezTo>
                  <a:pt x="30504" y="30"/>
                  <a:pt x="30511" y="36"/>
                  <a:pt x="30518" y="42"/>
                </a:cubicBezTo>
                <a:cubicBezTo>
                  <a:pt x="30525" y="49"/>
                  <a:pt x="30531" y="57"/>
                  <a:pt x="30536" y="64"/>
                </a:cubicBezTo>
                <a:cubicBezTo>
                  <a:pt x="30541" y="72"/>
                  <a:pt x="30546" y="81"/>
                  <a:pt x="30549" y="90"/>
                </a:cubicBezTo>
                <a:cubicBezTo>
                  <a:pt x="30553" y="98"/>
                  <a:pt x="30556" y="108"/>
                  <a:pt x="30558" y="117"/>
                </a:cubicBezTo>
                <a:cubicBezTo>
                  <a:pt x="30560" y="126"/>
                  <a:pt x="30561" y="136"/>
                  <a:pt x="30561" y="145"/>
                </a:cubicBezTo>
                <a:lnTo>
                  <a:pt x="30561" y="6047"/>
                </a:lnTo>
                <a:cubicBezTo>
                  <a:pt x="30561" y="6056"/>
                  <a:pt x="30560" y="6066"/>
                  <a:pt x="30558" y="6075"/>
                </a:cubicBezTo>
                <a:cubicBezTo>
                  <a:pt x="30556" y="6084"/>
                  <a:pt x="30553" y="6093"/>
                  <a:pt x="30549" y="6102"/>
                </a:cubicBezTo>
                <a:cubicBezTo>
                  <a:pt x="30546" y="6111"/>
                  <a:pt x="30541" y="6119"/>
                  <a:pt x="30536" y="6127"/>
                </a:cubicBezTo>
                <a:cubicBezTo>
                  <a:pt x="30531" y="6135"/>
                  <a:pt x="30525" y="6143"/>
                  <a:pt x="30518" y="6149"/>
                </a:cubicBezTo>
                <a:cubicBezTo>
                  <a:pt x="30511" y="6156"/>
                  <a:pt x="30504" y="6162"/>
                  <a:pt x="30496" y="6168"/>
                </a:cubicBezTo>
                <a:cubicBezTo>
                  <a:pt x="30488" y="6173"/>
                  <a:pt x="30480" y="6177"/>
                  <a:pt x="30471" y="6181"/>
                </a:cubicBezTo>
                <a:cubicBezTo>
                  <a:pt x="30462" y="6185"/>
                  <a:pt x="30453" y="6187"/>
                  <a:pt x="30443" y="6189"/>
                </a:cubicBezTo>
                <a:cubicBezTo>
                  <a:pt x="30434" y="6191"/>
                  <a:pt x="30425" y="6192"/>
                  <a:pt x="30415" y="6192"/>
                </a:cubicBezTo>
                <a:lnTo>
                  <a:pt x="146" y="6192"/>
                </a:lnTo>
                <a:cubicBezTo>
                  <a:pt x="136" y="6192"/>
                  <a:pt x="127" y="6191"/>
                  <a:pt x="117" y="6189"/>
                </a:cubicBezTo>
                <a:cubicBezTo>
                  <a:pt x="108" y="6187"/>
                  <a:pt x="99" y="6185"/>
                  <a:pt x="90" y="6181"/>
                </a:cubicBezTo>
                <a:cubicBezTo>
                  <a:pt x="81" y="6177"/>
                  <a:pt x="73" y="6173"/>
                  <a:pt x="65" y="6168"/>
                </a:cubicBezTo>
                <a:cubicBezTo>
                  <a:pt x="57" y="6162"/>
                  <a:pt x="50" y="6156"/>
                  <a:pt x="43" y="6149"/>
                </a:cubicBezTo>
                <a:cubicBezTo>
                  <a:pt x="36" y="6143"/>
                  <a:pt x="30" y="6135"/>
                  <a:pt x="25" y="6127"/>
                </a:cubicBezTo>
                <a:cubicBezTo>
                  <a:pt x="19" y="6119"/>
                  <a:pt x="15" y="6111"/>
                  <a:pt x="11" y="6102"/>
                </a:cubicBezTo>
                <a:cubicBezTo>
                  <a:pt x="8" y="6093"/>
                  <a:pt x="5" y="6084"/>
                  <a:pt x="3" y="6075"/>
                </a:cubicBezTo>
                <a:cubicBezTo>
                  <a:pt x="1" y="6066"/>
                  <a:pt x="0" y="6056"/>
                  <a:pt x="0" y="6047"/>
                </a:cubicBez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1" name=""/>
          <p:cNvSpPr/>
          <p:nvPr/>
        </p:nvSpPr>
        <p:spPr>
          <a:xfrm>
            <a:off x="595080" y="2728800"/>
            <a:ext cx="11001960" cy="2229120"/>
          </a:xfrm>
          <a:custGeom>
            <a:avLst/>
            <a:gdLst/>
            <a:ahLst/>
            <a:rect l="0" t="0" r="r" b="b"/>
            <a:pathLst>
              <a:path w="30561" h="6192">
                <a:moveTo>
                  <a:pt x="0" y="6047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7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4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30415" y="0"/>
                </a:lnTo>
                <a:cubicBezTo>
                  <a:pt x="30425" y="0"/>
                  <a:pt x="30434" y="1"/>
                  <a:pt x="30443" y="3"/>
                </a:cubicBezTo>
                <a:cubicBezTo>
                  <a:pt x="30453" y="4"/>
                  <a:pt x="30462" y="7"/>
                  <a:pt x="30471" y="11"/>
                </a:cubicBezTo>
                <a:cubicBezTo>
                  <a:pt x="30480" y="15"/>
                  <a:pt x="30488" y="19"/>
                  <a:pt x="30496" y="24"/>
                </a:cubicBezTo>
                <a:cubicBezTo>
                  <a:pt x="30504" y="30"/>
                  <a:pt x="30511" y="36"/>
                  <a:pt x="30518" y="42"/>
                </a:cubicBezTo>
                <a:cubicBezTo>
                  <a:pt x="30525" y="49"/>
                  <a:pt x="30531" y="57"/>
                  <a:pt x="30536" y="64"/>
                </a:cubicBezTo>
                <a:cubicBezTo>
                  <a:pt x="30541" y="72"/>
                  <a:pt x="30546" y="81"/>
                  <a:pt x="30549" y="90"/>
                </a:cubicBezTo>
                <a:cubicBezTo>
                  <a:pt x="30553" y="98"/>
                  <a:pt x="30556" y="108"/>
                  <a:pt x="30558" y="117"/>
                </a:cubicBezTo>
                <a:cubicBezTo>
                  <a:pt x="30560" y="126"/>
                  <a:pt x="30561" y="136"/>
                  <a:pt x="30561" y="145"/>
                </a:cubicBezTo>
                <a:lnTo>
                  <a:pt x="30561" y="6047"/>
                </a:lnTo>
                <a:cubicBezTo>
                  <a:pt x="30561" y="6056"/>
                  <a:pt x="30560" y="6066"/>
                  <a:pt x="30558" y="6075"/>
                </a:cubicBezTo>
                <a:cubicBezTo>
                  <a:pt x="30556" y="6084"/>
                  <a:pt x="30553" y="6093"/>
                  <a:pt x="30549" y="6102"/>
                </a:cubicBezTo>
                <a:cubicBezTo>
                  <a:pt x="30546" y="6111"/>
                  <a:pt x="30541" y="6119"/>
                  <a:pt x="30536" y="6127"/>
                </a:cubicBezTo>
                <a:cubicBezTo>
                  <a:pt x="30531" y="6135"/>
                  <a:pt x="30525" y="6143"/>
                  <a:pt x="30518" y="6149"/>
                </a:cubicBezTo>
                <a:cubicBezTo>
                  <a:pt x="30511" y="6156"/>
                  <a:pt x="30504" y="6162"/>
                  <a:pt x="30496" y="6168"/>
                </a:cubicBezTo>
                <a:cubicBezTo>
                  <a:pt x="30488" y="6173"/>
                  <a:pt x="30480" y="6177"/>
                  <a:pt x="30471" y="6181"/>
                </a:cubicBezTo>
                <a:cubicBezTo>
                  <a:pt x="30462" y="6185"/>
                  <a:pt x="30453" y="6187"/>
                  <a:pt x="30443" y="6189"/>
                </a:cubicBezTo>
                <a:cubicBezTo>
                  <a:pt x="30434" y="6191"/>
                  <a:pt x="30425" y="6192"/>
                  <a:pt x="30415" y="6192"/>
                </a:cubicBezTo>
                <a:lnTo>
                  <a:pt x="146" y="6192"/>
                </a:lnTo>
                <a:cubicBezTo>
                  <a:pt x="136" y="6192"/>
                  <a:pt x="127" y="6191"/>
                  <a:pt x="117" y="6189"/>
                </a:cubicBezTo>
                <a:cubicBezTo>
                  <a:pt x="108" y="6187"/>
                  <a:pt x="99" y="6185"/>
                  <a:pt x="90" y="6181"/>
                </a:cubicBezTo>
                <a:cubicBezTo>
                  <a:pt x="81" y="6177"/>
                  <a:pt x="73" y="6173"/>
                  <a:pt x="65" y="6168"/>
                </a:cubicBezTo>
                <a:cubicBezTo>
                  <a:pt x="57" y="6162"/>
                  <a:pt x="50" y="6156"/>
                  <a:pt x="43" y="6149"/>
                </a:cubicBezTo>
                <a:cubicBezTo>
                  <a:pt x="36" y="6143"/>
                  <a:pt x="30" y="6135"/>
                  <a:pt x="25" y="6127"/>
                </a:cubicBezTo>
                <a:cubicBezTo>
                  <a:pt x="19" y="6119"/>
                  <a:pt x="15" y="6111"/>
                  <a:pt x="11" y="6102"/>
                </a:cubicBezTo>
                <a:cubicBezTo>
                  <a:pt x="8" y="6093"/>
                  <a:pt x="5" y="6084"/>
                  <a:pt x="3" y="6075"/>
                </a:cubicBezTo>
                <a:cubicBezTo>
                  <a:pt x="1" y="6066"/>
                  <a:pt x="0" y="6056"/>
                  <a:pt x="0" y="6047"/>
                </a:cubicBezTo>
                <a:close/>
              </a:path>
            </a:pathLst>
          </a:custGeom>
          <a:noFill/>
          <a:ln w="9360">
            <a:solidFill>
              <a:srgbClr val="D8E1E9"/>
            </a:solidFill>
            <a:miter/>
          </a:ln>
        </p:spPr>
        <p:txBody>
          <a:bodyPr lIns="4680" tIns="4680" rIns="4680" bIns="468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2" name=""/>
          <p:cNvSpPr txBox="1"/>
          <p:nvPr/>
        </p:nvSpPr>
        <p:spPr>
          <a:xfrm>
            <a:off x="590400" y="1405440"/>
            <a:ext cx="3391074" cy="36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8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意味</a:t>
            </a:r>
            <a:r>
              <a:rPr lang="en-US" sz="28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AST</a:t>
            </a:r>
            <a:r>
              <a:rPr lang="ja-JP" sz="28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の具体例</a:t>
            </a:r>
            <a:endParaRPr lang="en-US" sz="28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3" name=""/>
          <p:cNvSpPr txBox="1"/>
          <p:nvPr/>
        </p:nvSpPr>
        <p:spPr>
          <a:xfrm>
            <a:off x="590400" y="2221560"/>
            <a:ext cx="6404994" cy="258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02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日本語：</a:t>
            </a:r>
            <a:r>
              <a:rPr lang="ja-JP" sz="20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偶数だけを残して、各要素に</a:t>
            </a:r>
            <a:r>
              <a:rPr lang="en-US" sz="20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k</a:t>
            </a:r>
            <a:r>
              <a:rPr lang="ja-JP" sz="20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を加える</a:t>
            </a:r>
            <a:endParaRPr lang="en-US" sz="202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4" name=""/>
          <p:cNvSpPr txBox="1"/>
          <p:nvPr/>
        </p:nvSpPr>
        <p:spPr>
          <a:xfrm>
            <a:off x="809640" y="2911320"/>
            <a:ext cx="251712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729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{</a:t>
            </a:r>
            <a:endParaRPr lang="en-US" sz="1729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5" name=""/>
          <p:cNvSpPr txBox="1"/>
          <p:nvPr/>
        </p:nvSpPr>
        <p:spPr>
          <a:xfrm>
            <a:off x="809640" y="3225600"/>
            <a:ext cx="2279898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729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 </a:t>
            </a:r>
            <a:r>
              <a:rPr lang="en-US" sz="1729" b="0" u="none" strike="noStrike">
                <a:solidFill>
                  <a:srgbClr val="0550AE"/>
                </a:solidFill>
                <a:effectLst/>
                <a:uFillTx/>
                <a:latin typeface="Menlo"/>
                <a:ea typeface="Menlo"/>
              </a:rPr>
              <a:t>"sequence"</a:t>
            </a:r>
            <a:r>
              <a:rPr lang="en-US" sz="1729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: [</a:t>
            </a:r>
            <a:endParaRPr lang="en-US" sz="1729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6" name=""/>
          <p:cNvSpPr txBox="1"/>
          <p:nvPr/>
        </p:nvSpPr>
        <p:spPr>
          <a:xfrm>
            <a:off x="809640" y="3549600"/>
            <a:ext cx="3799278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729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   {</a:t>
            </a:r>
            <a:r>
              <a:rPr lang="en-US" sz="1729" b="0" u="none" strike="noStrike">
                <a:solidFill>
                  <a:srgbClr val="0550AE"/>
                </a:solidFill>
                <a:effectLst/>
                <a:uFillTx/>
                <a:latin typeface="Menlo"/>
                <a:ea typeface="Menlo"/>
              </a:rPr>
              <a:t>"filter"</a:t>
            </a:r>
            <a:r>
              <a:rPr lang="en-US" sz="1729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: [</a:t>
            </a:r>
            <a:r>
              <a:rPr lang="en-US" sz="1729" b="0" u="none" strike="noStrike">
                <a:solidFill>
                  <a:srgbClr val="0A3069"/>
                </a:solidFill>
                <a:effectLst/>
                <a:uFillTx/>
                <a:latin typeface="Menlo"/>
                <a:ea typeface="Menlo"/>
              </a:rPr>
              <a:t>"even"</a:t>
            </a:r>
            <a:r>
              <a:rPr lang="en-US" sz="1729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]},</a:t>
            </a:r>
            <a:endParaRPr lang="en-US" sz="1729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7" name=""/>
          <p:cNvSpPr txBox="1"/>
          <p:nvPr/>
        </p:nvSpPr>
        <p:spPr>
          <a:xfrm>
            <a:off x="809640" y="3863880"/>
            <a:ext cx="3343464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729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   {</a:t>
            </a:r>
            <a:r>
              <a:rPr lang="en-US" sz="1729" b="0" u="none" strike="noStrike">
                <a:solidFill>
                  <a:srgbClr val="0550AE"/>
                </a:solidFill>
                <a:effectLst/>
                <a:uFillTx/>
                <a:latin typeface="Menlo"/>
                <a:ea typeface="Menlo"/>
              </a:rPr>
              <a:t>"map"</a:t>
            </a:r>
            <a:r>
              <a:rPr lang="en-US" sz="1729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: [</a:t>
            </a:r>
            <a:r>
              <a:rPr lang="en-US" sz="1729" b="0" u="none" strike="noStrike">
                <a:solidFill>
                  <a:srgbClr val="0A3069"/>
                </a:solidFill>
                <a:effectLst/>
                <a:uFillTx/>
                <a:latin typeface="Menlo"/>
                <a:ea typeface="Menlo"/>
              </a:rPr>
              <a:t>"add_k"</a:t>
            </a:r>
            <a:r>
              <a:rPr lang="en-US" sz="1729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]}</a:t>
            </a:r>
            <a:endParaRPr lang="en-US" sz="1729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8" name=""/>
          <p:cNvSpPr txBox="1"/>
          <p:nvPr/>
        </p:nvSpPr>
        <p:spPr>
          <a:xfrm>
            <a:off x="809640" y="4178160"/>
            <a:ext cx="456642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729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 ]</a:t>
            </a:r>
            <a:endParaRPr lang="en-US" sz="1729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9" name=""/>
          <p:cNvSpPr txBox="1"/>
          <p:nvPr/>
        </p:nvSpPr>
        <p:spPr>
          <a:xfrm>
            <a:off x="809640" y="4502160"/>
            <a:ext cx="251712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729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}</a:t>
            </a:r>
            <a:endParaRPr lang="en-US" sz="1729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0" name=""/>
          <p:cNvSpPr txBox="1"/>
          <p:nvPr/>
        </p:nvSpPr>
        <p:spPr>
          <a:xfrm>
            <a:off x="590400" y="5193360"/>
            <a:ext cx="6884406" cy="258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02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偶数の抽出 → </a:t>
            </a:r>
            <a:r>
              <a:rPr lang="en-US" sz="202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k</a:t>
            </a:r>
            <a:r>
              <a:rPr lang="ja-JP" sz="202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を加える、という処理の順序を保存</a:t>
            </a:r>
            <a:endParaRPr lang="en-US" sz="202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1" name=""/>
          <p:cNvSpPr txBox="1"/>
          <p:nvPr/>
        </p:nvSpPr>
        <p:spPr>
          <a:xfrm>
            <a:off x="285840" y="239760"/>
            <a:ext cx="2794086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350" b="0" u="none" strike="noStrike">
                <a:solidFill>
                  <a:srgbClr val="666666"/>
                </a:solidFill>
                <a:effectLst/>
                <a:uFillTx/>
                <a:latin typeface="Hiragino Sans"/>
                <a:ea typeface="Hiragino Sans"/>
              </a:rPr>
              <a:t>2. </a:t>
            </a:r>
            <a:r>
              <a:rPr lang="ja-JP" sz="1350" b="0" u="none" strike="noStrike">
                <a:solidFill>
                  <a:srgbClr val="666666"/>
                </a:solidFill>
                <a:effectLst/>
                <a:uFillTx/>
                <a:latin typeface="Hiragino Sans"/>
                <a:ea typeface="Hiragino Sans"/>
              </a:rPr>
              <a:t>学習を成立させるための工夫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2" name=""/>
          <p:cNvSpPr txBox="1"/>
          <p:nvPr/>
        </p:nvSpPr>
        <p:spPr>
          <a:xfrm>
            <a:off x="11805480" y="6466680"/>
            <a:ext cx="174708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Hiragino Sans"/>
                <a:ea typeface="Hiragino Sans"/>
              </a:rPr>
              <a:t>4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6" name=""/>
          <p:cNvSpPr txBox="1"/>
          <p:nvPr/>
        </p:nvSpPr>
        <p:spPr>
          <a:xfrm>
            <a:off x="590400" y="500760"/>
            <a:ext cx="8790876" cy="36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8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意味</a:t>
            </a:r>
            <a:r>
              <a:rPr lang="en-US" sz="28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AST</a:t>
            </a:r>
            <a:r>
              <a:rPr lang="ja-JP" sz="28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から訓練データを自動生成・検証する</a:t>
            </a:r>
            <a:endParaRPr lang="en-US" sz="28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7" name=""/>
          <p:cNvSpPr/>
          <p:nvPr/>
        </p:nvSpPr>
        <p:spPr>
          <a:xfrm>
            <a:off x="2990520" y="1180800"/>
            <a:ext cx="6210720" cy="1191240"/>
          </a:xfrm>
          <a:custGeom>
            <a:avLst/>
            <a:gdLst/>
            <a:ahLst/>
            <a:rect l="0" t="0" r="r" b="b"/>
            <a:pathLst>
              <a:path w="17252" h="3309">
                <a:moveTo>
                  <a:pt x="0" y="3123"/>
                </a:moveTo>
                <a:lnTo>
                  <a:pt x="0" y="186"/>
                </a:lnTo>
                <a:cubicBezTo>
                  <a:pt x="0" y="173"/>
                  <a:pt x="2" y="161"/>
                  <a:pt x="4" y="149"/>
                </a:cubicBezTo>
                <a:cubicBezTo>
                  <a:pt x="6" y="137"/>
                  <a:pt x="10" y="126"/>
                  <a:pt x="15" y="115"/>
                </a:cubicBezTo>
                <a:cubicBezTo>
                  <a:pt x="19" y="103"/>
                  <a:pt x="25" y="93"/>
                  <a:pt x="32" y="83"/>
                </a:cubicBezTo>
                <a:cubicBezTo>
                  <a:pt x="38" y="73"/>
                  <a:pt x="46" y="63"/>
                  <a:pt x="55" y="55"/>
                </a:cubicBezTo>
                <a:cubicBezTo>
                  <a:pt x="63" y="46"/>
                  <a:pt x="73" y="38"/>
                  <a:pt x="83" y="32"/>
                </a:cubicBezTo>
                <a:cubicBezTo>
                  <a:pt x="93" y="25"/>
                  <a:pt x="104" y="19"/>
                  <a:pt x="115" y="14"/>
                </a:cubicBezTo>
                <a:cubicBezTo>
                  <a:pt x="126" y="10"/>
                  <a:pt x="138" y="6"/>
                  <a:pt x="149" y="4"/>
                </a:cubicBezTo>
                <a:cubicBezTo>
                  <a:pt x="161" y="2"/>
                  <a:pt x="173" y="0"/>
                  <a:pt x="186" y="0"/>
                </a:cubicBezTo>
                <a:lnTo>
                  <a:pt x="17067" y="0"/>
                </a:lnTo>
                <a:cubicBezTo>
                  <a:pt x="17079" y="0"/>
                  <a:pt x="17091" y="2"/>
                  <a:pt x="17103" y="4"/>
                </a:cubicBezTo>
                <a:cubicBezTo>
                  <a:pt x="17115" y="6"/>
                  <a:pt x="17127" y="10"/>
                  <a:pt x="17138" y="14"/>
                </a:cubicBezTo>
                <a:cubicBezTo>
                  <a:pt x="17149" y="19"/>
                  <a:pt x="17160" y="25"/>
                  <a:pt x="17170" y="32"/>
                </a:cubicBezTo>
                <a:cubicBezTo>
                  <a:pt x="17180" y="38"/>
                  <a:pt x="17189" y="46"/>
                  <a:pt x="17198" y="55"/>
                </a:cubicBezTo>
                <a:cubicBezTo>
                  <a:pt x="17207" y="63"/>
                  <a:pt x="17214" y="73"/>
                  <a:pt x="17221" y="83"/>
                </a:cubicBezTo>
                <a:cubicBezTo>
                  <a:pt x="17228" y="93"/>
                  <a:pt x="17233" y="103"/>
                  <a:pt x="17238" y="115"/>
                </a:cubicBezTo>
                <a:cubicBezTo>
                  <a:pt x="17243" y="126"/>
                  <a:pt x="17246" y="137"/>
                  <a:pt x="17249" y="149"/>
                </a:cubicBezTo>
                <a:cubicBezTo>
                  <a:pt x="17251" y="161"/>
                  <a:pt x="17252" y="173"/>
                  <a:pt x="17252" y="186"/>
                </a:cubicBezTo>
                <a:lnTo>
                  <a:pt x="17252" y="3123"/>
                </a:lnTo>
                <a:cubicBezTo>
                  <a:pt x="17252" y="3136"/>
                  <a:pt x="17251" y="3148"/>
                  <a:pt x="17249" y="3160"/>
                </a:cubicBezTo>
                <a:cubicBezTo>
                  <a:pt x="17246" y="3171"/>
                  <a:pt x="17243" y="3183"/>
                  <a:pt x="17238" y="3194"/>
                </a:cubicBezTo>
                <a:cubicBezTo>
                  <a:pt x="17233" y="3206"/>
                  <a:pt x="17228" y="3216"/>
                  <a:pt x="17221" y="3226"/>
                </a:cubicBezTo>
                <a:cubicBezTo>
                  <a:pt x="17214" y="3236"/>
                  <a:pt x="17207" y="3246"/>
                  <a:pt x="17198" y="3254"/>
                </a:cubicBezTo>
                <a:cubicBezTo>
                  <a:pt x="17189" y="3263"/>
                  <a:pt x="17180" y="3271"/>
                  <a:pt x="17170" y="3277"/>
                </a:cubicBezTo>
                <a:cubicBezTo>
                  <a:pt x="17160" y="3284"/>
                  <a:pt x="17149" y="3290"/>
                  <a:pt x="17138" y="3295"/>
                </a:cubicBezTo>
                <a:cubicBezTo>
                  <a:pt x="17127" y="3299"/>
                  <a:pt x="17115" y="3303"/>
                  <a:pt x="17103" y="3305"/>
                </a:cubicBezTo>
                <a:cubicBezTo>
                  <a:pt x="17091" y="3307"/>
                  <a:pt x="17079" y="3309"/>
                  <a:pt x="17067" y="3309"/>
                </a:cubicBezTo>
                <a:lnTo>
                  <a:pt x="186" y="3309"/>
                </a:lnTo>
                <a:cubicBezTo>
                  <a:pt x="173" y="3309"/>
                  <a:pt x="161" y="3307"/>
                  <a:pt x="149" y="3305"/>
                </a:cubicBezTo>
                <a:cubicBezTo>
                  <a:pt x="138" y="3303"/>
                  <a:pt x="126" y="3299"/>
                  <a:pt x="115" y="3295"/>
                </a:cubicBezTo>
                <a:cubicBezTo>
                  <a:pt x="104" y="3290"/>
                  <a:pt x="93" y="3284"/>
                  <a:pt x="83" y="3277"/>
                </a:cubicBezTo>
                <a:cubicBezTo>
                  <a:pt x="73" y="3271"/>
                  <a:pt x="63" y="3263"/>
                  <a:pt x="55" y="3254"/>
                </a:cubicBezTo>
                <a:cubicBezTo>
                  <a:pt x="46" y="3246"/>
                  <a:pt x="38" y="3236"/>
                  <a:pt x="32" y="3226"/>
                </a:cubicBezTo>
                <a:cubicBezTo>
                  <a:pt x="25" y="3216"/>
                  <a:pt x="19" y="3206"/>
                  <a:pt x="15" y="3194"/>
                </a:cubicBezTo>
                <a:cubicBezTo>
                  <a:pt x="10" y="3183"/>
                  <a:pt x="6" y="3171"/>
                  <a:pt x="4" y="3160"/>
                </a:cubicBezTo>
                <a:cubicBezTo>
                  <a:pt x="2" y="3148"/>
                  <a:pt x="0" y="3136"/>
                  <a:pt x="0" y="3123"/>
                </a:cubicBezTo>
                <a:close/>
              </a:path>
            </a:pathLst>
          </a:custGeom>
          <a:solidFill>
            <a:srgbClr val="F0ECF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8" name=""/>
          <p:cNvSpPr/>
          <p:nvPr/>
        </p:nvSpPr>
        <p:spPr>
          <a:xfrm>
            <a:off x="2990520" y="1180800"/>
            <a:ext cx="6210720" cy="1191240"/>
          </a:xfrm>
          <a:custGeom>
            <a:avLst/>
            <a:gdLst/>
            <a:ahLst/>
            <a:rect l="0" t="0" r="r" b="b"/>
            <a:pathLst>
              <a:path w="17252" h="3309">
                <a:moveTo>
                  <a:pt x="0" y="3123"/>
                </a:moveTo>
                <a:lnTo>
                  <a:pt x="0" y="186"/>
                </a:lnTo>
                <a:cubicBezTo>
                  <a:pt x="0" y="173"/>
                  <a:pt x="2" y="161"/>
                  <a:pt x="4" y="149"/>
                </a:cubicBezTo>
                <a:cubicBezTo>
                  <a:pt x="6" y="137"/>
                  <a:pt x="10" y="126"/>
                  <a:pt x="15" y="115"/>
                </a:cubicBezTo>
                <a:cubicBezTo>
                  <a:pt x="19" y="103"/>
                  <a:pt x="25" y="93"/>
                  <a:pt x="32" y="83"/>
                </a:cubicBezTo>
                <a:cubicBezTo>
                  <a:pt x="38" y="73"/>
                  <a:pt x="46" y="63"/>
                  <a:pt x="55" y="55"/>
                </a:cubicBezTo>
                <a:cubicBezTo>
                  <a:pt x="63" y="46"/>
                  <a:pt x="73" y="38"/>
                  <a:pt x="83" y="32"/>
                </a:cubicBezTo>
                <a:cubicBezTo>
                  <a:pt x="93" y="25"/>
                  <a:pt x="104" y="19"/>
                  <a:pt x="115" y="14"/>
                </a:cubicBezTo>
                <a:cubicBezTo>
                  <a:pt x="126" y="10"/>
                  <a:pt x="138" y="6"/>
                  <a:pt x="149" y="4"/>
                </a:cubicBezTo>
                <a:cubicBezTo>
                  <a:pt x="161" y="2"/>
                  <a:pt x="173" y="0"/>
                  <a:pt x="186" y="0"/>
                </a:cubicBezTo>
                <a:lnTo>
                  <a:pt x="17067" y="0"/>
                </a:lnTo>
                <a:cubicBezTo>
                  <a:pt x="17079" y="0"/>
                  <a:pt x="17091" y="2"/>
                  <a:pt x="17103" y="4"/>
                </a:cubicBezTo>
                <a:cubicBezTo>
                  <a:pt x="17115" y="6"/>
                  <a:pt x="17127" y="10"/>
                  <a:pt x="17138" y="14"/>
                </a:cubicBezTo>
                <a:cubicBezTo>
                  <a:pt x="17149" y="19"/>
                  <a:pt x="17160" y="25"/>
                  <a:pt x="17170" y="32"/>
                </a:cubicBezTo>
                <a:cubicBezTo>
                  <a:pt x="17180" y="38"/>
                  <a:pt x="17189" y="46"/>
                  <a:pt x="17198" y="55"/>
                </a:cubicBezTo>
                <a:cubicBezTo>
                  <a:pt x="17207" y="63"/>
                  <a:pt x="17214" y="73"/>
                  <a:pt x="17221" y="83"/>
                </a:cubicBezTo>
                <a:cubicBezTo>
                  <a:pt x="17228" y="93"/>
                  <a:pt x="17233" y="103"/>
                  <a:pt x="17238" y="115"/>
                </a:cubicBezTo>
                <a:cubicBezTo>
                  <a:pt x="17243" y="126"/>
                  <a:pt x="17246" y="137"/>
                  <a:pt x="17249" y="149"/>
                </a:cubicBezTo>
                <a:cubicBezTo>
                  <a:pt x="17251" y="161"/>
                  <a:pt x="17252" y="173"/>
                  <a:pt x="17252" y="186"/>
                </a:cubicBezTo>
                <a:lnTo>
                  <a:pt x="17252" y="3123"/>
                </a:lnTo>
                <a:cubicBezTo>
                  <a:pt x="17252" y="3136"/>
                  <a:pt x="17251" y="3148"/>
                  <a:pt x="17249" y="3160"/>
                </a:cubicBezTo>
                <a:cubicBezTo>
                  <a:pt x="17246" y="3171"/>
                  <a:pt x="17243" y="3183"/>
                  <a:pt x="17238" y="3194"/>
                </a:cubicBezTo>
                <a:cubicBezTo>
                  <a:pt x="17233" y="3206"/>
                  <a:pt x="17228" y="3216"/>
                  <a:pt x="17221" y="3226"/>
                </a:cubicBezTo>
                <a:cubicBezTo>
                  <a:pt x="17214" y="3236"/>
                  <a:pt x="17207" y="3246"/>
                  <a:pt x="17198" y="3254"/>
                </a:cubicBezTo>
                <a:cubicBezTo>
                  <a:pt x="17189" y="3263"/>
                  <a:pt x="17180" y="3271"/>
                  <a:pt x="17170" y="3277"/>
                </a:cubicBezTo>
                <a:cubicBezTo>
                  <a:pt x="17160" y="3284"/>
                  <a:pt x="17149" y="3290"/>
                  <a:pt x="17138" y="3295"/>
                </a:cubicBezTo>
                <a:cubicBezTo>
                  <a:pt x="17127" y="3299"/>
                  <a:pt x="17115" y="3303"/>
                  <a:pt x="17103" y="3305"/>
                </a:cubicBezTo>
                <a:cubicBezTo>
                  <a:pt x="17091" y="3307"/>
                  <a:pt x="17079" y="3309"/>
                  <a:pt x="17067" y="3309"/>
                </a:cubicBezTo>
                <a:lnTo>
                  <a:pt x="186" y="3309"/>
                </a:lnTo>
                <a:cubicBezTo>
                  <a:pt x="173" y="3309"/>
                  <a:pt x="161" y="3307"/>
                  <a:pt x="149" y="3305"/>
                </a:cubicBezTo>
                <a:cubicBezTo>
                  <a:pt x="138" y="3303"/>
                  <a:pt x="126" y="3299"/>
                  <a:pt x="115" y="3295"/>
                </a:cubicBezTo>
                <a:cubicBezTo>
                  <a:pt x="104" y="3290"/>
                  <a:pt x="93" y="3284"/>
                  <a:pt x="83" y="3277"/>
                </a:cubicBezTo>
                <a:cubicBezTo>
                  <a:pt x="73" y="3271"/>
                  <a:pt x="63" y="3263"/>
                  <a:pt x="55" y="3254"/>
                </a:cubicBezTo>
                <a:cubicBezTo>
                  <a:pt x="46" y="3246"/>
                  <a:pt x="38" y="3236"/>
                  <a:pt x="32" y="3226"/>
                </a:cubicBezTo>
                <a:cubicBezTo>
                  <a:pt x="25" y="3216"/>
                  <a:pt x="19" y="3206"/>
                  <a:pt x="15" y="3194"/>
                </a:cubicBezTo>
                <a:cubicBezTo>
                  <a:pt x="10" y="3183"/>
                  <a:pt x="6" y="3171"/>
                  <a:pt x="4" y="3160"/>
                </a:cubicBezTo>
                <a:cubicBezTo>
                  <a:pt x="2" y="3148"/>
                  <a:pt x="0" y="3136"/>
                  <a:pt x="0" y="3123"/>
                </a:cubicBezTo>
                <a:close/>
              </a:path>
            </a:pathLst>
          </a:custGeom>
          <a:noFill/>
          <a:ln w="18720">
            <a:solidFill>
              <a:srgbClr val="8A79C8"/>
            </a:solidFill>
            <a:miter/>
          </a:ln>
        </p:spPr>
        <p:txBody>
          <a:bodyPr lIns="9360" tIns="9360" rIns="9360" bIns="936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9" name=""/>
          <p:cNvSpPr txBox="1"/>
          <p:nvPr/>
        </p:nvSpPr>
        <p:spPr>
          <a:xfrm>
            <a:off x="285840" y="239760"/>
            <a:ext cx="2794086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350" b="0" u="none" strike="noStrike">
                <a:solidFill>
                  <a:srgbClr val="666666"/>
                </a:solidFill>
                <a:effectLst/>
                <a:uFillTx/>
                <a:latin typeface="Hiragino Sans"/>
                <a:ea typeface="Hiragino Sans"/>
              </a:rPr>
              <a:t>2. </a:t>
            </a:r>
            <a:r>
              <a:rPr lang="ja-JP" sz="1350" b="0" u="none" strike="noStrike">
                <a:solidFill>
                  <a:srgbClr val="666666"/>
                </a:solidFill>
                <a:effectLst/>
                <a:uFillTx/>
                <a:latin typeface="Hiragino Sans"/>
                <a:ea typeface="Hiragino Sans"/>
              </a:rPr>
              <a:t>学習を成立させるための工夫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0" name=""/>
          <p:cNvSpPr txBox="1"/>
          <p:nvPr/>
        </p:nvSpPr>
        <p:spPr>
          <a:xfrm>
            <a:off x="4654080" y="1302480"/>
            <a:ext cx="3322764" cy="219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729" b="1" u="none" strike="noStrike">
                <a:solidFill>
                  <a:srgbClr val="685098"/>
                </a:solidFill>
                <a:effectLst/>
                <a:uFillTx/>
                <a:latin typeface="Hiragino Sans"/>
                <a:ea typeface="Hiragino Sans"/>
              </a:rPr>
              <a:t>共通の処理の定義：意味</a:t>
            </a:r>
            <a:r>
              <a:rPr lang="en-US" sz="1729" b="1" u="none" strike="noStrike">
                <a:solidFill>
                  <a:srgbClr val="685098"/>
                </a:solidFill>
                <a:effectLst/>
                <a:uFillTx/>
                <a:latin typeface="Hiragino Sans"/>
                <a:ea typeface="Hiragino Sans"/>
              </a:rPr>
              <a:t>AST</a:t>
            </a:r>
            <a:endParaRPr lang="en-US" sz="1729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1" name=""/>
          <p:cNvSpPr txBox="1"/>
          <p:nvPr/>
        </p:nvSpPr>
        <p:spPr>
          <a:xfrm>
            <a:off x="3191040" y="1622160"/>
            <a:ext cx="1655172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35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{</a:t>
            </a:r>
            <a:r>
              <a:rPr lang="en-US" sz="1350" b="0" u="none" strike="noStrike">
                <a:solidFill>
                  <a:srgbClr val="0550AE"/>
                </a:solidFill>
                <a:effectLst/>
                <a:uFillTx/>
                <a:latin typeface="Menlo"/>
                <a:ea typeface="Menlo"/>
              </a:rPr>
              <a:t>"sequence"</a:t>
            </a:r>
            <a:r>
              <a:rPr lang="en-US" sz="135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: [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2" name=""/>
          <p:cNvSpPr txBox="1"/>
          <p:nvPr/>
        </p:nvSpPr>
        <p:spPr>
          <a:xfrm>
            <a:off x="3191040" y="1841040"/>
            <a:ext cx="496386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35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 {</a:t>
            </a:r>
            <a:r>
              <a:rPr lang="en-US" sz="1350" b="0" u="none" strike="noStrike">
                <a:solidFill>
                  <a:srgbClr val="0550AE"/>
                </a:solidFill>
                <a:effectLst/>
                <a:uFillTx/>
                <a:latin typeface="Menlo"/>
                <a:ea typeface="Menlo"/>
              </a:rPr>
              <a:t>"filter"</a:t>
            </a:r>
            <a:r>
              <a:rPr lang="en-US" sz="135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: [</a:t>
            </a:r>
            <a:r>
              <a:rPr lang="en-US" sz="1350" b="0" u="none" strike="noStrike">
                <a:solidFill>
                  <a:srgbClr val="0A3069"/>
                </a:solidFill>
                <a:effectLst/>
                <a:uFillTx/>
                <a:latin typeface="Menlo"/>
                <a:ea typeface="Menlo"/>
              </a:rPr>
              <a:t>"even"</a:t>
            </a:r>
            <a:r>
              <a:rPr lang="en-US" sz="135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]}, {</a:t>
            </a:r>
            <a:r>
              <a:rPr lang="en-US" sz="1350" b="0" u="none" strike="noStrike">
                <a:solidFill>
                  <a:srgbClr val="0550AE"/>
                </a:solidFill>
                <a:effectLst/>
                <a:uFillTx/>
                <a:latin typeface="Menlo"/>
                <a:ea typeface="Menlo"/>
              </a:rPr>
              <a:t>"map"</a:t>
            </a:r>
            <a:r>
              <a:rPr lang="en-US" sz="135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: [</a:t>
            </a:r>
            <a:r>
              <a:rPr lang="en-US" sz="1350" b="0" u="none" strike="noStrike">
                <a:solidFill>
                  <a:srgbClr val="0A3069"/>
                </a:solidFill>
                <a:effectLst/>
                <a:uFillTx/>
                <a:latin typeface="Menlo"/>
                <a:ea typeface="Menlo"/>
              </a:rPr>
              <a:t>"add_k"</a:t>
            </a:r>
            <a:r>
              <a:rPr lang="en-US" sz="135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]}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3" name=""/>
          <p:cNvSpPr/>
          <p:nvPr/>
        </p:nvSpPr>
        <p:spPr>
          <a:xfrm>
            <a:off x="6095880" y="2381040"/>
            <a:ext cx="28800" cy="209880"/>
          </a:xfrm>
          <a:custGeom>
            <a:avLst/>
            <a:gdLst/>
            <a:ahLst/>
            <a:rect l="0" t="0" r="r" b="b"/>
            <a:pathLst>
              <a:path w="80" h="583">
                <a:moveTo>
                  <a:pt x="0" y="0"/>
                </a:moveTo>
                <a:lnTo>
                  <a:pt x="80" y="0"/>
                </a:lnTo>
                <a:lnTo>
                  <a:pt x="80" y="583"/>
                </a:lnTo>
                <a:lnTo>
                  <a:pt x="0" y="583"/>
                </a:lnTo>
                <a:lnTo>
                  <a:pt x="0" y="0"/>
                </a:lnTo>
                <a:close/>
              </a:path>
            </a:pathLst>
          </a:custGeom>
          <a:solidFill>
            <a:srgbClr val="69778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FFFFFF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4" name=""/>
          <p:cNvSpPr/>
          <p:nvPr/>
        </p:nvSpPr>
        <p:spPr>
          <a:xfrm>
            <a:off x="3247920" y="2590560"/>
            <a:ext cx="5696280" cy="29160"/>
          </a:xfrm>
          <a:custGeom>
            <a:avLst/>
            <a:gdLst/>
            <a:ahLst/>
            <a:rect l="0" t="0" r="r" b="b"/>
            <a:pathLst>
              <a:path w="15823" h="81">
                <a:moveTo>
                  <a:pt x="0" y="0"/>
                </a:moveTo>
                <a:lnTo>
                  <a:pt x="15823" y="0"/>
                </a:lnTo>
                <a:lnTo>
                  <a:pt x="15823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69778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FFFFFF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5" name=""/>
          <p:cNvSpPr/>
          <p:nvPr/>
        </p:nvSpPr>
        <p:spPr>
          <a:xfrm>
            <a:off x="595080" y="2881080"/>
            <a:ext cx="5305680" cy="3638880"/>
          </a:xfrm>
          <a:custGeom>
            <a:avLst/>
            <a:gdLst/>
            <a:ahLst/>
            <a:rect l="0" t="0" r="r" b="b"/>
            <a:pathLst>
              <a:path w="14738" h="10108">
                <a:moveTo>
                  <a:pt x="0" y="9910"/>
                </a:moveTo>
                <a:lnTo>
                  <a:pt x="0" y="199"/>
                </a:lnTo>
                <a:cubicBezTo>
                  <a:pt x="0" y="186"/>
                  <a:pt x="1" y="173"/>
                  <a:pt x="4" y="160"/>
                </a:cubicBezTo>
                <a:cubicBezTo>
                  <a:pt x="7" y="147"/>
                  <a:pt x="10" y="135"/>
                  <a:pt x="15" y="123"/>
                </a:cubicBezTo>
                <a:cubicBezTo>
                  <a:pt x="20" y="111"/>
                  <a:pt x="26" y="99"/>
                  <a:pt x="34" y="88"/>
                </a:cubicBezTo>
                <a:cubicBezTo>
                  <a:pt x="41" y="78"/>
                  <a:pt x="49" y="67"/>
                  <a:pt x="58" y="58"/>
                </a:cubicBezTo>
                <a:cubicBezTo>
                  <a:pt x="67" y="49"/>
                  <a:pt x="78" y="41"/>
                  <a:pt x="88" y="34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7"/>
                  <a:pt x="160" y="4"/>
                </a:cubicBezTo>
                <a:cubicBezTo>
                  <a:pt x="173" y="1"/>
                  <a:pt x="186" y="0"/>
                  <a:pt x="199" y="0"/>
                </a:cubicBezTo>
                <a:lnTo>
                  <a:pt x="14540" y="0"/>
                </a:lnTo>
                <a:cubicBezTo>
                  <a:pt x="14553" y="0"/>
                  <a:pt x="14566" y="1"/>
                  <a:pt x="14579" y="4"/>
                </a:cubicBezTo>
                <a:cubicBezTo>
                  <a:pt x="14591" y="7"/>
                  <a:pt x="14604" y="10"/>
                  <a:pt x="14616" y="15"/>
                </a:cubicBezTo>
                <a:cubicBezTo>
                  <a:pt x="14628" y="20"/>
                  <a:pt x="14639" y="26"/>
                  <a:pt x="14650" y="34"/>
                </a:cubicBezTo>
                <a:cubicBezTo>
                  <a:pt x="14661" y="41"/>
                  <a:pt x="14671" y="49"/>
                  <a:pt x="14680" y="58"/>
                </a:cubicBezTo>
                <a:cubicBezTo>
                  <a:pt x="14690" y="67"/>
                  <a:pt x="14698" y="78"/>
                  <a:pt x="14705" y="88"/>
                </a:cubicBezTo>
                <a:cubicBezTo>
                  <a:pt x="14712" y="99"/>
                  <a:pt x="14718" y="111"/>
                  <a:pt x="14723" y="123"/>
                </a:cubicBezTo>
                <a:cubicBezTo>
                  <a:pt x="14728" y="135"/>
                  <a:pt x="14732" y="147"/>
                  <a:pt x="14735" y="160"/>
                </a:cubicBezTo>
                <a:cubicBezTo>
                  <a:pt x="14737" y="173"/>
                  <a:pt x="14738" y="186"/>
                  <a:pt x="14738" y="199"/>
                </a:cubicBezTo>
                <a:lnTo>
                  <a:pt x="14738" y="9910"/>
                </a:lnTo>
                <a:cubicBezTo>
                  <a:pt x="14738" y="9923"/>
                  <a:pt x="14737" y="9936"/>
                  <a:pt x="14735" y="9949"/>
                </a:cubicBezTo>
                <a:cubicBezTo>
                  <a:pt x="14732" y="9961"/>
                  <a:pt x="14728" y="9974"/>
                  <a:pt x="14723" y="9986"/>
                </a:cubicBezTo>
                <a:cubicBezTo>
                  <a:pt x="14718" y="9998"/>
                  <a:pt x="14712" y="10009"/>
                  <a:pt x="14705" y="10020"/>
                </a:cubicBezTo>
                <a:cubicBezTo>
                  <a:pt x="14698" y="10031"/>
                  <a:pt x="14690" y="10041"/>
                  <a:pt x="14680" y="10050"/>
                </a:cubicBezTo>
                <a:cubicBezTo>
                  <a:pt x="14671" y="10059"/>
                  <a:pt x="14661" y="10068"/>
                  <a:pt x="14650" y="10075"/>
                </a:cubicBezTo>
                <a:cubicBezTo>
                  <a:pt x="14639" y="10082"/>
                  <a:pt x="14628" y="10088"/>
                  <a:pt x="14616" y="10093"/>
                </a:cubicBezTo>
                <a:cubicBezTo>
                  <a:pt x="14604" y="10098"/>
                  <a:pt x="14591" y="10102"/>
                  <a:pt x="14579" y="10104"/>
                </a:cubicBezTo>
                <a:cubicBezTo>
                  <a:pt x="14566" y="10107"/>
                  <a:pt x="14553" y="10108"/>
                  <a:pt x="14540" y="10108"/>
                </a:cubicBezTo>
                <a:lnTo>
                  <a:pt x="199" y="10108"/>
                </a:lnTo>
                <a:cubicBezTo>
                  <a:pt x="186" y="10108"/>
                  <a:pt x="173" y="10107"/>
                  <a:pt x="160" y="10104"/>
                </a:cubicBezTo>
                <a:cubicBezTo>
                  <a:pt x="147" y="10102"/>
                  <a:pt x="135" y="10098"/>
                  <a:pt x="123" y="10093"/>
                </a:cubicBezTo>
                <a:cubicBezTo>
                  <a:pt x="111" y="10088"/>
                  <a:pt x="99" y="10082"/>
                  <a:pt x="88" y="10075"/>
                </a:cubicBezTo>
                <a:cubicBezTo>
                  <a:pt x="78" y="10068"/>
                  <a:pt x="67" y="10059"/>
                  <a:pt x="58" y="10050"/>
                </a:cubicBezTo>
                <a:cubicBezTo>
                  <a:pt x="49" y="10041"/>
                  <a:pt x="41" y="10031"/>
                  <a:pt x="34" y="10020"/>
                </a:cubicBezTo>
                <a:cubicBezTo>
                  <a:pt x="26" y="10009"/>
                  <a:pt x="20" y="9998"/>
                  <a:pt x="15" y="9986"/>
                </a:cubicBezTo>
                <a:cubicBezTo>
                  <a:pt x="10" y="9974"/>
                  <a:pt x="7" y="9961"/>
                  <a:pt x="4" y="9949"/>
                </a:cubicBezTo>
                <a:cubicBezTo>
                  <a:pt x="1" y="9936"/>
                  <a:pt x="0" y="9923"/>
                  <a:pt x="0" y="9910"/>
                </a:cubicBezTo>
                <a:close/>
              </a:path>
            </a:pathLst>
          </a:custGeom>
          <a:solidFill>
            <a:srgbClr val="EDF5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6" name=""/>
          <p:cNvSpPr/>
          <p:nvPr/>
        </p:nvSpPr>
        <p:spPr>
          <a:xfrm>
            <a:off x="595080" y="2881080"/>
            <a:ext cx="5305680" cy="3638880"/>
          </a:xfrm>
          <a:custGeom>
            <a:avLst/>
            <a:gdLst/>
            <a:ahLst/>
            <a:rect l="0" t="0" r="r" b="b"/>
            <a:pathLst>
              <a:path w="14738" h="10108">
                <a:moveTo>
                  <a:pt x="0" y="9910"/>
                </a:moveTo>
                <a:lnTo>
                  <a:pt x="0" y="199"/>
                </a:lnTo>
                <a:cubicBezTo>
                  <a:pt x="0" y="186"/>
                  <a:pt x="1" y="173"/>
                  <a:pt x="4" y="160"/>
                </a:cubicBezTo>
                <a:cubicBezTo>
                  <a:pt x="7" y="147"/>
                  <a:pt x="10" y="135"/>
                  <a:pt x="15" y="123"/>
                </a:cubicBezTo>
                <a:cubicBezTo>
                  <a:pt x="20" y="111"/>
                  <a:pt x="26" y="99"/>
                  <a:pt x="34" y="88"/>
                </a:cubicBezTo>
                <a:cubicBezTo>
                  <a:pt x="41" y="78"/>
                  <a:pt x="49" y="67"/>
                  <a:pt x="58" y="58"/>
                </a:cubicBezTo>
                <a:cubicBezTo>
                  <a:pt x="67" y="49"/>
                  <a:pt x="78" y="41"/>
                  <a:pt x="88" y="34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7"/>
                  <a:pt x="160" y="4"/>
                </a:cubicBezTo>
                <a:cubicBezTo>
                  <a:pt x="173" y="1"/>
                  <a:pt x="186" y="0"/>
                  <a:pt x="199" y="0"/>
                </a:cubicBezTo>
                <a:lnTo>
                  <a:pt x="14540" y="0"/>
                </a:lnTo>
                <a:cubicBezTo>
                  <a:pt x="14553" y="0"/>
                  <a:pt x="14566" y="1"/>
                  <a:pt x="14579" y="4"/>
                </a:cubicBezTo>
                <a:cubicBezTo>
                  <a:pt x="14591" y="7"/>
                  <a:pt x="14604" y="10"/>
                  <a:pt x="14616" y="15"/>
                </a:cubicBezTo>
                <a:cubicBezTo>
                  <a:pt x="14628" y="20"/>
                  <a:pt x="14639" y="26"/>
                  <a:pt x="14650" y="34"/>
                </a:cubicBezTo>
                <a:cubicBezTo>
                  <a:pt x="14661" y="41"/>
                  <a:pt x="14671" y="49"/>
                  <a:pt x="14680" y="58"/>
                </a:cubicBezTo>
                <a:cubicBezTo>
                  <a:pt x="14690" y="67"/>
                  <a:pt x="14698" y="78"/>
                  <a:pt x="14705" y="88"/>
                </a:cubicBezTo>
                <a:cubicBezTo>
                  <a:pt x="14712" y="99"/>
                  <a:pt x="14718" y="111"/>
                  <a:pt x="14723" y="123"/>
                </a:cubicBezTo>
                <a:cubicBezTo>
                  <a:pt x="14728" y="135"/>
                  <a:pt x="14732" y="147"/>
                  <a:pt x="14735" y="160"/>
                </a:cubicBezTo>
                <a:cubicBezTo>
                  <a:pt x="14737" y="173"/>
                  <a:pt x="14738" y="186"/>
                  <a:pt x="14738" y="199"/>
                </a:cubicBezTo>
                <a:lnTo>
                  <a:pt x="14738" y="9910"/>
                </a:lnTo>
                <a:cubicBezTo>
                  <a:pt x="14738" y="9923"/>
                  <a:pt x="14737" y="9936"/>
                  <a:pt x="14735" y="9949"/>
                </a:cubicBezTo>
                <a:cubicBezTo>
                  <a:pt x="14732" y="9961"/>
                  <a:pt x="14728" y="9974"/>
                  <a:pt x="14723" y="9986"/>
                </a:cubicBezTo>
                <a:cubicBezTo>
                  <a:pt x="14718" y="9998"/>
                  <a:pt x="14712" y="10009"/>
                  <a:pt x="14705" y="10020"/>
                </a:cubicBezTo>
                <a:cubicBezTo>
                  <a:pt x="14698" y="10031"/>
                  <a:pt x="14690" y="10041"/>
                  <a:pt x="14680" y="10050"/>
                </a:cubicBezTo>
                <a:cubicBezTo>
                  <a:pt x="14671" y="10059"/>
                  <a:pt x="14661" y="10068"/>
                  <a:pt x="14650" y="10075"/>
                </a:cubicBezTo>
                <a:cubicBezTo>
                  <a:pt x="14639" y="10082"/>
                  <a:pt x="14628" y="10088"/>
                  <a:pt x="14616" y="10093"/>
                </a:cubicBezTo>
                <a:cubicBezTo>
                  <a:pt x="14604" y="10098"/>
                  <a:pt x="14591" y="10102"/>
                  <a:pt x="14579" y="10104"/>
                </a:cubicBezTo>
                <a:cubicBezTo>
                  <a:pt x="14566" y="10107"/>
                  <a:pt x="14553" y="10108"/>
                  <a:pt x="14540" y="10108"/>
                </a:cubicBezTo>
                <a:lnTo>
                  <a:pt x="199" y="10108"/>
                </a:lnTo>
                <a:cubicBezTo>
                  <a:pt x="186" y="10108"/>
                  <a:pt x="173" y="10107"/>
                  <a:pt x="160" y="10104"/>
                </a:cubicBezTo>
                <a:cubicBezTo>
                  <a:pt x="147" y="10102"/>
                  <a:pt x="135" y="10098"/>
                  <a:pt x="123" y="10093"/>
                </a:cubicBezTo>
                <a:cubicBezTo>
                  <a:pt x="111" y="10088"/>
                  <a:pt x="99" y="10082"/>
                  <a:pt x="88" y="10075"/>
                </a:cubicBezTo>
                <a:cubicBezTo>
                  <a:pt x="78" y="10068"/>
                  <a:pt x="67" y="10059"/>
                  <a:pt x="58" y="10050"/>
                </a:cubicBezTo>
                <a:cubicBezTo>
                  <a:pt x="49" y="10041"/>
                  <a:pt x="41" y="10031"/>
                  <a:pt x="34" y="10020"/>
                </a:cubicBezTo>
                <a:cubicBezTo>
                  <a:pt x="26" y="10009"/>
                  <a:pt x="20" y="9998"/>
                  <a:pt x="15" y="9986"/>
                </a:cubicBezTo>
                <a:cubicBezTo>
                  <a:pt x="10" y="9974"/>
                  <a:pt x="7" y="9961"/>
                  <a:pt x="4" y="9949"/>
                </a:cubicBezTo>
                <a:cubicBezTo>
                  <a:pt x="1" y="9936"/>
                  <a:pt x="0" y="9923"/>
                  <a:pt x="0" y="9910"/>
                </a:cubicBezTo>
                <a:close/>
              </a:path>
            </a:pathLst>
          </a:custGeom>
          <a:noFill/>
          <a:ln w="9360">
            <a:solidFill>
              <a:srgbClr val="9EBED7"/>
            </a:solidFill>
            <a:miter/>
          </a:ln>
        </p:spPr>
        <p:txBody>
          <a:bodyPr lIns="4680" tIns="4680" rIns="4680" bIns="468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7" name=""/>
          <p:cNvSpPr/>
          <p:nvPr/>
        </p:nvSpPr>
        <p:spPr>
          <a:xfrm>
            <a:off x="790560" y="4867200"/>
            <a:ext cx="4915080" cy="9720"/>
          </a:xfrm>
          <a:custGeom>
            <a:avLst/>
            <a:gdLst/>
            <a:ahLst/>
            <a:rect l="0" t="0" r="r" b="b"/>
            <a:pathLst>
              <a:path w="13653" h="27">
                <a:moveTo>
                  <a:pt x="0" y="0"/>
                </a:moveTo>
                <a:lnTo>
                  <a:pt x="13653" y="0"/>
                </a:lnTo>
                <a:lnTo>
                  <a:pt x="1365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B7CDD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8" name=""/>
          <p:cNvSpPr txBox="1"/>
          <p:nvPr/>
        </p:nvSpPr>
        <p:spPr>
          <a:xfrm>
            <a:off x="3191040" y="2050560"/>
            <a:ext cx="237222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35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]}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9" name=""/>
          <p:cNvSpPr txBox="1"/>
          <p:nvPr/>
        </p:nvSpPr>
        <p:spPr>
          <a:xfrm>
            <a:off x="790560" y="3046680"/>
            <a:ext cx="1841058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日本語の指示文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0" name=""/>
          <p:cNvSpPr txBox="1"/>
          <p:nvPr/>
        </p:nvSpPr>
        <p:spPr>
          <a:xfrm>
            <a:off x="790560" y="3480480"/>
            <a:ext cx="1096272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500" b="1" u="none" strike="noStrike">
                <a:solidFill>
                  <a:srgbClr val="52606D"/>
                </a:solidFill>
                <a:effectLst/>
                <a:uFillTx/>
                <a:latin typeface="Hiragino Sans"/>
                <a:ea typeface="Hiragino Sans"/>
              </a:rPr>
              <a:t>生成の手順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1" name=""/>
          <p:cNvSpPr txBox="1"/>
          <p:nvPr/>
        </p:nvSpPr>
        <p:spPr>
          <a:xfrm>
            <a:off x="790560" y="3844800"/>
            <a:ext cx="4060098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6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Qwen</a:t>
            </a:r>
            <a:r>
              <a:rPr lang="ja-JP" sz="16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で各操作の日本語表現を生成。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2" name=""/>
          <p:cNvSpPr/>
          <p:nvPr/>
        </p:nvSpPr>
        <p:spPr>
          <a:xfrm>
            <a:off x="790560" y="4466880"/>
            <a:ext cx="1476720" cy="295920"/>
          </a:xfrm>
          <a:custGeom>
            <a:avLst/>
            <a:gdLst/>
            <a:ahLst/>
            <a:rect l="0" t="0" r="r" b="b"/>
            <a:pathLst>
              <a:path w="4102" h="822">
                <a:moveTo>
                  <a:pt x="0" y="663"/>
                </a:moveTo>
                <a:lnTo>
                  <a:pt x="0" y="159"/>
                </a:lnTo>
                <a:cubicBezTo>
                  <a:pt x="0" y="149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9"/>
                  <a:pt x="21" y="80"/>
                  <a:pt x="26" y="71"/>
                </a:cubicBezTo>
                <a:cubicBezTo>
                  <a:pt x="32" y="62"/>
                  <a:pt x="39" y="54"/>
                  <a:pt x="46" y="47"/>
                </a:cubicBezTo>
                <a:cubicBezTo>
                  <a:pt x="53" y="40"/>
                  <a:pt x="61" y="33"/>
                  <a:pt x="70" y="27"/>
                </a:cubicBezTo>
                <a:cubicBezTo>
                  <a:pt x="79" y="21"/>
                  <a:pt x="88" y="17"/>
                  <a:pt x="98" y="13"/>
                </a:cubicBezTo>
                <a:cubicBezTo>
                  <a:pt x="107" y="9"/>
                  <a:pt x="117" y="6"/>
                  <a:pt x="127" y="4"/>
                </a:cubicBezTo>
                <a:cubicBezTo>
                  <a:pt x="138" y="1"/>
                  <a:pt x="148" y="0"/>
                  <a:pt x="158" y="0"/>
                </a:cubicBezTo>
                <a:lnTo>
                  <a:pt x="3942" y="0"/>
                </a:lnTo>
                <a:cubicBezTo>
                  <a:pt x="3952" y="0"/>
                  <a:pt x="3964" y="1"/>
                  <a:pt x="3974" y="4"/>
                </a:cubicBezTo>
                <a:cubicBezTo>
                  <a:pt x="3984" y="6"/>
                  <a:pt x="3994" y="9"/>
                  <a:pt x="4004" y="13"/>
                </a:cubicBezTo>
                <a:cubicBezTo>
                  <a:pt x="4013" y="17"/>
                  <a:pt x="4022" y="21"/>
                  <a:pt x="4031" y="27"/>
                </a:cubicBezTo>
                <a:cubicBezTo>
                  <a:pt x="4040" y="33"/>
                  <a:pt x="4048" y="40"/>
                  <a:pt x="4055" y="47"/>
                </a:cubicBezTo>
                <a:cubicBezTo>
                  <a:pt x="4062" y="54"/>
                  <a:pt x="4069" y="62"/>
                  <a:pt x="4075" y="71"/>
                </a:cubicBezTo>
                <a:cubicBezTo>
                  <a:pt x="4081" y="80"/>
                  <a:pt x="4086" y="89"/>
                  <a:pt x="4089" y="98"/>
                </a:cubicBezTo>
                <a:cubicBezTo>
                  <a:pt x="4093" y="108"/>
                  <a:pt x="4096" y="118"/>
                  <a:pt x="4099" y="128"/>
                </a:cubicBezTo>
                <a:cubicBezTo>
                  <a:pt x="4101" y="138"/>
                  <a:pt x="4102" y="149"/>
                  <a:pt x="4102" y="159"/>
                </a:cubicBezTo>
                <a:lnTo>
                  <a:pt x="4102" y="663"/>
                </a:lnTo>
                <a:cubicBezTo>
                  <a:pt x="4102" y="673"/>
                  <a:pt x="4101" y="684"/>
                  <a:pt x="4099" y="694"/>
                </a:cubicBezTo>
                <a:cubicBezTo>
                  <a:pt x="4096" y="704"/>
                  <a:pt x="4093" y="714"/>
                  <a:pt x="4089" y="724"/>
                </a:cubicBezTo>
                <a:cubicBezTo>
                  <a:pt x="4086" y="733"/>
                  <a:pt x="4081" y="742"/>
                  <a:pt x="4075" y="751"/>
                </a:cubicBezTo>
                <a:cubicBezTo>
                  <a:pt x="4069" y="760"/>
                  <a:pt x="4062" y="768"/>
                  <a:pt x="4055" y="775"/>
                </a:cubicBezTo>
                <a:cubicBezTo>
                  <a:pt x="4048" y="783"/>
                  <a:pt x="4040" y="789"/>
                  <a:pt x="4031" y="795"/>
                </a:cubicBezTo>
                <a:cubicBezTo>
                  <a:pt x="4022" y="801"/>
                  <a:pt x="4013" y="806"/>
                  <a:pt x="4004" y="810"/>
                </a:cubicBezTo>
                <a:cubicBezTo>
                  <a:pt x="3994" y="814"/>
                  <a:pt x="3984" y="817"/>
                  <a:pt x="3974" y="819"/>
                </a:cubicBezTo>
                <a:cubicBezTo>
                  <a:pt x="3964" y="821"/>
                  <a:pt x="3952" y="822"/>
                  <a:pt x="3942" y="822"/>
                </a:cubicBezTo>
                <a:lnTo>
                  <a:pt x="158" y="822"/>
                </a:lnTo>
                <a:cubicBezTo>
                  <a:pt x="148" y="822"/>
                  <a:pt x="138" y="821"/>
                  <a:pt x="127" y="819"/>
                </a:cubicBezTo>
                <a:cubicBezTo>
                  <a:pt x="117" y="817"/>
                  <a:pt x="107" y="814"/>
                  <a:pt x="98" y="810"/>
                </a:cubicBezTo>
                <a:cubicBezTo>
                  <a:pt x="88" y="806"/>
                  <a:pt x="79" y="801"/>
                  <a:pt x="70" y="795"/>
                </a:cubicBezTo>
                <a:cubicBezTo>
                  <a:pt x="61" y="789"/>
                  <a:pt x="53" y="783"/>
                  <a:pt x="46" y="775"/>
                </a:cubicBezTo>
                <a:cubicBezTo>
                  <a:pt x="39" y="768"/>
                  <a:pt x="32" y="760"/>
                  <a:pt x="26" y="751"/>
                </a:cubicBezTo>
                <a:cubicBezTo>
                  <a:pt x="21" y="742"/>
                  <a:pt x="16" y="733"/>
                  <a:pt x="12" y="724"/>
                </a:cubicBezTo>
                <a:cubicBezTo>
                  <a:pt x="8" y="714"/>
                  <a:pt x="5" y="704"/>
                  <a:pt x="3" y="694"/>
                </a:cubicBezTo>
                <a:cubicBezTo>
                  <a:pt x="1" y="684"/>
                  <a:pt x="0" y="673"/>
                  <a:pt x="0" y="663"/>
                </a:cubicBezTo>
                <a:close/>
              </a:path>
            </a:pathLst>
          </a:custGeom>
          <a:solidFill>
            <a:srgbClr val="EEF3F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3" name=""/>
          <p:cNvSpPr txBox="1"/>
          <p:nvPr/>
        </p:nvSpPr>
        <p:spPr>
          <a:xfrm>
            <a:off x="790560" y="4168440"/>
            <a:ext cx="3858894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AST</a:t>
            </a:r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の順に結合し、テンプレートの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4" name=""/>
          <p:cNvSpPr txBox="1"/>
          <p:nvPr/>
        </p:nvSpPr>
        <p:spPr>
          <a:xfrm>
            <a:off x="864360" y="4504320"/>
            <a:ext cx="1533042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450" b="0" u="none" strike="noStrike">
                <a:solidFill>
                  <a:srgbClr val="17212B"/>
                </a:solidFill>
                <a:effectLst/>
                <a:uFillTx/>
                <a:latin typeface="Menlo"/>
                <a:ea typeface="Menlo"/>
              </a:rPr>
              <a:t>{operations}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5" name=""/>
          <p:cNvSpPr txBox="1"/>
          <p:nvPr/>
        </p:nvSpPr>
        <p:spPr>
          <a:xfrm>
            <a:off x="2270160" y="4492440"/>
            <a:ext cx="2882268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をルールベースで埋める。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6" name=""/>
          <p:cNvSpPr txBox="1"/>
          <p:nvPr/>
        </p:nvSpPr>
        <p:spPr>
          <a:xfrm>
            <a:off x="790560" y="5033160"/>
            <a:ext cx="6582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500" b="1" u="none" strike="noStrike">
                <a:solidFill>
                  <a:srgbClr val="52606D"/>
                </a:solidFill>
                <a:effectLst/>
                <a:uFillTx/>
                <a:latin typeface="Hiragino Sans"/>
                <a:ea typeface="Hiragino Sans"/>
              </a:rPr>
              <a:t>生成例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7" name=""/>
          <p:cNvSpPr txBox="1"/>
          <p:nvPr/>
        </p:nvSpPr>
        <p:spPr>
          <a:xfrm>
            <a:off x="790560" y="5387760"/>
            <a:ext cx="3757878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整数リスト</a:t>
            </a:r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xs</a:t>
            </a:r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と整数</a:t>
            </a:r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k</a:t>
            </a:r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を受け取り、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8" name=""/>
          <p:cNvSpPr txBox="1"/>
          <p:nvPr/>
        </p:nvSpPr>
        <p:spPr>
          <a:xfrm>
            <a:off x="790560" y="5702040"/>
            <a:ext cx="398061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偶数だけを残し、各要素に</a:t>
            </a:r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k</a:t>
            </a:r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を加える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9" name=""/>
          <p:cNvSpPr txBox="1"/>
          <p:nvPr/>
        </p:nvSpPr>
        <p:spPr>
          <a:xfrm>
            <a:off x="790560" y="6016320"/>
            <a:ext cx="3248658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solve</a:t>
            </a:r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関数を書いてください。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0" name=""/>
          <p:cNvSpPr/>
          <p:nvPr/>
        </p:nvSpPr>
        <p:spPr>
          <a:xfrm>
            <a:off x="6291000" y="2881080"/>
            <a:ext cx="5306040" cy="3638880"/>
          </a:xfrm>
          <a:custGeom>
            <a:avLst/>
            <a:gdLst/>
            <a:ahLst/>
            <a:rect l="0" t="0" r="r" b="b"/>
            <a:pathLst>
              <a:path w="14739" h="10108">
                <a:moveTo>
                  <a:pt x="0" y="9910"/>
                </a:moveTo>
                <a:lnTo>
                  <a:pt x="0" y="199"/>
                </a:lnTo>
                <a:cubicBezTo>
                  <a:pt x="0" y="186"/>
                  <a:pt x="1" y="173"/>
                  <a:pt x="4" y="160"/>
                </a:cubicBezTo>
                <a:cubicBezTo>
                  <a:pt x="7" y="147"/>
                  <a:pt x="10" y="135"/>
                  <a:pt x="15" y="123"/>
                </a:cubicBezTo>
                <a:cubicBezTo>
                  <a:pt x="20" y="111"/>
                  <a:pt x="26" y="99"/>
                  <a:pt x="34" y="88"/>
                </a:cubicBezTo>
                <a:cubicBezTo>
                  <a:pt x="41" y="78"/>
                  <a:pt x="49" y="67"/>
                  <a:pt x="58" y="58"/>
                </a:cubicBezTo>
                <a:cubicBezTo>
                  <a:pt x="68" y="49"/>
                  <a:pt x="78" y="41"/>
                  <a:pt x="88" y="34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7"/>
                  <a:pt x="160" y="4"/>
                </a:cubicBezTo>
                <a:cubicBezTo>
                  <a:pt x="173" y="1"/>
                  <a:pt x="186" y="0"/>
                  <a:pt x="199" y="0"/>
                </a:cubicBezTo>
                <a:lnTo>
                  <a:pt x="14540" y="0"/>
                </a:lnTo>
                <a:cubicBezTo>
                  <a:pt x="14553" y="0"/>
                  <a:pt x="14566" y="1"/>
                  <a:pt x="14579" y="4"/>
                </a:cubicBezTo>
                <a:cubicBezTo>
                  <a:pt x="14592" y="7"/>
                  <a:pt x="14604" y="10"/>
                  <a:pt x="14616" y="15"/>
                </a:cubicBezTo>
                <a:cubicBezTo>
                  <a:pt x="14628" y="20"/>
                  <a:pt x="14639" y="26"/>
                  <a:pt x="14650" y="34"/>
                </a:cubicBezTo>
                <a:cubicBezTo>
                  <a:pt x="14661" y="41"/>
                  <a:pt x="14671" y="49"/>
                  <a:pt x="14680" y="58"/>
                </a:cubicBezTo>
                <a:cubicBezTo>
                  <a:pt x="14690" y="67"/>
                  <a:pt x="14698" y="78"/>
                  <a:pt x="14705" y="88"/>
                </a:cubicBezTo>
                <a:cubicBezTo>
                  <a:pt x="14712" y="99"/>
                  <a:pt x="14718" y="111"/>
                  <a:pt x="14723" y="123"/>
                </a:cubicBezTo>
                <a:cubicBezTo>
                  <a:pt x="14728" y="135"/>
                  <a:pt x="14732" y="147"/>
                  <a:pt x="14735" y="160"/>
                </a:cubicBezTo>
                <a:cubicBezTo>
                  <a:pt x="14737" y="173"/>
                  <a:pt x="14739" y="186"/>
                  <a:pt x="14739" y="199"/>
                </a:cubicBezTo>
                <a:lnTo>
                  <a:pt x="14739" y="9910"/>
                </a:lnTo>
                <a:cubicBezTo>
                  <a:pt x="14739" y="9923"/>
                  <a:pt x="14737" y="9936"/>
                  <a:pt x="14735" y="9949"/>
                </a:cubicBezTo>
                <a:cubicBezTo>
                  <a:pt x="14732" y="9961"/>
                  <a:pt x="14728" y="9974"/>
                  <a:pt x="14723" y="9986"/>
                </a:cubicBezTo>
                <a:cubicBezTo>
                  <a:pt x="14718" y="9998"/>
                  <a:pt x="14712" y="10009"/>
                  <a:pt x="14705" y="10020"/>
                </a:cubicBezTo>
                <a:cubicBezTo>
                  <a:pt x="14698" y="10031"/>
                  <a:pt x="14690" y="10041"/>
                  <a:pt x="14680" y="10050"/>
                </a:cubicBezTo>
                <a:cubicBezTo>
                  <a:pt x="14671" y="10059"/>
                  <a:pt x="14661" y="10068"/>
                  <a:pt x="14650" y="10075"/>
                </a:cubicBezTo>
                <a:cubicBezTo>
                  <a:pt x="14639" y="10082"/>
                  <a:pt x="14628" y="10088"/>
                  <a:pt x="14616" y="10093"/>
                </a:cubicBezTo>
                <a:cubicBezTo>
                  <a:pt x="14604" y="10098"/>
                  <a:pt x="14592" y="10102"/>
                  <a:pt x="14579" y="10104"/>
                </a:cubicBezTo>
                <a:cubicBezTo>
                  <a:pt x="14566" y="10107"/>
                  <a:pt x="14553" y="10108"/>
                  <a:pt x="14540" y="10108"/>
                </a:cubicBezTo>
                <a:lnTo>
                  <a:pt x="199" y="10108"/>
                </a:lnTo>
                <a:cubicBezTo>
                  <a:pt x="186" y="10108"/>
                  <a:pt x="173" y="10107"/>
                  <a:pt x="160" y="10104"/>
                </a:cubicBezTo>
                <a:cubicBezTo>
                  <a:pt x="147" y="10102"/>
                  <a:pt x="135" y="10098"/>
                  <a:pt x="123" y="10093"/>
                </a:cubicBezTo>
                <a:cubicBezTo>
                  <a:pt x="111" y="10088"/>
                  <a:pt x="99" y="10082"/>
                  <a:pt x="88" y="10075"/>
                </a:cubicBezTo>
                <a:cubicBezTo>
                  <a:pt x="78" y="10068"/>
                  <a:pt x="68" y="10059"/>
                  <a:pt x="58" y="10050"/>
                </a:cubicBezTo>
                <a:cubicBezTo>
                  <a:pt x="49" y="10041"/>
                  <a:pt x="41" y="10031"/>
                  <a:pt x="34" y="10020"/>
                </a:cubicBezTo>
                <a:cubicBezTo>
                  <a:pt x="26" y="10009"/>
                  <a:pt x="20" y="9998"/>
                  <a:pt x="15" y="9986"/>
                </a:cubicBezTo>
                <a:cubicBezTo>
                  <a:pt x="10" y="9974"/>
                  <a:pt x="7" y="9961"/>
                  <a:pt x="4" y="9949"/>
                </a:cubicBezTo>
                <a:cubicBezTo>
                  <a:pt x="1" y="9936"/>
                  <a:pt x="0" y="9923"/>
                  <a:pt x="0" y="9910"/>
                </a:cubicBezTo>
                <a:close/>
              </a:path>
            </a:pathLst>
          </a:custGeom>
          <a:solidFill>
            <a:srgbClr val="EEF7F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1" name=""/>
          <p:cNvSpPr/>
          <p:nvPr/>
        </p:nvSpPr>
        <p:spPr>
          <a:xfrm>
            <a:off x="6291000" y="2881080"/>
            <a:ext cx="5306040" cy="3638880"/>
          </a:xfrm>
          <a:custGeom>
            <a:avLst/>
            <a:gdLst/>
            <a:ahLst/>
            <a:rect l="0" t="0" r="r" b="b"/>
            <a:pathLst>
              <a:path w="14739" h="10108">
                <a:moveTo>
                  <a:pt x="0" y="9910"/>
                </a:moveTo>
                <a:lnTo>
                  <a:pt x="0" y="199"/>
                </a:lnTo>
                <a:cubicBezTo>
                  <a:pt x="0" y="186"/>
                  <a:pt x="1" y="173"/>
                  <a:pt x="4" y="160"/>
                </a:cubicBezTo>
                <a:cubicBezTo>
                  <a:pt x="7" y="147"/>
                  <a:pt x="10" y="135"/>
                  <a:pt x="15" y="123"/>
                </a:cubicBezTo>
                <a:cubicBezTo>
                  <a:pt x="20" y="111"/>
                  <a:pt x="26" y="99"/>
                  <a:pt x="34" y="88"/>
                </a:cubicBezTo>
                <a:cubicBezTo>
                  <a:pt x="41" y="78"/>
                  <a:pt x="49" y="67"/>
                  <a:pt x="58" y="58"/>
                </a:cubicBezTo>
                <a:cubicBezTo>
                  <a:pt x="68" y="49"/>
                  <a:pt x="78" y="41"/>
                  <a:pt x="88" y="34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7"/>
                  <a:pt x="160" y="4"/>
                </a:cubicBezTo>
                <a:cubicBezTo>
                  <a:pt x="173" y="1"/>
                  <a:pt x="186" y="0"/>
                  <a:pt x="199" y="0"/>
                </a:cubicBezTo>
                <a:lnTo>
                  <a:pt x="14540" y="0"/>
                </a:lnTo>
                <a:cubicBezTo>
                  <a:pt x="14553" y="0"/>
                  <a:pt x="14566" y="1"/>
                  <a:pt x="14579" y="4"/>
                </a:cubicBezTo>
                <a:cubicBezTo>
                  <a:pt x="14592" y="7"/>
                  <a:pt x="14604" y="10"/>
                  <a:pt x="14616" y="15"/>
                </a:cubicBezTo>
                <a:cubicBezTo>
                  <a:pt x="14628" y="20"/>
                  <a:pt x="14639" y="26"/>
                  <a:pt x="14650" y="34"/>
                </a:cubicBezTo>
                <a:cubicBezTo>
                  <a:pt x="14661" y="41"/>
                  <a:pt x="14671" y="49"/>
                  <a:pt x="14680" y="58"/>
                </a:cubicBezTo>
                <a:cubicBezTo>
                  <a:pt x="14690" y="67"/>
                  <a:pt x="14698" y="78"/>
                  <a:pt x="14705" y="88"/>
                </a:cubicBezTo>
                <a:cubicBezTo>
                  <a:pt x="14712" y="99"/>
                  <a:pt x="14718" y="111"/>
                  <a:pt x="14723" y="123"/>
                </a:cubicBezTo>
                <a:cubicBezTo>
                  <a:pt x="14728" y="135"/>
                  <a:pt x="14732" y="147"/>
                  <a:pt x="14735" y="160"/>
                </a:cubicBezTo>
                <a:cubicBezTo>
                  <a:pt x="14737" y="173"/>
                  <a:pt x="14739" y="186"/>
                  <a:pt x="14739" y="199"/>
                </a:cubicBezTo>
                <a:lnTo>
                  <a:pt x="14739" y="9910"/>
                </a:lnTo>
                <a:cubicBezTo>
                  <a:pt x="14739" y="9923"/>
                  <a:pt x="14737" y="9936"/>
                  <a:pt x="14735" y="9949"/>
                </a:cubicBezTo>
                <a:cubicBezTo>
                  <a:pt x="14732" y="9961"/>
                  <a:pt x="14728" y="9974"/>
                  <a:pt x="14723" y="9986"/>
                </a:cubicBezTo>
                <a:cubicBezTo>
                  <a:pt x="14718" y="9998"/>
                  <a:pt x="14712" y="10009"/>
                  <a:pt x="14705" y="10020"/>
                </a:cubicBezTo>
                <a:cubicBezTo>
                  <a:pt x="14698" y="10031"/>
                  <a:pt x="14690" y="10041"/>
                  <a:pt x="14680" y="10050"/>
                </a:cubicBezTo>
                <a:cubicBezTo>
                  <a:pt x="14671" y="10059"/>
                  <a:pt x="14661" y="10068"/>
                  <a:pt x="14650" y="10075"/>
                </a:cubicBezTo>
                <a:cubicBezTo>
                  <a:pt x="14639" y="10082"/>
                  <a:pt x="14628" y="10088"/>
                  <a:pt x="14616" y="10093"/>
                </a:cubicBezTo>
                <a:cubicBezTo>
                  <a:pt x="14604" y="10098"/>
                  <a:pt x="14592" y="10102"/>
                  <a:pt x="14579" y="10104"/>
                </a:cubicBezTo>
                <a:cubicBezTo>
                  <a:pt x="14566" y="10107"/>
                  <a:pt x="14553" y="10108"/>
                  <a:pt x="14540" y="10108"/>
                </a:cubicBezTo>
                <a:lnTo>
                  <a:pt x="199" y="10108"/>
                </a:lnTo>
                <a:cubicBezTo>
                  <a:pt x="186" y="10108"/>
                  <a:pt x="173" y="10107"/>
                  <a:pt x="160" y="10104"/>
                </a:cubicBezTo>
                <a:cubicBezTo>
                  <a:pt x="147" y="10102"/>
                  <a:pt x="135" y="10098"/>
                  <a:pt x="123" y="10093"/>
                </a:cubicBezTo>
                <a:cubicBezTo>
                  <a:pt x="111" y="10088"/>
                  <a:pt x="99" y="10082"/>
                  <a:pt x="88" y="10075"/>
                </a:cubicBezTo>
                <a:cubicBezTo>
                  <a:pt x="78" y="10068"/>
                  <a:pt x="68" y="10059"/>
                  <a:pt x="58" y="10050"/>
                </a:cubicBezTo>
                <a:cubicBezTo>
                  <a:pt x="49" y="10041"/>
                  <a:pt x="41" y="10031"/>
                  <a:pt x="34" y="10020"/>
                </a:cubicBezTo>
                <a:cubicBezTo>
                  <a:pt x="26" y="10009"/>
                  <a:pt x="20" y="9998"/>
                  <a:pt x="15" y="9986"/>
                </a:cubicBezTo>
                <a:cubicBezTo>
                  <a:pt x="10" y="9974"/>
                  <a:pt x="7" y="9961"/>
                  <a:pt x="4" y="9949"/>
                </a:cubicBezTo>
                <a:cubicBezTo>
                  <a:pt x="1" y="9936"/>
                  <a:pt x="0" y="9923"/>
                  <a:pt x="0" y="9910"/>
                </a:cubicBezTo>
                <a:close/>
              </a:path>
            </a:pathLst>
          </a:custGeom>
          <a:noFill/>
          <a:ln w="9360">
            <a:solidFill>
              <a:srgbClr val="91B99E"/>
            </a:solidFill>
            <a:miter/>
          </a:ln>
        </p:spPr>
        <p:txBody>
          <a:bodyPr lIns="4680" tIns="4680" rIns="4680" bIns="468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2" name=""/>
          <p:cNvSpPr/>
          <p:nvPr/>
        </p:nvSpPr>
        <p:spPr>
          <a:xfrm>
            <a:off x="6486480" y="4867200"/>
            <a:ext cx="4915080" cy="9720"/>
          </a:xfrm>
          <a:custGeom>
            <a:avLst/>
            <a:gdLst/>
            <a:ahLst/>
            <a:rect l="0" t="0" r="r" b="b"/>
            <a:pathLst>
              <a:path w="13653" h="27">
                <a:moveTo>
                  <a:pt x="0" y="0"/>
                </a:moveTo>
                <a:lnTo>
                  <a:pt x="13653" y="0"/>
                </a:lnTo>
                <a:lnTo>
                  <a:pt x="1365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B4D1B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3" name=""/>
          <p:cNvSpPr txBox="1"/>
          <p:nvPr/>
        </p:nvSpPr>
        <p:spPr>
          <a:xfrm>
            <a:off x="3105000" y="2520000"/>
            <a:ext cx="416070" cy="36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2850" b="0" u="none" strike="noStrike">
                <a:solidFill>
                  <a:srgbClr val="697786"/>
                </a:solidFill>
                <a:effectLst/>
                <a:uFillTx/>
                <a:latin typeface="Hiragino Sans"/>
                <a:ea typeface="Hiragino Sans"/>
              </a:rPr>
              <a:t>↓</a:t>
            </a:r>
            <a:endParaRPr lang="en-US" sz="28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4" name=""/>
          <p:cNvSpPr txBox="1"/>
          <p:nvPr/>
        </p:nvSpPr>
        <p:spPr>
          <a:xfrm>
            <a:off x="6486480" y="3046680"/>
            <a:ext cx="306567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00" b="1" u="none" strike="noStrike">
                <a:solidFill>
                  <a:srgbClr val="327C50"/>
                </a:solidFill>
                <a:effectLst/>
                <a:uFillTx/>
                <a:latin typeface="Hiragino Sans"/>
                <a:ea typeface="Hiragino Sans"/>
              </a:rPr>
              <a:t>検証済みの</a:t>
            </a:r>
            <a:r>
              <a:rPr lang="en-US" sz="1800" b="1" u="none" strike="noStrike">
                <a:solidFill>
                  <a:srgbClr val="327C50"/>
                </a:solidFill>
                <a:effectLst/>
                <a:uFillTx/>
                <a:latin typeface="Hiragino Sans"/>
                <a:ea typeface="Hiragino Sans"/>
              </a:rPr>
              <a:t>Python</a:t>
            </a:r>
            <a:r>
              <a:rPr lang="ja-JP" sz="1800" b="1" u="none" strike="noStrike">
                <a:solidFill>
                  <a:srgbClr val="327C50"/>
                </a:solidFill>
                <a:effectLst/>
                <a:uFillTx/>
                <a:latin typeface="Hiragino Sans"/>
                <a:ea typeface="Hiragino Sans"/>
              </a:rPr>
              <a:t>コード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5" name=""/>
          <p:cNvSpPr txBox="1"/>
          <p:nvPr/>
        </p:nvSpPr>
        <p:spPr>
          <a:xfrm>
            <a:off x="6486480" y="3480480"/>
            <a:ext cx="1096272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500" b="1" u="none" strike="noStrike">
                <a:solidFill>
                  <a:srgbClr val="52606D"/>
                </a:solidFill>
                <a:effectLst/>
                <a:uFillTx/>
                <a:latin typeface="Hiragino Sans"/>
                <a:ea typeface="Hiragino Sans"/>
              </a:rPr>
              <a:t>生成の手順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6" name=""/>
          <p:cNvSpPr txBox="1"/>
          <p:nvPr/>
        </p:nvSpPr>
        <p:spPr>
          <a:xfrm>
            <a:off x="6486480" y="3844800"/>
            <a:ext cx="4039812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6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AST</a:t>
            </a:r>
            <a:r>
              <a:rPr lang="ja-JP" sz="16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の操作を</a:t>
            </a:r>
            <a:r>
              <a:rPr lang="en-US" sz="16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Python</a:t>
            </a:r>
            <a:r>
              <a:rPr lang="ja-JP" sz="16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コードへ変換。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7" name=""/>
          <p:cNvSpPr txBox="1"/>
          <p:nvPr/>
        </p:nvSpPr>
        <p:spPr>
          <a:xfrm>
            <a:off x="6486480" y="4168440"/>
            <a:ext cx="2882268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構文を確認し、実行結果を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8" name=""/>
          <p:cNvSpPr txBox="1"/>
          <p:nvPr/>
        </p:nvSpPr>
        <p:spPr>
          <a:xfrm>
            <a:off x="6486480" y="4492440"/>
            <a:ext cx="4322574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参照インタプリタの期待値と照合する。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9" name=""/>
          <p:cNvSpPr txBox="1"/>
          <p:nvPr/>
        </p:nvSpPr>
        <p:spPr>
          <a:xfrm>
            <a:off x="6486480" y="5033160"/>
            <a:ext cx="6582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500" b="1" u="none" strike="noStrike">
                <a:solidFill>
                  <a:srgbClr val="52606D"/>
                </a:solidFill>
                <a:effectLst/>
                <a:uFillTx/>
                <a:latin typeface="Hiragino Sans"/>
                <a:ea typeface="Hiragino Sans"/>
              </a:rPr>
              <a:t>生成例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0" name=""/>
          <p:cNvSpPr txBox="1"/>
          <p:nvPr/>
        </p:nvSpPr>
        <p:spPr>
          <a:xfrm>
            <a:off x="6486480" y="5367600"/>
            <a:ext cx="2350692" cy="23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80" b="0" u="none" strike="noStrike">
                <a:solidFill>
                  <a:srgbClr val="CF222E"/>
                </a:solidFill>
                <a:effectLst/>
                <a:uFillTx/>
                <a:latin typeface="Menlo"/>
                <a:ea typeface="Menlo"/>
              </a:rPr>
              <a:t>def</a:t>
            </a:r>
            <a:r>
              <a:rPr lang="en-US" sz="15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</a:t>
            </a:r>
            <a:r>
              <a:rPr lang="en-US" sz="1580" b="0" u="none" strike="noStrike">
                <a:solidFill>
                  <a:srgbClr val="6639BA"/>
                </a:solidFill>
                <a:effectLst/>
                <a:uFillTx/>
                <a:latin typeface="Menlo"/>
                <a:ea typeface="Menlo"/>
              </a:rPr>
              <a:t>solve</a:t>
            </a:r>
            <a:r>
              <a:rPr lang="en-US" sz="15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(xs, k):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1" name=""/>
          <p:cNvSpPr txBox="1"/>
          <p:nvPr/>
        </p:nvSpPr>
        <p:spPr>
          <a:xfrm>
            <a:off x="6486480" y="5672160"/>
            <a:ext cx="4010004" cy="23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   </a:t>
            </a:r>
            <a:r>
              <a:rPr lang="en-US" sz="1580" b="0" u="none" strike="noStrike">
                <a:solidFill>
                  <a:srgbClr val="CF222E"/>
                </a:solidFill>
                <a:effectLst/>
                <a:uFillTx/>
                <a:latin typeface="Menlo"/>
                <a:ea typeface="Menlo"/>
              </a:rPr>
              <a:t>return</a:t>
            </a:r>
            <a:r>
              <a:rPr lang="en-US" sz="15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[x + k </a:t>
            </a:r>
            <a:r>
              <a:rPr lang="en-US" sz="1580" b="0" u="none" strike="noStrike">
                <a:solidFill>
                  <a:srgbClr val="CF222E"/>
                </a:solidFill>
                <a:effectLst/>
                <a:uFillTx/>
                <a:latin typeface="Menlo"/>
                <a:ea typeface="Menlo"/>
              </a:rPr>
              <a:t>for</a:t>
            </a:r>
            <a:r>
              <a:rPr lang="en-US" sz="15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x </a:t>
            </a:r>
            <a:r>
              <a:rPr lang="en-US" sz="1580" b="0" u="none" strike="noStrike">
                <a:solidFill>
                  <a:srgbClr val="CF222E"/>
                </a:solidFill>
                <a:effectLst/>
                <a:uFillTx/>
                <a:latin typeface="Menlo"/>
                <a:ea typeface="Menlo"/>
              </a:rPr>
              <a:t>in</a:t>
            </a:r>
            <a:r>
              <a:rPr lang="en-US" sz="15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xs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2" name=""/>
          <p:cNvSpPr txBox="1"/>
          <p:nvPr/>
        </p:nvSpPr>
        <p:spPr>
          <a:xfrm>
            <a:off x="6486480" y="5967360"/>
            <a:ext cx="3595176" cy="23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           </a:t>
            </a:r>
            <a:r>
              <a:rPr lang="en-US" sz="1580" b="0" u="none" strike="noStrike">
                <a:solidFill>
                  <a:srgbClr val="CF222E"/>
                </a:solidFill>
                <a:effectLst/>
                <a:uFillTx/>
                <a:latin typeface="Menlo"/>
                <a:ea typeface="Menlo"/>
              </a:rPr>
              <a:t>if</a:t>
            </a:r>
            <a:r>
              <a:rPr lang="en-US" sz="15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x % </a:t>
            </a:r>
            <a:r>
              <a:rPr lang="en-US" sz="1580" b="0" u="none" strike="noStrike">
                <a:solidFill>
                  <a:srgbClr val="0550AE"/>
                </a:solidFill>
                <a:effectLst/>
                <a:uFillTx/>
                <a:latin typeface="Menlo"/>
                <a:ea typeface="Menlo"/>
              </a:rPr>
              <a:t>2</a:t>
            </a:r>
            <a:r>
              <a:rPr lang="en-US" sz="15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== </a:t>
            </a:r>
            <a:r>
              <a:rPr lang="en-US" sz="1580" b="0" u="none" strike="noStrike">
                <a:solidFill>
                  <a:srgbClr val="0550AE"/>
                </a:solidFill>
                <a:effectLst/>
                <a:uFillTx/>
                <a:latin typeface="Menlo"/>
                <a:ea typeface="Menlo"/>
              </a:rPr>
              <a:t>0</a:t>
            </a:r>
            <a:r>
              <a:rPr lang="en-US" sz="15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]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3" name=""/>
          <p:cNvSpPr txBox="1"/>
          <p:nvPr/>
        </p:nvSpPr>
        <p:spPr>
          <a:xfrm>
            <a:off x="8800920" y="2520000"/>
            <a:ext cx="416070" cy="36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2850" b="0" u="none" strike="noStrike">
                <a:solidFill>
                  <a:srgbClr val="697786"/>
                </a:solidFill>
                <a:effectLst/>
                <a:uFillTx/>
                <a:latin typeface="Hiragino Sans"/>
                <a:ea typeface="Hiragino Sans"/>
              </a:rPr>
              <a:t>↓</a:t>
            </a:r>
            <a:endParaRPr lang="en-US" sz="28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4" name=""/>
          <p:cNvSpPr txBox="1"/>
          <p:nvPr/>
        </p:nvSpPr>
        <p:spPr>
          <a:xfrm>
            <a:off x="11806200" y="6466680"/>
            <a:ext cx="174708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Hiragino Sans"/>
                <a:ea typeface="Hiragino Sans"/>
              </a:rPr>
              <a:t>5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8" name=""/>
          <p:cNvSpPr/>
          <p:nvPr/>
        </p:nvSpPr>
        <p:spPr>
          <a:xfrm>
            <a:off x="599760" y="2390760"/>
            <a:ext cx="3486600" cy="466920"/>
          </a:xfrm>
          <a:custGeom>
            <a:avLst/>
            <a:gdLst/>
            <a:ahLst/>
            <a:rect l="0" t="0" r="r" b="b"/>
            <a:pathLst>
              <a:path w="9685" h="1297">
                <a:moveTo>
                  <a:pt x="0" y="0"/>
                </a:moveTo>
                <a:lnTo>
                  <a:pt x="9685" y="0"/>
                </a:lnTo>
                <a:lnTo>
                  <a:pt x="9685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9" name=""/>
          <p:cNvSpPr/>
          <p:nvPr/>
        </p:nvSpPr>
        <p:spPr>
          <a:xfrm>
            <a:off x="4086000" y="2390760"/>
            <a:ext cx="1419480" cy="466920"/>
          </a:xfrm>
          <a:custGeom>
            <a:avLst/>
            <a:gdLst/>
            <a:ahLst/>
            <a:rect l="0" t="0" r="r" b="b"/>
            <a:pathLst>
              <a:path w="3943" h="1297">
                <a:moveTo>
                  <a:pt x="0" y="0"/>
                </a:moveTo>
                <a:lnTo>
                  <a:pt x="3943" y="0"/>
                </a:lnTo>
                <a:lnTo>
                  <a:pt x="3943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0" name=""/>
          <p:cNvSpPr/>
          <p:nvPr/>
        </p:nvSpPr>
        <p:spPr>
          <a:xfrm>
            <a:off x="5505120" y="2390760"/>
            <a:ext cx="6096600" cy="466920"/>
          </a:xfrm>
          <a:custGeom>
            <a:avLst/>
            <a:gdLst/>
            <a:ahLst/>
            <a:rect l="0" t="0" r="r" b="b"/>
            <a:pathLst>
              <a:path w="16935" h="1297">
                <a:moveTo>
                  <a:pt x="0" y="0"/>
                </a:moveTo>
                <a:lnTo>
                  <a:pt x="16935" y="0"/>
                </a:lnTo>
                <a:lnTo>
                  <a:pt x="16935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1" name=""/>
          <p:cNvSpPr/>
          <p:nvPr/>
        </p:nvSpPr>
        <p:spPr>
          <a:xfrm>
            <a:off x="599760" y="2390760"/>
            <a:ext cx="3486600" cy="466920"/>
          </a:xfrm>
          <a:custGeom>
            <a:avLst/>
            <a:gdLst/>
            <a:ahLst/>
            <a:rect l="0" t="0" r="r" b="b"/>
            <a:pathLst>
              <a:path w="9685" h="1297">
                <a:moveTo>
                  <a:pt x="0" y="0"/>
                </a:moveTo>
                <a:lnTo>
                  <a:pt x="9685" y="0"/>
                </a:lnTo>
                <a:lnTo>
                  <a:pt x="9685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2" name=""/>
          <p:cNvSpPr/>
          <p:nvPr/>
        </p:nvSpPr>
        <p:spPr>
          <a:xfrm>
            <a:off x="4086000" y="2390760"/>
            <a:ext cx="1419480" cy="466920"/>
          </a:xfrm>
          <a:custGeom>
            <a:avLst/>
            <a:gdLst/>
            <a:ahLst/>
            <a:rect l="0" t="0" r="r" b="b"/>
            <a:pathLst>
              <a:path w="3943" h="1297">
                <a:moveTo>
                  <a:pt x="0" y="0"/>
                </a:moveTo>
                <a:lnTo>
                  <a:pt x="3943" y="0"/>
                </a:lnTo>
                <a:lnTo>
                  <a:pt x="3943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3" name=""/>
          <p:cNvSpPr/>
          <p:nvPr/>
        </p:nvSpPr>
        <p:spPr>
          <a:xfrm>
            <a:off x="5505120" y="2390760"/>
            <a:ext cx="6096600" cy="466920"/>
          </a:xfrm>
          <a:custGeom>
            <a:avLst/>
            <a:gdLst/>
            <a:ahLst/>
            <a:rect l="0" t="0" r="r" b="b"/>
            <a:pathLst>
              <a:path w="16935" h="1297">
                <a:moveTo>
                  <a:pt x="0" y="0"/>
                </a:moveTo>
                <a:lnTo>
                  <a:pt x="16935" y="0"/>
                </a:lnTo>
                <a:lnTo>
                  <a:pt x="16935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4" name=""/>
          <p:cNvSpPr/>
          <p:nvPr/>
        </p:nvSpPr>
        <p:spPr>
          <a:xfrm>
            <a:off x="599760" y="2857320"/>
            <a:ext cx="3486600" cy="466920"/>
          </a:xfrm>
          <a:custGeom>
            <a:avLst/>
            <a:gdLst/>
            <a:ahLst/>
            <a:rect l="0" t="0" r="r" b="b"/>
            <a:pathLst>
              <a:path w="9685" h="1297">
                <a:moveTo>
                  <a:pt x="0" y="0"/>
                </a:moveTo>
                <a:lnTo>
                  <a:pt x="9685" y="0"/>
                </a:lnTo>
                <a:lnTo>
                  <a:pt x="9685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5" name=""/>
          <p:cNvSpPr/>
          <p:nvPr/>
        </p:nvSpPr>
        <p:spPr>
          <a:xfrm>
            <a:off x="4086000" y="2857320"/>
            <a:ext cx="1419480" cy="466920"/>
          </a:xfrm>
          <a:custGeom>
            <a:avLst/>
            <a:gdLst/>
            <a:ahLst/>
            <a:rect l="0" t="0" r="r" b="b"/>
            <a:pathLst>
              <a:path w="3943" h="1297">
                <a:moveTo>
                  <a:pt x="0" y="0"/>
                </a:moveTo>
                <a:lnTo>
                  <a:pt x="3943" y="0"/>
                </a:lnTo>
                <a:lnTo>
                  <a:pt x="3943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6" name=""/>
          <p:cNvSpPr/>
          <p:nvPr/>
        </p:nvSpPr>
        <p:spPr>
          <a:xfrm>
            <a:off x="5505120" y="2857320"/>
            <a:ext cx="6096600" cy="466920"/>
          </a:xfrm>
          <a:custGeom>
            <a:avLst/>
            <a:gdLst/>
            <a:ahLst/>
            <a:rect l="0" t="0" r="r" b="b"/>
            <a:pathLst>
              <a:path w="16935" h="1297">
                <a:moveTo>
                  <a:pt x="0" y="0"/>
                </a:moveTo>
                <a:lnTo>
                  <a:pt x="16935" y="0"/>
                </a:lnTo>
                <a:lnTo>
                  <a:pt x="16935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7" name=""/>
          <p:cNvSpPr/>
          <p:nvPr/>
        </p:nvSpPr>
        <p:spPr>
          <a:xfrm>
            <a:off x="599760" y="3323880"/>
            <a:ext cx="3486600" cy="467280"/>
          </a:xfrm>
          <a:custGeom>
            <a:avLst/>
            <a:gdLst/>
            <a:ahLst/>
            <a:rect l="0" t="0" r="r" b="b"/>
            <a:pathLst>
              <a:path w="9685" h="1298">
                <a:moveTo>
                  <a:pt x="0" y="0"/>
                </a:moveTo>
                <a:lnTo>
                  <a:pt x="9685" y="0"/>
                </a:lnTo>
                <a:lnTo>
                  <a:pt x="9685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8" name=""/>
          <p:cNvSpPr/>
          <p:nvPr/>
        </p:nvSpPr>
        <p:spPr>
          <a:xfrm>
            <a:off x="4086000" y="3323880"/>
            <a:ext cx="1419480" cy="467280"/>
          </a:xfrm>
          <a:custGeom>
            <a:avLst/>
            <a:gdLst/>
            <a:ahLst/>
            <a:rect l="0" t="0" r="r" b="b"/>
            <a:pathLst>
              <a:path w="3943" h="1298">
                <a:moveTo>
                  <a:pt x="0" y="0"/>
                </a:moveTo>
                <a:lnTo>
                  <a:pt x="3943" y="0"/>
                </a:lnTo>
                <a:lnTo>
                  <a:pt x="3943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9" name=""/>
          <p:cNvSpPr/>
          <p:nvPr/>
        </p:nvSpPr>
        <p:spPr>
          <a:xfrm>
            <a:off x="5505120" y="3323880"/>
            <a:ext cx="6096600" cy="467280"/>
          </a:xfrm>
          <a:custGeom>
            <a:avLst/>
            <a:gdLst/>
            <a:ahLst/>
            <a:rect l="0" t="0" r="r" b="b"/>
            <a:pathLst>
              <a:path w="16935" h="1298">
                <a:moveTo>
                  <a:pt x="0" y="0"/>
                </a:moveTo>
                <a:lnTo>
                  <a:pt x="16935" y="0"/>
                </a:lnTo>
                <a:lnTo>
                  <a:pt x="16935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0" name=""/>
          <p:cNvSpPr/>
          <p:nvPr/>
        </p:nvSpPr>
        <p:spPr>
          <a:xfrm>
            <a:off x="599760" y="3790800"/>
            <a:ext cx="3486600" cy="466920"/>
          </a:xfrm>
          <a:custGeom>
            <a:avLst/>
            <a:gdLst/>
            <a:ahLst/>
            <a:rect l="0" t="0" r="r" b="b"/>
            <a:pathLst>
              <a:path w="9685" h="1297">
                <a:moveTo>
                  <a:pt x="0" y="0"/>
                </a:moveTo>
                <a:lnTo>
                  <a:pt x="9685" y="0"/>
                </a:lnTo>
                <a:lnTo>
                  <a:pt x="9685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1" name=""/>
          <p:cNvSpPr/>
          <p:nvPr/>
        </p:nvSpPr>
        <p:spPr>
          <a:xfrm>
            <a:off x="4086000" y="3790800"/>
            <a:ext cx="1419480" cy="466920"/>
          </a:xfrm>
          <a:custGeom>
            <a:avLst/>
            <a:gdLst/>
            <a:ahLst/>
            <a:rect l="0" t="0" r="r" b="b"/>
            <a:pathLst>
              <a:path w="3943" h="1297">
                <a:moveTo>
                  <a:pt x="0" y="0"/>
                </a:moveTo>
                <a:lnTo>
                  <a:pt x="3943" y="0"/>
                </a:lnTo>
                <a:lnTo>
                  <a:pt x="3943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2" name=""/>
          <p:cNvSpPr/>
          <p:nvPr/>
        </p:nvSpPr>
        <p:spPr>
          <a:xfrm>
            <a:off x="5505120" y="3790800"/>
            <a:ext cx="6096600" cy="466920"/>
          </a:xfrm>
          <a:custGeom>
            <a:avLst/>
            <a:gdLst/>
            <a:ahLst/>
            <a:rect l="0" t="0" r="r" b="b"/>
            <a:pathLst>
              <a:path w="16935" h="1297">
                <a:moveTo>
                  <a:pt x="0" y="0"/>
                </a:moveTo>
                <a:lnTo>
                  <a:pt x="16935" y="0"/>
                </a:lnTo>
                <a:lnTo>
                  <a:pt x="16935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3" name=""/>
          <p:cNvSpPr/>
          <p:nvPr/>
        </p:nvSpPr>
        <p:spPr>
          <a:xfrm>
            <a:off x="599760" y="4257360"/>
            <a:ext cx="3486600" cy="467280"/>
          </a:xfrm>
          <a:custGeom>
            <a:avLst/>
            <a:gdLst/>
            <a:ahLst/>
            <a:rect l="0" t="0" r="r" b="b"/>
            <a:pathLst>
              <a:path w="9685" h="1298">
                <a:moveTo>
                  <a:pt x="0" y="0"/>
                </a:moveTo>
                <a:lnTo>
                  <a:pt x="9685" y="0"/>
                </a:lnTo>
                <a:lnTo>
                  <a:pt x="9685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4" name=""/>
          <p:cNvSpPr/>
          <p:nvPr/>
        </p:nvSpPr>
        <p:spPr>
          <a:xfrm>
            <a:off x="4086000" y="4257360"/>
            <a:ext cx="1419480" cy="467280"/>
          </a:xfrm>
          <a:custGeom>
            <a:avLst/>
            <a:gdLst/>
            <a:ahLst/>
            <a:rect l="0" t="0" r="r" b="b"/>
            <a:pathLst>
              <a:path w="3943" h="1298">
                <a:moveTo>
                  <a:pt x="0" y="0"/>
                </a:moveTo>
                <a:lnTo>
                  <a:pt x="3943" y="0"/>
                </a:lnTo>
                <a:lnTo>
                  <a:pt x="3943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5" name=""/>
          <p:cNvSpPr/>
          <p:nvPr/>
        </p:nvSpPr>
        <p:spPr>
          <a:xfrm>
            <a:off x="5505120" y="4257360"/>
            <a:ext cx="6096600" cy="467280"/>
          </a:xfrm>
          <a:custGeom>
            <a:avLst/>
            <a:gdLst/>
            <a:ahLst/>
            <a:rect l="0" t="0" r="r" b="b"/>
            <a:pathLst>
              <a:path w="16935" h="1298">
                <a:moveTo>
                  <a:pt x="0" y="0"/>
                </a:moveTo>
                <a:lnTo>
                  <a:pt x="16935" y="0"/>
                </a:lnTo>
                <a:lnTo>
                  <a:pt x="16935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6" name=""/>
          <p:cNvSpPr/>
          <p:nvPr/>
        </p:nvSpPr>
        <p:spPr>
          <a:xfrm>
            <a:off x="590400" y="2381040"/>
            <a:ext cx="9720" cy="476640"/>
          </a:xfrm>
          <a:custGeom>
            <a:avLst/>
            <a:gdLst/>
            <a:ahLst/>
            <a:rect l="0" t="0" r="r" b="b"/>
            <a:pathLst>
              <a:path w="27" h="1324">
                <a:moveTo>
                  <a:pt x="0" y="0"/>
                </a:moveTo>
                <a:lnTo>
                  <a:pt x="27" y="0"/>
                </a:lnTo>
                <a:lnTo>
                  <a:pt x="27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7" name=""/>
          <p:cNvSpPr/>
          <p:nvPr/>
        </p:nvSpPr>
        <p:spPr>
          <a:xfrm>
            <a:off x="590400" y="2381040"/>
            <a:ext cx="3495960" cy="10080"/>
          </a:xfrm>
          <a:custGeom>
            <a:avLst/>
            <a:gdLst/>
            <a:ahLst/>
            <a:rect l="0" t="0" r="r" b="b"/>
            <a:pathLst>
              <a:path w="9711" h="28">
                <a:moveTo>
                  <a:pt x="0" y="0"/>
                </a:moveTo>
                <a:lnTo>
                  <a:pt x="9711" y="0"/>
                </a:lnTo>
                <a:lnTo>
                  <a:pt x="97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8" name=""/>
          <p:cNvSpPr/>
          <p:nvPr/>
        </p:nvSpPr>
        <p:spPr>
          <a:xfrm>
            <a:off x="4076640" y="2381040"/>
            <a:ext cx="9720" cy="476640"/>
          </a:xfrm>
          <a:custGeom>
            <a:avLst/>
            <a:gdLst/>
            <a:ahLst/>
            <a:rect l="0" t="0" r="r" b="b"/>
            <a:pathLst>
              <a:path w="27" h="1324">
                <a:moveTo>
                  <a:pt x="0" y="0"/>
                </a:moveTo>
                <a:lnTo>
                  <a:pt x="27" y="0"/>
                </a:lnTo>
                <a:lnTo>
                  <a:pt x="27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9" name=""/>
          <p:cNvSpPr/>
          <p:nvPr/>
        </p:nvSpPr>
        <p:spPr>
          <a:xfrm>
            <a:off x="4086000" y="2381040"/>
            <a:ext cx="1419480" cy="10080"/>
          </a:xfrm>
          <a:custGeom>
            <a:avLst/>
            <a:gdLst/>
            <a:ahLst/>
            <a:rect l="0" t="0" r="r" b="b"/>
            <a:pathLst>
              <a:path w="3943" h="28">
                <a:moveTo>
                  <a:pt x="0" y="0"/>
                </a:moveTo>
                <a:lnTo>
                  <a:pt x="3943" y="0"/>
                </a:lnTo>
                <a:lnTo>
                  <a:pt x="394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0" name=""/>
          <p:cNvSpPr/>
          <p:nvPr/>
        </p:nvSpPr>
        <p:spPr>
          <a:xfrm>
            <a:off x="5495760" y="2381040"/>
            <a:ext cx="9720" cy="476640"/>
          </a:xfrm>
          <a:custGeom>
            <a:avLst/>
            <a:gdLst/>
            <a:ahLst/>
            <a:rect l="0" t="0" r="r" b="b"/>
            <a:pathLst>
              <a:path w="27" h="1324">
                <a:moveTo>
                  <a:pt x="0" y="0"/>
                </a:moveTo>
                <a:lnTo>
                  <a:pt x="27" y="0"/>
                </a:lnTo>
                <a:lnTo>
                  <a:pt x="27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1" name=""/>
          <p:cNvSpPr/>
          <p:nvPr/>
        </p:nvSpPr>
        <p:spPr>
          <a:xfrm>
            <a:off x="5505120" y="2381040"/>
            <a:ext cx="6096600" cy="10080"/>
          </a:xfrm>
          <a:custGeom>
            <a:avLst/>
            <a:gdLst/>
            <a:ahLst/>
            <a:rect l="0" t="0" r="r" b="b"/>
            <a:pathLst>
              <a:path w="16935" h="28">
                <a:moveTo>
                  <a:pt x="0" y="0"/>
                </a:moveTo>
                <a:lnTo>
                  <a:pt x="16935" y="0"/>
                </a:lnTo>
                <a:lnTo>
                  <a:pt x="1693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2" name=""/>
          <p:cNvSpPr/>
          <p:nvPr/>
        </p:nvSpPr>
        <p:spPr>
          <a:xfrm>
            <a:off x="11591640" y="2381040"/>
            <a:ext cx="10080" cy="476640"/>
          </a:xfrm>
          <a:custGeom>
            <a:avLst/>
            <a:gdLst/>
            <a:ahLst/>
            <a:rect l="0" t="0" r="r" b="b"/>
            <a:pathLst>
              <a:path w="28" h="1324">
                <a:moveTo>
                  <a:pt x="0" y="0"/>
                </a:moveTo>
                <a:lnTo>
                  <a:pt x="28" y="0"/>
                </a:lnTo>
                <a:lnTo>
                  <a:pt x="28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3" name=""/>
          <p:cNvSpPr/>
          <p:nvPr/>
        </p:nvSpPr>
        <p:spPr>
          <a:xfrm>
            <a:off x="590400" y="2847960"/>
            <a:ext cx="3495960" cy="9720"/>
          </a:xfrm>
          <a:custGeom>
            <a:avLst/>
            <a:gdLst/>
            <a:ahLst/>
            <a:rect l="0" t="0" r="r" b="b"/>
            <a:pathLst>
              <a:path w="9711" h="27">
                <a:moveTo>
                  <a:pt x="0" y="0"/>
                </a:moveTo>
                <a:lnTo>
                  <a:pt x="9711" y="0"/>
                </a:lnTo>
                <a:lnTo>
                  <a:pt x="971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4" name=""/>
          <p:cNvSpPr/>
          <p:nvPr/>
        </p:nvSpPr>
        <p:spPr>
          <a:xfrm>
            <a:off x="4086000" y="2847960"/>
            <a:ext cx="1419480" cy="9720"/>
          </a:xfrm>
          <a:custGeom>
            <a:avLst/>
            <a:gdLst/>
            <a:ahLst/>
            <a:rect l="0" t="0" r="r" b="b"/>
            <a:pathLst>
              <a:path w="3943" h="27">
                <a:moveTo>
                  <a:pt x="0" y="0"/>
                </a:moveTo>
                <a:lnTo>
                  <a:pt x="3943" y="0"/>
                </a:lnTo>
                <a:lnTo>
                  <a:pt x="394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5" name=""/>
          <p:cNvSpPr/>
          <p:nvPr/>
        </p:nvSpPr>
        <p:spPr>
          <a:xfrm>
            <a:off x="5505120" y="2847960"/>
            <a:ext cx="6096600" cy="9720"/>
          </a:xfrm>
          <a:custGeom>
            <a:avLst/>
            <a:gdLst/>
            <a:ahLst/>
            <a:rect l="0" t="0" r="r" b="b"/>
            <a:pathLst>
              <a:path w="16935" h="27">
                <a:moveTo>
                  <a:pt x="0" y="0"/>
                </a:moveTo>
                <a:lnTo>
                  <a:pt x="16935" y="0"/>
                </a:lnTo>
                <a:lnTo>
                  <a:pt x="1693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6" name=""/>
          <p:cNvSpPr/>
          <p:nvPr/>
        </p:nvSpPr>
        <p:spPr>
          <a:xfrm>
            <a:off x="590400" y="2857320"/>
            <a:ext cx="9720" cy="466920"/>
          </a:xfrm>
          <a:custGeom>
            <a:avLst/>
            <a:gdLst/>
            <a:ahLst/>
            <a:rect l="0" t="0" r="r" b="b"/>
            <a:pathLst>
              <a:path w="27" h="1297">
                <a:moveTo>
                  <a:pt x="0" y="0"/>
                </a:moveTo>
                <a:lnTo>
                  <a:pt x="27" y="0"/>
                </a:lnTo>
                <a:lnTo>
                  <a:pt x="27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7" name=""/>
          <p:cNvSpPr/>
          <p:nvPr/>
        </p:nvSpPr>
        <p:spPr>
          <a:xfrm>
            <a:off x="4076640" y="2857320"/>
            <a:ext cx="9720" cy="466920"/>
          </a:xfrm>
          <a:custGeom>
            <a:avLst/>
            <a:gdLst/>
            <a:ahLst/>
            <a:rect l="0" t="0" r="r" b="b"/>
            <a:pathLst>
              <a:path w="27" h="1297">
                <a:moveTo>
                  <a:pt x="0" y="0"/>
                </a:moveTo>
                <a:lnTo>
                  <a:pt x="27" y="0"/>
                </a:lnTo>
                <a:lnTo>
                  <a:pt x="27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8" name=""/>
          <p:cNvSpPr/>
          <p:nvPr/>
        </p:nvSpPr>
        <p:spPr>
          <a:xfrm>
            <a:off x="5495760" y="2857320"/>
            <a:ext cx="9720" cy="466920"/>
          </a:xfrm>
          <a:custGeom>
            <a:avLst/>
            <a:gdLst/>
            <a:ahLst/>
            <a:rect l="0" t="0" r="r" b="b"/>
            <a:pathLst>
              <a:path w="27" h="1297">
                <a:moveTo>
                  <a:pt x="0" y="0"/>
                </a:moveTo>
                <a:lnTo>
                  <a:pt x="27" y="0"/>
                </a:lnTo>
                <a:lnTo>
                  <a:pt x="27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9" name=""/>
          <p:cNvSpPr/>
          <p:nvPr/>
        </p:nvSpPr>
        <p:spPr>
          <a:xfrm>
            <a:off x="11591640" y="2857320"/>
            <a:ext cx="10080" cy="466920"/>
          </a:xfrm>
          <a:custGeom>
            <a:avLst/>
            <a:gdLst/>
            <a:ahLst/>
            <a:rect l="0" t="0" r="r" b="b"/>
            <a:pathLst>
              <a:path w="28" h="1297">
                <a:moveTo>
                  <a:pt x="0" y="0"/>
                </a:moveTo>
                <a:lnTo>
                  <a:pt x="28" y="0"/>
                </a:lnTo>
                <a:lnTo>
                  <a:pt x="28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0" name=""/>
          <p:cNvSpPr/>
          <p:nvPr/>
        </p:nvSpPr>
        <p:spPr>
          <a:xfrm>
            <a:off x="590400" y="3323880"/>
            <a:ext cx="9720" cy="467280"/>
          </a:xfrm>
          <a:custGeom>
            <a:avLst/>
            <a:gdLst/>
            <a:ahLst/>
            <a:rect l="0" t="0" r="r" b="b"/>
            <a:pathLst>
              <a:path w="27" h="1298">
                <a:moveTo>
                  <a:pt x="0" y="0"/>
                </a:moveTo>
                <a:lnTo>
                  <a:pt x="27" y="0"/>
                </a:lnTo>
                <a:lnTo>
                  <a:pt x="27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1" name=""/>
          <p:cNvSpPr/>
          <p:nvPr/>
        </p:nvSpPr>
        <p:spPr>
          <a:xfrm>
            <a:off x="590400" y="3314520"/>
            <a:ext cx="3495960" cy="9720"/>
          </a:xfrm>
          <a:custGeom>
            <a:avLst/>
            <a:gdLst/>
            <a:ahLst/>
            <a:rect l="0" t="0" r="r" b="b"/>
            <a:pathLst>
              <a:path w="9711" h="27">
                <a:moveTo>
                  <a:pt x="0" y="0"/>
                </a:moveTo>
                <a:lnTo>
                  <a:pt x="9711" y="0"/>
                </a:lnTo>
                <a:lnTo>
                  <a:pt x="971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2" name=""/>
          <p:cNvSpPr/>
          <p:nvPr/>
        </p:nvSpPr>
        <p:spPr>
          <a:xfrm>
            <a:off x="4076640" y="3323880"/>
            <a:ext cx="9720" cy="467280"/>
          </a:xfrm>
          <a:custGeom>
            <a:avLst/>
            <a:gdLst/>
            <a:ahLst/>
            <a:rect l="0" t="0" r="r" b="b"/>
            <a:pathLst>
              <a:path w="27" h="1298">
                <a:moveTo>
                  <a:pt x="0" y="0"/>
                </a:moveTo>
                <a:lnTo>
                  <a:pt x="27" y="0"/>
                </a:lnTo>
                <a:lnTo>
                  <a:pt x="27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3" name=""/>
          <p:cNvSpPr/>
          <p:nvPr/>
        </p:nvSpPr>
        <p:spPr>
          <a:xfrm>
            <a:off x="4086000" y="3314520"/>
            <a:ext cx="1419480" cy="9720"/>
          </a:xfrm>
          <a:custGeom>
            <a:avLst/>
            <a:gdLst/>
            <a:ahLst/>
            <a:rect l="0" t="0" r="r" b="b"/>
            <a:pathLst>
              <a:path w="3943" h="27">
                <a:moveTo>
                  <a:pt x="0" y="0"/>
                </a:moveTo>
                <a:lnTo>
                  <a:pt x="3943" y="0"/>
                </a:lnTo>
                <a:lnTo>
                  <a:pt x="394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4" name=""/>
          <p:cNvSpPr/>
          <p:nvPr/>
        </p:nvSpPr>
        <p:spPr>
          <a:xfrm>
            <a:off x="5495760" y="3323880"/>
            <a:ext cx="9720" cy="467280"/>
          </a:xfrm>
          <a:custGeom>
            <a:avLst/>
            <a:gdLst/>
            <a:ahLst/>
            <a:rect l="0" t="0" r="r" b="b"/>
            <a:pathLst>
              <a:path w="27" h="1298">
                <a:moveTo>
                  <a:pt x="0" y="0"/>
                </a:moveTo>
                <a:lnTo>
                  <a:pt x="27" y="0"/>
                </a:lnTo>
                <a:lnTo>
                  <a:pt x="27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5" name=""/>
          <p:cNvSpPr/>
          <p:nvPr/>
        </p:nvSpPr>
        <p:spPr>
          <a:xfrm>
            <a:off x="5505120" y="3314520"/>
            <a:ext cx="6096600" cy="9720"/>
          </a:xfrm>
          <a:custGeom>
            <a:avLst/>
            <a:gdLst/>
            <a:ahLst/>
            <a:rect l="0" t="0" r="r" b="b"/>
            <a:pathLst>
              <a:path w="16935" h="27">
                <a:moveTo>
                  <a:pt x="0" y="0"/>
                </a:moveTo>
                <a:lnTo>
                  <a:pt x="16935" y="0"/>
                </a:lnTo>
                <a:lnTo>
                  <a:pt x="1693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6" name=""/>
          <p:cNvSpPr/>
          <p:nvPr/>
        </p:nvSpPr>
        <p:spPr>
          <a:xfrm>
            <a:off x="11591640" y="3323880"/>
            <a:ext cx="10080" cy="467280"/>
          </a:xfrm>
          <a:custGeom>
            <a:avLst/>
            <a:gdLst/>
            <a:ahLst/>
            <a:rect l="0" t="0" r="r" b="b"/>
            <a:pathLst>
              <a:path w="28" h="1298">
                <a:moveTo>
                  <a:pt x="0" y="0"/>
                </a:moveTo>
                <a:lnTo>
                  <a:pt x="28" y="0"/>
                </a:lnTo>
                <a:lnTo>
                  <a:pt x="28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7" name=""/>
          <p:cNvSpPr/>
          <p:nvPr/>
        </p:nvSpPr>
        <p:spPr>
          <a:xfrm>
            <a:off x="590400" y="3790800"/>
            <a:ext cx="9720" cy="466920"/>
          </a:xfrm>
          <a:custGeom>
            <a:avLst/>
            <a:gdLst/>
            <a:ahLst/>
            <a:rect l="0" t="0" r="r" b="b"/>
            <a:pathLst>
              <a:path w="27" h="1297">
                <a:moveTo>
                  <a:pt x="0" y="0"/>
                </a:moveTo>
                <a:lnTo>
                  <a:pt x="27" y="0"/>
                </a:lnTo>
                <a:lnTo>
                  <a:pt x="27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8" name=""/>
          <p:cNvSpPr/>
          <p:nvPr/>
        </p:nvSpPr>
        <p:spPr>
          <a:xfrm>
            <a:off x="590400" y="3781080"/>
            <a:ext cx="3495960" cy="10080"/>
          </a:xfrm>
          <a:custGeom>
            <a:avLst/>
            <a:gdLst/>
            <a:ahLst/>
            <a:rect l="0" t="0" r="r" b="b"/>
            <a:pathLst>
              <a:path w="9711" h="28">
                <a:moveTo>
                  <a:pt x="0" y="0"/>
                </a:moveTo>
                <a:lnTo>
                  <a:pt x="9711" y="0"/>
                </a:lnTo>
                <a:lnTo>
                  <a:pt x="97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9" name=""/>
          <p:cNvSpPr/>
          <p:nvPr/>
        </p:nvSpPr>
        <p:spPr>
          <a:xfrm>
            <a:off x="4076640" y="3790800"/>
            <a:ext cx="9720" cy="466920"/>
          </a:xfrm>
          <a:custGeom>
            <a:avLst/>
            <a:gdLst/>
            <a:ahLst/>
            <a:rect l="0" t="0" r="r" b="b"/>
            <a:pathLst>
              <a:path w="27" h="1297">
                <a:moveTo>
                  <a:pt x="0" y="0"/>
                </a:moveTo>
                <a:lnTo>
                  <a:pt x="27" y="0"/>
                </a:lnTo>
                <a:lnTo>
                  <a:pt x="27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0" name=""/>
          <p:cNvSpPr/>
          <p:nvPr/>
        </p:nvSpPr>
        <p:spPr>
          <a:xfrm>
            <a:off x="4086000" y="3781080"/>
            <a:ext cx="1419480" cy="10080"/>
          </a:xfrm>
          <a:custGeom>
            <a:avLst/>
            <a:gdLst/>
            <a:ahLst/>
            <a:rect l="0" t="0" r="r" b="b"/>
            <a:pathLst>
              <a:path w="3943" h="28">
                <a:moveTo>
                  <a:pt x="0" y="0"/>
                </a:moveTo>
                <a:lnTo>
                  <a:pt x="3943" y="0"/>
                </a:lnTo>
                <a:lnTo>
                  <a:pt x="394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1" name=""/>
          <p:cNvSpPr/>
          <p:nvPr/>
        </p:nvSpPr>
        <p:spPr>
          <a:xfrm>
            <a:off x="5495760" y="3790800"/>
            <a:ext cx="9720" cy="466920"/>
          </a:xfrm>
          <a:custGeom>
            <a:avLst/>
            <a:gdLst/>
            <a:ahLst/>
            <a:rect l="0" t="0" r="r" b="b"/>
            <a:pathLst>
              <a:path w="27" h="1297">
                <a:moveTo>
                  <a:pt x="0" y="0"/>
                </a:moveTo>
                <a:lnTo>
                  <a:pt x="27" y="0"/>
                </a:lnTo>
                <a:lnTo>
                  <a:pt x="27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2" name=""/>
          <p:cNvSpPr/>
          <p:nvPr/>
        </p:nvSpPr>
        <p:spPr>
          <a:xfrm>
            <a:off x="5505120" y="3781080"/>
            <a:ext cx="6096600" cy="10080"/>
          </a:xfrm>
          <a:custGeom>
            <a:avLst/>
            <a:gdLst/>
            <a:ahLst/>
            <a:rect l="0" t="0" r="r" b="b"/>
            <a:pathLst>
              <a:path w="16935" h="28">
                <a:moveTo>
                  <a:pt x="0" y="0"/>
                </a:moveTo>
                <a:lnTo>
                  <a:pt x="16935" y="0"/>
                </a:lnTo>
                <a:lnTo>
                  <a:pt x="1693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3" name=""/>
          <p:cNvSpPr/>
          <p:nvPr/>
        </p:nvSpPr>
        <p:spPr>
          <a:xfrm>
            <a:off x="11591640" y="3790800"/>
            <a:ext cx="10080" cy="466920"/>
          </a:xfrm>
          <a:custGeom>
            <a:avLst/>
            <a:gdLst/>
            <a:ahLst/>
            <a:rect l="0" t="0" r="r" b="b"/>
            <a:pathLst>
              <a:path w="28" h="1297">
                <a:moveTo>
                  <a:pt x="0" y="0"/>
                </a:moveTo>
                <a:lnTo>
                  <a:pt x="28" y="0"/>
                </a:lnTo>
                <a:lnTo>
                  <a:pt x="28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4" name=""/>
          <p:cNvSpPr/>
          <p:nvPr/>
        </p:nvSpPr>
        <p:spPr>
          <a:xfrm>
            <a:off x="590400" y="4257360"/>
            <a:ext cx="9720" cy="467280"/>
          </a:xfrm>
          <a:custGeom>
            <a:avLst/>
            <a:gdLst/>
            <a:ahLst/>
            <a:rect l="0" t="0" r="r" b="b"/>
            <a:pathLst>
              <a:path w="27" h="1298">
                <a:moveTo>
                  <a:pt x="0" y="0"/>
                </a:moveTo>
                <a:lnTo>
                  <a:pt x="27" y="0"/>
                </a:lnTo>
                <a:lnTo>
                  <a:pt x="27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5" name=""/>
          <p:cNvSpPr/>
          <p:nvPr/>
        </p:nvSpPr>
        <p:spPr>
          <a:xfrm>
            <a:off x="590400" y="4248000"/>
            <a:ext cx="3495960" cy="9720"/>
          </a:xfrm>
          <a:custGeom>
            <a:avLst/>
            <a:gdLst/>
            <a:ahLst/>
            <a:rect l="0" t="0" r="r" b="b"/>
            <a:pathLst>
              <a:path w="9711" h="27">
                <a:moveTo>
                  <a:pt x="0" y="0"/>
                </a:moveTo>
                <a:lnTo>
                  <a:pt x="9711" y="0"/>
                </a:lnTo>
                <a:lnTo>
                  <a:pt x="971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6" name=""/>
          <p:cNvSpPr/>
          <p:nvPr/>
        </p:nvSpPr>
        <p:spPr>
          <a:xfrm>
            <a:off x="4076640" y="4257360"/>
            <a:ext cx="9720" cy="467280"/>
          </a:xfrm>
          <a:custGeom>
            <a:avLst/>
            <a:gdLst/>
            <a:ahLst/>
            <a:rect l="0" t="0" r="r" b="b"/>
            <a:pathLst>
              <a:path w="27" h="1298">
                <a:moveTo>
                  <a:pt x="0" y="0"/>
                </a:moveTo>
                <a:lnTo>
                  <a:pt x="27" y="0"/>
                </a:lnTo>
                <a:lnTo>
                  <a:pt x="27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7" name=""/>
          <p:cNvSpPr/>
          <p:nvPr/>
        </p:nvSpPr>
        <p:spPr>
          <a:xfrm>
            <a:off x="4086000" y="4248000"/>
            <a:ext cx="1419480" cy="9720"/>
          </a:xfrm>
          <a:custGeom>
            <a:avLst/>
            <a:gdLst/>
            <a:ahLst/>
            <a:rect l="0" t="0" r="r" b="b"/>
            <a:pathLst>
              <a:path w="3943" h="27">
                <a:moveTo>
                  <a:pt x="0" y="0"/>
                </a:moveTo>
                <a:lnTo>
                  <a:pt x="3943" y="0"/>
                </a:lnTo>
                <a:lnTo>
                  <a:pt x="394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8" name=""/>
          <p:cNvSpPr/>
          <p:nvPr/>
        </p:nvSpPr>
        <p:spPr>
          <a:xfrm>
            <a:off x="5495760" y="4257360"/>
            <a:ext cx="9720" cy="467280"/>
          </a:xfrm>
          <a:custGeom>
            <a:avLst/>
            <a:gdLst/>
            <a:ahLst/>
            <a:rect l="0" t="0" r="r" b="b"/>
            <a:pathLst>
              <a:path w="27" h="1298">
                <a:moveTo>
                  <a:pt x="0" y="0"/>
                </a:moveTo>
                <a:lnTo>
                  <a:pt x="27" y="0"/>
                </a:lnTo>
                <a:lnTo>
                  <a:pt x="27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9" name=""/>
          <p:cNvSpPr/>
          <p:nvPr/>
        </p:nvSpPr>
        <p:spPr>
          <a:xfrm>
            <a:off x="5505120" y="4248000"/>
            <a:ext cx="6096600" cy="9720"/>
          </a:xfrm>
          <a:custGeom>
            <a:avLst/>
            <a:gdLst/>
            <a:ahLst/>
            <a:rect l="0" t="0" r="r" b="b"/>
            <a:pathLst>
              <a:path w="16935" h="27">
                <a:moveTo>
                  <a:pt x="0" y="0"/>
                </a:moveTo>
                <a:lnTo>
                  <a:pt x="16935" y="0"/>
                </a:lnTo>
                <a:lnTo>
                  <a:pt x="1693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0" name=""/>
          <p:cNvSpPr/>
          <p:nvPr/>
        </p:nvSpPr>
        <p:spPr>
          <a:xfrm>
            <a:off x="11591640" y="4257360"/>
            <a:ext cx="10080" cy="467280"/>
          </a:xfrm>
          <a:custGeom>
            <a:avLst/>
            <a:gdLst/>
            <a:ahLst/>
            <a:rect l="0" t="0" r="r" b="b"/>
            <a:pathLst>
              <a:path w="28" h="1298">
                <a:moveTo>
                  <a:pt x="0" y="0"/>
                </a:moveTo>
                <a:lnTo>
                  <a:pt x="28" y="0"/>
                </a:lnTo>
                <a:lnTo>
                  <a:pt x="28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1" name=""/>
          <p:cNvSpPr/>
          <p:nvPr/>
        </p:nvSpPr>
        <p:spPr>
          <a:xfrm>
            <a:off x="590400" y="4714560"/>
            <a:ext cx="3495960" cy="10080"/>
          </a:xfrm>
          <a:custGeom>
            <a:avLst/>
            <a:gdLst/>
            <a:ahLst/>
            <a:rect l="0" t="0" r="r" b="b"/>
            <a:pathLst>
              <a:path w="9711" h="28">
                <a:moveTo>
                  <a:pt x="0" y="0"/>
                </a:moveTo>
                <a:lnTo>
                  <a:pt x="9711" y="0"/>
                </a:lnTo>
                <a:lnTo>
                  <a:pt x="97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2" name=""/>
          <p:cNvSpPr/>
          <p:nvPr/>
        </p:nvSpPr>
        <p:spPr>
          <a:xfrm>
            <a:off x="4086000" y="4714560"/>
            <a:ext cx="1419480" cy="10080"/>
          </a:xfrm>
          <a:custGeom>
            <a:avLst/>
            <a:gdLst/>
            <a:ahLst/>
            <a:rect l="0" t="0" r="r" b="b"/>
            <a:pathLst>
              <a:path w="3943" h="28">
                <a:moveTo>
                  <a:pt x="0" y="0"/>
                </a:moveTo>
                <a:lnTo>
                  <a:pt x="3943" y="0"/>
                </a:lnTo>
                <a:lnTo>
                  <a:pt x="394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3" name=""/>
          <p:cNvSpPr/>
          <p:nvPr/>
        </p:nvSpPr>
        <p:spPr>
          <a:xfrm>
            <a:off x="5505120" y="4714560"/>
            <a:ext cx="6096600" cy="10080"/>
          </a:xfrm>
          <a:custGeom>
            <a:avLst/>
            <a:gdLst/>
            <a:ahLst/>
            <a:rect l="0" t="0" r="r" b="b"/>
            <a:pathLst>
              <a:path w="16935" h="28">
                <a:moveTo>
                  <a:pt x="0" y="0"/>
                </a:moveTo>
                <a:lnTo>
                  <a:pt x="16935" y="0"/>
                </a:lnTo>
                <a:lnTo>
                  <a:pt x="1693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4" name=""/>
          <p:cNvSpPr txBox="1"/>
          <p:nvPr/>
        </p:nvSpPr>
        <p:spPr>
          <a:xfrm>
            <a:off x="590400" y="1614960"/>
            <a:ext cx="4728294" cy="36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8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扱う範囲は</a:t>
            </a:r>
            <a:r>
              <a:rPr lang="en-US" sz="28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24</a:t>
            </a:r>
            <a:r>
              <a:rPr lang="ja-JP" sz="28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種類の操作</a:t>
            </a:r>
            <a:endParaRPr lang="en-US" sz="28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5" name=""/>
          <p:cNvSpPr txBox="1"/>
          <p:nvPr/>
        </p:nvSpPr>
        <p:spPr>
          <a:xfrm>
            <a:off x="723960" y="2503800"/>
            <a:ext cx="526608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種類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6" name=""/>
          <p:cNvSpPr txBox="1"/>
          <p:nvPr/>
        </p:nvSpPr>
        <p:spPr>
          <a:xfrm>
            <a:off x="4687200" y="2503800"/>
            <a:ext cx="1139742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操作数 例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7" name=""/>
          <p:cNvSpPr txBox="1"/>
          <p:nvPr/>
        </p:nvSpPr>
        <p:spPr>
          <a:xfrm>
            <a:off x="723960" y="2970720"/>
            <a:ext cx="2366838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条件に合う数を残す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8" name=""/>
          <p:cNvSpPr txBox="1"/>
          <p:nvPr/>
        </p:nvSpPr>
        <p:spPr>
          <a:xfrm>
            <a:off x="5072760" y="2970720"/>
            <a:ext cx="346104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10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9" name=""/>
          <p:cNvSpPr txBox="1"/>
          <p:nvPr/>
        </p:nvSpPr>
        <p:spPr>
          <a:xfrm>
            <a:off x="5630400" y="2970720"/>
            <a:ext cx="4358178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偶数、奇数、正の値、</a:t>
            </a:r>
            <a:r>
              <a:rPr lang="en-US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k</a:t>
            </a:r>
            <a:r>
              <a:rPr lang="ja-JP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より大きい値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20" name=""/>
          <p:cNvSpPr txBox="1"/>
          <p:nvPr/>
        </p:nvSpPr>
        <p:spPr>
          <a:xfrm>
            <a:off x="723960" y="3437280"/>
            <a:ext cx="2366838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一つずつ値を変える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21" name=""/>
          <p:cNvSpPr txBox="1"/>
          <p:nvPr/>
        </p:nvSpPr>
        <p:spPr>
          <a:xfrm>
            <a:off x="5222880" y="3437280"/>
            <a:ext cx="262476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8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22" name=""/>
          <p:cNvSpPr txBox="1"/>
          <p:nvPr/>
        </p:nvSpPr>
        <p:spPr>
          <a:xfrm>
            <a:off x="5630400" y="3437280"/>
            <a:ext cx="3742146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k</a:t>
            </a:r>
            <a:r>
              <a:rPr lang="ja-JP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を加える、</a:t>
            </a:r>
            <a:r>
              <a:rPr lang="en-US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2</a:t>
            </a:r>
            <a:r>
              <a:rPr lang="ja-JP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倍、絶対値、二乗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23" name=""/>
          <p:cNvSpPr txBox="1"/>
          <p:nvPr/>
        </p:nvSpPr>
        <p:spPr>
          <a:xfrm>
            <a:off x="723960" y="3904200"/>
            <a:ext cx="1578168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順序を変える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24" name=""/>
          <p:cNvSpPr txBox="1"/>
          <p:nvPr/>
        </p:nvSpPr>
        <p:spPr>
          <a:xfrm>
            <a:off x="5222880" y="3904200"/>
            <a:ext cx="262476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3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25" name=""/>
          <p:cNvSpPr txBox="1"/>
          <p:nvPr/>
        </p:nvSpPr>
        <p:spPr>
          <a:xfrm>
            <a:off x="5630400" y="3904200"/>
            <a:ext cx="3681288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昇順、降順、現在の順序の反転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26" name=""/>
          <p:cNvSpPr txBox="1"/>
          <p:nvPr/>
        </p:nvSpPr>
        <p:spPr>
          <a:xfrm>
            <a:off x="723960" y="4370760"/>
            <a:ext cx="1841058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一部を取り出す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27" name=""/>
          <p:cNvSpPr txBox="1"/>
          <p:nvPr/>
        </p:nvSpPr>
        <p:spPr>
          <a:xfrm>
            <a:off x="5222880" y="4370760"/>
            <a:ext cx="262476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3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28" name=""/>
          <p:cNvSpPr txBox="1"/>
          <p:nvPr/>
        </p:nvSpPr>
        <p:spPr>
          <a:xfrm>
            <a:off x="5630400" y="4370760"/>
            <a:ext cx="3367476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先頭</a:t>
            </a:r>
            <a:r>
              <a:rPr lang="en-US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k</a:t>
            </a:r>
            <a:r>
              <a:rPr lang="ja-JP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個、末尾</a:t>
            </a:r>
            <a:r>
              <a:rPr lang="en-US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k</a:t>
            </a:r>
            <a:r>
              <a:rPr lang="ja-JP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個、</a:t>
            </a:r>
            <a:r>
              <a:rPr lang="en-US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</a:t>
            </a:r>
            <a:r>
              <a:rPr lang="ja-JP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個おき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29" name=""/>
          <p:cNvSpPr txBox="1"/>
          <p:nvPr/>
        </p:nvSpPr>
        <p:spPr>
          <a:xfrm>
            <a:off x="590400" y="4974480"/>
            <a:ext cx="7610148" cy="258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0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最大</a:t>
            </a:r>
            <a:r>
              <a:rPr lang="en-US" sz="20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3</a:t>
            </a:r>
            <a:r>
              <a:rPr lang="ja-JP" sz="20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操作を組み合わせる、限定されたコード生成課題。</a:t>
            </a:r>
            <a:endParaRPr lang="en-US" sz="202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30" name=""/>
          <p:cNvSpPr txBox="1"/>
          <p:nvPr/>
        </p:nvSpPr>
        <p:spPr>
          <a:xfrm>
            <a:off x="11806200" y="6466680"/>
            <a:ext cx="174708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Hiragino Sans"/>
                <a:ea typeface="Hiragino Sans"/>
              </a:rPr>
              <a:t>6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3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3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34" name=""/>
          <p:cNvSpPr/>
          <p:nvPr/>
        </p:nvSpPr>
        <p:spPr>
          <a:xfrm>
            <a:off x="599760" y="2352600"/>
            <a:ext cx="2791440" cy="476640"/>
          </a:xfrm>
          <a:custGeom>
            <a:avLst/>
            <a:gdLst/>
            <a:ahLst/>
            <a:rect l="0" t="0" r="r" b="b"/>
            <a:pathLst>
              <a:path w="7754" h="1324">
                <a:moveTo>
                  <a:pt x="0" y="0"/>
                </a:moveTo>
                <a:lnTo>
                  <a:pt x="7754" y="0"/>
                </a:lnTo>
                <a:lnTo>
                  <a:pt x="7754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35" name=""/>
          <p:cNvSpPr/>
          <p:nvPr/>
        </p:nvSpPr>
        <p:spPr>
          <a:xfrm>
            <a:off x="3390840" y="2352600"/>
            <a:ext cx="2695680" cy="476640"/>
          </a:xfrm>
          <a:custGeom>
            <a:avLst/>
            <a:gdLst/>
            <a:ahLst/>
            <a:rect l="0" t="0" r="r" b="b"/>
            <a:pathLst>
              <a:path w="7488" h="1324">
                <a:moveTo>
                  <a:pt x="0" y="0"/>
                </a:moveTo>
                <a:lnTo>
                  <a:pt x="7488" y="0"/>
                </a:lnTo>
                <a:lnTo>
                  <a:pt x="7488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36" name=""/>
          <p:cNvSpPr/>
          <p:nvPr/>
        </p:nvSpPr>
        <p:spPr>
          <a:xfrm>
            <a:off x="6086160" y="2352600"/>
            <a:ext cx="5515560" cy="476640"/>
          </a:xfrm>
          <a:custGeom>
            <a:avLst/>
            <a:gdLst/>
            <a:ahLst/>
            <a:rect l="0" t="0" r="r" b="b"/>
            <a:pathLst>
              <a:path w="15321" h="1324">
                <a:moveTo>
                  <a:pt x="0" y="0"/>
                </a:moveTo>
                <a:lnTo>
                  <a:pt x="15321" y="0"/>
                </a:lnTo>
                <a:lnTo>
                  <a:pt x="15321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37" name=""/>
          <p:cNvSpPr/>
          <p:nvPr/>
        </p:nvSpPr>
        <p:spPr>
          <a:xfrm>
            <a:off x="599760" y="2352600"/>
            <a:ext cx="2791440" cy="476640"/>
          </a:xfrm>
          <a:custGeom>
            <a:avLst/>
            <a:gdLst/>
            <a:ahLst/>
            <a:rect l="0" t="0" r="r" b="b"/>
            <a:pathLst>
              <a:path w="7754" h="1324">
                <a:moveTo>
                  <a:pt x="0" y="0"/>
                </a:moveTo>
                <a:lnTo>
                  <a:pt x="7754" y="0"/>
                </a:lnTo>
                <a:lnTo>
                  <a:pt x="7754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38" name=""/>
          <p:cNvSpPr/>
          <p:nvPr/>
        </p:nvSpPr>
        <p:spPr>
          <a:xfrm>
            <a:off x="3390840" y="2352600"/>
            <a:ext cx="2695680" cy="476640"/>
          </a:xfrm>
          <a:custGeom>
            <a:avLst/>
            <a:gdLst/>
            <a:ahLst/>
            <a:rect l="0" t="0" r="r" b="b"/>
            <a:pathLst>
              <a:path w="7488" h="1324">
                <a:moveTo>
                  <a:pt x="0" y="0"/>
                </a:moveTo>
                <a:lnTo>
                  <a:pt x="7488" y="0"/>
                </a:lnTo>
                <a:lnTo>
                  <a:pt x="7488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39" name=""/>
          <p:cNvSpPr/>
          <p:nvPr/>
        </p:nvSpPr>
        <p:spPr>
          <a:xfrm>
            <a:off x="6086160" y="2352600"/>
            <a:ext cx="5515560" cy="476640"/>
          </a:xfrm>
          <a:custGeom>
            <a:avLst/>
            <a:gdLst/>
            <a:ahLst/>
            <a:rect l="0" t="0" r="r" b="b"/>
            <a:pathLst>
              <a:path w="15321" h="1324">
                <a:moveTo>
                  <a:pt x="0" y="0"/>
                </a:moveTo>
                <a:lnTo>
                  <a:pt x="15321" y="0"/>
                </a:lnTo>
                <a:lnTo>
                  <a:pt x="15321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40" name=""/>
          <p:cNvSpPr/>
          <p:nvPr/>
        </p:nvSpPr>
        <p:spPr>
          <a:xfrm>
            <a:off x="599760" y="2828880"/>
            <a:ext cx="2791440" cy="486000"/>
          </a:xfrm>
          <a:custGeom>
            <a:avLst/>
            <a:gdLst/>
            <a:ahLst/>
            <a:rect l="0" t="0" r="r" b="b"/>
            <a:pathLst>
              <a:path w="7754" h="1350">
                <a:moveTo>
                  <a:pt x="0" y="0"/>
                </a:moveTo>
                <a:lnTo>
                  <a:pt x="7754" y="0"/>
                </a:lnTo>
                <a:lnTo>
                  <a:pt x="7754" y="1350"/>
                </a:lnTo>
                <a:lnTo>
                  <a:pt x="0" y="13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41" name=""/>
          <p:cNvSpPr/>
          <p:nvPr/>
        </p:nvSpPr>
        <p:spPr>
          <a:xfrm>
            <a:off x="3390840" y="2828880"/>
            <a:ext cx="2695680" cy="486000"/>
          </a:xfrm>
          <a:custGeom>
            <a:avLst/>
            <a:gdLst/>
            <a:ahLst/>
            <a:rect l="0" t="0" r="r" b="b"/>
            <a:pathLst>
              <a:path w="7488" h="1350">
                <a:moveTo>
                  <a:pt x="0" y="0"/>
                </a:moveTo>
                <a:lnTo>
                  <a:pt x="7488" y="0"/>
                </a:lnTo>
                <a:lnTo>
                  <a:pt x="7488" y="1350"/>
                </a:lnTo>
                <a:lnTo>
                  <a:pt x="0" y="13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42" name=""/>
          <p:cNvSpPr/>
          <p:nvPr/>
        </p:nvSpPr>
        <p:spPr>
          <a:xfrm>
            <a:off x="6086160" y="2828880"/>
            <a:ext cx="5515560" cy="486000"/>
          </a:xfrm>
          <a:custGeom>
            <a:avLst/>
            <a:gdLst/>
            <a:ahLst/>
            <a:rect l="0" t="0" r="r" b="b"/>
            <a:pathLst>
              <a:path w="15321" h="1350">
                <a:moveTo>
                  <a:pt x="0" y="0"/>
                </a:moveTo>
                <a:lnTo>
                  <a:pt x="15321" y="0"/>
                </a:lnTo>
                <a:lnTo>
                  <a:pt x="15321" y="1350"/>
                </a:lnTo>
                <a:lnTo>
                  <a:pt x="0" y="13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43" name=""/>
          <p:cNvSpPr/>
          <p:nvPr/>
        </p:nvSpPr>
        <p:spPr>
          <a:xfrm>
            <a:off x="599760" y="3314520"/>
            <a:ext cx="2791440" cy="476640"/>
          </a:xfrm>
          <a:custGeom>
            <a:avLst/>
            <a:gdLst/>
            <a:ahLst/>
            <a:rect l="0" t="0" r="r" b="b"/>
            <a:pathLst>
              <a:path w="7754" h="1324">
                <a:moveTo>
                  <a:pt x="0" y="0"/>
                </a:moveTo>
                <a:lnTo>
                  <a:pt x="7754" y="0"/>
                </a:lnTo>
                <a:lnTo>
                  <a:pt x="7754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44" name=""/>
          <p:cNvSpPr/>
          <p:nvPr/>
        </p:nvSpPr>
        <p:spPr>
          <a:xfrm>
            <a:off x="3390840" y="3314520"/>
            <a:ext cx="2695680" cy="476640"/>
          </a:xfrm>
          <a:custGeom>
            <a:avLst/>
            <a:gdLst/>
            <a:ahLst/>
            <a:rect l="0" t="0" r="r" b="b"/>
            <a:pathLst>
              <a:path w="7488" h="1324">
                <a:moveTo>
                  <a:pt x="0" y="0"/>
                </a:moveTo>
                <a:lnTo>
                  <a:pt x="7488" y="0"/>
                </a:lnTo>
                <a:lnTo>
                  <a:pt x="7488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45" name=""/>
          <p:cNvSpPr/>
          <p:nvPr/>
        </p:nvSpPr>
        <p:spPr>
          <a:xfrm>
            <a:off x="6086160" y="3314520"/>
            <a:ext cx="5515560" cy="476640"/>
          </a:xfrm>
          <a:custGeom>
            <a:avLst/>
            <a:gdLst/>
            <a:ahLst/>
            <a:rect l="0" t="0" r="r" b="b"/>
            <a:pathLst>
              <a:path w="15321" h="1324">
                <a:moveTo>
                  <a:pt x="0" y="0"/>
                </a:moveTo>
                <a:lnTo>
                  <a:pt x="15321" y="0"/>
                </a:lnTo>
                <a:lnTo>
                  <a:pt x="15321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46" name=""/>
          <p:cNvSpPr/>
          <p:nvPr/>
        </p:nvSpPr>
        <p:spPr>
          <a:xfrm>
            <a:off x="599760" y="3790800"/>
            <a:ext cx="2791440" cy="486000"/>
          </a:xfrm>
          <a:custGeom>
            <a:avLst/>
            <a:gdLst/>
            <a:ahLst/>
            <a:rect l="0" t="0" r="r" b="b"/>
            <a:pathLst>
              <a:path w="7754" h="1350">
                <a:moveTo>
                  <a:pt x="0" y="0"/>
                </a:moveTo>
                <a:lnTo>
                  <a:pt x="7754" y="0"/>
                </a:lnTo>
                <a:lnTo>
                  <a:pt x="7754" y="1350"/>
                </a:lnTo>
                <a:lnTo>
                  <a:pt x="0" y="13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47" name=""/>
          <p:cNvSpPr/>
          <p:nvPr/>
        </p:nvSpPr>
        <p:spPr>
          <a:xfrm>
            <a:off x="3390840" y="3790800"/>
            <a:ext cx="2695680" cy="486000"/>
          </a:xfrm>
          <a:custGeom>
            <a:avLst/>
            <a:gdLst/>
            <a:ahLst/>
            <a:rect l="0" t="0" r="r" b="b"/>
            <a:pathLst>
              <a:path w="7488" h="1350">
                <a:moveTo>
                  <a:pt x="0" y="0"/>
                </a:moveTo>
                <a:lnTo>
                  <a:pt x="7488" y="0"/>
                </a:lnTo>
                <a:lnTo>
                  <a:pt x="7488" y="1350"/>
                </a:lnTo>
                <a:lnTo>
                  <a:pt x="0" y="13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48" name=""/>
          <p:cNvSpPr/>
          <p:nvPr/>
        </p:nvSpPr>
        <p:spPr>
          <a:xfrm>
            <a:off x="6086160" y="3790800"/>
            <a:ext cx="5515560" cy="486000"/>
          </a:xfrm>
          <a:custGeom>
            <a:avLst/>
            <a:gdLst/>
            <a:ahLst/>
            <a:rect l="0" t="0" r="r" b="b"/>
            <a:pathLst>
              <a:path w="15321" h="1350">
                <a:moveTo>
                  <a:pt x="0" y="0"/>
                </a:moveTo>
                <a:lnTo>
                  <a:pt x="15321" y="0"/>
                </a:lnTo>
                <a:lnTo>
                  <a:pt x="15321" y="1350"/>
                </a:lnTo>
                <a:lnTo>
                  <a:pt x="0" y="13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49" name=""/>
          <p:cNvSpPr/>
          <p:nvPr/>
        </p:nvSpPr>
        <p:spPr>
          <a:xfrm>
            <a:off x="599760" y="4276440"/>
            <a:ext cx="2791440" cy="476640"/>
          </a:xfrm>
          <a:custGeom>
            <a:avLst/>
            <a:gdLst/>
            <a:ahLst/>
            <a:rect l="0" t="0" r="r" b="b"/>
            <a:pathLst>
              <a:path w="7754" h="1324">
                <a:moveTo>
                  <a:pt x="0" y="0"/>
                </a:moveTo>
                <a:lnTo>
                  <a:pt x="7754" y="0"/>
                </a:lnTo>
                <a:lnTo>
                  <a:pt x="7754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50" name=""/>
          <p:cNvSpPr/>
          <p:nvPr/>
        </p:nvSpPr>
        <p:spPr>
          <a:xfrm>
            <a:off x="3390840" y="4276440"/>
            <a:ext cx="2695680" cy="476640"/>
          </a:xfrm>
          <a:custGeom>
            <a:avLst/>
            <a:gdLst/>
            <a:ahLst/>
            <a:rect l="0" t="0" r="r" b="b"/>
            <a:pathLst>
              <a:path w="7488" h="1324">
                <a:moveTo>
                  <a:pt x="0" y="0"/>
                </a:moveTo>
                <a:lnTo>
                  <a:pt x="7488" y="0"/>
                </a:lnTo>
                <a:lnTo>
                  <a:pt x="7488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51" name=""/>
          <p:cNvSpPr/>
          <p:nvPr/>
        </p:nvSpPr>
        <p:spPr>
          <a:xfrm>
            <a:off x="6086160" y="4276440"/>
            <a:ext cx="5515560" cy="476640"/>
          </a:xfrm>
          <a:custGeom>
            <a:avLst/>
            <a:gdLst/>
            <a:ahLst/>
            <a:rect l="0" t="0" r="r" b="b"/>
            <a:pathLst>
              <a:path w="15321" h="1324">
                <a:moveTo>
                  <a:pt x="0" y="0"/>
                </a:moveTo>
                <a:lnTo>
                  <a:pt x="15321" y="0"/>
                </a:lnTo>
                <a:lnTo>
                  <a:pt x="15321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52" name=""/>
          <p:cNvSpPr/>
          <p:nvPr/>
        </p:nvSpPr>
        <p:spPr>
          <a:xfrm>
            <a:off x="590400" y="2342880"/>
            <a:ext cx="9720" cy="495720"/>
          </a:xfrm>
          <a:custGeom>
            <a:avLst/>
            <a:gdLst/>
            <a:ahLst/>
            <a:rect l="0" t="0" r="r" b="b"/>
            <a:pathLst>
              <a:path w="27" h="1377">
                <a:moveTo>
                  <a:pt x="0" y="0"/>
                </a:moveTo>
                <a:lnTo>
                  <a:pt x="27" y="0"/>
                </a:lnTo>
                <a:lnTo>
                  <a:pt x="27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53" name=""/>
          <p:cNvSpPr/>
          <p:nvPr/>
        </p:nvSpPr>
        <p:spPr>
          <a:xfrm>
            <a:off x="590400" y="2342880"/>
            <a:ext cx="2810160" cy="10080"/>
          </a:xfrm>
          <a:custGeom>
            <a:avLst/>
            <a:gdLst/>
            <a:ahLst/>
            <a:rect l="0" t="0" r="r" b="b"/>
            <a:pathLst>
              <a:path w="7806" h="28">
                <a:moveTo>
                  <a:pt x="0" y="0"/>
                </a:moveTo>
                <a:lnTo>
                  <a:pt x="7806" y="0"/>
                </a:lnTo>
                <a:lnTo>
                  <a:pt x="780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54" name=""/>
          <p:cNvSpPr/>
          <p:nvPr/>
        </p:nvSpPr>
        <p:spPr>
          <a:xfrm>
            <a:off x="3390840" y="2342880"/>
            <a:ext cx="9720" cy="495720"/>
          </a:xfrm>
          <a:custGeom>
            <a:avLst/>
            <a:gdLst/>
            <a:ahLst/>
            <a:rect l="0" t="0" r="r" b="b"/>
            <a:pathLst>
              <a:path w="27" h="1377">
                <a:moveTo>
                  <a:pt x="0" y="0"/>
                </a:moveTo>
                <a:lnTo>
                  <a:pt x="27" y="0"/>
                </a:lnTo>
                <a:lnTo>
                  <a:pt x="27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55" name=""/>
          <p:cNvSpPr/>
          <p:nvPr/>
        </p:nvSpPr>
        <p:spPr>
          <a:xfrm>
            <a:off x="3400200" y="2342880"/>
            <a:ext cx="2696040" cy="10080"/>
          </a:xfrm>
          <a:custGeom>
            <a:avLst/>
            <a:gdLst/>
            <a:ahLst/>
            <a:rect l="0" t="0" r="r" b="b"/>
            <a:pathLst>
              <a:path w="7489" h="28">
                <a:moveTo>
                  <a:pt x="0" y="0"/>
                </a:moveTo>
                <a:lnTo>
                  <a:pt x="7489" y="0"/>
                </a:lnTo>
                <a:lnTo>
                  <a:pt x="748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56" name=""/>
          <p:cNvSpPr/>
          <p:nvPr/>
        </p:nvSpPr>
        <p:spPr>
          <a:xfrm>
            <a:off x="6086160" y="2342880"/>
            <a:ext cx="10080" cy="495720"/>
          </a:xfrm>
          <a:custGeom>
            <a:avLst/>
            <a:gdLst/>
            <a:ahLst/>
            <a:rect l="0" t="0" r="r" b="b"/>
            <a:pathLst>
              <a:path w="28" h="1377">
                <a:moveTo>
                  <a:pt x="0" y="0"/>
                </a:moveTo>
                <a:lnTo>
                  <a:pt x="28" y="0"/>
                </a:lnTo>
                <a:lnTo>
                  <a:pt x="28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57" name=""/>
          <p:cNvSpPr/>
          <p:nvPr/>
        </p:nvSpPr>
        <p:spPr>
          <a:xfrm>
            <a:off x="6095880" y="2342880"/>
            <a:ext cx="5505840" cy="10080"/>
          </a:xfrm>
          <a:custGeom>
            <a:avLst/>
            <a:gdLst/>
            <a:ahLst/>
            <a:rect l="0" t="0" r="r" b="b"/>
            <a:pathLst>
              <a:path w="15294" h="28">
                <a:moveTo>
                  <a:pt x="0" y="0"/>
                </a:moveTo>
                <a:lnTo>
                  <a:pt x="15294" y="0"/>
                </a:lnTo>
                <a:lnTo>
                  <a:pt x="152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58" name=""/>
          <p:cNvSpPr/>
          <p:nvPr/>
        </p:nvSpPr>
        <p:spPr>
          <a:xfrm>
            <a:off x="11591640" y="2342880"/>
            <a:ext cx="10080" cy="495720"/>
          </a:xfrm>
          <a:custGeom>
            <a:avLst/>
            <a:gdLst/>
            <a:ahLst/>
            <a:rect l="0" t="0" r="r" b="b"/>
            <a:pathLst>
              <a:path w="28" h="1377">
                <a:moveTo>
                  <a:pt x="0" y="0"/>
                </a:moveTo>
                <a:lnTo>
                  <a:pt x="28" y="0"/>
                </a:lnTo>
                <a:lnTo>
                  <a:pt x="28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59" name=""/>
          <p:cNvSpPr/>
          <p:nvPr/>
        </p:nvSpPr>
        <p:spPr>
          <a:xfrm>
            <a:off x="590400" y="2828880"/>
            <a:ext cx="2810160" cy="9720"/>
          </a:xfrm>
          <a:custGeom>
            <a:avLst/>
            <a:gdLst/>
            <a:ahLst/>
            <a:rect l="0" t="0" r="r" b="b"/>
            <a:pathLst>
              <a:path w="7806" h="27">
                <a:moveTo>
                  <a:pt x="0" y="0"/>
                </a:moveTo>
                <a:lnTo>
                  <a:pt x="7806" y="0"/>
                </a:lnTo>
                <a:lnTo>
                  <a:pt x="780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60" name=""/>
          <p:cNvSpPr/>
          <p:nvPr/>
        </p:nvSpPr>
        <p:spPr>
          <a:xfrm>
            <a:off x="3400200" y="2828880"/>
            <a:ext cx="2696040" cy="9720"/>
          </a:xfrm>
          <a:custGeom>
            <a:avLst/>
            <a:gdLst/>
            <a:ahLst/>
            <a:rect l="0" t="0" r="r" b="b"/>
            <a:pathLst>
              <a:path w="7489" h="27">
                <a:moveTo>
                  <a:pt x="0" y="0"/>
                </a:moveTo>
                <a:lnTo>
                  <a:pt x="7489" y="0"/>
                </a:lnTo>
                <a:lnTo>
                  <a:pt x="748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61" name=""/>
          <p:cNvSpPr/>
          <p:nvPr/>
        </p:nvSpPr>
        <p:spPr>
          <a:xfrm>
            <a:off x="6095880" y="2828880"/>
            <a:ext cx="5505840" cy="9720"/>
          </a:xfrm>
          <a:custGeom>
            <a:avLst/>
            <a:gdLst/>
            <a:ahLst/>
            <a:rect l="0" t="0" r="r" b="b"/>
            <a:pathLst>
              <a:path w="15294" h="27">
                <a:moveTo>
                  <a:pt x="0" y="0"/>
                </a:moveTo>
                <a:lnTo>
                  <a:pt x="15294" y="0"/>
                </a:lnTo>
                <a:lnTo>
                  <a:pt x="1529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62" name=""/>
          <p:cNvSpPr/>
          <p:nvPr/>
        </p:nvSpPr>
        <p:spPr>
          <a:xfrm>
            <a:off x="590400" y="2838240"/>
            <a:ext cx="9720" cy="476640"/>
          </a:xfrm>
          <a:custGeom>
            <a:avLst/>
            <a:gdLst/>
            <a:ahLst/>
            <a:rect l="0" t="0" r="r" b="b"/>
            <a:pathLst>
              <a:path w="27" h="1324">
                <a:moveTo>
                  <a:pt x="0" y="0"/>
                </a:moveTo>
                <a:lnTo>
                  <a:pt x="27" y="0"/>
                </a:lnTo>
                <a:lnTo>
                  <a:pt x="27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63" name=""/>
          <p:cNvSpPr/>
          <p:nvPr/>
        </p:nvSpPr>
        <p:spPr>
          <a:xfrm>
            <a:off x="3390840" y="2838240"/>
            <a:ext cx="9720" cy="476640"/>
          </a:xfrm>
          <a:custGeom>
            <a:avLst/>
            <a:gdLst/>
            <a:ahLst/>
            <a:rect l="0" t="0" r="r" b="b"/>
            <a:pathLst>
              <a:path w="27" h="1324">
                <a:moveTo>
                  <a:pt x="0" y="0"/>
                </a:moveTo>
                <a:lnTo>
                  <a:pt x="27" y="0"/>
                </a:lnTo>
                <a:lnTo>
                  <a:pt x="27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64" name=""/>
          <p:cNvSpPr/>
          <p:nvPr/>
        </p:nvSpPr>
        <p:spPr>
          <a:xfrm>
            <a:off x="6086160" y="2838240"/>
            <a:ext cx="10080" cy="476640"/>
          </a:xfrm>
          <a:custGeom>
            <a:avLst/>
            <a:gdLst/>
            <a:ahLst/>
            <a:rect l="0" t="0" r="r" b="b"/>
            <a:pathLst>
              <a:path w="28" h="1324">
                <a:moveTo>
                  <a:pt x="0" y="0"/>
                </a:moveTo>
                <a:lnTo>
                  <a:pt x="28" y="0"/>
                </a:lnTo>
                <a:lnTo>
                  <a:pt x="28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65" name=""/>
          <p:cNvSpPr/>
          <p:nvPr/>
        </p:nvSpPr>
        <p:spPr>
          <a:xfrm>
            <a:off x="11591640" y="2838240"/>
            <a:ext cx="10080" cy="476640"/>
          </a:xfrm>
          <a:custGeom>
            <a:avLst/>
            <a:gdLst/>
            <a:ahLst/>
            <a:rect l="0" t="0" r="r" b="b"/>
            <a:pathLst>
              <a:path w="28" h="1324">
                <a:moveTo>
                  <a:pt x="0" y="0"/>
                </a:moveTo>
                <a:lnTo>
                  <a:pt x="28" y="0"/>
                </a:lnTo>
                <a:lnTo>
                  <a:pt x="28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66" name=""/>
          <p:cNvSpPr/>
          <p:nvPr/>
        </p:nvSpPr>
        <p:spPr>
          <a:xfrm>
            <a:off x="590400" y="3314520"/>
            <a:ext cx="9720" cy="486000"/>
          </a:xfrm>
          <a:custGeom>
            <a:avLst/>
            <a:gdLst/>
            <a:ahLst/>
            <a:rect l="0" t="0" r="r" b="b"/>
            <a:pathLst>
              <a:path w="27" h="1350">
                <a:moveTo>
                  <a:pt x="0" y="0"/>
                </a:moveTo>
                <a:lnTo>
                  <a:pt x="27" y="0"/>
                </a:lnTo>
                <a:lnTo>
                  <a:pt x="27" y="1350"/>
                </a:lnTo>
                <a:lnTo>
                  <a:pt x="0" y="135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67" name=""/>
          <p:cNvSpPr/>
          <p:nvPr/>
        </p:nvSpPr>
        <p:spPr>
          <a:xfrm>
            <a:off x="590400" y="3305160"/>
            <a:ext cx="2810160" cy="9720"/>
          </a:xfrm>
          <a:custGeom>
            <a:avLst/>
            <a:gdLst/>
            <a:ahLst/>
            <a:rect l="0" t="0" r="r" b="b"/>
            <a:pathLst>
              <a:path w="7806" h="27">
                <a:moveTo>
                  <a:pt x="0" y="0"/>
                </a:moveTo>
                <a:lnTo>
                  <a:pt x="7806" y="0"/>
                </a:lnTo>
                <a:lnTo>
                  <a:pt x="780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68" name=""/>
          <p:cNvSpPr/>
          <p:nvPr/>
        </p:nvSpPr>
        <p:spPr>
          <a:xfrm>
            <a:off x="3390840" y="3314520"/>
            <a:ext cx="9720" cy="486000"/>
          </a:xfrm>
          <a:custGeom>
            <a:avLst/>
            <a:gdLst/>
            <a:ahLst/>
            <a:rect l="0" t="0" r="r" b="b"/>
            <a:pathLst>
              <a:path w="27" h="1350">
                <a:moveTo>
                  <a:pt x="0" y="0"/>
                </a:moveTo>
                <a:lnTo>
                  <a:pt x="27" y="0"/>
                </a:lnTo>
                <a:lnTo>
                  <a:pt x="27" y="1350"/>
                </a:lnTo>
                <a:lnTo>
                  <a:pt x="0" y="135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69" name=""/>
          <p:cNvSpPr/>
          <p:nvPr/>
        </p:nvSpPr>
        <p:spPr>
          <a:xfrm>
            <a:off x="3400200" y="3305160"/>
            <a:ext cx="2696040" cy="9720"/>
          </a:xfrm>
          <a:custGeom>
            <a:avLst/>
            <a:gdLst/>
            <a:ahLst/>
            <a:rect l="0" t="0" r="r" b="b"/>
            <a:pathLst>
              <a:path w="7489" h="27">
                <a:moveTo>
                  <a:pt x="0" y="0"/>
                </a:moveTo>
                <a:lnTo>
                  <a:pt x="7489" y="0"/>
                </a:lnTo>
                <a:lnTo>
                  <a:pt x="748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70" name=""/>
          <p:cNvSpPr/>
          <p:nvPr/>
        </p:nvSpPr>
        <p:spPr>
          <a:xfrm>
            <a:off x="6086160" y="3314520"/>
            <a:ext cx="10080" cy="486000"/>
          </a:xfrm>
          <a:custGeom>
            <a:avLst/>
            <a:gdLst/>
            <a:ahLst/>
            <a:rect l="0" t="0" r="r" b="b"/>
            <a:pathLst>
              <a:path w="28" h="1350">
                <a:moveTo>
                  <a:pt x="0" y="0"/>
                </a:moveTo>
                <a:lnTo>
                  <a:pt x="28" y="0"/>
                </a:lnTo>
                <a:lnTo>
                  <a:pt x="28" y="1350"/>
                </a:lnTo>
                <a:lnTo>
                  <a:pt x="0" y="135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71" name=""/>
          <p:cNvSpPr/>
          <p:nvPr/>
        </p:nvSpPr>
        <p:spPr>
          <a:xfrm>
            <a:off x="6095880" y="3305160"/>
            <a:ext cx="5505840" cy="9720"/>
          </a:xfrm>
          <a:custGeom>
            <a:avLst/>
            <a:gdLst/>
            <a:ahLst/>
            <a:rect l="0" t="0" r="r" b="b"/>
            <a:pathLst>
              <a:path w="15294" h="27">
                <a:moveTo>
                  <a:pt x="0" y="0"/>
                </a:moveTo>
                <a:lnTo>
                  <a:pt x="15294" y="0"/>
                </a:lnTo>
                <a:lnTo>
                  <a:pt x="1529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72" name=""/>
          <p:cNvSpPr/>
          <p:nvPr/>
        </p:nvSpPr>
        <p:spPr>
          <a:xfrm>
            <a:off x="11591640" y="3314520"/>
            <a:ext cx="10080" cy="486000"/>
          </a:xfrm>
          <a:custGeom>
            <a:avLst/>
            <a:gdLst/>
            <a:ahLst/>
            <a:rect l="0" t="0" r="r" b="b"/>
            <a:pathLst>
              <a:path w="28" h="1350">
                <a:moveTo>
                  <a:pt x="0" y="0"/>
                </a:moveTo>
                <a:lnTo>
                  <a:pt x="28" y="0"/>
                </a:lnTo>
                <a:lnTo>
                  <a:pt x="28" y="1350"/>
                </a:lnTo>
                <a:lnTo>
                  <a:pt x="0" y="135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73" name=""/>
          <p:cNvSpPr/>
          <p:nvPr/>
        </p:nvSpPr>
        <p:spPr>
          <a:xfrm>
            <a:off x="590400" y="3800160"/>
            <a:ext cx="9720" cy="476640"/>
          </a:xfrm>
          <a:custGeom>
            <a:avLst/>
            <a:gdLst/>
            <a:ahLst/>
            <a:rect l="0" t="0" r="r" b="b"/>
            <a:pathLst>
              <a:path w="27" h="1324">
                <a:moveTo>
                  <a:pt x="0" y="0"/>
                </a:moveTo>
                <a:lnTo>
                  <a:pt x="27" y="0"/>
                </a:lnTo>
                <a:lnTo>
                  <a:pt x="27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74" name=""/>
          <p:cNvSpPr/>
          <p:nvPr/>
        </p:nvSpPr>
        <p:spPr>
          <a:xfrm>
            <a:off x="590400" y="3790800"/>
            <a:ext cx="2810160" cy="9720"/>
          </a:xfrm>
          <a:custGeom>
            <a:avLst/>
            <a:gdLst/>
            <a:ahLst/>
            <a:rect l="0" t="0" r="r" b="b"/>
            <a:pathLst>
              <a:path w="7806" h="27">
                <a:moveTo>
                  <a:pt x="0" y="0"/>
                </a:moveTo>
                <a:lnTo>
                  <a:pt x="7806" y="0"/>
                </a:lnTo>
                <a:lnTo>
                  <a:pt x="780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75" name=""/>
          <p:cNvSpPr/>
          <p:nvPr/>
        </p:nvSpPr>
        <p:spPr>
          <a:xfrm>
            <a:off x="3390840" y="3800160"/>
            <a:ext cx="9720" cy="476640"/>
          </a:xfrm>
          <a:custGeom>
            <a:avLst/>
            <a:gdLst/>
            <a:ahLst/>
            <a:rect l="0" t="0" r="r" b="b"/>
            <a:pathLst>
              <a:path w="27" h="1324">
                <a:moveTo>
                  <a:pt x="0" y="0"/>
                </a:moveTo>
                <a:lnTo>
                  <a:pt x="27" y="0"/>
                </a:lnTo>
                <a:lnTo>
                  <a:pt x="27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76" name=""/>
          <p:cNvSpPr/>
          <p:nvPr/>
        </p:nvSpPr>
        <p:spPr>
          <a:xfrm>
            <a:off x="3400200" y="3790800"/>
            <a:ext cx="2696040" cy="9720"/>
          </a:xfrm>
          <a:custGeom>
            <a:avLst/>
            <a:gdLst/>
            <a:ahLst/>
            <a:rect l="0" t="0" r="r" b="b"/>
            <a:pathLst>
              <a:path w="7489" h="27">
                <a:moveTo>
                  <a:pt x="0" y="0"/>
                </a:moveTo>
                <a:lnTo>
                  <a:pt x="7489" y="0"/>
                </a:lnTo>
                <a:lnTo>
                  <a:pt x="748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77" name=""/>
          <p:cNvSpPr/>
          <p:nvPr/>
        </p:nvSpPr>
        <p:spPr>
          <a:xfrm>
            <a:off x="6086160" y="3800160"/>
            <a:ext cx="10080" cy="476640"/>
          </a:xfrm>
          <a:custGeom>
            <a:avLst/>
            <a:gdLst/>
            <a:ahLst/>
            <a:rect l="0" t="0" r="r" b="b"/>
            <a:pathLst>
              <a:path w="28" h="1324">
                <a:moveTo>
                  <a:pt x="0" y="0"/>
                </a:moveTo>
                <a:lnTo>
                  <a:pt x="28" y="0"/>
                </a:lnTo>
                <a:lnTo>
                  <a:pt x="28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78" name=""/>
          <p:cNvSpPr/>
          <p:nvPr/>
        </p:nvSpPr>
        <p:spPr>
          <a:xfrm>
            <a:off x="6095880" y="3790800"/>
            <a:ext cx="5505840" cy="9720"/>
          </a:xfrm>
          <a:custGeom>
            <a:avLst/>
            <a:gdLst/>
            <a:ahLst/>
            <a:rect l="0" t="0" r="r" b="b"/>
            <a:pathLst>
              <a:path w="15294" h="27">
                <a:moveTo>
                  <a:pt x="0" y="0"/>
                </a:moveTo>
                <a:lnTo>
                  <a:pt x="15294" y="0"/>
                </a:lnTo>
                <a:lnTo>
                  <a:pt x="1529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79" name=""/>
          <p:cNvSpPr/>
          <p:nvPr/>
        </p:nvSpPr>
        <p:spPr>
          <a:xfrm>
            <a:off x="11591640" y="3800160"/>
            <a:ext cx="10080" cy="476640"/>
          </a:xfrm>
          <a:custGeom>
            <a:avLst/>
            <a:gdLst/>
            <a:ahLst/>
            <a:rect l="0" t="0" r="r" b="b"/>
            <a:pathLst>
              <a:path w="28" h="1324">
                <a:moveTo>
                  <a:pt x="0" y="0"/>
                </a:moveTo>
                <a:lnTo>
                  <a:pt x="28" y="0"/>
                </a:lnTo>
                <a:lnTo>
                  <a:pt x="28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80" name=""/>
          <p:cNvSpPr/>
          <p:nvPr/>
        </p:nvSpPr>
        <p:spPr>
          <a:xfrm>
            <a:off x="590400" y="4276440"/>
            <a:ext cx="9720" cy="486360"/>
          </a:xfrm>
          <a:custGeom>
            <a:avLst/>
            <a:gdLst/>
            <a:ahLst/>
            <a:rect l="0" t="0" r="r" b="b"/>
            <a:pathLst>
              <a:path w="27" h="1351">
                <a:moveTo>
                  <a:pt x="0" y="0"/>
                </a:moveTo>
                <a:lnTo>
                  <a:pt x="27" y="0"/>
                </a:lnTo>
                <a:lnTo>
                  <a:pt x="27" y="1351"/>
                </a:lnTo>
                <a:lnTo>
                  <a:pt x="0" y="135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81" name=""/>
          <p:cNvSpPr/>
          <p:nvPr/>
        </p:nvSpPr>
        <p:spPr>
          <a:xfrm>
            <a:off x="590400" y="4267080"/>
            <a:ext cx="2810160" cy="9720"/>
          </a:xfrm>
          <a:custGeom>
            <a:avLst/>
            <a:gdLst/>
            <a:ahLst/>
            <a:rect l="0" t="0" r="r" b="b"/>
            <a:pathLst>
              <a:path w="7806" h="27">
                <a:moveTo>
                  <a:pt x="0" y="0"/>
                </a:moveTo>
                <a:lnTo>
                  <a:pt x="7806" y="0"/>
                </a:lnTo>
                <a:lnTo>
                  <a:pt x="780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82" name=""/>
          <p:cNvSpPr/>
          <p:nvPr/>
        </p:nvSpPr>
        <p:spPr>
          <a:xfrm>
            <a:off x="3390840" y="4276440"/>
            <a:ext cx="9720" cy="486360"/>
          </a:xfrm>
          <a:custGeom>
            <a:avLst/>
            <a:gdLst/>
            <a:ahLst/>
            <a:rect l="0" t="0" r="r" b="b"/>
            <a:pathLst>
              <a:path w="27" h="1351">
                <a:moveTo>
                  <a:pt x="0" y="0"/>
                </a:moveTo>
                <a:lnTo>
                  <a:pt x="27" y="0"/>
                </a:lnTo>
                <a:lnTo>
                  <a:pt x="27" y="1351"/>
                </a:lnTo>
                <a:lnTo>
                  <a:pt x="0" y="135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83" name=""/>
          <p:cNvSpPr/>
          <p:nvPr/>
        </p:nvSpPr>
        <p:spPr>
          <a:xfrm>
            <a:off x="3400200" y="4267080"/>
            <a:ext cx="2696040" cy="9720"/>
          </a:xfrm>
          <a:custGeom>
            <a:avLst/>
            <a:gdLst/>
            <a:ahLst/>
            <a:rect l="0" t="0" r="r" b="b"/>
            <a:pathLst>
              <a:path w="7489" h="27">
                <a:moveTo>
                  <a:pt x="0" y="0"/>
                </a:moveTo>
                <a:lnTo>
                  <a:pt x="7489" y="0"/>
                </a:lnTo>
                <a:lnTo>
                  <a:pt x="748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84" name=""/>
          <p:cNvSpPr/>
          <p:nvPr/>
        </p:nvSpPr>
        <p:spPr>
          <a:xfrm>
            <a:off x="6086160" y="4276440"/>
            <a:ext cx="10080" cy="486360"/>
          </a:xfrm>
          <a:custGeom>
            <a:avLst/>
            <a:gdLst/>
            <a:ahLst/>
            <a:rect l="0" t="0" r="r" b="b"/>
            <a:pathLst>
              <a:path w="28" h="1351">
                <a:moveTo>
                  <a:pt x="0" y="0"/>
                </a:moveTo>
                <a:lnTo>
                  <a:pt x="28" y="0"/>
                </a:lnTo>
                <a:lnTo>
                  <a:pt x="28" y="1351"/>
                </a:lnTo>
                <a:lnTo>
                  <a:pt x="0" y="135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85" name=""/>
          <p:cNvSpPr/>
          <p:nvPr/>
        </p:nvSpPr>
        <p:spPr>
          <a:xfrm>
            <a:off x="6095880" y="4267080"/>
            <a:ext cx="5505840" cy="9720"/>
          </a:xfrm>
          <a:custGeom>
            <a:avLst/>
            <a:gdLst/>
            <a:ahLst/>
            <a:rect l="0" t="0" r="r" b="b"/>
            <a:pathLst>
              <a:path w="15294" h="27">
                <a:moveTo>
                  <a:pt x="0" y="0"/>
                </a:moveTo>
                <a:lnTo>
                  <a:pt x="15294" y="0"/>
                </a:lnTo>
                <a:lnTo>
                  <a:pt x="1529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86" name=""/>
          <p:cNvSpPr/>
          <p:nvPr/>
        </p:nvSpPr>
        <p:spPr>
          <a:xfrm>
            <a:off x="11591640" y="4276440"/>
            <a:ext cx="10080" cy="486360"/>
          </a:xfrm>
          <a:custGeom>
            <a:avLst/>
            <a:gdLst/>
            <a:ahLst/>
            <a:rect l="0" t="0" r="r" b="b"/>
            <a:pathLst>
              <a:path w="28" h="1351">
                <a:moveTo>
                  <a:pt x="0" y="0"/>
                </a:moveTo>
                <a:lnTo>
                  <a:pt x="28" y="0"/>
                </a:lnTo>
                <a:lnTo>
                  <a:pt x="28" y="1351"/>
                </a:lnTo>
                <a:lnTo>
                  <a:pt x="0" y="135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87" name=""/>
          <p:cNvSpPr/>
          <p:nvPr/>
        </p:nvSpPr>
        <p:spPr>
          <a:xfrm>
            <a:off x="590400" y="4752720"/>
            <a:ext cx="2810160" cy="10080"/>
          </a:xfrm>
          <a:custGeom>
            <a:avLst/>
            <a:gdLst/>
            <a:ahLst/>
            <a:rect l="0" t="0" r="r" b="b"/>
            <a:pathLst>
              <a:path w="7806" h="28">
                <a:moveTo>
                  <a:pt x="0" y="0"/>
                </a:moveTo>
                <a:lnTo>
                  <a:pt x="7806" y="0"/>
                </a:lnTo>
                <a:lnTo>
                  <a:pt x="780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88" name=""/>
          <p:cNvSpPr/>
          <p:nvPr/>
        </p:nvSpPr>
        <p:spPr>
          <a:xfrm>
            <a:off x="3400200" y="4752720"/>
            <a:ext cx="2696040" cy="10080"/>
          </a:xfrm>
          <a:custGeom>
            <a:avLst/>
            <a:gdLst/>
            <a:ahLst/>
            <a:rect l="0" t="0" r="r" b="b"/>
            <a:pathLst>
              <a:path w="7489" h="28">
                <a:moveTo>
                  <a:pt x="0" y="0"/>
                </a:moveTo>
                <a:lnTo>
                  <a:pt x="7489" y="0"/>
                </a:lnTo>
                <a:lnTo>
                  <a:pt x="748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89" name=""/>
          <p:cNvSpPr/>
          <p:nvPr/>
        </p:nvSpPr>
        <p:spPr>
          <a:xfrm>
            <a:off x="6095880" y="4752720"/>
            <a:ext cx="5505840" cy="10080"/>
          </a:xfrm>
          <a:custGeom>
            <a:avLst/>
            <a:gdLst/>
            <a:ahLst/>
            <a:rect l="0" t="0" r="r" b="b"/>
            <a:pathLst>
              <a:path w="15294" h="28">
                <a:moveTo>
                  <a:pt x="0" y="0"/>
                </a:moveTo>
                <a:lnTo>
                  <a:pt x="15294" y="0"/>
                </a:lnTo>
                <a:lnTo>
                  <a:pt x="152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90" name=""/>
          <p:cNvSpPr txBox="1"/>
          <p:nvPr/>
        </p:nvSpPr>
        <p:spPr>
          <a:xfrm>
            <a:off x="590400" y="1586520"/>
            <a:ext cx="7062012" cy="36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8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同じ意味から、日本語とコードを作る</a:t>
            </a:r>
            <a:endParaRPr lang="en-US" sz="28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91" name=""/>
          <p:cNvSpPr txBox="1"/>
          <p:nvPr/>
        </p:nvSpPr>
        <p:spPr>
          <a:xfrm>
            <a:off x="723960" y="2467080"/>
            <a:ext cx="547722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7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段階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92" name=""/>
          <p:cNvSpPr txBox="1"/>
          <p:nvPr/>
        </p:nvSpPr>
        <p:spPr>
          <a:xfrm>
            <a:off x="3521160" y="2467080"/>
            <a:ext cx="1094616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7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作るもの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93" name=""/>
          <p:cNvSpPr txBox="1"/>
          <p:nvPr/>
        </p:nvSpPr>
        <p:spPr>
          <a:xfrm>
            <a:off x="6219720" y="2467080"/>
            <a:ext cx="274068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7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例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94" name=""/>
          <p:cNvSpPr txBox="1"/>
          <p:nvPr/>
        </p:nvSpPr>
        <p:spPr>
          <a:xfrm>
            <a:off x="723960" y="2952720"/>
            <a:ext cx="2005830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① 意味を決める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95" name=""/>
          <p:cNvSpPr txBox="1"/>
          <p:nvPr/>
        </p:nvSpPr>
        <p:spPr>
          <a:xfrm>
            <a:off x="3521160" y="2952720"/>
            <a:ext cx="2187990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操作と順序の記録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96" name=""/>
          <p:cNvSpPr txBox="1"/>
          <p:nvPr/>
        </p:nvSpPr>
        <p:spPr>
          <a:xfrm>
            <a:off x="6219720" y="2952720"/>
            <a:ext cx="3985992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偶数を残す。その後、</a:t>
            </a:r>
            <a:r>
              <a:rPr lang="en-US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k</a:t>
            </a:r>
            <a:r>
              <a:rPr lang="ja-JP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を加える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97" name=""/>
          <p:cNvSpPr txBox="1"/>
          <p:nvPr/>
        </p:nvSpPr>
        <p:spPr>
          <a:xfrm>
            <a:off x="723960" y="3429000"/>
            <a:ext cx="1732176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② 指示を作る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98" name=""/>
          <p:cNvSpPr txBox="1"/>
          <p:nvPr/>
        </p:nvSpPr>
        <p:spPr>
          <a:xfrm>
            <a:off x="3521160" y="3429000"/>
            <a:ext cx="1641096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日本語の説明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99" name=""/>
          <p:cNvSpPr txBox="1"/>
          <p:nvPr/>
        </p:nvSpPr>
        <p:spPr>
          <a:xfrm>
            <a:off x="6219720" y="3429000"/>
            <a:ext cx="4806126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偶数だけを残して、各要素に</a:t>
            </a:r>
            <a:r>
              <a:rPr lang="en-US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k</a:t>
            </a:r>
            <a:r>
              <a:rPr lang="ja-JP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を加える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00" name=""/>
          <p:cNvSpPr txBox="1"/>
          <p:nvPr/>
        </p:nvSpPr>
        <p:spPr>
          <a:xfrm>
            <a:off x="723960" y="3914640"/>
            <a:ext cx="1732176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③ 正解を作る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01" name=""/>
          <p:cNvSpPr txBox="1"/>
          <p:nvPr/>
        </p:nvSpPr>
        <p:spPr>
          <a:xfrm>
            <a:off x="3521160" y="3914640"/>
            <a:ext cx="1769022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Python</a:t>
            </a:r>
            <a:r>
              <a:rPr lang="ja-JP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コード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02" name=""/>
          <p:cNvSpPr txBox="1"/>
          <p:nvPr/>
        </p:nvSpPr>
        <p:spPr>
          <a:xfrm>
            <a:off x="6219720" y="3914640"/>
            <a:ext cx="3972330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指示どおりに処理する</a:t>
            </a:r>
            <a:r>
              <a:rPr lang="en-US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solve</a:t>
            </a:r>
            <a:r>
              <a:rPr lang="ja-JP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関数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03" name=""/>
          <p:cNvSpPr txBox="1"/>
          <p:nvPr/>
        </p:nvSpPr>
        <p:spPr>
          <a:xfrm>
            <a:off x="723960" y="4390920"/>
            <a:ext cx="2279070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④ 動作を確認する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04" name=""/>
          <p:cNvSpPr txBox="1"/>
          <p:nvPr/>
        </p:nvSpPr>
        <p:spPr>
          <a:xfrm>
            <a:off x="3521160" y="4390920"/>
            <a:ext cx="2187990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入力と出力の比較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05" name=""/>
          <p:cNvSpPr txBox="1"/>
          <p:nvPr/>
        </p:nvSpPr>
        <p:spPr>
          <a:xfrm>
            <a:off x="6219720" y="4390920"/>
            <a:ext cx="3555018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参照実装と結果が一致するか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06" name=""/>
          <p:cNvSpPr txBox="1"/>
          <p:nvPr/>
        </p:nvSpPr>
        <p:spPr>
          <a:xfrm>
            <a:off x="590400" y="5012280"/>
            <a:ext cx="5628330" cy="258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0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指示と正解を、一つの意味に対応付ける。</a:t>
            </a:r>
            <a:endParaRPr lang="en-US" sz="202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07" name=""/>
          <p:cNvSpPr txBox="1"/>
          <p:nvPr/>
        </p:nvSpPr>
        <p:spPr>
          <a:xfrm>
            <a:off x="11806200" y="6466680"/>
            <a:ext cx="174708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Hiragino Sans"/>
                <a:ea typeface="Hiragino Sans"/>
              </a:rPr>
              <a:t>7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0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1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11" name=""/>
          <p:cNvSpPr/>
          <p:nvPr/>
        </p:nvSpPr>
        <p:spPr>
          <a:xfrm>
            <a:off x="599760" y="2676240"/>
            <a:ext cx="2495880" cy="467280"/>
          </a:xfrm>
          <a:custGeom>
            <a:avLst/>
            <a:gdLst/>
            <a:ahLst/>
            <a:rect l="0" t="0" r="r" b="b"/>
            <a:pathLst>
              <a:path w="6933" h="1298">
                <a:moveTo>
                  <a:pt x="0" y="0"/>
                </a:moveTo>
                <a:lnTo>
                  <a:pt x="6933" y="0"/>
                </a:lnTo>
                <a:lnTo>
                  <a:pt x="6933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12" name=""/>
          <p:cNvSpPr/>
          <p:nvPr/>
        </p:nvSpPr>
        <p:spPr>
          <a:xfrm>
            <a:off x="3095280" y="2676240"/>
            <a:ext cx="5505840" cy="467280"/>
          </a:xfrm>
          <a:custGeom>
            <a:avLst/>
            <a:gdLst/>
            <a:ahLst/>
            <a:rect l="0" t="0" r="r" b="b"/>
            <a:pathLst>
              <a:path w="15294" h="1298">
                <a:moveTo>
                  <a:pt x="0" y="0"/>
                </a:moveTo>
                <a:lnTo>
                  <a:pt x="15294" y="0"/>
                </a:lnTo>
                <a:lnTo>
                  <a:pt x="15294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13" name=""/>
          <p:cNvSpPr/>
          <p:nvPr/>
        </p:nvSpPr>
        <p:spPr>
          <a:xfrm>
            <a:off x="8600760" y="2676240"/>
            <a:ext cx="3000960" cy="467280"/>
          </a:xfrm>
          <a:custGeom>
            <a:avLst/>
            <a:gdLst/>
            <a:ahLst/>
            <a:rect l="0" t="0" r="r" b="b"/>
            <a:pathLst>
              <a:path w="8336" h="1298">
                <a:moveTo>
                  <a:pt x="0" y="0"/>
                </a:moveTo>
                <a:lnTo>
                  <a:pt x="8336" y="0"/>
                </a:lnTo>
                <a:lnTo>
                  <a:pt x="8336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14" name=""/>
          <p:cNvSpPr/>
          <p:nvPr/>
        </p:nvSpPr>
        <p:spPr>
          <a:xfrm>
            <a:off x="599760" y="2676240"/>
            <a:ext cx="2495880" cy="467280"/>
          </a:xfrm>
          <a:custGeom>
            <a:avLst/>
            <a:gdLst/>
            <a:ahLst/>
            <a:rect l="0" t="0" r="r" b="b"/>
            <a:pathLst>
              <a:path w="6933" h="1298">
                <a:moveTo>
                  <a:pt x="0" y="0"/>
                </a:moveTo>
                <a:lnTo>
                  <a:pt x="6933" y="0"/>
                </a:lnTo>
                <a:lnTo>
                  <a:pt x="6933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15" name=""/>
          <p:cNvSpPr/>
          <p:nvPr/>
        </p:nvSpPr>
        <p:spPr>
          <a:xfrm>
            <a:off x="3095280" y="2676240"/>
            <a:ext cx="5505840" cy="467280"/>
          </a:xfrm>
          <a:custGeom>
            <a:avLst/>
            <a:gdLst/>
            <a:ahLst/>
            <a:rect l="0" t="0" r="r" b="b"/>
            <a:pathLst>
              <a:path w="15294" h="1298">
                <a:moveTo>
                  <a:pt x="0" y="0"/>
                </a:moveTo>
                <a:lnTo>
                  <a:pt x="15294" y="0"/>
                </a:lnTo>
                <a:lnTo>
                  <a:pt x="15294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16" name=""/>
          <p:cNvSpPr/>
          <p:nvPr/>
        </p:nvSpPr>
        <p:spPr>
          <a:xfrm>
            <a:off x="8600760" y="2676240"/>
            <a:ext cx="3000960" cy="467280"/>
          </a:xfrm>
          <a:custGeom>
            <a:avLst/>
            <a:gdLst/>
            <a:ahLst/>
            <a:rect l="0" t="0" r="r" b="b"/>
            <a:pathLst>
              <a:path w="8336" h="1298">
                <a:moveTo>
                  <a:pt x="0" y="0"/>
                </a:moveTo>
                <a:lnTo>
                  <a:pt x="8336" y="0"/>
                </a:lnTo>
                <a:lnTo>
                  <a:pt x="8336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17" name=""/>
          <p:cNvSpPr/>
          <p:nvPr/>
        </p:nvSpPr>
        <p:spPr>
          <a:xfrm>
            <a:off x="599760" y="3143160"/>
            <a:ext cx="2495880" cy="466920"/>
          </a:xfrm>
          <a:custGeom>
            <a:avLst/>
            <a:gdLst/>
            <a:ahLst/>
            <a:rect l="0" t="0" r="r" b="b"/>
            <a:pathLst>
              <a:path w="6933" h="1297">
                <a:moveTo>
                  <a:pt x="0" y="0"/>
                </a:moveTo>
                <a:lnTo>
                  <a:pt x="6933" y="0"/>
                </a:lnTo>
                <a:lnTo>
                  <a:pt x="6933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18" name=""/>
          <p:cNvSpPr/>
          <p:nvPr/>
        </p:nvSpPr>
        <p:spPr>
          <a:xfrm>
            <a:off x="3095280" y="3143160"/>
            <a:ext cx="5505840" cy="466920"/>
          </a:xfrm>
          <a:custGeom>
            <a:avLst/>
            <a:gdLst/>
            <a:ahLst/>
            <a:rect l="0" t="0" r="r" b="b"/>
            <a:pathLst>
              <a:path w="15294" h="1297">
                <a:moveTo>
                  <a:pt x="0" y="0"/>
                </a:moveTo>
                <a:lnTo>
                  <a:pt x="15294" y="0"/>
                </a:lnTo>
                <a:lnTo>
                  <a:pt x="15294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19" name=""/>
          <p:cNvSpPr/>
          <p:nvPr/>
        </p:nvSpPr>
        <p:spPr>
          <a:xfrm>
            <a:off x="8600760" y="3143160"/>
            <a:ext cx="3000960" cy="466920"/>
          </a:xfrm>
          <a:custGeom>
            <a:avLst/>
            <a:gdLst/>
            <a:ahLst/>
            <a:rect l="0" t="0" r="r" b="b"/>
            <a:pathLst>
              <a:path w="8336" h="1297">
                <a:moveTo>
                  <a:pt x="0" y="0"/>
                </a:moveTo>
                <a:lnTo>
                  <a:pt x="8336" y="0"/>
                </a:lnTo>
                <a:lnTo>
                  <a:pt x="8336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20" name=""/>
          <p:cNvSpPr/>
          <p:nvPr/>
        </p:nvSpPr>
        <p:spPr>
          <a:xfrm>
            <a:off x="599760" y="3609720"/>
            <a:ext cx="2495880" cy="467280"/>
          </a:xfrm>
          <a:custGeom>
            <a:avLst/>
            <a:gdLst/>
            <a:ahLst/>
            <a:rect l="0" t="0" r="r" b="b"/>
            <a:pathLst>
              <a:path w="6933" h="1298">
                <a:moveTo>
                  <a:pt x="0" y="0"/>
                </a:moveTo>
                <a:lnTo>
                  <a:pt x="6933" y="0"/>
                </a:lnTo>
                <a:lnTo>
                  <a:pt x="6933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21" name=""/>
          <p:cNvSpPr/>
          <p:nvPr/>
        </p:nvSpPr>
        <p:spPr>
          <a:xfrm>
            <a:off x="3095280" y="3609720"/>
            <a:ext cx="5505840" cy="467280"/>
          </a:xfrm>
          <a:custGeom>
            <a:avLst/>
            <a:gdLst/>
            <a:ahLst/>
            <a:rect l="0" t="0" r="r" b="b"/>
            <a:pathLst>
              <a:path w="15294" h="1298">
                <a:moveTo>
                  <a:pt x="0" y="0"/>
                </a:moveTo>
                <a:lnTo>
                  <a:pt x="15294" y="0"/>
                </a:lnTo>
                <a:lnTo>
                  <a:pt x="15294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22" name=""/>
          <p:cNvSpPr/>
          <p:nvPr/>
        </p:nvSpPr>
        <p:spPr>
          <a:xfrm>
            <a:off x="8600760" y="3609720"/>
            <a:ext cx="3000960" cy="467280"/>
          </a:xfrm>
          <a:custGeom>
            <a:avLst/>
            <a:gdLst/>
            <a:ahLst/>
            <a:rect l="0" t="0" r="r" b="b"/>
            <a:pathLst>
              <a:path w="8336" h="1298">
                <a:moveTo>
                  <a:pt x="0" y="0"/>
                </a:moveTo>
                <a:lnTo>
                  <a:pt x="8336" y="0"/>
                </a:lnTo>
                <a:lnTo>
                  <a:pt x="8336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23" name=""/>
          <p:cNvSpPr/>
          <p:nvPr/>
        </p:nvSpPr>
        <p:spPr>
          <a:xfrm>
            <a:off x="599760" y="4076640"/>
            <a:ext cx="2495880" cy="466920"/>
          </a:xfrm>
          <a:custGeom>
            <a:avLst/>
            <a:gdLst/>
            <a:ahLst/>
            <a:rect l="0" t="0" r="r" b="b"/>
            <a:pathLst>
              <a:path w="6933" h="1297">
                <a:moveTo>
                  <a:pt x="0" y="0"/>
                </a:moveTo>
                <a:lnTo>
                  <a:pt x="6933" y="0"/>
                </a:lnTo>
                <a:lnTo>
                  <a:pt x="6933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24" name=""/>
          <p:cNvSpPr/>
          <p:nvPr/>
        </p:nvSpPr>
        <p:spPr>
          <a:xfrm>
            <a:off x="3095280" y="4076640"/>
            <a:ext cx="5505840" cy="466920"/>
          </a:xfrm>
          <a:custGeom>
            <a:avLst/>
            <a:gdLst/>
            <a:ahLst/>
            <a:rect l="0" t="0" r="r" b="b"/>
            <a:pathLst>
              <a:path w="15294" h="1297">
                <a:moveTo>
                  <a:pt x="0" y="0"/>
                </a:moveTo>
                <a:lnTo>
                  <a:pt x="15294" y="0"/>
                </a:lnTo>
                <a:lnTo>
                  <a:pt x="15294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25" name=""/>
          <p:cNvSpPr/>
          <p:nvPr/>
        </p:nvSpPr>
        <p:spPr>
          <a:xfrm>
            <a:off x="8600760" y="4076640"/>
            <a:ext cx="3000960" cy="466920"/>
          </a:xfrm>
          <a:custGeom>
            <a:avLst/>
            <a:gdLst/>
            <a:ahLst/>
            <a:rect l="0" t="0" r="r" b="b"/>
            <a:pathLst>
              <a:path w="8336" h="1297">
                <a:moveTo>
                  <a:pt x="0" y="0"/>
                </a:moveTo>
                <a:lnTo>
                  <a:pt x="8336" y="0"/>
                </a:lnTo>
                <a:lnTo>
                  <a:pt x="8336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26" name=""/>
          <p:cNvSpPr/>
          <p:nvPr/>
        </p:nvSpPr>
        <p:spPr>
          <a:xfrm>
            <a:off x="599760" y="4543200"/>
            <a:ext cx="2495880" cy="467280"/>
          </a:xfrm>
          <a:custGeom>
            <a:avLst/>
            <a:gdLst/>
            <a:ahLst/>
            <a:rect l="0" t="0" r="r" b="b"/>
            <a:pathLst>
              <a:path w="6933" h="1298">
                <a:moveTo>
                  <a:pt x="0" y="0"/>
                </a:moveTo>
                <a:lnTo>
                  <a:pt x="6933" y="0"/>
                </a:lnTo>
                <a:lnTo>
                  <a:pt x="6933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27" name=""/>
          <p:cNvSpPr/>
          <p:nvPr/>
        </p:nvSpPr>
        <p:spPr>
          <a:xfrm>
            <a:off x="3095280" y="4543200"/>
            <a:ext cx="5505840" cy="467280"/>
          </a:xfrm>
          <a:custGeom>
            <a:avLst/>
            <a:gdLst/>
            <a:ahLst/>
            <a:rect l="0" t="0" r="r" b="b"/>
            <a:pathLst>
              <a:path w="15294" h="1298">
                <a:moveTo>
                  <a:pt x="0" y="0"/>
                </a:moveTo>
                <a:lnTo>
                  <a:pt x="15294" y="0"/>
                </a:lnTo>
                <a:lnTo>
                  <a:pt x="15294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28" name=""/>
          <p:cNvSpPr/>
          <p:nvPr/>
        </p:nvSpPr>
        <p:spPr>
          <a:xfrm>
            <a:off x="8600760" y="4543200"/>
            <a:ext cx="3000960" cy="467280"/>
          </a:xfrm>
          <a:custGeom>
            <a:avLst/>
            <a:gdLst/>
            <a:ahLst/>
            <a:rect l="0" t="0" r="r" b="b"/>
            <a:pathLst>
              <a:path w="8336" h="1298">
                <a:moveTo>
                  <a:pt x="0" y="0"/>
                </a:moveTo>
                <a:lnTo>
                  <a:pt x="8336" y="0"/>
                </a:lnTo>
                <a:lnTo>
                  <a:pt x="8336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29" name=""/>
          <p:cNvSpPr/>
          <p:nvPr/>
        </p:nvSpPr>
        <p:spPr>
          <a:xfrm>
            <a:off x="590400" y="2666880"/>
            <a:ext cx="9720" cy="476640"/>
          </a:xfrm>
          <a:custGeom>
            <a:avLst/>
            <a:gdLst/>
            <a:ahLst/>
            <a:rect l="0" t="0" r="r" b="b"/>
            <a:pathLst>
              <a:path w="27" h="1324">
                <a:moveTo>
                  <a:pt x="0" y="0"/>
                </a:moveTo>
                <a:lnTo>
                  <a:pt x="27" y="0"/>
                </a:lnTo>
                <a:lnTo>
                  <a:pt x="27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30" name=""/>
          <p:cNvSpPr/>
          <p:nvPr/>
        </p:nvSpPr>
        <p:spPr>
          <a:xfrm>
            <a:off x="590400" y="2666880"/>
            <a:ext cx="2514960" cy="9720"/>
          </a:xfrm>
          <a:custGeom>
            <a:avLst/>
            <a:gdLst/>
            <a:ahLst/>
            <a:rect l="0" t="0" r="r" b="b"/>
            <a:pathLst>
              <a:path w="6986" h="27">
                <a:moveTo>
                  <a:pt x="0" y="0"/>
                </a:moveTo>
                <a:lnTo>
                  <a:pt x="6986" y="0"/>
                </a:lnTo>
                <a:lnTo>
                  <a:pt x="698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31" name=""/>
          <p:cNvSpPr/>
          <p:nvPr/>
        </p:nvSpPr>
        <p:spPr>
          <a:xfrm>
            <a:off x="3095280" y="2666880"/>
            <a:ext cx="10080" cy="476640"/>
          </a:xfrm>
          <a:custGeom>
            <a:avLst/>
            <a:gdLst/>
            <a:ahLst/>
            <a:rect l="0" t="0" r="r" b="b"/>
            <a:pathLst>
              <a:path w="28" h="1324">
                <a:moveTo>
                  <a:pt x="0" y="0"/>
                </a:moveTo>
                <a:lnTo>
                  <a:pt x="28" y="0"/>
                </a:lnTo>
                <a:lnTo>
                  <a:pt x="28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32" name=""/>
          <p:cNvSpPr/>
          <p:nvPr/>
        </p:nvSpPr>
        <p:spPr>
          <a:xfrm>
            <a:off x="3105000" y="2666880"/>
            <a:ext cx="5505840" cy="9720"/>
          </a:xfrm>
          <a:custGeom>
            <a:avLst/>
            <a:gdLst/>
            <a:ahLst/>
            <a:rect l="0" t="0" r="r" b="b"/>
            <a:pathLst>
              <a:path w="15294" h="27">
                <a:moveTo>
                  <a:pt x="0" y="0"/>
                </a:moveTo>
                <a:lnTo>
                  <a:pt x="15294" y="0"/>
                </a:lnTo>
                <a:lnTo>
                  <a:pt x="1529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33" name=""/>
          <p:cNvSpPr/>
          <p:nvPr/>
        </p:nvSpPr>
        <p:spPr>
          <a:xfrm>
            <a:off x="8600760" y="2666880"/>
            <a:ext cx="10080" cy="476640"/>
          </a:xfrm>
          <a:custGeom>
            <a:avLst/>
            <a:gdLst/>
            <a:ahLst/>
            <a:rect l="0" t="0" r="r" b="b"/>
            <a:pathLst>
              <a:path w="28" h="1324">
                <a:moveTo>
                  <a:pt x="0" y="0"/>
                </a:moveTo>
                <a:lnTo>
                  <a:pt x="28" y="0"/>
                </a:lnTo>
                <a:lnTo>
                  <a:pt x="28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34" name=""/>
          <p:cNvSpPr/>
          <p:nvPr/>
        </p:nvSpPr>
        <p:spPr>
          <a:xfrm>
            <a:off x="8610480" y="2666880"/>
            <a:ext cx="2991240" cy="9720"/>
          </a:xfrm>
          <a:custGeom>
            <a:avLst/>
            <a:gdLst/>
            <a:ahLst/>
            <a:rect l="0" t="0" r="r" b="b"/>
            <a:pathLst>
              <a:path w="8309" h="27">
                <a:moveTo>
                  <a:pt x="0" y="0"/>
                </a:moveTo>
                <a:lnTo>
                  <a:pt x="8309" y="0"/>
                </a:lnTo>
                <a:lnTo>
                  <a:pt x="830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35" name=""/>
          <p:cNvSpPr/>
          <p:nvPr/>
        </p:nvSpPr>
        <p:spPr>
          <a:xfrm>
            <a:off x="11591640" y="2666880"/>
            <a:ext cx="10080" cy="476640"/>
          </a:xfrm>
          <a:custGeom>
            <a:avLst/>
            <a:gdLst/>
            <a:ahLst/>
            <a:rect l="0" t="0" r="r" b="b"/>
            <a:pathLst>
              <a:path w="28" h="1324">
                <a:moveTo>
                  <a:pt x="0" y="0"/>
                </a:moveTo>
                <a:lnTo>
                  <a:pt x="28" y="0"/>
                </a:lnTo>
                <a:lnTo>
                  <a:pt x="28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36" name=""/>
          <p:cNvSpPr/>
          <p:nvPr/>
        </p:nvSpPr>
        <p:spPr>
          <a:xfrm>
            <a:off x="590400" y="3133440"/>
            <a:ext cx="2514960" cy="10080"/>
          </a:xfrm>
          <a:custGeom>
            <a:avLst/>
            <a:gdLst/>
            <a:ahLst/>
            <a:rect l="0" t="0" r="r" b="b"/>
            <a:pathLst>
              <a:path w="6986" h="28">
                <a:moveTo>
                  <a:pt x="0" y="0"/>
                </a:moveTo>
                <a:lnTo>
                  <a:pt x="6986" y="0"/>
                </a:lnTo>
                <a:lnTo>
                  <a:pt x="698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37" name=""/>
          <p:cNvSpPr/>
          <p:nvPr/>
        </p:nvSpPr>
        <p:spPr>
          <a:xfrm>
            <a:off x="3105000" y="3133440"/>
            <a:ext cx="5505840" cy="10080"/>
          </a:xfrm>
          <a:custGeom>
            <a:avLst/>
            <a:gdLst/>
            <a:ahLst/>
            <a:rect l="0" t="0" r="r" b="b"/>
            <a:pathLst>
              <a:path w="15294" h="28">
                <a:moveTo>
                  <a:pt x="0" y="0"/>
                </a:moveTo>
                <a:lnTo>
                  <a:pt x="15294" y="0"/>
                </a:lnTo>
                <a:lnTo>
                  <a:pt x="152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38" name=""/>
          <p:cNvSpPr/>
          <p:nvPr/>
        </p:nvSpPr>
        <p:spPr>
          <a:xfrm>
            <a:off x="8610480" y="3133440"/>
            <a:ext cx="2991240" cy="10080"/>
          </a:xfrm>
          <a:custGeom>
            <a:avLst/>
            <a:gdLst/>
            <a:ahLst/>
            <a:rect l="0" t="0" r="r" b="b"/>
            <a:pathLst>
              <a:path w="8309" h="28">
                <a:moveTo>
                  <a:pt x="0" y="0"/>
                </a:moveTo>
                <a:lnTo>
                  <a:pt x="8309" y="0"/>
                </a:lnTo>
                <a:lnTo>
                  <a:pt x="830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39" name=""/>
          <p:cNvSpPr/>
          <p:nvPr/>
        </p:nvSpPr>
        <p:spPr>
          <a:xfrm>
            <a:off x="590400" y="3143160"/>
            <a:ext cx="9720" cy="466920"/>
          </a:xfrm>
          <a:custGeom>
            <a:avLst/>
            <a:gdLst/>
            <a:ahLst/>
            <a:rect l="0" t="0" r="r" b="b"/>
            <a:pathLst>
              <a:path w="27" h="1297">
                <a:moveTo>
                  <a:pt x="0" y="0"/>
                </a:moveTo>
                <a:lnTo>
                  <a:pt x="27" y="0"/>
                </a:lnTo>
                <a:lnTo>
                  <a:pt x="27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40" name=""/>
          <p:cNvSpPr/>
          <p:nvPr/>
        </p:nvSpPr>
        <p:spPr>
          <a:xfrm>
            <a:off x="3095280" y="3143160"/>
            <a:ext cx="10080" cy="466920"/>
          </a:xfrm>
          <a:custGeom>
            <a:avLst/>
            <a:gdLst/>
            <a:ahLst/>
            <a:rect l="0" t="0" r="r" b="b"/>
            <a:pathLst>
              <a:path w="28" h="1297">
                <a:moveTo>
                  <a:pt x="0" y="0"/>
                </a:moveTo>
                <a:lnTo>
                  <a:pt x="28" y="0"/>
                </a:lnTo>
                <a:lnTo>
                  <a:pt x="28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41" name=""/>
          <p:cNvSpPr/>
          <p:nvPr/>
        </p:nvSpPr>
        <p:spPr>
          <a:xfrm>
            <a:off x="8600760" y="3143160"/>
            <a:ext cx="10080" cy="466920"/>
          </a:xfrm>
          <a:custGeom>
            <a:avLst/>
            <a:gdLst/>
            <a:ahLst/>
            <a:rect l="0" t="0" r="r" b="b"/>
            <a:pathLst>
              <a:path w="28" h="1297">
                <a:moveTo>
                  <a:pt x="0" y="0"/>
                </a:moveTo>
                <a:lnTo>
                  <a:pt x="28" y="0"/>
                </a:lnTo>
                <a:lnTo>
                  <a:pt x="28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42" name=""/>
          <p:cNvSpPr/>
          <p:nvPr/>
        </p:nvSpPr>
        <p:spPr>
          <a:xfrm>
            <a:off x="11591640" y="3143160"/>
            <a:ext cx="10080" cy="466920"/>
          </a:xfrm>
          <a:custGeom>
            <a:avLst/>
            <a:gdLst/>
            <a:ahLst/>
            <a:rect l="0" t="0" r="r" b="b"/>
            <a:pathLst>
              <a:path w="28" h="1297">
                <a:moveTo>
                  <a:pt x="0" y="0"/>
                </a:moveTo>
                <a:lnTo>
                  <a:pt x="28" y="0"/>
                </a:lnTo>
                <a:lnTo>
                  <a:pt x="28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43" name=""/>
          <p:cNvSpPr/>
          <p:nvPr/>
        </p:nvSpPr>
        <p:spPr>
          <a:xfrm>
            <a:off x="590400" y="3609720"/>
            <a:ext cx="9720" cy="467280"/>
          </a:xfrm>
          <a:custGeom>
            <a:avLst/>
            <a:gdLst/>
            <a:ahLst/>
            <a:rect l="0" t="0" r="r" b="b"/>
            <a:pathLst>
              <a:path w="27" h="1298">
                <a:moveTo>
                  <a:pt x="0" y="0"/>
                </a:moveTo>
                <a:lnTo>
                  <a:pt x="27" y="0"/>
                </a:lnTo>
                <a:lnTo>
                  <a:pt x="27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44" name=""/>
          <p:cNvSpPr/>
          <p:nvPr/>
        </p:nvSpPr>
        <p:spPr>
          <a:xfrm>
            <a:off x="590400" y="3600360"/>
            <a:ext cx="2514960" cy="9720"/>
          </a:xfrm>
          <a:custGeom>
            <a:avLst/>
            <a:gdLst/>
            <a:ahLst/>
            <a:rect l="0" t="0" r="r" b="b"/>
            <a:pathLst>
              <a:path w="6986" h="27">
                <a:moveTo>
                  <a:pt x="0" y="0"/>
                </a:moveTo>
                <a:lnTo>
                  <a:pt x="6986" y="0"/>
                </a:lnTo>
                <a:lnTo>
                  <a:pt x="698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45" name=""/>
          <p:cNvSpPr/>
          <p:nvPr/>
        </p:nvSpPr>
        <p:spPr>
          <a:xfrm>
            <a:off x="3095280" y="3609720"/>
            <a:ext cx="10080" cy="467280"/>
          </a:xfrm>
          <a:custGeom>
            <a:avLst/>
            <a:gdLst/>
            <a:ahLst/>
            <a:rect l="0" t="0" r="r" b="b"/>
            <a:pathLst>
              <a:path w="28" h="1298">
                <a:moveTo>
                  <a:pt x="0" y="0"/>
                </a:moveTo>
                <a:lnTo>
                  <a:pt x="28" y="0"/>
                </a:lnTo>
                <a:lnTo>
                  <a:pt x="28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46" name=""/>
          <p:cNvSpPr/>
          <p:nvPr/>
        </p:nvSpPr>
        <p:spPr>
          <a:xfrm>
            <a:off x="3105000" y="3600360"/>
            <a:ext cx="5505840" cy="9720"/>
          </a:xfrm>
          <a:custGeom>
            <a:avLst/>
            <a:gdLst/>
            <a:ahLst/>
            <a:rect l="0" t="0" r="r" b="b"/>
            <a:pathLst>
              <a:path w="15294" h="27">
                <a:moveTo>
                  <a:pt x="0" y="0"/>
                </a:moveTo>
                <a:lnTo>
                  <a:pt x="15294" y="0"/>
                </a:lnTo>
                <a:lnTo>
                  <a:pt x="1529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47" name=""/>
          <p:cNvSpPr/>
          <p:nvPr/>
        </p:nvSpPr>
        <p:spPr>
          <a:xfrm>
            <a:off x="8600760" y="3609720"/>
            <a:ext cx="10080" cy="467280"/>
          </a:xfrm>
          <a:custGeom>
            <a:avLst/>
            <a:gdLst/>
            <a:ahLst/>
            <a:rect l="0" t="0" r="r" b="b"/>
            <a:pathLst>
              <a:path w="28" h="1298">
                <a:moveTo>
                  <a:pt x="0" y="0"/>
                </a:moveTo>
                <a:lnTo>
                  <a:pt x="28" y="0"/>
                </a:lnTo>
                <a:lnTo>
                  <a:pt x="28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48" name=""/>
          <p:cNvSpPr/>
          <p:nvPr/>
        </p:nvSpPr>
        <p:spPr>
          <a:xfrm>
            <a:off x="8610480" y="3600360"/>
            <a:ext cx="2991240" cy="9720"/>
          </a:xfrm>
          <a:custGeom>
            <a:avLst/>
            <a:gdLst/>
            <a:ahLst/>
            <a:rect l="0" t="0" r="r" b="b"/>
            <a:pathLst>
              <a:path w="8309" h="27">
                <a:moveTo>
                  <a:pt x="0" y="0"/>
                </a:moveTo>
                <a:lnTo>
                  <a:pt x="8309" y="0"/>
                </a:lnTo>
                <a:lnTo>
                  <a:pt x="830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49" name=""/>
          <p:cNvSpPr/>
          <p:nvPr/>
        </p:nvSpPr>
        <p:spPr>
          <a:xfrm>
            <a:off x="11591640" y="3609720"/>
            <a:ext cx="10080" cy="467280"/>
          </a:xfrm>
          <a:custGeom>
            <a:avLst/>
            <a:gdLst/>
            <a:ahLst/>
            <a:rect l="0" t="0" r="r" b="b"/>
            <a:pathLst>
              <a:path w="28" h="1298">
                <a:moveTo>
                  <a:pt x="0" y="0"/>
                </a:moveTo>
                <a:lnTo>
                  <a:pt x="28" y="0"/>
                </a:lnTo>
                <a:lnTo>
                  <a:pt x="28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50" name=""/>
          <p:cNvSpPr/>
          <p:nvPr/>
        </p:nvSpPr>
        <p:spPr>
          <a:xfrm>
            <a:off x="590400" y="4076640"/>
            <a:ext cx="9720" cy="466920"/>
          </a:xfrm>
          <a:custGeom>
            <a:avLst/>
            <a:gdLst/>
            <a:ahLst/>
            <a:rect l="0" t="0" r="r" b="b"/>
            <a:pathLst>
              <a:path w="27" h="1297">
                <a:moveTo>
                  <a:pt x="0" y="0"/>
                </a:moveTo>
                <a:lnTo>
                  <a:pt x="27" y="0"/>
                </a:lnTo>
                <a:lnTo>
                  <a:pt x="27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51" name=""/>
          <p:cNvSpPr/>
          <p:nvPr/>
        </p:nvSpPr>
        <p:spPr>
          <a:xfrm>
            <a:off x="590400" y="4066920"/>
            <a:ext cx="2514960" cy="10080"/>
          </a:xfrm>
          <a:custGeom>
            <a:avLst/>
            <a:gdLst/>
            <a:ahLst/>
            <a:rect l="0" t="0" r="r" b="b"/>
            <a:pathLst>
              <a:path w="6986" h="28">
                <a:moveTo>
                  <a:pt x="0" y="0"/>
                </a:moveTo>
                <a:lnTo>
                  <a:pt x="6986" y="0"/>
                </a:lnTo>
                <a:lnTo>
                  <a:pt x="698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52" name=""/>
          <p:cNvSpPr/>
          <p:nvPr/>
        </p:nvSpPr>
        <p:spPr>
          <a:xfrm>
            <a:off x="3095280" y="4076640"/>
            <a:ext cx="10080" cy="466920"/>
          </a:xfrm>
          <a:custGeom>
            <a:avLst/>
            <a:gdLst/>
            <a:ahLst/>
            <a:rect l="0" t="0" r="r" b="b"/>
            <a:pathLst>
              <a:path w="28" h="1297">
                <a:moveTo>
                  <a:pt x="0" y="0"/>
                </a:moveTo>
                <a:lnTo>
                  <a:pt x="28" y="0"/>
                </a:lnTo>
                <a:lnTo>
                  <a:pt x="28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53" name=""/>
          <p:cNvSpPr/>
          <p:nvPr/>
        </p:nvSpPr>
        <p:spPr>
          <a:xfrm>
            <a:off x="3105000" y="4066920"/>
            <a:ext cx="5505840" cy="10080"/>
          </a:xfrm>
          <a:custGeom>
            <a:avLst/>
            <a:gdLst/>
            <a:ahLst/>
            <a:rect l="0" t="0" r="r" b="b"/>
            <a:pathLst>
              <a:path w="15294" h="28">
                <a:moveTo>
                  <a:pt x="0" y="0"/>
                </a:moveTo>
                <a:lnTo>
                  <a:pt x="15294" y="0"/>
                </a:lnTo>
                <a:lnTo>
                  <a:pt x="152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54" name=""/>
          <p:cNvSpPr/>
          <p:nvPr/>
        </p:nvSpPr>
        <p:spPr>
          <a:xfrm>
            <a:off x="8600760" y="4076640"/>
            <a:ext cx="10080" cy="466920"/>
          </a:xfrm>
          <a:custGeom>
            <a:avLst/>
            <a:gdLst/>
            <a:ahLst/>
            <a:rect l="0" t="0" r="r" b="b"/>
            <a:pathLst>
              <a:path w="28" h="1297">
                <a:moveTo>
                  <a:pt x="0" y="0"/>
                </a:moveTo>
                <a:lnTo>
                  <a:pt x="28" y="0"/>
                </a:lnTo>
                <a:lnTo>
                  <a:pt x="28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55" name=""/>
          <p:cNvSpPr/>
          <p:nvPr/>
        </p:nvSpPr>
        <p:spPr>
          <a:xfrm>
            <a:off x="8610480" y="4066920"/>
            <a:ext cx="2991240" cy="10080"/>
          </a:xfrm>
          <a:custGeom>
            <a:avLst/>
            <a:gdLst/>
            <a:ahLst/>
            <a:rect l="0" t="0" r="r" b="b"/>
            <a:pathLst>
              <a:path w="8309" h="28">
                <a:moveTo>
                  <a:pt x="0" y="0"/>
                </a:moveTo>
                <a:lnTo>
                  <a:pt x="8309" y="0"/>
                </a:lnTo>
                <a:lnTo>
                  <a:pt x="830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56" name=""/>
          <p:cNvSpPr/>
          <p:nvPr/>
        </p:nvSpPr>
        <p:spPr>
          <a:xfrm>
            <a:off x="11591640" y="4076640"/>
            <a:ext cx="10080" cy="466920"/>
          </a:xfrm>
          <a:custGeom>
            <a:avLst/>
            <a:gdLst/>
            <a:ahLst/>
            <a:rect l="0" t="0" r="r" b="b"/>
            <a:pathLst>
              <a:path w="28" h="1297">
                <a:moveTo>
                  <a:pt x="0" y="0"/>
                </a:moveTo>
                <a:lnTo>
                  <a:pt x="28" y="0"/>
                </a:lnTo>
                <a:lnTo>
                  <a:pt x="28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57" name=""/>
          <p:cNvSpPr/>
          <p:nvPr/>
        </p:nvSpPr>
        <p:spPr>
          <a:xfrm>
            <a:off x="590400" y="4543200"/>
            <a:ext cx="9720" cy="467280"/>
          </a:xfrm>
          <a:custGeom>
            <a:avLst/>
            <a:gdLst/>
            <a:ahLst/>
            <a:rect l="0" t="0" r="r" b="b"/>
            <a:pathLst>
              <a:path w="27" h="1298">
                <a:moveTo>
                  <a:pt x="0" y="0"/>
                </a:moveTo>
                <a:lnTo>
                  <a:pt x="27" y="0"/>
                </a:lnTo>
                <a:lnTo>
                  <a:pt x="27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58" name=""/>
          <p:cNvSpPr/>
          <p:nvPr/>
        </p:nvSpPr>
        <p:spPr>
          <a:xfrm>
            <a:off x="590400" y="4533840"/>
            <a:ext cx="2514960" cy="9720"/>
          </a:xfrm>
          <a:custGeom>
            <a:avLst/>
            <a:gdLst/>
            <a:ahLst/>
            <a:rect l="0" t="0" r="r" b="b"/>
            <a:pathLst>
              <a:path w="6986" h="27">
                <a:moveTo>
                  <a:pt x="0" y="0"/>
                </a:moveTo>
                <a:lnTo>
                  <a:pt x="6986" y="0"/>
                </a:lnTo>
                <a:lnTo>
                  <a:pt x="698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59" name=""/>
          <p:cNvSpPr/>
          <p:nvPr/>
        </p:nvSpPr>
        <p:spPr>
          <a:xfrm>
            <a:off x="3095280" y="4543200"/>
            <a:ext cx="10080" cy="467280"/>
          </a:xfrm>
          <a:custGeom>
            <a:avLst/>
            <a:gdLst/>
            <a:ahLst/>
            <a:rect l="0" t="0" r="r" b="b"/>
            <a:pathLst>
              <a:path w="28" h="1298">
                <a:moveTo>
                  <a:pt x="0" y="0"/>
                </a:moveTo>
                <a:lnTo>
                  <a:pt x="28" y="0"/>
                </a:lnTo>
                <a:lnTo>
                  <a:pt x="28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60" name=""/>
          <p:cNvSpPr/>
          <p:nvPr/>
        </p:nvSpPr>
        <p:spPr>
          <a:xfrm>
            <a:off x="3105000" y="4533840"/>
            <a:ext cx="5505840" cy="9720"/>
          </a:xfrm>
          <a:custGeom>
            <a:avLst/>
            <a:gdLst/>
            <a:ahLst/>
            <a:rect l="0" t="0" r="r" b="b"/>
            <a:pathLst>
              <a:path w="15294" h="27">
                <a:moveTo>
                  <a:pt x="0" y="0"/>
                </a:moveTo>
                <a:lnTo>
                  <a:pt x="15294" y="0"/>
                </a:lnTo>
                <a:lnTo>
                  <a:pt x="1529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61" name=""/>
          <p:cNvSpPr/>
          <p:nvPr/>
        </p:nvSpPr>
        <p:spPr>
          <a:xfrm>
            <a:off x="8600760" y="4543200"/>
            <a:ext cx="10080" cy="467280"/>
          </a:xfrm>
          <a:custGeom>
            <a:avLst/>
            <a:gdLst/>
            <a:ahLst/>
            <a:rect l="0" t="0" r="r" b="b"/>
            <a:pathLst>
              <a:path w="28" h="1298">
                <a:moveTo>
                  <a:pt x="0" y="0"/>
                </a:moveTo>
                <a:lnTo>
                  <a:pt x="28" y="0"/>
                </a:lnTo>
                <a:lnTo>
                  <a:pt x="28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62" name=""/>
          <p:cNvSpPr/>
          <p:nvPr/>
        </p:nvSpPr>
        <p:spPr>
          <a:xfrm>
            <a:off x="8610480" y="4533840"/>
            <a:ext cx="2991240" cy="9720"/>
          </a:xfrm>
          <a:custGeom>
            <a:avLst/>
            <a:gdLst/>
            <a:ahLst/>
            <a:rect l="0" t="0" r="r" b="b"/>
            <a:pathLst>
              <a:path w="8309" h="27">
                <a:moveTo>
                  <a:pt x="0" y="0"/>
                </a:moveTo>
                <a:lnTo>
                  <a:pt x="8309" y="0"/>
                </a:lnTo>
                <a:lnTo>
                  <a:pt x="830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63" name=""/>
          <p:cNvSpPr/>
          <p:nvPr/>
        </p:nvSpPr>
        <p:spPr>
          <a:xfrm>
            <a:off x="11591640" y="4543200"/>
            <a:ext cx="10080" cy="467280"/>
          </a:xfrm>
          <a:custGeom>
            <a:avLst/>
            <a:gdLst/>
            <a:ahLst/>
            <a:rect l="0" t="0" r="r" b="b"/>
            <a:pathLst>
              <a:path w="28" h="1298">
                <a:moveTo>
                  <a:pt x="0" y="0"/>
                </a:moveTo>
                <a:lnTo>
                  <a:pt x="28" y="0"/>
                </a:lnTo>
                <a:lnTo>
                  <a:pt x="28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64" name=""/>
          <p:cNvSpPr/>
          <p:nvPr/>
        </p:nvSpPr>
        <p:spPr>
          <a:xfrm>
            <a:off x="590400" y="5000400"/>
            <a:ext cx="2514960" cy="10080"/>
          </a:xfrm>
          <a:custGeom>
            <a:avLst/>
            <a:gdLst/>
            <a:ahLst/>
            <a:rect l="0" t="0" r="r" b="b"/>
            <a:pathLst>
              <a:path w="6986" h="28">
                <a:moveTo>
                  <a:pt x="0" y="0"/>
                </a:moveTo>
                <a:lnTo>
                  <a:pt x="6986" y="0"/>
                </a:lnTo>
                <a:lnTo>
                  <a:pt x="698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65" name=""/>
          <p:cNvSpPr/>
          <p:nvPr/>
        </p:nvSpPr>
        <p:spPr>
          <a:xfrm>
            <a:off x="3105000" y="5000400"/>
            <a:ext cx="5505840" cy="10080"/>
          </a:xfrm>
          <a:custGeom>
            <a:avLst/>
            <a:gdLst/>
            <a:ahLst/>
            <a:rect l="0" t="0" r="r" b="b"/>
            <a:pathLst>
              <a:path w="15294" h="28">
                <a:moveTo>
                  <a:pt x="0" y="0"/>
                </a:moveTo>
                <a:lnTo>
                  <a:pt x="15294" y="0"/>
                </a:lnTo>
                <a:lnTo>
                  <a:pt x="152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66" name=""/>
          <p:cNvSpPr/>
          <p:nvPr/>
        </p:nvSpPr>
        <p:spPr>
          <a:xfrm>
            <a:off x="8610480" y="5000400"/>
            <a:ext cx="2991240" cy="10080"/>
          </a:xfrm>
          <a:custGeom>
            <a:avLst/>
            <a:gdLst/>
            <a:ahLst/>
            <a:rect l="0" t="0" r="r" b="b"/>
            <a:pathLst>
              <a:path w="8309" h="28">
                <a:moveTo>
                  <a:pt x="0" y="0"/>
                </a:moveTo>
                <a:lnTo>
                  <a:pt x="8309" y="0"/>
                </a:lnTo>
                <a:lnTo>
                  <a:pt x="830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67" name=""/>
          <p:cNvSpPr txBox="1"/>
          <p:nvPr/>
        </p:nvSpPr>
        <p:spPr>
          <a:xfrm>
            <a:off x="590400" y="1329480"/>
            <a:ext cx="6110640" cy="36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8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操作の組み合わせは</a:t>
            </a:r>
            <a:r>
              <a:rPr lang="en-US" sz="28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12,720</a:t>
            </a:r>
            <a:r>
              <a:rPr lang="ja-JP" sz="28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種類</a:t>
            </a:r>
            <a:endParaRPr lang="en-US" sz="28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68" name=""/>
          <p:cNvSpPr txBox="1"/>
          <p:nvPr/>
        </p:nvSpPr>
        <p:spPr>
          <a:xfrm>
            <a:off x="590400" y="2154960"/>
            <a:ext cx="6517188" cy="258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02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同じ操作を繰り返さず、順序を区別して数える。</a:t>
            </a:r>
            <a:endParaRPr lang="en-US" sz="202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69" name=""/>
          <p:cNvSpPr txBox="1"/>
          <p:nvPr/>
        </p:nvSpPr>
        <p:spPr>
          <a:xfrm>
            <a:off x="723960" y="2789640"/>
            <a:ext cx="1052388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操作の数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70" name=""/>
          <p:cNvSpPr txBox="1"/>
          <p:nvPr/>
        </p:nvSpPr>
        <p:spPr>
          <a:xfrm>
            <a:off x="3226320" y="2789640"/>
            <a:ext cx="789498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数え方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71" name=""/>
          <p:cNvSpPr txBox="1"/>
          <p:nvPr/>
        </p:nvSpPr>
        <p:spPr>
          <a:xfrm>
            <a:off x="10325160" y="2789640"/>
            <a:ext cx="1315278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意味の種類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72" name=""/>
          <p:cNvSpPr txBox="1"/>
          <p:nvPr/>
        </p:nvSpPr>
        <p:spPr>
          <a:xfrm>
            <a:off x="723960" y="3256560"/>
            <a:ext cx="699246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</a:t>
            </a:r>
            <a:r>
              <a:rPr lang="ja-JP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操作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73" name=""/>
          <p:cNvSpPr txBox="1"/>
          <p:nvPr/>
        </p:nvSpPr>
        <p:spPr>
          <a:xfrm>
            <a:off x="3226320" y="3256560"/>
            <a:ext cx="347346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24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74" name=""/>
          <p:cNvSpPr txBox="1"/>
          <p:nvPr/>
        </p:nvSpPr>
        <p:spPr>
          <a:xfrm>
            <a:off x="11166840" y="3256560"/>
            <a:ext cx="347346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24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75" name=""/>
          <p:cNvSpPr txBox="1"/>
          <p:nvPr/>
        </p:nvSpPr>
        <p:spPr>
          <a:xfrm>
            <a:off x="723960" y="3723120"/>
            <a:ext cx="699246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2</a:t>
            </a:r>
            <a:r>
              <a:rPr lang="ja-JP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操作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76" name=""/>
          <p:cNvSpPr txBox="1"/>
          <p:nvPr/>
        </p:nvSpPr>
        <p:spPr>
          <a:xfrm>
            <a:off x="3226320" y="3723120"/>
            <a:ext cx="1040382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24 × 23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77" name=""/>
          <p:cNvSpPr txBox="1"/>
          <p:nvPr/>
        </p:nvSpPr>
        <p:spPr>
          <a:xfrm>
            <a:off x="11017440" y="3723120"/>
            <a:ext cx="519156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552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78" name=""/>
          <p:cNvSpPr txBox="1"/>
          <p:nvPr/>
        </p:nvSpPr>
        <p:spPr>
          <a:xfrm>
            <a:off x="723960" y="4189680"/>
            <a:ext cx="699246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3</a:t>
            </a:r>
            <a:r>
              <a:rPr lang="ja-JP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操作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79" name=""/>
          <p:cNvSpPr txBox="1"/>
          <p:nvPr/>
        </p:nvSpPr>
        <p:spPr>
          <a:xfrm>
            <a:off x="3226320" y="4189680"/>
            <a:ext cx="1733418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24 × 23 × 22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80" name=""/>
          <p:cNvSpPr txBox="1"/>
          <p:nvPr/>
        </p:nvSpPr>
        <p:spPr>
          <a:xfrm>
            <a:off x="10660320" y="4189680"/>
            <a:ext cx="92943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12,144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81" name=""/>
          <p:cNvSpPr txBox="1"/>
          <p:nvPr/>
        </p:nvSpPr>
        <p:spPr>
          <a:xfrm>
            <a:off x="723960" y="4656600"/>
            <a:ext cx="526608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合計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82" name=""/>
          <p:cNvSpPr txBox="1"/>
          <p:nvPr/>
        </p:nvSpPr>
        <p:spPr>
          <a:xfrm>
            <a:off x="3226320" y="4656600"/>
            <a:ext cx="2669472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24 </a:t>
            </a:r>
            <a:r>
              <a:rPr lang="ja-JP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＋ </a:t>
            </a:r>
            <a:r>
              <a:rPr lang="en-US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552 </a:t>
            </a:r>
            <a:r>
              <a:rPr lang="ja-JP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＋ </a:t>
            </a:r>
            <a:r>
              <a:rPr lang="en-US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12,144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83" name=""/>
          <p:cNvSpPr txBox="1"/>
          <p:nvPr/>
        </p:nvSpPr>
        <p:spPr>
          <a:xfrm>
            <a:off x="10620000" y="4656600"/>
            <a:ext cx="975798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8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12,720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84" name=""/>
          <p:cNvSpPr txBox="1"/>
          <p:nvPr/>
        </p:nvSpPr>
        <p:spPr>
          <a:xfrm>
            <a:off x="590400" y="5259960"/>
            <a:ext cx="6517188" cy="258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02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同じ操作の繰り返しは、別のテストで確かめる。</a:t>
            </a:r>
            <a:endParaRPr lang="en-US" sz="202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85" name=""/>
          <p:cNvSpPr txBox="1"/>
          <p:nvPr/>
        </p:nvSpPr>
        <p:spPr>
          <a:xfrm>
            <a:off x="11806200" y="6466680"/>
            <a:ext cx="174708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Hiragino Sans"/>
                <a:ea typeface="Hiragino Sans"/>
              </a:rPr>
              <a:t>8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8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8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89" name=""/>
          <p:cNvSpPr/>
          <p:nvPr/>
        </p:nvSpPr>
        <p:spPr>
          <a:xfrm>
            <a:off x="599760" y="2342880"/>
            <a:ext cx="3905640" cy="467280"/>
          </a:xfrm>
          <a:custGeom>
            <a:avLst/>
            <a:gdLst/>
            <a:ahLst/>
            <a:rect l="0" t="0" r="r" b="b"/>
            <a:pathLst>
              <a:path w="10849" h="1298">
                <a:moveTo>
                  <a:pt x="0" y="0"/>
                </a:moveTo>
                <a:lnTo>
                  <a:pt x="10849" y="0"/>
                </a:lnTo>
                <a:lnTo>
                  <a:pt x="10849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90" name=""/>
          <p:cNvSpPr/>
          <p:nvPr/>
        </p:nvSpPr>
        <p:spPr>
          <a:xfrm>
            <a:off x="4505040" y="2342880"/>
            <a:ext cx="7096680" cy="467280"/>
          </a:xfrm>
          <a:custGeom>
            <a:avLst/>
            <a:gdLst/>
            <a:ahLst/>
            <a:rect l="0" t="0" r="r" b="b"/>
            <a:pathLst>
              <a:path w="19713" h="1298">
                <a:moveTo>
                  <a:pt x="0" y="0"/>
                </a:moveTo>
                <a:lnTo>
                  <a:pt x="19713" y="0"/>
                </a:lnTo>
                <a:lnTo>
                  <a:pt x="19713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91" name=""/>
          <p:cNvSpPr/>
          <p:nvPr/>
        </p:nvSpPr>
        <p:spPr>
          <a:xfrm>
            <a:off x="599760" y="2342880"/>
            <a:ext cx="3905640" cy="467280"/>
          </a:xfrm>
          <a:custGeom>
            <a:avLst/>
            <a:gdLst/>
            <a:ahLst/>
            <a:rect l="0" t="0" r="r" b="b"/>
            <a:pathLst>
              <a:path w="10849" h="1298">
                <a:moveTo>
                  <a:pt x="0" y="0"/>
                </a:moveTo>
                <a:lnTo>
                  <a:pt x="10849" y="0"/>
                </a:lnTo>
                <a:lnTo>
                  <a:pt x="10849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92" name=""/>
          <p:cNvSpPr/>
          <p:nvPr/>
        </p:nvSpPr>
        <p:spPr>
          <a:xfrm>
            <a:off x="4505040" y="2342880"/>
            <a:ext cx="7096680" cy="467280"/>
          </a:xfrm>
          <a:custGeom>
            <a:avLst/>
            <a:gdLst/>
            <a:ahLst/>
            <a:rect l="0" t="0" r="r" b="b"/>
            <a:pathLst>
              <a:path w="19713" h="1298">
                <a:moveTo>
                  <a:pt x="0" y="0"/>
                </a:moveTo>
                <a:lnTo>
                  <a:pt x="19713" y="0"/>
                </a:lnTo>
                <a:lnTo>
                  <a:pt x="19713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93" name=""/>
          <p:cNvSpPr/>
          <p:nvPr/>
        </p:nvSpPr>
        <p:spPr>
          <a:xfrm>
            <a:off x="599760" y="2809800"/>
            <a:ext cx="3905640" cy="466920"/>
          </a:xfrm>
          <a:custGeom>
            <a:avLst/>
            <a:gdLst/>
            <a:ahLst/>
            <a:rect l="0" t="0" r="r" b="b"/>
            <a:pathLst>
              <a:path w="10849" h="1297">
                <a:moveTo>
                  <a:pt x="0" y="0"/>
                </a:moveTo>
                <a:lnTo>
                  <a:pt x="10849" y="0"/>
                </a:lnTo>
                <a:lnTo>
                  <a:pt x="10849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94" name=""/>
          <p:cNvSpPr/>
          <p:nvPr/>
        </p:nvSpPr>
        <p:spPr>
          <a:xfrm>
            <a:off x="4505040" y="2809800"/>
            <a:ext cx="7096680" cy="466920"/>
          </a:xfrm>
          <a:custGeom>
            <a:avLst/>
            <a:gdLst/>
            <a:ahLst/>
            <a:rect l="0" t="0" r="r" b="b"/>
            <a:pathLst>
              <a:path w="19713" h="1297">
                <a:moveTo>
                  <a:pt x="0" y="0"/>
                </a:moveTo>
                <a:lnTo>
                  <a:pt x="19713" y="0"/>
                </a:lnTo>
                <a:lnTo>
                  <a:pt x="19713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95" name=""/>
          <p:cNvSpPr/>
          <p:nvPr/>
        </p:nvSpPr>
        <p:spPr>
          <a:xfrm>
            <a:off x="599760" y="3276360"/>
            <a:ext cx="3905640" cy="467280"/>
          </a:xfrm>
          <a:custGeom>
            <a:avLst/>
            <a:gdLst/>
            <a:ahLst/>
            <a:rect l="0" t="0" r="r" b="b"/>
            <a:pathLst>
              <a:path w="10849" h="1298">
                <a:moveTo>
                  <a:pt x="0" y="0"/>
                </a:moveTo>
                <a:lnTo>
                  <a:pt x="10849" y="0"/>
                </a:lnTo>
                <a:lnTo>
                  <a:pt x="10849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96" name=""/>
          <p:cNvSpPr/>
          <p:nvPr/>
        </p:nvSpPr>
        <p:spPr>
          <a:xfrm>
            <a:off x="4505040" y="3276360"/>
            <a:ext cx="7096680" cy="467280"/>
          </a:xfrm>
          <a:custGeom>
            <a:avLst/>
            <a:gdLst/>
            <a:ahLst/>
            <a:rect l="0" t="0" r="r" b="b"/>
            <a:pathLst>
              <a:path w="19713" h="1298">
                <a:moveTo>
                  <a:pt x="0" y="0"/>
                </a:moveTo>
                <a:lnTo>
                  <a:pt x="19713" y="0"/>
                </a:lnTo>
                <a:lnTo>
                  <a:pt x="19713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97" name=""/>
          <p:cNvSpPr/>
          <p:nvPr/>
        </p:nvSpPr>
        <p:spPr>
          <a:xfrm>
            <a:off x="599760" y="3743280"/>
            <a:ext cx="3905640" cy="466920"/>
          </a:xfrm>
          <a:custGeom>
            <a:avLst/>
            <a:gdLst/>
            <a:ahLst/>
            <a:rect l="0" t="0" r="r" b="b"/>
            <a:pathLst>
              <a:path w="10849" h="1297">
                <a:moveTo>
                  <a:pt x="0" y="0"/>
                </a:moveTo>
                <a:lnTo>
                  <a:pt x="10849" y="0"/>
                </a:lnTo>
                <a:lnTo>
                  <a:pt x="10849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98" name=""/>
          <p:cNvSpPr/>
          <p:nvPr/>
        </p:nvSpPr>
        <p:spPr>
          <a:xfrm>
            <a:off x="4505040" y="3743280"/>
            <a:ext cx="7096680" cy="466920"/>
          </a:xfrm>
          <a:custGeom>
            <a:avLst/>
            <a:gdLst/>
            <a:ahLst/>
            <a:rect l="0" t="0" r="r" b="b"/>
            <a:pathLst>
              <a:path w="19713" h="1297">
                <a:moveTo>
                  <a:pt x="0" y="0"/>
                </a:moveTo>
                <a:lnTo>
                  <a:pt x="19713" y="0"/>
                </a:lnTo>
                <a:lnTo>
                  <a:pt x="19713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399" name=""/>
          <p:cNvSpPr/>
          <p:nvPr/>
        </p:nvSpPr>
        <p:spPr>
          <a:xfrm>
            <a:off x="590400" y="2333520"/>
            <a:ext cx="9720" cy="476640"/>
          </a:xfrm>
          <a:custGeom>
            <a:avLst/>
            <a:gdLst/>
            <a:ahLst/>
            <a:rect l="0" t="0" r="r" b="b"/>
            <a:pathLst>
              <a:path w="27" h="1324">
                <a:moveTo>
                  <a:pt x="0" y="0"/>
                </a:moveTo>
                <a:lnTo>
                  <a:pt x="27" y="0"/>
                </a:lnTo>
                <a:lnTo>
                  <a:pt x="27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00" name=""/>
          <p:cNvSpPr/>
          <p:nvPr/>
        </p:nvSpPr>
        <p:spPr>
          <a:xfrm>
            <a:off x="590400" y="2333520"/>
            <a:ext cx="3915000" cy="9720"/>
          </a:xfrm>
          <a:custGeom>
            <a:avLst/>
            <a:gdLst/>
            <a:ahLst/>
            <a:rect l="0" t="0" r="r" b="b"/>
            <a:pathLst>
              <a:path w="10875" h="27">
                <a:moveTo>
                  <a:pt x="0" y="0"/>
                </a:moveTo>
                <a:lnTo>
                  <a:pt x="10875" y="0"/>
                </a:lnTo>
                <a:lnTo>
                  <a:pt x="1087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01" name=""/>
          <p:cNvSpPr/>
          <p:nvPr/>
        </p:nvSpPr>
        <p:spPr>
          <a:xfrm>
            <a:off x="4495680" y="2333520"/>
            <a:ext cx="9720" cy="476640"/>
          </a:xfrm>
          <a:custGeom>
            <a:avLst/>
            <a:gdLst/>
            <a:ahLst/>
            <a:rect l="0" t="0" r="r" b="b"/>
            <a:pathLst>
              <a:path w="27" h="1324">
                <a:moveTo>
                  <a:pt x="0" y="0"/>
                </a:moveTo>
                <a:lnTo>
                  <a:pt x="27" y="0"/>
                </a:lnTo>
                <a:lnTo>
                  <a:pt x="27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02" name=""/>
          <p:cNvSpPr/>
          <p:nvPr/>
        </p:nvSpPr>
        <p:spPr>
          <a:xfrm>
            <a:off x="4505040" y="2333520"/>
            <a:ext cx="7096680" cy="9720"/>
          </a:xfrm>
          <a:custGeom>
            <a:avLst/>
            <a:gdLst/>
            <a:ahLst/>
            <a:rect l="0" t="0" r="r" b="b"/>
            <a:pathLst>
              <a:path w="19713" h="27">
                <a:moveTo>
                  <a:pt x="0" y="0"/>
                </a:moveTo>
                <a:lnTo>
                  <a:pt x="19713" y="0"/>
                </a:lnTo>
                <a:lnTo>
                  <a:pt x="1971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03" name=""/>
          <p:cNvSpPr/>
          <p:nvPr/>
        </p:nvSpPr>
        <p:spPr>
          <a:xfrm>
            <a:off x="11591640" y="2333520"/>
            <a:ext cx="10080" cy="476640"/>
          </a:xfrm>
          <a:custGeom>
            <a:avLst/>
            <a:gdLst/>
            <a:ahLst/>
            <a:rect l="0" t="0" r="r" b="b"/>
            <a:pathLst>
              <a:path w="28" h="1324">
                <a:moveTo>
                  <a:pt x="0" y="0"/>
                </a:moveTo>
                <a:lnTo>
                  <a:pt x="28" y="0"/>
                </a:lnTo>
                <a:lnTo>
                  <a:pt x="28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04" name=""/>
          <p:cNvSpPr/>
          <p:nvPr/>
        </p:nvSpPr>
        <p:spPr>
          <a:xfrm>
            <a:off x="590400" y="2800080"/>
            <a:ext cx="3915000" cy="10080"/>
          </a:xfrm>
          <a:custGeom>
            <a:avLst/>
            <a:gdLst/>
            <a:ahLst/>
            <a:rect l="0" t="0" r="r" b="b"/>
            <a:pathLst>
              <a:path w="10875" h="28">
                <a:moveTo>
                  <a:pt x="0" y="0"/>
                </a:moveTo>
                <a:lnTo>
                  <a:pt x="10875" y="0"/>
                </a:lnTo>
                <a:lnTo>
                  <a:pt x="1087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05" name=""/>
          <p:cNvSpPr/>
          <p:nvPr/>
        </p:nvSpPr>
        <p:spPr>
          <a:xfrm>
            <a:off x="4505040" y="2800080"/>
            <a:ext cx="7096680" cy="10080"/>
          </a:xfrm>
          <a:custGeom>
            <a:avLst/>
            <a:gdLst/>
            <a:ahLst/>
            <a:rect l="0" t="0" r="r" b="b"/>
            <a:pathLst>
              <a:path w="19713" h="28">
                <a:moveTo>
                  <a:pt x="0" y="0"/>
                </a:moveTo>
                <a:lnTo>
                  <a:pt x="19713" y="0"/>
                </a:lnTo>
                <a:lnTo>
                  <a:pt x="1971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06" name=""/>
          <p:cNvSpPr/>
          <p:nvPr/>
        </p:nvSpPr>
        <p:spPr>
          <a:xfrm>
            <a:off x="590400" y="2809800"/>
            <a:ext cx="9720" cy="466920"/>
          </a:xfrm>
          <a:custGeom>
            <a:avLst/>
            <a:gdLst/>
            <a:ahLst/>
            <a:rect l="0" t="0" r="r" b="b"/>
            <a:pathLst>
              <a:path w="27" h="1297">
                <a:moveTo>
                  <a:pt x="0" y="0"/>
                </a:moveTo>
                <a:lnTo>
                  <a:pt x="27" y="0"/>
                </a:lnTo>
                <a:lnTo>
                  <a:pt x="27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07" name=""/>
          <p:cNvSpPr/>
          <p:nvPr/>
        </p:nvSpPr>
        <p:spPr>
          <a:xfrm>
            <a:off x="4495680" y="2809800"/>
            <a:ext cx="9720" cy="466920"/>
          </a:xfrm>
          <a:custGeom>
            <a:avLst/>
            <a:gdLst/>
            <a:ahLst/>
            <a:rect l="0" t="0" r="r" b="b"/>
            <a:pathLst>
              <a:path w="27" h="1297">
                <a:moveTo>
                  <a:pt x="0" y="0"/>
                </a:moveTo>
                <a:lnTo>
                  <a:pt x="27" y="0"/>
                </a:lnTo>
                <a:lnTo>
                  <a:pt x="27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08" name=""/>
          <p:cNvSpPr/>
          <p:nvPr/>
        </p:nvSpPr>
        <p:spPr>
          <a:xfrm>
            <a:off x="11591640" y="2809800"/>
            <a:ext cx="10080" cy="466920"/>
          </a:xfrm>
          <a:custGeom>
            <a:avLst/>
            <a:gdLst/>
            <a:ahLst/>
            <a:rect l="0" t="0" r="r" b="b"/>
            <a:pathLst>
              <a:path w="28" h="1297">
                <a:moveTo>
                  <a:pt x="0" y="0"/>
                </a:moveTo>
                <a:lnTo>
                  <a:pt x="28" y="0"/>
                </a:lnTo>
                <a:lnTo>
                  <a:pt x="28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09" name=""/>
          <p:cNvSpPr/>
          <p:nvPr/>
        </p:nvSpPr>
        <p:spPr>
          <a:xfrm>
            <a:off x="590400" y="3276360"/>
            <a:ext cx="9720" cy="467280"/>
          </a:xfrm>
          <a:custGeom>
            <a:avLst/>
            <a:gdLst/>
            <a:ahLst/>
            <a:rect l="0" t="0" r="r" b="b"/>
            <a:pathLst>
              <a:path w="27" h="1298">
                <a:moveTo>
                  <a:pt x="0" y="0"/>
                </a:moveTo>
                <a:lnTo>
                  <a:pt x="27" y="0"/>
                </a:lnTo>
                <a:lnTo>
                  <a:pt x="27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10" name=""/>
          <p:cNvSpPr/>
          <p:nvPr/>
        </p:nvSpPr>
        <p:spPr>
          <a:xfrm>
            <a:off x="590400" y="3267000"/>
            <a:ext cx="3915000" cy="9720"/>
          </a:xfrm>
          <a:custGeom>
            <a:avLst/>
            <a:gdLst/>
            <a:ahLst/>
            <a:rect l="0" t="0" r="r" b="b"/>
            <a:pathLst>
              <a:path w="10875" h="27">
                <a:moveTo>
                  <a:pt x="0" y="0"/>
                </a:moveTo>
                <a:lnTo>
                  <a:pt x="10875" y="0"/>
                </a:lnTo>
                <a:lnTo>
                  <a:pt x="1087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11" name=""/>
          <p:cNvSpPr/>
          <p:nvPr/>
        </p:nvSpPr>
        <p:spPr>
          <a:xfrm>
            <a:off x="4495680" y="3276360"/>
            <a:ext cx="9720" cy="467280"/>
          </a:xfrm>
          <a:custGeom>
            <a:avLst/>
            <a:gdLst/>
            <a:ahLst/>
            <a:rect l="0" t="0" r="r" b="b"/>
            <a:pathLst>
              <a:path w="27" h="1298">
                <a:moveTo>
                  <a:pt x="0" y="0"/>
                </a:moveTo>
                <a:lnTo>
                  <a:pt x="27" y="0"/>
                </a:lnTo>
                <a:lnTo>
                  <a:pt x="27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12" name=""/>
          <p:cNvSpPr/>
          <p:nvPr/>
        </p:nvSpPr>
        <p:spPr>
          <a:xfrm>
            <a:off x="4505040" y="3267000"/>
            <a:ext cx="7096680" cy="9720"/>
          </a:xfrm>
          <a:custGeom>
            <a:avLst/>
            <a:gdLst/>
            <a:ahLst/>
            <a:rect l="0" t="0" r="r" b="b"/>
            <a:pathLst>
              <a:path w="19713" h="27">
                <a:moveTo>
                  <a:pt x="0" y="0"/>
                </a:moveTo>
                <a:lnTo>
                  <a:pt x="19713" y="0"/>
                </a:lnTo>
                <a:lnTo>
                  <a:pt x="1971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13" name=""/>
          <p:cNvSpPr/>
          <p:nvPr/>
        </p:nvSpPr>
        <p:spPr>
          <a:xfrm>
            <a:off x="11591640" y="3276360"/>
            <a:ext cx="10080" cy="467280"/>
          </a:xfrm>
          <a:custGeom>
            <a:avLst/>
            <a:gdLst/>
            <a:ahLst/>
            <a:rect l="0" t="0" r="r" b="b"/>
            <a:pathLst>
              <a:path w="28" h="1298">
                <a:moveTo>
                  <a:pt x="0" y="0"/>
                </a:moveTo>
                <a:lnTo>
                  <a:pt x="28" y="0"/>
                </a:lnTo>
                <a:lnTo>
                  <a:pt x="28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14" name=""/>
          <p:cNvSpPr/>
          <p:nvPr/>
        </p:nvSpPr>
        <p:spPr>
          <a:xfrm>
            <a:off x="590400" y="3743280"/>
            <a:ext cx="9720" cy="466920"/>
          </a:xfrm>
          <a:custGeom>
            <a:avLst/>
            <a:gdLst/>
            <a:ahLst/>
            <a:rect l="0" t="0" r="r" b="b"/>
            <a:pathLst>
              <a:path w="27" h="1297">
                <a:moveTo>
                  <a:pt x="0" y="0"/>
                </a:moveTo>
                <a:lnTo>
                  <a:pt x="27" y="0"/>
                </a:lnTo>
                <a:lnTo>
                  <a:pt x="27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15" name=""/>
          <p:cNvSpPr/>
          <p:nvPr/>
        </p:nvSpPr>
        <p:spPr>
          <a:xfrm>
            <a:off x="590400" y="3733560"/>
            <a:ext cx="3915000" cy="10080"/>
          </a:xfrm>
          <a:custGeom>
            <a:avLst/>
            <a:gdLst/>
            <a:ahLst/>
            <a:rect l="0" t="0" r="r" b="b"/>
            <a:pathLst>
              <a:path w="10875" h="28">
                <a:moveTo>
                  <a:pt x="0" y="0"/>
                </a:moveTo>
                <a:lnTo>
                  <a:pt x="10875" y="0"/>
                </a:lnTo>
                <a:lnTo>
                  <a:pt x="1087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16" name=""/>
          <p:cNvSpPr/>
          <p:nvPr/>
        </p:nvSpPr>
        <p:spPr>
          <a:xfrm>
            <a:off x="4495680" y="3743280"/>
            <a:ext cx="9720" cy="466920"/>
          </a:xfrm>
          <a:custGeom>
            <a:avLst/>
            <a:gdLst/>
            <a:ahLst/>
            <a:rect l="0" t="0" r="r" b="b"/>
            <a:pathLst>
              <a:path w="27" h="1297">
                <a:moveTo>
                  <a:pt x="0" y="0"/>
                </a:moveTo>
                <a:lnTo>
                  <a:pt x="27" y="0"/>
                </a:lnTo>
                <a:lnTo>
                  <a:pt x="27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17" name=""/>
          <p:cNvSpPr/>
          <p:nvPr/>
        </p:nvSpPr>
        <p:spPr>
          <a:xfrm>
            <a:off x="4505040" y="3733560"/>
            <a:ext cx="7096680" cy="10080"/>
          </a:xfrm>
          <a:custGeom>
            <a:avLst/>
            <a:gdLst/>
            <a:ahLst/>
            <a:rect l="0" t="0" r="r" b="b"/>
            <a:pathLst>
              <a:path w="19713" h="28">
                <a:moveTo>
                  <a:pt x="0" y="0"/>
                </a:moveTo>
                <a:lnTo>
                  <a:pt x="19713" y="0"/>
                </a:lnTo>
                <a:lnTo>
                  <a:pt x="1971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18" name=""/>
          <p:cNvSpPr/>
          <p:nvPr/>
        </p:nvSpPr>
        <p:spPr>
          <a:xfrm>
            <a:off x="11591640" y="3743280"/>
            <a:ext cx="10080" cy="466920"/>
          </a:xfrm>
          <a:custGeom>
            <a:avLst/>
            <a:gdLst/>
            <a:ahLst/>
            <a:rect l="0" t="0" r="r" b="b"/>
            <a:pathLst>
              <a:path w="28" h="1297">
                <a:moveTo>
                  <a:pt x="0" y="0"/>
                </a:moveTo>
                <a:lnTo>
                  <a:pt x="28" y="0"/>
                </a:lnTo>
                <a:lnTo>
                  <a:pt x="28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19" name=""/>
          <p:cNvSpPr/>
          <p:nvPr/>
        </p:nvSpPr>
        <p:spPr>
          <a:xfrm>
            <a:off x="590400" y="4200480"/>
            <a:ext cx="3915000" cy="9720"/>
          </a:xfrm>
          <a:custGeom>
            <a:avLst/>
            <a:gdLst/>
            <a:ahLst/>
            <a:rect l="0" t="0" r="r" b="b"/>
            <a:pathLst>
              <a:path w="10875" h="27">
                <a:moveTo>
                  <a:pt x="0" y="0"/>
                </a:moveTo>
                <a:lnTo>
                  <a:pt x="10875" y="0"/>
                </a:lnTo>
                <a:lnTo>
                  <a:pt x="1087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20" name=""/>
          <p:cNvSpPr/>
          <p:nvPr/>
        </p:nvSpPr>
        <p:spPr>
          <a:xfrm>
            <a:off x="4505040" y="4200480"/>
            <a:ext cx="7096680" cy="9720"/>
          </a:xfrm>
          <a:custGeom>
            <a:avLst/>
            <a:gdLst/>
            <a:ahLst/>
            <a:rect l="0" t="0" r="r" b="b"/>
            <a:pathLst>
              <a:path w="19713" h="27">
                <a:moveTo>
                  <a:pt x="0" y="0"/>
                </a:moveTo>
                <a:lnTo>
                  <a:pt x="19713" y="0"/>
                </a:lnTo>
                <a:lnTo>
                  <a:pt x="1971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21" name=""/>
          <p:cNvSpPr txBox="1"/>
          <p:nvPr/>
        </p:nvSpPr>
        <p:spPr>
          <a:xfrm>
            <a:off x="590400" y="1576800"/>
            <a:ext cx="7477254" cy="36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8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一つの意味に、複数の日本語を用意する</a:t>
            </a:r>
            <a:endParaRPr lang="en-US" sz="28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22" name=""/>
          <p:cNvSpPr txBox="1"/>
          <p:nvPr/>
        </p:nvSpPr>
        <p:spPr>
          <a:xfrm>
            <a:off x="723960" y="2456280"/>
            <a:ext cx="1315278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共通の意味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23" name=""/>
          <p:cNvSpPr txBox="1"/>
          <p:nvPr/>
        </p:nvSpPr>
        <p:spPr>
          <a:xfrm>
            <a:off x="4629960" y="2456280"/>
            <a:ext cx="1841058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指示の言い回し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24" name=""/>
          <p:cNvSpPr txBox="1"/>
          <p:nvPr/>
        </p:nvSpPr>
        <p:spPr>
          <a:xfrm>
            <a:off x="723960" y="2923200"/>
            <a:ext cx="1315278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偶数を残す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25" name=""/>
          <p:cNvSpPr txBox="1"/>
          <p:nvPr/>
        </p:nvSpPr>
        <p:spPr>
          <a:xfrm>
            <a:off x="4629960" y="2923200"/>
            <a:ext cx="1841058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偶数だけを残す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26" name=""/>
          <p:cNvSpPr txBox="1"/>
          <p:nvPr/>
        </p:nvSpPr>
        <p:spPr>
          <a:xfrm>
            <a:off x="723960" y="3389760"/>
            <a:ext cx="1315278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偶数を残す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27" name=""/>
          <p:cNvSpPr txBox="1"/>
          <p:nvPr/>
        </p:nvSpPr>
        <p:spPr>
          <a:xfrm>
            <a:off x="4629960" y="3389760"/>
            <a:ext cx="2629728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偶数の要素を取り出す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28" name=""/>
          <p:cNvSpPr txBox="1"/>
          <p:nvPr/>
        </p:nvSpPr>
        <p:spPr>
          <a:xfrm>
            <a:off x="723960" y="3856320"/>
            <a:ext cx="1315278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偶数を残す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29" name=""/>
          <p:cNvSpPr txBox="1"/>
          <p:nvPr/>
        </p:nvSpPr>
        <p:spPr>
          <a:xfrm>
            <a:off x="4629960" y="3856320"/>
            <a:ext cx="2366838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偶数の値を抽出する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30" name=""/>
          <p:cNvSpPr txBox="1"/>
          <p:nvPr/>
        </p:nvSpPr>
        <p:spPr>
          <a:xfrm>
            <a:off x="590400" y="4460040"/>
            <a:ext cx="8294076" cy="258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02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ルールと補助モデルを使い、意味を確認して教材に採用する。</a:t>
            </a:r>
            <a:endParaRPr lang="en-US" sz="202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31" name=""/>
          <p:cNvSpPr txBox="1"/>
          <p:nvPr/>
        </p:nvSpPr>
        <p:spPr>
          <a:xfrm>
            <a:off x="590400" y="5022000"/>
            <a:ext cx="7701642" cy="258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0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訓練・検証・テストに意味を分けてから、表現を増やす。</a:t>
            </a:r>
            <a:endParaRPr lang="en-US" sz="202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32" name=""/>
          <p:cNvSpPr txBox="1"/>
          <p:nvPr/>
        </p:nvSpPr>
        <p:spPr>
          <a:xfrm>
            <a:off x="11806200" y="6466680"/>
            <a:ext cx="174708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Hiragino Sans"/>
                <a:ea typeface="Hiragino Sans"/>
              </a:rPr>
              <a:t>9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3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3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36" name=""/>
          <p:cNvSpPr/>
          <p:nvPr/>
        </p:nvSpPr>
        <p:spPr>
          <a:xfrm>
            <a:off x="595080" y="2643120"/>
            <a:ext cx="11001960" cy="638280"/>
          </a:xfrm>
          <a:custGeom>
            <a:avLst/>
            <a:gdLst/>
            <a:ahLst/>
            <a:rect l="0" t="0" r="r" b="b"/>
            <a:pathLst>
              <a:path w="30561" h="1773">
                <a:moveTo>
                  <a:pt x="0" y="1628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8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30415" y="0"/>
                </a:lnTo>
                <a:cubicBezTo>
                  <a:pt x="30425" y="0"/>
                  <a:pt x="30434" y="1"/>
                  <a:pt x="30443" y="2"/>
                </a:cubicBezTo>
                <a:cubicBezTo>
                  <a:pt x="30453" y="4"/>
                  <a:pt x="30462" y="7"/>
                  <a:pt x="30471" y="11"/>
                </a:cubicBezTo>
                <a:cubicBezTo>
                  <a:pt x="30480" y="14"/>
                  <a:pt x="30488" y="19"/>
                  <a:pt x="30496" y="24"/>
                </a:cubicBezTo>
                <a:cubicBezTo>
                  <a:pt x="30504" y="30"/>
                  <a:pt x="30511" y="36"/>
                  <a:pt x="30518" y="42"/>
                </a:cubicBezTo>
                <a:cubicBezTo>
                  <a:pt x="30525" y="49"/>
                  <a:pt x="30531" y="56"/>
                  <a:pt x="30536" y="64"/>
                </a:cubicBezTo>
                <a:cubicBezTo>
                  <a:pt x="30541" y="72"/>
                  <a:pt x="30546" y="81"/>
                  <a:pt x="30549" y="90"/>
                </a:cubicBezTo>
                <a:cubicBezTo>
                  <a:pt x="30553" y="98"/>
                  <a:pt x="30556" y="107"/>
                  <a:pt x="30558" y="117"/>
                </a:cubicBezTo>
                <a:cubicBezTo>
                  <a:pt x="30560" y="126"/>
                  <a:pt x="30561" y="136"/>
                  <a:pt x="30561" y="145"/>
                </a:cubicBezTo>
                <a:lnTo>
                  <a:pt x="30561" y="1628"/>
                </a:lnTo>
                <a:cubicBezTo>
                  <a:pt x="30561" y="1637"/>
                  <a:pt x="30560" y="1647"/>
                  <a:pt x="30558" y="1656"/>
                </a:cubicBezTo>
                <a:cubicBezTo>
                  <a:pt x="30556" y="1666"/>
                  <a:pt x="30553" y="1675"/>
                  <a:pt x="30549" y="1684"/>
                </a:cubicBezTo>
                <a:cubicBezTo>
                  <a:pt x="30546" y="1692"/>
                  <a:pt x="30541" y="1701"/>
                  <a:pt x="30536" y="1709"/>
                </a:cubicBezTo>
                <a:cubicBezTo>
                  <a:pt x="30531" y="1717"/>
                  <a:pt x="30525" y="1724"/>
                  <a:pt x="30518" y="1731"/>
                </a:cubicBezTo>
                <a:cubicBezTo>
                  <a:pt x="30511" y="1738"/>
                  <a:pt x="30504" y="1744"/>
                  <a:pt x="30496" y="1749"/>
                </a:cubicBezTo>
                <a:cubicBezTo>
                  <a:pt x="30488" y="1754"/>
                  <a:pt x="30480" y="1759"/>
                  <a:pt x="30471" y="1762"/>
                </a:cubicBezTo>
                <a:cubicBezTo>
                  <a:pt x="30462" y="1766"/>
                  <a:pt x="30453" y="1769"/>
                  <a:pt x="30443" y="1771"/>
                </a:cubicBezTo>
                <a:cubicBezTo>
                  <a:pt x="30434" y="1772"/>
                  <a:pt x="30425" y="1773"/>
                  <a:pt x="30415" y="1773"/>
                </a:cubicBezTo>
                <a:lnTo>
                  <a:pt x="146" y="1773"/>
                </a:lnTo>
                <a:cubicBezTo>
                  <a:pt x="136" y="1773"/>
                  <a:pt x="127" y="1772"/>
                  <a:pt x="117" y="1771"/>
                </a:cubicBezTo>
                <a:cubicBezTo>
                  <a:pt x="108" y="1769"/>
                  <a:pt x="99" y="1766"/>
                  <a:pt x="90" y="1762"/>
                </a:cubicBezTo>
                <a:cubicBezTo>
                  <a:pt x="81" y="1759"/>
                  <a:pt x="73" y="1754"/>
                  <a:pt x="65" y="1749"/>
                </a:cubicBezTo>
                <a:cubicBezTo>
                  <a:pt x="57" y="1744"/>
                  <a:pt x="50" y="1738"/>
                  <a:pt x="43" y="1731"/>
                </a:cubicBezTo>
                <a:cubicBezTo>
                  <a:pt x="36" y="1724"/>
                  <a:pt x="30" y="1717"/>
                  <a:pt x="25" y="1709"/>
                </a:cubicBezTo>
                <a:cubicBezTo>
                  <a:pt x="19" y="1701"/>
                  <a:pt x="15" y="1692"/>
                  <a:pt x="11" y="1684"/>
                </a:cubicBezTo>
                <a:cubicBezTo>
                  <a:pt x="8" y="1675"/>
                  <a:pt x="5" y="1666"/>
                  <a:pt x="3" y="1656"/>
                </a:cubicBezTo>
                <a:cubicBezTo>
                  <a:pt x="1" y="1647"/>
                  <a:pt x="0" y="1637"/>
                  <a:pt x="0" y="1628"/>
                </a:cubicBez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37" name=""/>
          <p:cNvSpPr/>
          <p:nvPr/>
        </p:nvSpPr>
        <p:spPr>
          <a:xfrm>
            <a:off x="595080" y="2643120"/>
            <a:ext cx="11001960" cy="638280"/>
          </a:xfrm>
          <a:custGeom>
            <a:avLst/>
            <a:gdLst/>
            <a:ahLst/>
            <a:rect l="0" t="0" r="r" b="b"/>
            <a:pathLst>
              <a:path w="30561" h="1773">
                <a:moveTo>
                  <a:pt x="0" y="1628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8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30415" y="0"/>
                </a:lnTo>
                <a:cubicBezTo>
                  <a:pt x="30425" y="0"/>
                  <a:pt x="30434" y="1"/>
                  <a:pt x="30443" y="2"/>
                </a:cubicBezTo>
                <a:cubicBezTo>
                  <a:pt x="30453" y="4"/>
                  <a:pt x="30462" y="7"/>
                  <a:pt x="30471" y="11"/>
                </a:cubicBezTo>
                <a:cubicBezTo>
                  <a:pt x="30480" y="14"/>
                  <a:pt x="30488" y="19"/>
                  <a:pt x="30496" y="24"/>
                </a:cubicBezTo>
                <a:cubicBezTo>
                  <a:pt x="30504" y="30"/>
                  <a:pt x="30511" y="36"/>
                  <a:pt x="30518" y="42"/>
                </a:cubicBezTo>
                <a:cubicBezTo>
                  <a:pt x="30525" y="49"/>
                  <a:pt x="30531" y="56"/>
                  <a:pt x="30536" y="64"/>
                </a:cubicBezTo>
                <a:cubicBezTo>
                  <a:pt x="30541" y="72"/>
                  <a:pt x="30546" y="81"/>
                  <a:pt x="30549" y="90"/>
                </a:cubicBezTo>
                <a:cubicBezTo>
                  <a:pt x="30553" y="98"/>
                  <a:pt x="30556" y="107"/>
                  <a:pt x="30558" y="117"/>
                </a:cubicBezTo>
                <a:cubicBezTo>
                  <a:pt x="30560" y="126"/>
                  <a:pt x="30561" y="136"/>
                  <a:pt x="30561" y="145"/>
                </a:cubicBezTo>
                <a:lnTo>
                  <a:pt x="30561" y="1628"/>
                </a:lnTo>
                <a:cubicBezTo>
                  <a:pt x="30561" y="1637"/>
                  <a:pt x="30560" y="1647"/>
                  <a:pt x="30558" y="1656"/>
                </a:cubicBezTo>
                <a:cubicBezTo>
                  <a:pt x="30556" y="1666"/>
                  <a:pt x="30553" y="1675"/>
                  <a:pt x="30549" y="1684"/>
                </a:cubicBezTo>
                <a:cubicBezTo>
                  <a:pt x="30546" y="1692"/>
                  <a:pt x="30541" y="1701"/>
                  <a:pt x="30536" y="1709"/>
                </a:cubicBezTo>
                <a:cubicBezTo>
                  <a:pt x="30531" y="1717"/>
                  <a:pt x="30525" y="1724"/>
                  <a:pt x="30518" y="1731"/>
                </a:cubicBezTo>
                <a:cubicBezTo>
                  <a:pt x="30511" y="1738"/>
                  <a:pt x="30504" y="1744"/>
                  <a:pt x="30496" y="1749"/>
                </a:cubicBezTo>
                <a:cubicBezTo>
                  <a:pt x="30488" y="1754"/>
                  <a:pt x="30480" y="1759"/>
                  <a:pt x="30471" y="1762"/>
                </a:cubicBezTo>
                <a:cubicBezTo>
                  <a:pt x="30462" y="1766"/>
                  <a:pt x="30453" y="1769"/>
                  <a:pt x="30443" y="1771"/>
                </a:cubicBezTo>
                <a:cubicBezTo>
                  <a:pt x="30434" y="1772"/>
                  <a:pt x="30425" y="1773"/>
                  <a:pt x="30415" y="1773"/>
                </a:cubicBezTo>
                <a:lnTo>
                  <a:pt x="146" y="1773"/>
                </a:lnTo>
                <a:cubicBezTo>
                  <a:pt x="136" y="1773"/>
                  <a:pt x="127" y="1772"/>
                  <a:pt x="117" y="1771"/>
                </a:cubicBezTo>
                <a:cubicBezTo>
                  <a:pt x="108" y="1769"/>
                  <a:pt x="99" y="1766"/>
                  <a:pt x="90" y="1762"/>
                </a:cubicBezTo>
                <a:cubicBezTo>
                  <a:pt x="81" y="1759"/>
                  <a:pt x="73" y="1754"/>
                  <a:pt x="65" y="1749"/>
                </a:cubicBezTo>
                <a:cubicBezTo>
                  <a:pt x="57" y="1744"/>
                  <a:pt x="50" y="1738"/>
                  <a:pt x="43" y="1731"/>
                </a:cubicBezTo>
                <a:cubicBezTo>
                  <a:pt x="36" y="1724"/>
                  <a:pt x="30" y="1717"/>
                  <a:pt x="25" y="1709"/>
                </a:cubicBezTo>
                <a:cubicBezTo>
                  <a:pt x="19" y="1701"/>
                  <a:pt x="15" y="1692"/>
                  <a:pt x="11" y="1684"/>
                </a:cubicBezTo>
                <a:cubicBezTo>
                  <a:pt x="8" y="1675"/>
                  <a:pt x="5" y="1666"/>
                  <a:pt x="3" y="1656"/>
                </a:cubicBezTo>
                <a:cubicBezTo>
                  <a:pt x="1" y="1647"/>
                  <a:pt x="0" y="1637"/>
                  <a:pt x="0" y="1628"/>
                </a:cubicBezTo>
                <a:close/>
              </a:path>
            </a:pathLst>
          </a:custGeom>
          <a:noFill/>
          <a:ln w="9360">
            <a:solidFill>
              <a:srgbClr val="D8E1E9"/>
            </a:solidFill>
            <a:miter/>
          </a:ln>
        </p:spPr>
        <p:txBody>
          <a:bodyPr lIns="4680" tIns="4680" rIns="4680" bIns="468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38" name=""/>
          <p:cNvSpPr/>
          <p:nvPr/>
        </p:nvSpPr>
        <p:spPr>
          <a:xfrm>
            <a:off x="595080" y="3443040"/>
            <a:ext cx="11001960" cy="1591200"/>
          </a:xfrm>
          <a:custGeom>
            <a:avLst/>
            <a:gdLst/>
            <a:ahLst/>
            <a:rect l="0" t="0" r="r" b="b"/>
            <a:pathLst>
              <a:path w="30561" h="4420">
                <a:moveTo>
                  <a:pt x="0" y="4274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30415" y="0"/>
                </a:lnTo>
                <a:cubicBezTo>
                  <a:pt x="30425" y="0"/>
                  <a:pt x="30434" y="1"/>
                  <a:pt x="30443" y="3"/>
                </a:cubicBezTo>
                <a:cubicBezTo>
                  <a:pt x="30453" y="5"/>
                  <a:pt x="30462" y="8"/>
                  <a:pt x="30471" y="11"/>
                </a:cubicBezTo>
                <a:cubicBezTo>
                  <a:pt x="30480" y="15"/>
                  <a:pt x="30488" y="19"/>
                  <a:pt x="30496" y="25"/>
                </a:cubicBezTo>
                <a:cubicBezTo>
                  <a:pt x="30504" y="30"/>
                  <a:pt x="30511" y="36"/>
                  <a:pt x="30518" y="43"/>
                </a:cubicBezTo>
                <a:cubicBezTo>
                  <a:pt x="30525" y="50"/>
                  <a:pt x="30531" y="57"/>
                  <a:pt x="30536" y="65"/>
                </a:cubicBezTo>
                <a:cubicBezTo>
                  <a:pt x="30541" y="73"/>
                  <a:pt x="30546" y="81"/>
                  <a:pt x="30549" y="90"/>
                </a:cubicBezTo>
                <a:cubicBezTo>
                  <a:pt x="30553" y="99"/>
                  <a:pt x="30556" y="108"/>
                  <a:pt x="30558" y="117"/>
                </a:cubicBezTo>
                <a:cubicBezTo>
                  <a:pt x="30560" y="127"/>
                  <a:pt x="30561" y="136"/>
                  <a:pt x="30561" y="146"/>
                </a:cubicBezTo>
                <a:lnTo>
                  <a:pt x="30561" y="4274"/>
                </a:lnTo>
                <a:cubicBezTo>
                  <a:pt x="30561" y="4284"/>
                  <a:pt x="30560" y="4293"/>
                  <a:pt x="30558" y="4303"/>
                </a:cubicBezTo>
                <a:cubicBezTo>
                  <a:pt x="30556" y="4312"/>
                  <a:pt x="30553" y="4321"/>
                  <a:pt x="30549" y="4330"/>
                </a:cubicBezTo>
                <a:cubicBezTo>
                  <a:pt x="30546" y="4339"/>
                  <a:pt x="30541" y="4347"/>
                  <a:pt x="30536" y="4355"/>
                </a:cubicBezTo>
                <a:cubicBezTo>
                  <a:pt x="30531" y="4363"/>
                  <a:pt x="30525" y="4370"/>
                  <a:pt x="30518" y="4377"/>
                </a:cubicBezTo>
                <a:cubicBezTo>
                  <a:pt x="30511" y="4384"/>
                  <a:pt x="30504" y="4390"/>
                  <a:pt x="30496" y="4395"/>
                </a:cubicBezTo>
                <a:cubicBezTo>
                  <a:pt x="30488" y="4401"/>
                  <a:pt x="30480" y="4405"/>
                  <a:pt x="30471" y="4409"/>
                </a:cubicBezTo>
                <a:cubicBezTo>
                  <a:pt x="30462" y="4412"/>
                  <a:pt x="30453" y="4415"/>
                  <a:pt x="30443" y="4417"/>
                </a:cubicBezTo>
                <a:cubicBezTo>
                  <a:pt x="30434" y="4419"/>
                  <a:pt x="30425" y="4420"/>
                  <a:pt x="30415" y="4420"/>
                </a:cubicBezTo>
                <a:lnTo>
                  <a:pt x="146" y="4420"/>
                </a:lnTo>
                <a:cubicBezTo>
                  <a:pt x="136" y="4420"/>
                  <a:pt x="127" y="4419"/>
                  <a:pt x="117" y="4417"/>
                </a:cubicBezTo>
                <a:cubicBezTo>
                  <a:pt x="108" y="4415"/>
                  <a:pt x="99" y="4412"/>
                  <a:pt x="90" y="4409"/>
                </a:cubicBezTo>
                <a:cubicBezTo>
                  <a:pt x="81" y="4405"/>
                  <a:pt x="73" y="4401"/>
                  <a:pt x="65" y="4395"/>
                </a:cubicBezTo>
                <a:cubicBezTo>
                  <a:pt x="57" y="4390"/>
                  <a:pt x="50" y="4384"/>
                  <a:pt x="43" y="4377"/>
                </a:cubicBezTo>
                <a:cubicBezTo>
                  <a:pt x="36" y="4370"/>
                  <a:pt x="30" y="4363"/>
                  <a:pt x="25" y="4355"/>
                </a:cubicBezTo>
                <a:cubicBezTo>
                  <a:pt x="19" y="4347"/>
                  <a:pt x="15" y="4339"/>
                  <a:pt x="11" y="4330"/>
                </a:cubicBezTo>
                <a:cubicBezTo>
                  <a:pt x="8" y="4321"/>
                  <a:pt x="5" y="4312"/>
                  <a:pt x="3" y="4303"/>
                </a:cubicBezTo>
                <a:cubicBezTo>
                  <a:pt x="1" y="4293"/>
                  <a:pt x="0" y="4284"/>
                  <a:pt x="0" y="4274"/>
                </a:cubicBez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39" name=""/>
          <p:cNvSpPr/>
          <p:nvPr/>
        </p:nvSpPr>
        <p:spPr>
          <a:xfrm>
            <a:off x="595080" y="3443040"/>
            <a:ext cx="11001960" cy="1591200"/>
          </a:xfrm>
          <a:custGeom>
            <a:avLst/>
            <a:gdLst/>
            <a:ahLst/>
            <a:rect l="0" t="0" r="r" b="b"/>
            <a:pathLst>
              <a:path w="30561" h="4420">
                <a:moveTo>
                  <a:pt x="0" y="4274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30415" y="0"/>
                </a:lnTo>
                <a:cubicBezTo>
                  <a:pt x="30425" y="0"/>
                  <a:pt x="30434" y="1"/>
                  <a:pt x="30443" y="3"/>
                </a:cubicBezTo>
                <a:cubicBezTo>
                  <a:pt x="30453" y="5"/>
                  <a:pt x="30462" y="8"/>
                  <a:pt x="30471" y="11"/>
                </a:cubicBezTo>
                <a:cubicBezTo>
                  <a:pt x="30480" y="15"/>
                  <a:pt x="30488" y="19"/>
                  <a:pt x="30496" y="25"/>
                </a:cubicBezTo>
                <a:cubicBezTo>
                  <a:pt x="30504" y="30"/>
                  <a:pt x="30511" y="36"/>
                  <a:pt x="30518" y="43"/>
                </a:cubicBezTo>
                <a:cubicBezTo>
                  <a:pt x="30525" y="50"/>
                  <a:pt x="30531" y="57"/>
                  <a:pt x="30536" y="65"/>
                </a:cubicBezTo>
                <a:cubicBezTo>
                  <a:pt x="30541" y="73"/>
                  <a:pt x="30546" y="81"/>
                  <a:pt x="30549" y="90"/>
                </a:cubicBezTo>
                <a:cubicBezTo>
                  <a:pt x="30553" y="99"/>
                  <a:pt x="30556" y="108"/>
                  <a:pt x="30558" y="117"/>
                </a:cubicBezTo>
                <a:cubicBezTo>
                  <a:pt x="30560" y="127"/>
                  <a:pt x="30561" y="136"/>
                  <a:pt x="30561" y="146"/>
                </a:cubicBezTo>
                <a:lnTo>
                  <a:pt x="30561" y="4274"/>
                </a:lnTo>
                <a:cubicBezTo>
                  <a:pt x="30561" y="4284"/>
                  <a:pt x="30560" y="4293"/>
                  <a:pt x="30558" y="4303"/>
                </a:cubicBezTo>
                <a:cubicBezTo>
                  <a:pt x="30556" y="4312"/>
                  <a:pt x="30553" y="4321"/>
                  <a:pt x="30549" y="4330"/>
                </a:cubicBezTo>
                <a:cubicBezTo>
                  <a:pt x="30546" y="4339"/>
                  <a:pt x="30541" y="4347"/>
                  <a:pt x="30536" y="4355"/>
                </a:cubicBezTo>
                <a:cubicBezTo>
                  <a:pt x="30531" y="4363"/>
                  <a:pt x="30525" y="4370"/>
                  <a:pt x="30518" y="4377"/>
                </a:cubicBezTo>
                <a:cubicBezTo>
                  <a:pt x="30511" y="4384"/>
                  <a:pt x="30504" y="4390"/>
                  <a:pt x="30496" y="4395"/>
                </a:cubicBezTo>
                <a:cubicBezTo>
                  <a:pt x="30488" y="4401"/>
                  <a:pt x="30480" y="4405"/>
                  <a:pt x="30471" y="4409"/>
                </a:cubicBezTo>
                <a:cubicBezTo>
                  <a:pt x="30462" y="4412"/>
                  <a:pt x="30453" y="4415"/>
                  <a:pt x="30443" y="4417"/>
                </a:cubicBezTo>
                <a:cubicBezTo>
                  <a:pt x="30434" y="4419"/>
                  <a:pt x="30425" y="4420"/>
                  <a:pt x="30415" y="4420"/>
                </a:cubicBezTo>
                <a:lnTo>
                  <a:pt x="146" y="4420"/>
                </a:lnTo>
                <a:cubicBezTo>
                  <a:pt x="136" y="4420"/>
                  <a:pt x="127" y="4419"/>
                  <a:pt x="117" y="4417"/>
                </a:cubicBezTo>
                <a:cubicBezTo>
                  <a:pt x="108" y="4415"/>
                  <a:pt x="99" y="4412"/>
                  <a:pt x="90" y="4409"/>
                </a:cubicBezTo>
                <a:cubicBezTo>
                  <a:pt x="81" y="4405"/>
                  <a:pt x="73" y="4401"/>
                  <a:pt x="65" y="4395"/>
                </a:cubicBezTo>
                <a:cubicBezTo>
                  <a:pt x="57" y="4390"/>
                  <a:pt x="50" y="4384"/>
                  <a:pt x="43" y="4377"/>
                </a:cubicBezTo>
                <a:cubicBezTo>
                  <a:pt x="36" y="4370"/>
                  <a:pt x="30" y="4363"/>
                  <a:pt x="25" y="4355"/>
                </a:cubicBezTo>
                <a:cubicBezTo>
                  <a:pt x="19" y="4347"/>
                  <a:pt x="15" y="4339"/>
                  <a:pt x="11" y="4330"/>
                </a:cubicBezTo>
                <a:cubicBezTo>
                  <a:pt x="8" y="4321"/>
                  <a:pt x="5" y="4312"/>
                  <a:pt x="3" y="4303"/>
                </a:cubicBezTo>
                <a:cubicBezTo>
                  <a:pt x="1" y="4293"/>
                  <a:pt x="0" y="4284"/>
                  <a:pt x="0" y="4274"/>
                </a:cubicBezTo>
                <a:close/>
              </a:path>
            </a:pathLst>
          </a:custGeom>
          <a:noFill/>
          <a:ln w="9360">
            <a:solidFill>
              <a:srgbClr val="D8E1E9"/>
            </a:solidFill>
            <a:miter/>
          </a:ln>
        </p:spPr>
        <p:txBody>
          <a:bodyPr lIns="4680" tIns="4680" rIns="4680" bIns="468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40" name=""/>
          <p:cNvSpPr txBox="1"/>
          <p:nvPr/>
        </p:nvSpPr>
        <p:spPr>
          <a:xfrm>
            <a:off x="590400" y="1319760"/>
            <a:ext cx="6231528" cy="36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8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コードの書き方にも変化を付ける</a:t>
            </a:r>
            <a:endParaRPr lang="en-US" sz="28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41" name=""/>
          <p:cNvSpPr txBox="1"/>
          <p:nvPr/>
        </p:nvSpPr>
        <p:spPr>
          <a:xfrm>
            <a:off x="590400" y="2145240"/>
            <a:ext cx="5924754" cy="258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02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どちらも「偶数だけを残す」正しい書き方。</a:t>
            </a:r>
            <a:endParaRPr lang="en-US" sz="202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42" name=""/>
          <p:cNvSpPr txBox="1"/>
          <p:nvPr/>
        </p:nvSpPr>
        <p:spPr>
          <a:xfrm>
            <a:off x="809640" y="2825640"/>
            <a:ext cx="5774472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729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result = [x </a:t>
            </a:r>
            <a:r>
              <a:rPr lang="en-US" sz="1729" b="0" u="none" strike="noStrike">
                <a:solidFill>
                  <a:srgbClr val="CF222E"/>
                </a:solidFill>
                <a:effectLst/>
                <a:uFillTx/>
                <a:latin typeface="Menlo"/>
                <a:ea typeface="Menlo"/>
              </a:rPr>
              <a:t>for</a:t>
            </a:r>
            <a:r>
              <a:rPr lang="en-US" sz="1729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x </a:t>
            </a:r>
            <a:r>
              <a:rPr lang="en-US" sz="1729" b="0" u="none" strike="noStrike">
                <a:solidFill>
                  <a:srgbClr val="CF222E"/>
                </a:solidFill>
                <a:effectLst/>
                <a:uFillTx/>
                <a:latin typeface="Menlo"/>
                <a:ea typeface="Menlo"/>
              </a:rPr>
              <a:t>in</a:t>
            </a:r>
            <a:r>
              <a:rPr lang="en-US" sz="1729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xs </a:t>
            </a:r>
            <a:r>
              <a:rPr lang="en-US" sz="1729" b="0" u="none" strike="noStrike">
                <a:solidFill>
                  <a:srgbClr val="CF222E"/>
                </a:solidFill>
                <a:effectLst/>
                <a:uFillTx/>
                <a:latin typeface="Menlo"/>
                <a:ea typeface="Menlo"/>
              </a:rPr>
              <a:t>if</a:t>
            </a:r>
            <a:r>
              <a:rPr lang="en-US" sz="1729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x % </a:t>
            </a:r>
            <a:r>
              <a:rPr lang="en-US" sz="1729" b="0" u="none" strike="noStrike">
                <a:solidFill>
                  <a:srgbClr val="0550AE"/>
                </a:solidFill>
                <a:effectLst/>
                <a:uFillTx/>
                <a:latin typeface="Menlo"/>
                <a:ea typeface="Menlo"/>
              </a:rPr>
              <a:t>2</a:t>
            </a:r>
            <a:r>
              <a:rPr lang="en-US" sz="1729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== </a:t>
            </a:r>
            <a:r>
              <a:rPr lang="en-US" sz="1729" b="0" u="none" strike="noStrike">
                <a:solidFill>
                  <a:srgbClr val="0550AE"/>
                </a:solidFill>
                <a:effectLst/>
                <a:uFillTx/>
                <a:latin typeface="Menlo"/>
                <a:ea typeface="Menlo"/>
              </a:rPr>
              <a:t>0</a:t>
            </a:r>
            <a:r>
              <a:rPr lang="en-US" sz="1729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]</a:t>
            </a:r>
            <a:endParaRPr lang="en-US" sz="1729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43" name=""/>
          <p:cNvSpPr txBox="1"/>
          <p:nvPr/>
        </p:nvSpPr>
        <p:spPr>
          <a:xfrm>
            <a:off x="809640" y="3625920"/>
            <a:ext cx="1672146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729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result = []</a:t>
            </a:r>
            <a:endParaRPr lang="en-US" sz="1729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44" name=""/>
          <p:cNvSpPr txBox="1"/>
          <p:nvPr/>
        </p:nvSpPr>
        <p:spPr>
          <a:xfrm>
            <a:off x="809640" y="3940200"/>
            <a:ext cx="1824084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729" b="0" u="none" strike="noStrike">
                <a:solidFill>
                  <a:srgbClr val="CF222E"/>
                </a:solidFill>
                <a:effectLst/>
                <a:uFillTx/>
                <a:latin typeface="Menlo"/>
                <a:ea typeface="Menlo"/>
              </a:rPr>
              <a:t>for</a:t>
            </a:r>
            <a:r>
              <a:rPr lang="en-US" sz="1729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x </a:t>
            </a:r>
            <a:r>
              <a:rPr lang="en-US" sz="1729" b="0" u="none" strike="noStrike">
                <a:solidFill>
                  <a:srgbClr val="CF222E"/>
                </a:solidFill>
                <a:effectLst/>
                <a:uFillTx/>
                <a:latin typeface="Menlo"/>
                <a:ea typeface="Menlo"/>
              </a:rPr>
              <a:t>in</a:t>
            </a:r>
            <a:r>
              <a:rPr lang="en-US" sz="1729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xs:</a:t>
            </a:r>
            <a:endParaRPr lang="en-US" sz="1729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45" name=""/>
          <p:cNvSpPr txBox="1"/>
          <p:nvPr/>
        </p:nvSpPr>
        <p:spPr>
          <a:xfrm>
            <a:off x="809640" y="4263840"/>
            <a:ext cx="2735712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729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   </a:t>
            </a:r>
            <a:r>
              <a:rPr lang="en-US" sz="1729" b="0" u="none" strike="noStrike">
                <a:solidFill>
                  <a:srgbClr val="CF222E"/>
                </a:solidFill>
                <a:effectLst/>
                <a:uFillTx/>
                <a:latin typeface="Menlo"/>
                <a:ea typeface="Menlo"/>
              </a:rPr>
              <a:t>if</a:t>
            </a:r>
            <a:r>
              <a:rPr lang="en-US" sz="1729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x % </a:t>
            </a:r>
            <a:r>
              <a:rPr lang="en-US" sz="1729" b="0" u="none" strike="noStrike">
                <a:solidFill>
                  <a:srgbClr val="0550AE"/>
                </a:solidFill>
                <a:effectLst/>
                <a:uFillTx/>
                <a:latin typeface="Menlo"/>
                <a:ea typeface="Menlo"/>
              </a:rPr>
              <a:t>2</a:t>
            </a:r>
            <a:r>
              <a:rPr lang="en-US" sz="1729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== </a:t>
            </a:r>
            <a:r>
              <a:rPr lang="en-US" sz="1729" b="0" u="none" strike="noStrike">
                <a:solidFill>
                  <a:srgbClr val="0550AE"/>
                </a:solidFill>
                <a:effectLst/>
                <a:uFillTx/>
                <a:latin typeface="Menlo"/>
                <a:ea typeface="Menlo"/>
              </a:rPr>
              <a:t>0</a:t>
            </a:r>
            <a:r>
              <a:rPr lang="en-US" sz="1729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:</a:t>
            </a:r>
            <a:endParaRPr lang="en-US" sz="1729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46" name=""/>
          <p:cNvSpPr txBox="1"/>
          <p:nvPr/>
        </p:nvSpPr>
        <p:spPr>
          <a:xfrm>
            <a:off x="809640" y="4578120"/>
            <a:ext cx="364734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729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       result.append(x)</a:t>
            </a:r>
            <a:endParaRPr lang="en-US" sz="1729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47" name=""/>
          <p:cNvSpPr txBox="1"/>
          <p:nvPr/>
        </p:nvSpPr>
        <p:spPr>
          <a:xfrm>
            <a:off x="590400" y="5269680"/>
            <a:ext cx="7109208" cy="258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0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文字列が同じかではなく、動作が同じかを重視する。</a:t>
            </a:r>
            <a:endParaRPr lang="en-US" sz="202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48" name=""/>
          <p:cNvSpPr txBox="1"/>
          <p:nvPr/>
        </p:nvSpPr>
        <p:spPr>
          <a:xfrm>
            <a:off x="11705760" y="6466680"/>
            <a:ext cx="231012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Hiragino Sans"/>
                <a:ea typeface="Hiragino Sans"/>
              </a:rPr>
              <a:t>10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5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5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52" name=""/>
          <p:cNvSpPr/>
          <p:nvPr/>
        </p:nvSpPr>
        <p:spPr>
          <a:xfrm>
            <a:off x="599760" y="2676240"/>
            <a:ext cx="4410720" cy="467280"/>
          </a:xfrm>
          <a:custGeom>
            <a:avLst/>
            <a:gdLst/>
            <a:ahLst/>
            <a:rect l="0" t="0" r="r" b="b"/>
            <a:pathLst>
              <a:path w="12252" h="1298">
                <a:moveTo>
                  <a:pt x="0" y="0"/>
                </a:moveTo>
                <a:lnTo>
                  <a:pt x="12252" y="0"/>
                </a:lnTo>
                <a:lnTo>
                  <a:pt x="12252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53" name=""/>
          <p:cNvSpPr/>
          <p:nvPr/>
        </p:nvSpPr>
        <p:spPr>
          <a:xfrm>
            <a:off x="5010120" y="2676240"/>
            <a:ext cx="6591600" cy="467280"/>
          </a:xfrm>
          <a:custGeom>
            <a:avLst/>
            <a:gdLst/>
            <a:ahLst/>
            <a:rect l="0" t="0" r="r" b="b"/>
            <a:pathLst>
              <a:path w="18310" h="1298">
                <a:moveTo>
                  <a:pt x="0" y="0"/>
                </a:moveTo>
                <a:lnTo>
                  <a:pt x="18310" y="0"/>
                </a:lnTo>
                <a:lnTo>
                  <a:pt x="18310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54" name=""/>
          <p:cNvSpPr/>
          <p:nvPr/>
        </p:nvSpPr>
        <p:spPr>
          <a:xfrm>
            <a:off x="599760" y="2676240"/>
            <a:ext cx="4410720" cy="467280"/>
          </a:xfrm>
          <a:custGeom>
            <a:avLst/>
            <a:gdLst/>
            <a:ahLst/>
            <a:rect l="0" t="0" r="r" b="b"/>
            <a:pathLst>
              <a:path w="12252" h="1298">
                <a:moveTo>
                  <a:pt x="0" y="0"/>
                </a:moveTo>
                <a:lnTo>
                  <a:pt x="12252" y="0"/>
                </a:lnTo>
                <a:lnTo>
                  <a:pt x="12252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55" name=""/>
          <p:cNvSpPr/>
          <p:nvPr/>
        </p:nvSpPr>
        <p:spPr>
          <a:xfrm>
            <a:off x="5010120" y="2676240"/>
            <a:ext cx="6591600" cy="467280"/>
          </a:xfrm>
          <a:custGeom>
            <a:avLst/>
            <a:gdLst/>
            <a:ahLst/>
            <a:rect l="0" t="0" r="r" b="b"/>
            <a:pathLst>
              <a:path w="18310" h="1298">
                <a:moveTo>
                  <a:pt x="0" y="0"/>
                </a:moveTo>
                <a:lnTo>
                  <a:pt x="18310" y="0"/>
                </a:lnTo>
                <a:lnTo>
                  <a:pt x="18310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56" name=""/>
          <p:cNvSpPr/>
          <p:nvPr/>
        </p:nvSpPr>
        <p:spPr>
          <a:xfrm>
            <a:off x="599760" y="3143160"/>
            <a:ext cx="4410720" cy="466920"/>
          </a:xfrm>
          <a:custGeom>
            <a:avLst/>
            <a:gdLst/>
            <a:ahLst/>
            <a:rect l="0" t="0" r="r" b="b"/>
            <a:pathLst>
              <a:path w="12252" h="1297">
                <a:moveTo>
                  <a:pt x="0" y="0"/>
                </a:moveTo>
                <a:lnTo>
                  <a:pt x="12252" y="0"/>
                </a:lnTo>
                <a:lnTo>
                  <a:pt x="12252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57" name=""/>
          <p:cNvSpPr/>
          <p:nvPr/>
        </p:nvSpPr>
        <p:spPr>
          <a:xfrm>
            <a:off x="5010120" y="3143160"/>
            <a:ext cx="6591600" cy="466920"/>
          </a:xfrm>
          <a:custGeom>
            <a:avLst/>
            <a:gdLst/>
            <a:ahLst/>
            <a:rect l="0" t="0" r="r" b="b"/>
            <a:pathLst>
              <a:path w="18310" h="1297">
                <a:moveTo>
                  <a:pt x="0" y="0"/>
                </a:moveTo>
                <a:lnTo>
                  <a:pt x="18310" y="0"/>
                </a:lnTo>
                <a:lnTo>
                  <a:pt x="18310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58" name=""/>
          <p:cNvSpPr/>
          <p:nvPr/>
        </p:nvSpPr>
        <p:spPr>
          <a:xfrm>
            <a:off x="599760" y="3609720"/>
            <a:ext cx="4410720" cy="467280"/>
          </a:xfrm>
          <a:custGeom>
            <a:avLst/>
            <a:gdLst/>
            <a:ahLst/>
            <a:rect l="0" t="0" r="r" b="b"/>
            <a:pathLst>
              <a:path w="12252" h="1298">
                <a:moveTo>
                  <a:pt x="0" y="0"/>
                </a:moveTo>
                <a:lnTo>
                  <a:pt x="12252" y="0"/>
                </a:lnTo>
                <a:lnTo>
                  <a:pt x="12252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59" name=""/>
          <p:cNvSpPr/>
          <p:nvPr/>
        </p:nvSpPr>
        <p:spPr>
          <a:xfrm>
            <a:off x="5010120" y="3609720"/>
            <a:ext cx="6591600" cy="467280"/>
          </a:xfrm>
          <a:custGeom>
            <a:avLst/>
            <a:gdLst/>
            <a:ahLst/>
            <a:rect l="0" t="0" r="r" b="b"/>
            <a:pathLst>
              <a:path w="18310" h="1298">
                <a:moveTo>
                  <a:pt x="0" y="0"/>
                </a:moveTo>
                <a:lnTo>
                  <a:pt x="18310" y="0"/>
                </a:lnTo>
                <a:lnTo>
                  <a:pt x="18310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60" name=""/>
          <p:cNvSpPr/>
          <p:nvPr/>
        </p:nvSpPr>
        <p:spPr>
          <a:xfrm>
            <a:off x="599760" y="4076640"/>
            <a:ext cx="4410720" cy="466920"/>
          </a:xfrm>
          <a:custGeom>
            <a:avLst/>
            <a:gdLst/>
            <a:ahLst/>
            <a:rect l="0" t="0" r="r" b="b"/>
            <a:pathLst>
              <a:path w="12252" h="1297">
                <a:moveTo>
                  <a:pt x="0" y="0"/>
                </a:moveTo>
                <a:lnTo>
                  <a:pt x="12252" y="0"/>
                </a:lnTo>
                <a:lnTo>
                  <a:pt x="12252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61" name=""/>
          <p:cNvSpPr/>
          <p:nvPr/>
        </p:nvSpPr>
        <p:spPr>
          <a:xfrm>
            <a:off x="5010120" y="4076640"/>
            <a:ext cx="6591600" cy="466920"/>
          </a:xfrm>
          <a:custGeom>
            <a:avLst/>
            <a:gdLst/>
            <a:ahLst/>
            <a:rect l="0" t="0" r="r" b="b"/>
            <a:pathLst>
              <a:path w="18310" h="1297">
                <a:moveTo>
                  <a:pt x="0" y="0"/>
                </a:moveTo>
                <a:lnTo>
                  <a:pt x="18310" y="0"/>
                </a:lnTo>
                <a:lnTo>
                  <a:pt x="18310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62" name=""/>
          <p:cNvSpPr/>
          <p:nvPr/>
        </p:nvSpPr>
        <p:spPr>
          <a:xfrm>
            <a:off x="599760" y="4543200"/>
            <a:ext cx="4410720" cy="467280"/>
          </a:xfrm>
          <a:custGeom>
            <a:avLst/>
            <a:gdLst/>
            <a:ahLst/>
            <a:rect l="0" t="0" r="r" b="b"/>
            <a:pathLst>
              <a:path w="12252" h="1298">
                <a:moveTo>
                  <a:pt x="0" y="0"/>
                </a:moveTo>
                <a:lnTo>
                  <a:pt x="12252" y="0"/>
                </a:lnTo>
                <a:lnTo>
                  <a:pt x="12252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63" name=""/>
          <p:cNvSpPr/>
          <p:nvPr/>
        </p:nvSpPr>
        <p:spPr>
          <a:xfrm>
            <a:off x="5010120" y="4543200"/>
            <a:ext cx="6591600" cy="467280"/>
          </a:xfrm>
          <a:custGeom>
            <a:avLst/>
            <a:gdLst/>
            <a:ahLst/>
            <a:rect l="0" t="0" r="r" b="b"/>
            <a:pathLst>
              <a:path w="18310" h="1298">
                <a:moveTo>
                  <a:pt x="0" y="0"/>
                </a:moveTo>
                <a:lnTo>
                  <a:pt x="18310" y="0"/>
                </a:lnTo>
                <a:lnTo>
                  <a:pt x="18310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64" name=""/>
          <p:cNvSpPr/>
          <p:nvPr/>
        </p:nvSpPr>
        <p:spPr>
          <a:xfrm>
            <a:off x="590400" y="2666880"/>
            <a:ext cx="9720" cy="476640"/>
          </a:xfrm>
          <a:custGeom>
            <a:avLst/>
            <a:gdLst/>
            <a:ahLst/>
            <a:rect l="0" t="0" r="r" b="b"/>
            <a:pathLst>
              <a:path w="27" h="1324">
                <a:moveTo>
                  <a:pt x="0" y="0"/>
                </a:moveTo>
                <a:lnTo>
                  <a:pt x="27" y="0"/>
                </a:lnTo>
                <a:lnTo>
                  <a:pt x="27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65" name=""/>
          <p:cNvSpPr/>
          <p:nvPr/>
        </p:nvSpPr>
        <p:spPr>
          <a:xfrm>
            <a:off x="590400" y="2666880"/>
            <a:ext cx="4429440" cy="9720"/>
          </a:xfrm>
          <a:custGeom>
            <a:avLst/>
            <a:gdLst/>
            <a:ahLst/>
            <a:rect l="0" t="0" r="r" b="b"/>
            <a:pathLst>
              <a:path w="12304" h="27">
                <a:moveTo>
                  <a:pt x="0" y="0"/>
                </a:moveTo>
                <a:lnTo>
                  <a:pt x="12304" y="0"/>
                </a:lnTo>
                <a:lnTo>
                  <a:pt x="1230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66" name=""/>
          <p:cNvSpPr/>
          <p:nvPr/>
        </p:nvSpPr>
        <p:spPr>
          <a:xfrm>
            <a:off x="5010120" y="2666880"/>
            <a:ext cx="9720" cy="476640"/>
          </a:xfrm>
          <a:custGeom>
            <a:avLst/>
            <a:gdLst/>
            <a:ahLst/>
            <a:rect l="0" t="0" r="r" b="b"/>
            <a:pathLst>
              <a:path w="27" h="1324">
                <a:moveTo>
                  <a:pt x="0" y="0"/>
                </a:moveTo>
                <a:lnTo>
                  <a:pt x="27" y="0"/>
                </a:lnTo>
                <a:lnTo>
                  <a:pt x="27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67" name=""/>
          <p:cNvSpPr/>
          <p:nvPr/>
        </p:nvSpPr>
        <p:spPr>
          <a:xfrm>
            <a:off x="5019480" y="2666880"/>
            <a:ext cx="6582240" cy="9720"/>
          </a:xfrm>
          <a:custGeom>
            <a:avLst/>
            <a:gdLst/>
            <a:ahLst/>
            <a:rect l="0" t="0" r="r" b="b"/>
            <a:pathLst>
              <a:path w="18284" h="27">
                <a:moveTo>
                  <a:pt x="0" y="0"/>
                </a:moveTo>
                <a:lnTo>
                  <a:pt x="18284" y="0"/>
                </a:lnTo>
                <a:lnTo>
                  <a:pt x="1828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68" name=""/>
          <p:cNvSpPr/>
          <p:nvPr/>
        </p:nvSpPr>
        <p:spPr>
          <a:xfrm>
            <a:off x="11591640" y="2666880"/>
            <a:ext cx="10080" cy="476640"/>
          </a:xfrm>
          <a:custGeom>
            <a:avLst/>
            <a:gdLst/>
            <a:ahLst/>
            <a:rect l="0" t="0" r="r" b="b"/>
            <a:pathLst>
              <a:path w="28" h="1324">
                <a:moveTo>
                  <a:pt x="0" y="0"/>
                </a:moveTo>
                <a:lnTo>
                  <a:pt x="28" y="0"/>
                </a:lnTo>
                <a:lnTo>
                  <a:pt x="28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69" name=""/>
          <p:cNvSpPr/>
          <p:nvPr/>
        </p:nvSpPr>
        <p:spPr>
          <a:xfrm>
            <a:off x="590400" y="3133440"/>
            <a:ext cx="4429440" cy="10080"/>
          </a:xfrm>
          <a:custGeom>
            <a:avLst/>
            <a:gdLst/>
            <a:ahLst/>
            <a:rect l="0" t="0" r="r" b="b"/>
            <a:pathLst>
              <a:path w="12304" h="28">
                <a:moveTo>
                  <a:pt x="0" y="0"/>
                </a:moveTo>
                <a:lnTo>
                  <a:pt x="12304" y="0"/>
                </a:lnTo>
                <a:lnTo>
                  <a:pt x="1230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70" name=""/>
          <p:cNvSpPr/>
          <p:nvPr/>
        </p:nvSpPr>
        <p:spPr>
          <a:xfrm>
            <a:off x="5019480" y="3133440"/>
            <a:ext cx="6582240" cy="10080"/>
          </a:xfrm>
          <a:custGeom>
            <a:avLst/>
            <a:gdLst/>
            <a:ahLst/>
            <a:rect l="0" t="0" r="r" b="b"/>
            <a:pathLst>
              <a:path w="18284" h="28">
                <a:moveTo>
                  <a:pt x="0" y="0"/>
                </a:moveTo>
                <a:lnTo>
                  <a:pt x="18284" y="0"/>
                </a:lnTo>
                <a:lnTo>
                  <a:pt x="1828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71" name=""/>
          <p:cNvSpPr/>
          <p:nvPr/>
        </p:nvSpPr>
        <p:spPr>
          <a:xfrm>
            <a:off x="590400" y="3143160"/>
            <a:ext cx="9720" cy="466920"/>
          </a:xfrm>
          <a:custGeom>
            <a:avLst/>
            <a:gdLst/>
            <a:ahLst/>
            <a:rect l="0" t="0" r="r" b="b"/>
            <a:pathLst>
              <a:path w="27" h="1297">
                <a:moveTo>
                  <a:pt x="0" y="0"/>
                </a:moveTo>
                <a:lnTo>
                  <a:pt x="27" y="0"/>
                </a:lnTo>
                <a:lnTo>
                  <a:pt x="27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72" name=""/>
          <p:cNvSpPr/>
          <p:nvPr/>
        </p:nvSpPr>
        <p:spPr>
          <a:xfrm>
            <a:off x="5010120" y="3143160"/>
            <a:ext cx="9720" cy="466920"/>
          </a:xfrm>
          <a:custGeom>
            <a:avLst/>
            <a:gdLst/>
            <a:ahLst/>
            <a:rect l="0" t="0" r="r" b="b"/>
            <a:pathLst>
              <a:path w="27" h="1297">
                <a:moveTo>
                  <a:pt x="0" y="0"/>
                </a:moveTo>
                <a:lnTo>
                  <a:pt x="27" y="0"/>
                </a:lnTo>
                <a:lnTo>
                  <a:pt x="27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73" name=""/>
          <p:cNvSpPr/>
          <p:nvPr/>
        </p:nvSpPr>
        <p:spPr>
          <a:xfrm>
            <a:off x="11591640" y="3143160"/>
            <a:ext cx="10080" cy="466920"/>
          </a:xfrm>
          <a:custGeom>
            <a:avLst/>
            <a:gdLst/>
            <a:ahLst/>
            <a:rect l="0" t="0" r="r" b="b"/>
            <a:pathLst>
              <a:path w="28" h="1297">
                <a:moveTo>
                  <a:pt x="0" y="0"/>
                </a:moveTo>
                <a:lnTo>
                  <a:pt x="28" y="0"/>
                </a:lnTo>
                <a:lnTo>
                  <a:pt x="28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74" name=""/>
          <p:cNvSpPr/>
          <p:nvPr/>
        </p:nvSpPr>
        <p:spPr>
          <a:xfrm>
            <a:off x="590400" y="3609720"/>
            <a:ext cx="9720" cy="467280"/>
          </a:xfrm>
          <a:custGeom>
            <a:avLst/>
            <a:gdLst/>
            <a:ahLst/>
            <a:rect l="0" t="0" r="r" b="b"/>
            <a:pathLst>
              <a:path w="27" h="1298">
                <a:moveTo>
                  <a:pt x="0" y="0"/>
                </a:moveTo>
                <a:lnTo>
                  <a:pt x="27" y="0"/>
                </a:lnTo>
                <a:lnTo>
                  <a:pt x="27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75" name=""/>
          <p:cNvSpPr/>
          <p:nvPr/>
        </p:nvSpPr>
        <p:spPr>
          <a:xfrm>
            <a:off x="590400" y="3600360"/>
            <a:ext cx="4429440" cy="9720"/>
          </a:xfrm>
          <a:custGeom>
            <a:avLst/>
            <a:gdLst/>
            <a:ahLst/>
            <a:rect l="0" t="0" r="r" b="b"/>
            <a:pathLst>
              <a:path w="12304" h="27">
                <a:moveTo>
                  <a:pt x="0" y="0"/>
                </a:moveTo>
                <a:lnTo>
                  <a:pt x="12304" y="0"/>
                </a:lnTo>
                <a:lnTo>
                  <a:pt x="1230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76" name=""/>
          <p:cNvSpPr/>
          <p:nvPr/>
        </p:nvSpPr>
        <p:spPr>
          <a:xfrm>
            <a:off x="5010120" y="3609720"/>
            <a:ext cx="9720" cy="467280"/>
          </a:xfrm>
          <a:custGeom>
            <a:avLst/>
            <a:gdLst/>
            <a:ahLst/>
            <a:rect l="0" t="0" r="r" b="b"/>
            <a:pathLst>
              <a:path w="27" h="1298">
                <a:moveTo>
                  <a:pt x="0" y="0"/>
                </a:moveTo>
                <a:lnTo>
                  <a:pt x="27" y="0"/>
                </a:lnTo>
                <a:lnTo>
                  <a:pt x="27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77" name=""/>
          <p:cNvSpPr/>
          <p:nvPr/>
        </p:nvSpPr>
        <p:spPr>
          <a:xfrm>
            <a:off x="5019480" y="3600360"/>
            <a:ext cx="6582240" cy="9720"/>
          </a:xfrm>
          <a:custGeom>
            <a:avLst/>
            <a:gdLst/>
            <a:ahLst/>
            <a:rect l="0" t="0" r="r" b="b"/>
            <a:pathLst>
              <a:path w="18284" h="27">
                <a:moveTo>
                  <a:pt x="0" y="0"/>
                </a:moveTo>
                <a:lnTo>
                  <a:pt x="18284" y="0"/>
                </a:lnTo>
                <a:lnTo>
                  <a:pt x="1828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78" name=""/>
          <p:cNvSpPr/>
          <p:nvPr/>
        </p:nvSpPr>
        <p:spPr>
          <a:xfrm>
            <a:off x="11591640" y="3609720"/>
            <a:ext cx="10080" cy="467280"/>
          </a:xfrm>
          <a:custGeom>
            <a:avLst/>
            <a:gdLst/>
            <a:ahLst/>
            <a:rect l="0" t="0" r="r" b="b"/>
            <a:pathLst>
              <a:path w="28" h="1298">
                <a:moveTo>
                  <a:pt x="0" y="0"/>
                </a:moveTo>
                <a:lnTo>
                  <a:pt x="28" y="0"/>
                </a:lnTo>
                <a:lnTo>
                  <a:pt x="28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79" name=""/>
          <p:cNvSpPr/>
          <p:nvPr/>
        </p:nvSpPr>
        <p:spPr>
          <a:xfrm>
            <a:off x="590400" y="4076640"/>
            <a:ext cx="9720" cy="466920"/>
          </a:xfrm>
          <a:custGeom>
            <a:avLst/>
            <a:gdLst/>
            <a:ahLst/>
            <a:rect l="0" t="0" r="r" b="b"/>
            <a:pathLst>
              <a:path w="27" h="1297">
                <a:moveTo>
                  <a:pt x="0" y="0"/>
                </a:moveTo>
                <a:lnTo>
                  <a:pt x="27" y="0"/>
                </a:lnTo>
                <a:lnTo>
                  <a:pt x="27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80" name=""/>
          <p:cNvSpPr/>
          <p:nvPr/>
        </p:nvSpPr>
        <p:spPr>
          <a:xfrm>
            <a:off x="590400" y="4066920"/>
            <a:ext cx="4429440" cy="10080"/>
          </a:xfrm>
          <a:custGeom>
            <a:avLst/>
            <a:gdLst/>
            <a:ahLst/>
            <a:rect l="0" t="0" r="r" b="b"/>
            <a:pathLst>
              <a:path w="12304" h="28">
                <a:moveTo>
                  <a:pt x="0" y="0"/>
                </a:moveTo>
                <a:lnTo>
                  <a:pt x="12304" y="0"/>
                </a:lnTo>
                <a:lnTo>
                  <a:pt x="1230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81" name=""/>
          <p:cNvSpPr/>
          <p:nvPr/>
        </p:nvSpPr>
        <p:spPr>
          <a:xfrm>
            <a:off x="5010120" y="4076640"/>
            <a:ext cx="9720" cy="466920"/>
          </a:xfrm>
          <a:custGeom>
            <a:avLst/>
            <a:gdLst/>
            <a:ahLst/>
            <a:rect l="0" t="0" r="r" b="b"/>
            <a:pathLst>
              <a:path w="27" h="1297">
                <a:moveTo>
                  <a:pt x="0" y="0"/>
                </a:moveTo>
                <a:lnTo>
                  <a:pt x="27" y="0"/>
                </a:lnTo>
                <a:lnTo>
                  <a:pt x="27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82" name=""/>
          <p:cNvSpPr/>
          <p:nvPr/>
        </p:nvSpPr>
        <p:spPr>
          <a:xfrm>
            <a:off x="5019480" y="4066920"/>
            <a:ext cx="6582240" cy="10080"/>
          </a:xfrm>
          <a:custGeom>
            <a:avLst/>
            <a:gdLst/>
            <a:ahLst/>
            <a:rect l="0" t="0" r="r" b="b"/>
            <a:pathLst>
              <a:path w="18284" h="28">
                <a:moveTo>
                  <a:pt x="0" y="0"/>
                </a:moveTo>
                <a:lnTo>
                  <a:pt x="18284" y="0"/>
                </a:lnTo>
                <a:lnTo>
                  <a:pt x="1828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83" name=""/>
          <p:cNvSpPr/>
          <p:nvPr/>
        </p:nvSpPr>
        <p:spPr>
          <a:xfrm>
            <a:off x="11591640" y="4076640"/>
            <a:ext cx="10080" cy="466920"/>
          </a:xfrm>
          <a:custGeom>
            <a:avLst/>
            <a:gdLst/>
            <a:ahLst/>
            <a:rect l="0" t="0" r="r" b="b"/>
            <a:pathLst>
              <a:path w="28" h="1297">
                <a:moveTo>
                  <a:pt x="0" y="0"/>
                </a:moveTo>
                <a:lnTo>
                  <a:pt x="28" y="0"/>
                </a:lnTo>
                <a:lnTo>
                  <a:pt x="28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84" name=""/>
          <p:cNvSpPr/>
          <p:nvPr/>
        </p:nvSpPr>
        <p:spPr>
          <a:xfrm>
            <a:off x="590400" y="4543200"/>
            <a:ext cx="9720" cy="467280"/>
          </a:xfrm>
          <a:custGeom>
            <a:avLst/>
            <a:gdLst/>
            <a:ahLst/>
            <a:rect l="0" t="0" r="r" b="b"/>
            <a:pathLst>
              <a:path w="27" h="1298">
                <a:moveTo>
                  <a:pt x="0" y="0"/>
                </a:moveTo>
                <a:lnTo>
                  <a:pt x="27" y="0"/>
                </a:lnTo>
                <a:lnTo>
                  <a:pt x="27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85" name=""/>
          <p:cNvSpPr/>
          <p:nvPr/>
        </p:nvSpPr>
        <p:spPr>
          <a:xfrm>
            <a:off x="590400" y="4533840"/>
            <a:ext cx="4429440" cy="9720"/>
          </a:xfrm>
          <a:custGeom>
            <a:avLst/>
            <a:gdLst/>
            <a:ahLst/>
            <a:rect l="0" t="0" r="r" b="b"/>
            <a:pathLst>
              <a:path w="12304" h="27">
                <a:moveTo>
                  <a:pt x="0" y="0"/>
                </a:moveTo>
                <a:lnTo>
                  <a:pt x="12304" y="0"/>
                </a:lnTo>
                <a:lnTo>
                  <a:pt x="1230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86" name=""/>
          <p:cNvSpPr/>
          <p:nvPr/>
        </p:nvSpPr>
        <p:spPr>
          <a:xfrm>
            <a:off x="5010120" y="4543200"/>
            <a:ext cx="9720" cy="467280"/>
          </a:xfrm>
          <a:custGeom>
            <a:avLst/>
            <a:gdLst/>
            <a:ahLst/>
            <a:rect l="0" t="0" r="r" b="b"/>
            <a:pathLst>
              <a:path w="27" h="1298">
                <a:moveTo>
                  <a:pt x="0" y="0"/>
                </a:moveTo>
                <a:lnTo>
                  <a:pt x="27" y="0"/>
                </a:lnTo>
                <a:lnTo>
                  <a:pt x="27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87" name=""/>
          <p:cNvSpPr/>
          <p:nvPr/>
        </p:nvSpPr>
        <p:spPr>
          <a:xfrm>
            <a:off x="5019480" y="4533840"/>
            <a:ext cx="6582240" cy="9720"/>
          </a:xfrm>
          <a:custGeom>
            <a:avLst/>
            <a:gdLst/>
            <a:ahLst/>
            <a:rect l="0" t="0" r="r" b="b"/>
            <a:pathLst>
              <a:path w="18284" h="27">
                <a:moveTo>
                  <a:pt x="0" y="0"/>
                </a:moveTo>
                <a:lnTo>
                  <a:pt x="18284" y="0"/>
                </a:lnTo>
                <a:lnTo>
                  <a:pt x="1828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88" name=""/>
          <p:cNvSpPr/>
          <p:nvPr/>
        </p:nvSpPr>
        <p:spPr>
          <a:xfrm>
            <a:off x="11591640" y="4543200"/>
            <a:ext cx="10080" cy="467280"/>
          </a:xfrm>
          <a:custGeom>
            <a:avLst/>
            <a:gdLst/>
            <a:ahLst/>
            <a:rect l="0" t="0" r="r" b="b"/>
            <a:pathLst>
              <a:path w="28" h="1298">
                <a:moveTo>
                  <a:pt x="0" y="0"/>
                </a:moveTo>
                <a:lnTo>
                  <a:pt x="28" y="0"/>
                </a:lnTo>
                <a:lnTo>
                  <a:pt x="28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89" name=""/>
          <p:cNvSpPr/>
          <p:nvPr/>
        </p:nvSpPr>
        <p:spPr>
          <a:xfrm>
            <a:off x="590400" y="5000400"/>
            <a:ext cx="4429440" cy="10080"/>
          </a:xfrm>
          <a:custGeom>
            <a:avLst/>
            <a:gdLst/>
            <a:ahLst/>
            <a:rect l="0" t="0" r="r" b="b"/>
            <a:pathLst>
              <a:path w="12304" h="28">
                <a:moveTo>
                  <a:pt x="0" y="0"/>
                </a:moveTo>
                <a:lnTo>
                  <a:pt x="12304" y="0"/>
                </a:lnTo>
                <a:lnTo>
                  <a:pt x="1230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90" name=""/>
          <p:cNvSpPr/>
          <p:nvPr/>
        </p:nvSpPr>
        <p:spPr>
          <a:xfrm>
            <a:off x="5019480" y="5000400"/>
            <a:ext cx="6582240" cy="10080"/>
          </a:xfrm>
          <a:custGeom>
            <a:avLst/>
            <a:gdLst/>
            <a:ahLst/>
            <a:rect l="0" t="0" r="r" b="b"/>
            <a:pathLst>
              <a:path w="18284" h="28">
                <a:moveTo>
                  <a:pt x="0" y="0"/>
                </a:moveTo>
                <a:lnTo>
                  <a:pt x="18284" y="0"/>
                </a:lnTo>
                <a:lnTo>
                  <a:pt x="1828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91" name=""/>
          <p:cNvSpPr txBox="1"/>
          <p:nvPr/>
        </p:nvSpPr>
        <p:spPr>
          <a:xfrm>
            <a:off x="590400" y="1329480"/>
            <a:ext cx="5981886" cy="36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8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学習に使った教材は</a:t>
            </a:r>
            <a:r>
              <a:rPr lang="en-US" sz="28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192,900</a:t>
            </a:r>
            <a:r>
              <a:rPr lang="ja-JP" sz="28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件</a:t>
            </a:r>
            <a:endParaRPr lang="en-US" sz="28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92" name=""/>
          <p:cNvSpPr txBox="1"/>
          <p:nvPr/>
        </p:nvSpPr>
        <p:spPr>
          <a:xfrm>
            <a:off x="590400" y="2154960"/>
            <a:ext cx="6415344" cy="258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202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</a:t>
            </a:r>
            <a:r>
              <a:rPr lang="ja-JP" sz="202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件は「日本語の指示」と「正解コード」の組。</a:t>
            </a:r>
            <a:endParaRPr lang="en-US" sz="202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93" name=""/>
          <p:cNvSpPr txBox="1"/>
          <p:nvPr/>
        </p:nvSpPr>
        <p:spPr>
          <a:xfrm>
            <a:off x="723960" y="2789640"/>
            <a:ext cx="1315278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処理の長さ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94" name=""/>
          <p:cNvSpPr txBox="1"/>
          <p:nvPr/>
        </p:nvSpPr>
        <p:spPr>
          <a:xfrm>
            <a:off x="9639360" y="2789640"/>
            <a:ext cx="2103948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訓練データの件数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95" name=""/>
          <p:cNvSpPr txBox="1"/>
          <p:nvPr/>
        </p:nvSpPr>
        <p:spPr>
          <a:xfrm>
            <a:off x="723960" y="3256560"/>
            <a:ext cx="699246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</a:t>
            </a:r>
            <a:r>
              <a:rPr lang="ja-JP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操作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96" name=""/>
          <p:cNvSpPr txBox="1"/>
          <p:nvPr/>
        </p:nvSpPr>
        <p:spPr>
          <a:xfrm>
            <a:off x="11016720" y="3256560"/>
            <a:ext cx="519984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460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97" name=""/>
          <p:cNvSpPr txBox="1"/>
          <p:nvPr/>
        </p:nvSpPr>
        <p:spPr>
          <a:xfrm>
            <a:off x="723960" y="3723120"/>
            <a:ext cx="699246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2</a:t>
            </a:r>
            <a:r>
              <a:rPr lang="ja-JP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操作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98" name=""/>
          <p:cNvSpPr txBox="1"/>
          <p:nvPr/>
        </p:nvSpPr>
        <p:spPr>
          <a:xfrm>
            <a:off x="10812240" y="3723120"/>
            <a:ext cx="754722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8,680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499" name=""/>
          <p:cNvSpPr txBox="1"/>
          <p:nvPr/>
        </p:nvSpPr>
        <p:spPr>
          <a:xfrm>
            <a:off x="723960" y="4189680"/>
            <a:ext cx="699246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3</a:t>
            </a:r>
            <a:r>
              <a:rPr lang="ja-JP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操作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00" name=""/>
          <p:cNvSpPr txBox="1"/>
          <p:nvPr/>
        </p:nvSpPr>
        <p:spPr>
          <a:xfrm>
            <a:off x="10512000" y="4189680"/>
            <a:ext cx="1100412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183,760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01" name=""/>
          <p:cNvSpPr txBox="1"/>
          <p:nvPr/>
        </p:nvSpPr>
        <p:spPr>
          <a:xfrm>
            <a:off x="723960" y="4656600"/>
            <a:ext cx="526608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合計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02" name=""/>
          <p:cNvSpPr txBox="1"/>
          <p:nvPr/>
        </p:nvSpPr>
        <p:spPr>
          <a:xfrm>
            <a:off x="10462320" y="4656600"/>
            <a:ext cx="115713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8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192,900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03" name=""/>
          <p:cNvSpPr txBox="1"/>
          <p:nvPr/>
        </p:nvSpPr>
        <p:spPr>
          <a:xfrm>
            <a:off x="590400" y="5259960"/>
            <a:ext cx="6906348" cy="258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0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約</a:t>
            </a:r>
            <a:r>
              <a:rPr lang="en-US" sz="20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95%</a:t>
            </a:r>
            <a:r>
              <a:rPr lang="ja-JP" sz="20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が</a:t>
            </a:r>
            <a:r>
              <a:rPr lang="en-US" sz="20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3</a:t>
            </a:r>
            <a:r>
              <a:rPr lang="ja-JP" sz="20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操作の教材。</a:t>
            </a:r>
            <a:r>
              <a:rPr lang="en-US" sz="202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 単独操作の教材は少ない。</a:t>
            </a:r>
            <a:endParaRPr lang="en-US" sz="202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04" name=""/>
          <p:cNvSpPr txBox="1"/>
          <p:nvPr/>
        </p:nvSpPr>
        <p:spPr>
          <a:xfrm>
            <a:off x="11705760" y="6466680"/>
            <a:ext cx="231012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Hiragino Sans"/>
                <a:ea typeface="Hiragino Sans"/>
              </a:rPr>
              <a:t>11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0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0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08" name=""/>
          <p:cNvSpPr/>
          <p:nvPr/>
        </p:nvSpPr>
        <p:spPr>
          <a:xfrm>
            <a:off x="599760" y="2847960"/>
            <a:ext cx="2162520" cy="495360"/>
          </a:xfrm>
          <a:custGeom>
            <a:avLst/>
            <a:gdLst/>
            <a:ahLst/>
            <a:rect l="0" t="0" r="r" b="b"/>
            <a:pathLst>
              <a:path w="6007" h="1376">
                <a:moveTo>
                  <a:pt x="0" y="0"/>
                </a:moveTo>
                <a:lnTo>
                  <a:pt x="6007" y="0"/>
                </a:lnTo>
                <a:lnTo>
                  <a:pt x="6007" y="1376"/>
                </a:lnTo>
                <a:lnTo>
                  <a:pt x="0" y="137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09" name=""/>
          <p:cNvSpPr/>
          <p:nvPr/>
        </p:nvSpPr>
        <p:spPr>
          <a:xfrm>
            <a:off x="2761920" y="2847960"/>
            <a:ext cx="3715200" cy="495360"/>
          </a:xfrm>
          <a:custGeom>
            <a:avLst/>
            <a:gdLst/>
            <a:ahLst/>
            <a:rect l="0" t="0" r="r" b="b"/>
            <a:pathLst>
              <a:path w="10320" h="1376">
                <a:moveTo>
                  <a:pt x="0" y="0"/>
                </a:moveTo>
                <a:lnTo>
                  <a:pt x="10320" y="0"/>
                </a:lnTo>
                <a:lnTo>
                  <a:pt x="10320" y="1376"/>
                </a:lnTo>
                <a:lnTo>
                  <a:pt x="0" y="137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10" name=""/>
          <p:cNvSpPr/>
          <p:nvPr/>
        </p:nvSpPr>
        <p:spPr>
          <a:xfrm>
            <a:off x="6476760" y="2847960"/>
            <a:ext cx="5124960" cy="495360"/>
          </a:xfrm>
          <a:custGeom>
            <a:avLst/>
            <a:gdLst/>
            <a:ahLst/>
            <a:rect l="0" t="0" r="r" b="b"/>
            <a:pathLst>
              <a:path w="14236" h="1376">
                <a:moveTo>
                  <a:pt x="0" y="0"/>
                </a:moveTo>
                <a:lnTo>
                  <a:pt x="14236" y="0"/>
                </a:lnTo>
                <a:lnTo>
                  <a:pt x="14236" y="1376"/>
                </a:lnTo>
                <a:lnTo>
                  <a:pt x="0" y="137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11" name=""/>
          <p:cNvSpPr/>
          <p:nvPr/>
        </p:nvSpPr>
        <p:spPr>
          <a:xfrm>
            <a:off x="599760" y="2847960"/>
            <a:ext cx="2162520" cy="495360"/>
          </a:xfrm>
          <a:custGeom>
            <a:avLst/>
            <a:gdLst/>
            <a:ahLst/>
            <a:rect l="0" t="0" r="r" b="b"/>
            <a:pathLst>
              <a:path w="6007" h="1376">
                <a:moveTo>
                  <a:pt x="0" y="0"/>
                </a:moveTo>
                <a:lnTo>
                  <a:pt x="6007" y="0"/>
                </a:lnTo>
                <a:lnTo>
                  <a:pt x="6007" y="1376"/>
                </a:lnTo>
                <a:lnTo>
                  <a:pt x="0" y="1376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12" name=""/>
          <p:cNvSpPr/>
          <p:nvPr/>
        </p:nvSpPr>
        <p:spPr>
          <a:xfrm>
            <a:off x="2761920" y="2847960"/>
            <a:ext cx="3715200" cy="495360"/>
          </a:xfrm>
          <a:custGeom>
            <a:avLst/>
            <a:gdLst/>
            <a:ahLst/>
            <a:rect l="0" t="0" r="r" b="b"/>
            <a:pathLst>
              <a:path w="10320" h="1376">
                <a:moveTo>
                  <a:pt x="0" y="0"/>
                </a:moveTo>
                <a:lnTo>
                  <a:pt x="10320" y="0"/>
                </a:lnTo>
                <a:lnTo>
                  <a:pt x="10320" y="1376"/>
                </a:lnTo>
                <a:lnTo>
                  <a:pt x="0" y="1376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13" name=""/>
          <p:cNvSpPr/>
          <p:nvPr/>
        </p:nvSpPr>
        <p:spPr>
          <a:xfrm>
            <a:off x="6476760" y="2847960"/>
            <a:ext cx="5124960" cy="495360"/>
          </a:xfrm>
          <a:custGeom>
            <a:avLst/>
            <a:gdLst/>
            <a:ahLst/>
            <a:rect l="0" t="0" r="r" b="b"/>
            <a:pathLst>
              <a:path w="14236" h="1376">
                <a:moveTo>
                  <a:pt x="0" y="0"/>
                </a:moveTo>
                <a:lnTo>
                  <a:pt x="14236" y="0"/>
                </a:lnTo>
                <a:lnTo>
                  <a:pt x="14236" y="1376"/>
                </a:lnTo>
                <a:lnTo>
                  <a:pt x="0" y="1376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14" name=""/>
          <p:cNvSpPr/>
          <p:nvPr/>
        </p:nvSpPr>
        <p:spPr>
          <a:xfrm>
            <a:off x="599760" y="3342960"/>
            <a:ext cx="2162520" cy="495720"/>
          </a:xfrm>
          <a:custGeom>
            <a:avLst/>
            <a:gdLst/>
            <a:ahLst/>
            <a:rect l="0" t="0" r="r" b="b"/>
            <a:pathLst>
              <a:path w="6007" h="1377">
                <a:moveTo>
                  <a:pt x="0" y="0"/>
                </a:moveTo>
                <a:lnTo>
                  <a:pt x="6007" y="0"/>
                </a:lnTo>
                <a:lnTo>
                  <a:pt x="6007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15" name=""/>
          <p:cNvSpPr/>
          <p:nvPr/>
        </p:nvSpPr>
        <p:spPr>
          <a:xfrm>
            <a:off x="2761920" y="3342960"/>
            <a:ext cx="3715200" cy="495720"/>
          </a:xfrm>
          <a:custGeom>
            <a:avLst/>
            <a:gdLst/>
            <a:ahLst/>
            <a:rect l="0" t="0" r="r" b="b"/>
            <a:pathLst>
              <a:path w="10320" h="1377">
                <a:moveTo>
                  <a:pt x="0" y="0"/>
                </a:moveTo>
                <a:lnTo>
                  <a:pt x="10320" y="0"/>
                </a:lnTo>
                <a:lnTo>
                  <a:pt x="10320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16" name=""/>
          <p:cNvSpPr/>
          <p:nvPr/>
        </p:nvSpPr>
        <p:spPr>
          <a:xfrm>
            <a:off x="6476760" y="3342960"/>
            <a:ext cx="5124960" cy="495720"/>
          </a:xfrm>
          <a:custGeom>
            <a:avLst/>
            <a:gdLst/>
            <a:ahLst/>
            <a:rect l="0" t="0" r="r" b="b"/>
            <a:pathLst>
              <a:path w="14236" h="1377">
                <a:moveTo>
                  <a:pt x="0" y="0"/>
                </a:moveTo>
                <a:lnTo>
                  <a:pt x="14236" y="0"/>
                </a:lnTo>
                <a:lnTo>
                  <a:pt x="14236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17" name=""/>
          <p:cNvSpPr/>
          <p:nvPr/>
        </p:nvSpPr>
        <p:spPr>
          <a:xfrm>
            <a:off x="599760" y="3838320"/>
            <a:ext cx="2162520" cy="495720"/>
          </a:xfrm>
          <a:custGeom>
            <a:avLst/>
            <a:gdLst/>
            <a:ahLst/>
            <a:rect l="0" t="0" r="r" b="b"/>
            <a:pathLst>
              <a:path w="6007" h="1377">
                <a:moveTo>
                  <a:pt x="0" y="0"/>
                </a:moveTo>
                <a:lnTo>
                  <a:pt x="6007" y="0"/>
                </a:lnTo>
                <a:lnTo>
                  <a:pt x="6007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18" name=""/>
          <p:cNvSpPr/>
          <p:nvPr/>
        </p:nvSpPr>
        <p:spPr>
          <a:xfrm>
            <a:off x="2761920" y="3838320"/>
            <a:ext cx="3715200" cy="495720"/>
          </a:xfrm>
          <a:custGeom>
            <a:avLst/>
            <a:gdLst/>
            <a:ahLst/>
            <a:rect l="0" t="0" r="r" b="b"/>
            <a:pathLst>
              <a:path w="10320" h="1377">
                <a:moveTo>
                  <a:pt x="0" y="0"/>
                </a:moveTo>
                <a:lnTo>
                  <a:pt x="10320" y="0"/>
                </a:lnTo>
                <a:lnTo>
                  <a:pt x="10320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19" name=""/>
          <p:cNvSpPr/>
          <p:nvPr/>
        </p:nvSpPr>
        <p:spPr>
          <a:xfrm>
            <a:off x="6476760" y="3838320"/>
            <a:ext cx="5124960" cy="495720"/>
          </a:xfrm>
          <a:custGeom>
            <a:avLst/>
            <a:gdLst/>
            <a:ahLst/>
            <a:rect l="0" t="0" r="r" b="b"/>
            <a:pathLst>
              <a:path w="14236" h="1377">
                <a:moveTo>
                  <a:pt x="0" y="0"/>
                </a:moveTo>
                <a:lnTo>
                  <a:pt x="14236" y="0"/>
                </a:lnTo>
                <a:lnTo>
                  <a:pt x="14236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20" name=""/>
          <p:cNvSpPr/>
          <p:nvPr/>
        </p:nvSpPr>
        <p:spPr>
          <a:xfrm>
            <a:off x="599760" y="4333680"/>
            <a:ext cx="2162520" cy="495720"/>
          </a:xfrm>
          <a:custGeom>
            <a:avLst/>
            <a:gdLst/>
            <a:ahLst/>
            <a:rect l="0" t="0" r="r" b="b"/>
            <a:pathLst>
              <a:path w="6007" h="1377">
                <a:moveTo>
                  <a:pt x="0" y="0"/>
                </a:moveTo>
                <a:lnTo>
                  <a:pt x="6007" y="0"/>
                </a:lnTo>
                <a:lnTo>
                  <a:pt x="6007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21" name=""/>
          <p:cNvSpPr/>
          <p:nvPr/>
        </p:nvSpPr>
        <p:spPr>
          <a:xfrm>
            <a:off x="2761920" y="4333680"/>
            <a:ext cx="3715200" cy="495720"/>
          </a:xfrm>
          <a:custGeom>
            <a:avLst/>
            <a:gdLst/>
            <a:ahLst/>
            <a:rect l="0" t="0" r="r" b="b"/>
            <a:pathLst>
              <a:path w="10320" h="1377">
                <a:moveTo>
                  <a:pt x="0" y="0"/>
                </a:moveTo>
                <a:lnTo>
                  <a:pt x="10320" y="0"/>
                </a:lnTo>
                <a:lnTo>
                  <a:pt x="10320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22" name=""/>
          <p:cNvSpPr/>
          <p:nvPr/>
        </p:nvSpPr>
        <p:spPr>
          <a:xfrm>
            <a:off x="6476760" y="4333680"/>
            <a:ext cx="5124960" cy="495720"/>
          </a:xfrm>
          <a:custGeom>
            <a:avLst/>
            <a:gdLst/>
            <a:ahLst/>
            <a:rect l="0" t="0" r="r" b="b"/>
            <a:pathLst>
              <a:path w="14236" h="1377">
                <a:moveTo>
                  <a:pt x="0" y="0"/>
                </a:moveTo>
                <a:lnTo>
                  <a:pt x="14236" y="0"/>
                </a:lnTo>
                <a:lnTo>
                  <a:pt x="14236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23" name=""/>
          <p:cNvSpPr/>
          <p:nvPr/>
        </p:nvSpPr>
        <p:spPr>
          <a:xfrm>
            <a:off x="590400" y="2847960"/>
            <a:ext cx="9720" cy="505080"/>
          </a:xfrm>
          <a:custGeom>
            <a:avLst/>
            <a:gdLst/>
            <a:ahLst/>
            <a:rect l="0" t="0" r="r" b="b"/>
            <a:pathLst>
              <a:path w="27" h="1403">
                <a:moveTo>
                  <a:pt x="0" y="0"/>
                </a:moveTo>
                <a:lnTo>
                  <a:pt x="27" y="0"/>
                </a:lnTo>
                <a:lnTo>
                  <a:pt x="27" y="1403"/>
                </a:lnTo>
                <a:lnTo>
                  <a:pt x="0" y="140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24" name=""/>
          <p:cNvSpPr/>
          <p:nvPr/>
        </p:nvSpPr>
        <p:spPr>
          <a:xfrm>
            <a:off x="590400" y="2847960"/>
            <a:ext cx="2171880" cy="9720"/>
          </a:xfrm>
          <a:custGeom>
            <a:avLst/>
            <a:gdLst/>
            <a:ahLst/>
            <a:rect l="0" t="0" r="r" b="b"/>
            <a:pathLst>
              <a:path w="6033" h="27">
                <a:moveTo>
                  <a:pt x="0" y="0"/>
                </a:moveTo>
                <a:lnTo>
                  <a:pt x="6033" y="0"/>
                </a:lnTo>
                <a:lnTo>
                  <a:pt x="603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25" name=""/>
          <p:cNvSpPr/>
          <p:nvPr/>
        </p:nvSpPr>
        <p:spPr>
          <a:xfrm>
            <a:off x="2752560" y="2847960"/>
            <a:ext cx="9720" cy="505080"/>
          </a:xfrm>
          <a:custGeom>
            <a:avLst/>
            <a:gdLst/>
            <a:ahLst/>
            <a:rect l="0" t="0" r="r" b="b"/>
            <a:pathLst>
              <a:path w="27" h="1403">
                <a:moveTo>
                  <a:pt x="0" y="0"/>
                </a:moveTo>
                <a:lnTo>
                  <a:pt x="27" y="0"/>
                </a:lnTo>
                <a:lnTo>
                  <a:pt x="27" y="1403"/>
                </a:lnTo>
                <a:lnTo>
                  <a:pt x="0" y="140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26" name=""/>
          <p:cNvSpPr/>
          <p:nvPr/>
        </p:nvSpPr>
        <p:spPr>
          <a:xfrm>
            <a:off x="2761920" y="2847960"/>
            <a:ext cx="3715200" cy="9720"/>
          </a:xfrm>
          <a:custGeom>
            <a:avLst/>
            <a:gdLst/>
            <a:ahLst/>
            <a:rect l="0" t="0" r="r" b="b"/>
            <a:pathLst>
              <a:path w="10320" h="27">
                <a:moveTo>
                  <a:pt x="0" y="0"/>
                </a:moveTo>
                <a:lnTo>
                  <a:pt x="10320" y="0"/>
                </a:lnTo>
                <a:lnTo>
                  <a:pt x="1032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27" name=""/>
          <p:cNvSpPr/>
          <p:nvPr/>
        </p:nvSpPr>
        <p:spPr>
          <a:xfrm>
            <a:off x="6467400" y="2847960"/>
            <a:ext cx="9720" cy="505080"/>
          </a:xfrm>
          <a:custGeom>
            <a:avLst/>
            <a:gdLst/>
            <a:ahLst/>
            <a:rect l="0" t="0" r="r" b="b"/>
            <a:pathLst>
              <a:path w="27" h="1403">
                <a:moveTo>
                  <a:pt x="0" y="0"/>
                </a:moveTo>
                <a:lnTo>
                  <a:pt x="27" y="0"/>
                </a:lnTo>
                <a:lnTo>
                  <a:pt x="27" y="1403"/>
                </a:lnTo>
                <a:lnTo>
                  <a:pt x="0" y="140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28" name=""/>
          <p:cNvSpPr/>
          <p:nvPr/>
        </p:nvSpPr>
        <p:spPr>
          <a:xfrm>
            <a:off x="6476760" y="2847960"/>
            <a:ext cx="5124960" cy="9720"/>
          </a:xfrm>
          <a:custGeom>
            <a:avLst/>
            <a:gdLst/>
            <a:ahLst/>
            <a:rect l="0" t="0" r="r" b="b"/>
            <a:pathLst>
              <a:path w="14236" h="27">
                <a:moveTo>
                  <a:pt x="0" y="0"/>
                </a:moveTo>
                <a:lnTo>
                  <a:pt x="14236" y="0"/>
                </a:lnTo>
                <a:lnTo>
                  <a:pt x="1423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29" name=""/>
          <p:cNvSpPr/>
          <p:nvPr/>
        </p:nvSpPr>
        <p:spPr>
          <a:xfrm>
            <a:off x="11591640" y="2847960"/>
            <a:ext cx="10080" cy="505080"/>
          </a:xfrm>
          <a:custGeom>
            <a:avLst/>
            <a:gdLst/>
            <a:ahLst/>
            <a:rect l="0" t="0" r="r" b="b"/>
            <a:pathLst>
              <a:path w="28" h="1403">
                <a:moveTo>
                  <a:pt x="0" y="0"/>
                </a:moveTo>
                <a:lnTo>
                  <a:pt x="28" y="0"/>
                </a:lnTo>
                <a:lnTo>
                  <a:pt x="28" y="1403"/>
                </a:lnTo>
                <a:lnTo>
                  <a:pt x="0" y="140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30" name=""/>
          <p:cNvSpPr/>
          <p:nvPr/>
        </p:nvSpPr>
        <p:spPr>
          <a:xfrm>
            <a:off x="590400" y="3342960"/>
            <a:ext cx="2171880" cy="10080"/>
          </a:xfrm>
          <a:custGeom>
            <a:avLst/>
            <a:gdLst/>
            <a:ahLst/>
            <a:rect l="0" t="0" r="r" b="b"/>
            <a:pathLst>
              <a:path w="6033" h="28">
                <a:moveTo>
                  <a:pt x="0" y="0"/>
                </a:moveTo>
                <a:lnTo>
                  <a:pt x="6033" y="0"/>
                </a:lnTo>
                <a:lnTo>
                  <a:pt x="603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31" name=""/>
          <p:cNvSpPr/>
          <p:nvPr/>
        </p:nvSpPr>
        <p:spPr>
          <a:xfrm>
            <a:off x="2761920" y="3342960"/>
            <a:ext cx="3715200" cy="10080"/>
          </a:xfrm>
          <a:custGeom>
            <a:avLst/>
            <a:gdLst/>
            <a:ahLst/>
            <a:rect l="0" t="0" r="r" b="b"/>
            <a:pathLst>
              <a:path w="10320" h="28">
                <a:moveTo>
                  <a:pt x="0" y="0"/>
                </a:moveTo>
                <a:lnTo>
                  <a:pt x="10320" y="0"/>
                </a:lnTo>
                <a:lnTo>
                  <a:pt x="1032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32" name=""/>
          <p:cNvSpPr/>
          <p:nvPr/>
        </p:nvSpPr>
        <p:spPr>
          <a:xfrm>
            <a:off x="6476760" y="3342960"/>
            <a:ext cx="5124960" cy="10080"/>
          </a:xfrm>
          <a:custGeom>
            <a:avLst/>
            <a:gdLst/>
            <a:ahLst/>
            <a:rect l="0" t="0" r="r" b="b"/>
            <a:pathLst>
              <a:path w="14236" h="28">
                <a:moveTo>
                  <a:pt x="0" y="0"/>
                </a:moveTo>
                <a:lnTo>
                  <a:pt x="14236" y="0"/>
                </a:lnTo>
                <a:lnTo>
                  <a:pt x="1423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33" name=""/>
          <p:cNvSpPr/>
          <p:nvPr/>
        </p:nvSpPr>
        <p:spPr>
          <a:xfrm>
            <a:off x="590400" y="3352680"/>
            <a:ext cx="9720" cy="495720"/>
          </a:xfrm>
          <a:custGeom>
            <a:avLst/>
            <a:gdLst/>
            <a:ahLst/>
            <a:rect l="0" t="0" r="r" b="b"/>
            <a:pathLst>
              <a:path w="27" h="1377">
                <a:moveTo>
                  <a:pt x="0" y="0"/>
                </a:moveTo>
                <a:lnTo>
                  <a:pt x="27" y="0"/>
                </a:lnTo>
                <a:lnTo>
                  <a:pt x="27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34" name=""/>
          <p:cNvSpPr/>
          <p:nvPr/>
        </p:nvSpPr>
        <p:spPr>
          <a:xfrm>
            <a:off x="2752560" y="3352680"/>
            <a:ext cx="9720" cy="495720"/>
          </a:xfrm>
          <a:custGeom>
            <a:avLst/>
            <a:gdLst/>
            <a:ahLst/>
            <a:rect l="0" t="0" r="r" b="b"/>
            <a:pathLst>
              <a:path w="27" h="1377">
                <a:moveTo>
                  <a:pt x="0" y="0"/>
                </a:moveTo>
                <a:lnTo>
                  <a:pt x="27" y="0"/>
                </a:lnTo>
                <a:lnTo>
                  <a:pt x="27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35" name=""/>
          <p:cNvSpPr/>
          <p:nvPr/>
        </p:nvSpPr>
        <p:spPr>
          <a:xfrm>
            <a:off x="6467400" y="3352680"/>
            <a:ext cx="9720" cy="495720"/>
          </a:xfrm>
          <a:custGeom>
            <a:avLst/>
            <a:gdLst/>
            <a:ahLst/>
            <a:rect l="0" t="0" r="r" b="b"/>
            <a:pathLst>
              <a:path w="27" h="1377">
                <a:moveTo>
                  <a:pt x="0" y="0"/>
                </a:moveTo>
                <a:lnTo>
                  <a:pt x="27" y="0"/>
                </a:lnTo>
                <a:lnTo>
                  <a:pt x="27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36" name=""/>
          <p:cNvSpPr/>
          <p:nvPr/>
        </p:nvSpPr>
        <p:spPr>
          <a:xfrm>
            <a:off x="11591640" y="3352680"/>
            <a:ext cx="10080" cy="495720"/>
          </a:xfrm>
          <a:custGeom>
            <a:avLst/>
            <a:gdLst/>
            <a:ahLst/>
            <a:rect l="0" t="0" r="r" b="b"/>
            <a:pathLst>
              <a:path w="28" h="1377">
                <a:moveTo>
                  <a:pt x="0" y="0"/>
                </a:moveTo>
                <a:lnTo>
                  <a:pt x="28" y="0"/>
                </a:lnTo>
                <a:lnTo>
                  <a:pt x="28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37" name=""/>
          <p:cNvSpPr/>
          <p:nvPr/>
        </p:nvSpPr>
        <p:spPr>
          <a:xfrm>
            <a:off x="590400" y="3848040"/>
            <a:ext cx="9720" cy="495360"/>
          </a:xfrm>
          <a:custGeom>
            <a:avLst/>
            <a:gdLst/>
            <a:ahLst/>
            <a:rect l="0" t="0" r="r" b="b"/>
            <a:pathLst>
              <a:path w="27" h="1376">
                <a:moveTo>
                  <a:pt x="0" y="0"/>
                </a:moveTo>
                <a:lnTo>
                  <a:pt x="27" y="0"/>
                </a:lnTo>
                <a:lnTo>
                  <a:pt x="27" y="1376"/>
                </a:lnTo>
                <a:lnTo>
                  <a:pt x="0" y="137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38" name=""/>
          <p:cNvSpPr/>
          <p:nvPr/>
        </p:nvSpPr>
        <p:spPr>
          <a:xfrm>
            <a:off x="590400" y="3838320"/>
            <a:ext cx="2171880" cy="10080"/>
          </a:xfrm>
          <a:custGeom>
            <a:avLst/>
            <a:gdLst/>
            <a:ahLst/>
            <a:rect l="0" t="0" r="r" b="b"/>
            <a:pathLst>
              <a:path w="6033" h="28">
                <a:moveTo>
                  <a:pt x="0" y="0"/>
                </a:moveTo>
                <a:lnTo>
                  <a:pt x="6033" y="0"/>
                </a:lnTo>
                <a:lnTo>
                  <a:pt x="603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39" name=""/>
          <p:cNvSpPr/>
          <p:nvPr/>
        </p:nvSpPr>
        <p:spPr>
          <a:xfrm>
            <a:off x="2752560" y="3848040"/>
            <a:ext cx="9720" cy="495360"/>
          </a:xfrm>
          <a:custGeom>
            <a:avLst/>
            <a:gdLst/>
            <a:ahLst/>
            <a:rect l="0" t="0" r="r" b="b"/>
            <a:pathLst>
              <a:path w="27" h="1376">
                <a:moveTo>
                  <a:pt x="0" y="0"/>
                </a:moveTo>
                <a:lnTo>
                  <a:pt x="27" y="0"/>
                </a:lnTo>
                <a:lnTo>
                  <a:pt x="27" y="1376"/>
                </a:lnTo>
                <a:lnTo>
                  <a:pt x="0" y="137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40" name=""/>
          <p:cNvSpPr/>
          <p:nvPr/>
        </p:nvSpPr>
        <p:spPr>
          <a:xfrm>
            <a:off x="2761920" y="3838320"/>
            <a:ext cx="3715200" cy="10080"/>
          </a:xfrm>
          <a:custGeom>
            <a:avLst/>
            <a:gdLst/>
            <a:ahLst/>
            <a:rect l="0" t="0" r="r" b="b"/>
            <a:pathLst>
              <a:path w="10320" h="28">
                <a:moveTo>
                  <a:pt x="0" y="0"/>
                </a:moveTo>
                <a:lnTo>
                  <a:pt x="10320" y="0"/>
                </a:lnTo>
                <a:lnTo>
                  <a:pt x="1032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41" name=""/>
          <p:cNvSpPr/>
          <p:nvPr/>
        </p:nvSpPr>
        <p:spPr>
          <a:xfrm>
            <a:off x="6467400" y="3848040"/>
            <a:ext cx="9720" cy="495360"/>
          </a:xfrm>
          <a:custGeom>
            <a:avLst/>
            <a:gdLst/>
            <a:ahLst/>
            <a:rect l="0" t="0" r="r" b="b"/>
            <a:pathLst>
              <a:path w="27" h="1376">
                <a:moveTo>
                  <a:pt x="0" y="0"/>
                </a:moveTo>
                <a:lnTo>
                  <a:pt x="27" y="0"/>
                </a:lnTo>
                <a:lnTo>
                  <a:pt x="27" y="1376"/>
                </a:lnTo>
                <a:lnTo>
                  <a:pt x="0" y="137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42" name=""/>
          <p:cNvSpPr/>
          <p:nvPr/>
        </p:nvSpPr>
        <p:spPr>
          <a:xfrm>
            <a:off x="6476760" y="3838320"/>
            <a:ext cx="5124960" cy="10080"/>
          </a:xfrm>
          <a:custGeom>
            <a:avLst/>
            <a:gdLst/>
            <a:ahLst/>
            <a:rect l="0" t="0" r="r" b="b"/>
            <a:pathLst>
              <a:path w="14236" h="28">
                <a:moveTo>
                  <a:pt x="0" y="0"/>
                </a:moveTo>
                <a:lnTo>
                  <a:pt x="14236" y="0"/>
                </a:lnTo>
                <a:lnTo>
                  <a:pt x="1423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43" name=""/>
          <p:cNvSpPr/>
          <p:nvPr/>
        </p:nvSpPr>
        <p:spPr>
          <a:xfrm>
            <a:off x="11591640" y="3848040"/>
            <a:ext cx="10080" cy="495360"/>
          </a:xfrm>
          <a:custGeom>
            <a:avLst/>
            <a:gdLst/>
            <a:ahLst/>
            <a:rect l="0" t="0" r="r" b="b"/>
            <a:pathLst>
              <a:path w="28" h="1376">
                <a:moveTo>
                  <a:pt x="0" y="0"/>
                </a:moveTo>
                <a:lnTo>
                  <a:pt x="28" y="0"/>
                </a:lnTo>
                <a:lnTo>
                  <a:pt x="28" y="1376"/>
                </a:lnTo>
                <a:lnTo>
                  <a:pt x="0" y="137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44" name=""/>
          <p:cNvSpPr/>
          <p:nvPr/>
        </p:nvSpPr>
        <p:spPr>
          <a:xfrm>
            <a:off x="590400" y="4343040"/>
            <a:ext cx="9720" cy="495720"/>
          </a:xfrm>
          <a:custGeom>
            <a:avLst/>
            <a:gdLst/>
            <a:ahLst/>
            <a:rect l="0" t="0" r="r" b="b"/>
            <a:pathLst>
              <a:path w="27" h="1377">
                <a:moveTo>
                  <a:pt x="0" y="0"/>
                </a:moveTo>
                <a:lnTo>
                  <a:pt x="27" y="0"/>
                </a:lnTo>
                <a:lnTo>
                  <a:pt x="27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45" name=""/>
          <p:cNvSpPr/>
          <p:nvPr/>
        </p:nvSpPr>
        <p:spPr>
          <a:xfrm>
            <a:off x="590400" y="4333680"/>
            <a:ext cx="2171880" cy="9720"/>
          </a:xfrm>
          <a:custGeom>
            <a:avLst/>
            <a:gdLst/>
            <a:ahLst/>
            <a:rect l="0" t="0" r="r" b="b"/>
            <a:pathLst>
              <a:path w="6033" h="27">
                <a:moveTo>
                  <a:pt x="0" y="0"/>
                </a:moveTo>
                <a:lnTo>
                  <a:pt x="6033" y="0"/>
                </a:lnTo>
                <a:lnTo>
                  <a:pt x="603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46" name=""/>
          <p:cNvSpPr/>
          <p:nvPr/>
        </p:nvSpPr>
        <p:spPr>
          <a:xfrm>
            <a:off x="2752560" y="4343040"/>
            <a:ext cx="9720" cy="495720"/>
          </a:xfrm>
          <a:custGeom>
            <a:avLst/>
            <a:gdLst/>
            <a:ahLst/>
            <a:rect l="0" t="0" r="r" b="b"/>
            <a:pathLst>
              <a:path w="27" h="1377">
                <a:moveTo>
                  <a:pt x="0" y="0"/>
                </a:moveTo>
                <a:lnTo>
                  <a:pt x="27" y="0"/>
                </a:lnTo>
                <a:lnTo>
                  <a:pt x="27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47" name=""/>
          <p:cNvSpPr/>
          <p:nvPr/>
        </p:nvSpPr>
        <p:spPr>
          <a:xfrm>
            <a:off x="2761920" y="4333680"/>
            <a:ext cx="3715200" cy="9720"/>
          </a:xfrm>
          <a:custGeom>
            <a:avLst/>
            <a:gdLst/>
            <a:ahLst/>
            <a:rect l="0" t="0" r="r" b="b"/>
            <a:pathLst>
              <a:path w="10320" h="27">
                <a:moveTo>
                  <a:pt x="0" y="0"/>
                </a:moveTo>
                <a:lnTo>
                  <a:pt x="10320" y="0"/>
                </a:lnTo>
                <a:lnTo>
                  <a:pt x="1032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48" name=""/>
          <p:cNvSpPr/>
          <p:nvPr/>
        </p:nvSpPr>
        <p:spPr>
          <a:xfrm>
            <a:off x="6467400" y="4343040"/>
            <a:ext cx="9720" cy="495720"/>
          </a:xfrm>
          <a:custGeom>
            <a:avLst/>
            <a:gdLst/>
            <a:ahLst/>
            <a:rect l="0" t="0" r="r" b="b"/>
            <a:pathLst>
              <a:path w="27" h="1377">
                <a:moveTo>
                  <a:pt x="0" y="0"/>
                </a:moveTo>
                <a:lnTo>
                  <a:pt x="27" y="0"/>
                </a:lnTo>
                <a:lnTo>
                  <a:pt x="27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49" name=""/>
          <p:cNvSpPr/>
          <p:nvPr/>
        </p:nvSpPr>
        <p:spPr>
          <a:xfrm>
            <a:off x="6476760" y="4333680"/>
            <a:ext cx="5124960" cy="9720"/>
          </a:xfrm>
          <a:custGeom>
            <a:avLst/>
            <a:gdLst/>
            <a:ahLst/>
            <a:rect l="0" t="0" r="r" b="b"/>
            <a:pathLst>
              <a:path w="14236" h="27">
                <a:moveTo>
                  <a:pt x="0" y="0"/>
                </a:moveTo>
                <a:lnTo>
                  <a:pt x="14236" y="0"/>
                </a:lnTo>
                <a:lnTo>
                  <a:pt x="1423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50" name=""/>
          <p:cNvSpPr/>
          <p:nvPr/>
        </p:nvSpPr>
        <p:spPr>
          <a:xfrm>
            <a:off x="11591640" y="4343040"/>
            <a:ext cx="10080" cy="495720"/>
          </a:xfrm>
          <a:custGeom>
            <a:avLst/>
            <a:gdLst/>
            <a:ahLst/>
            <a:rect l="0" t="0" r="r" b="b"/>
            <a:pathLst>
              <a:path w="28" h="1377">
                <a:moveTo>
                  <a:pt x="0" y="0"/>
                </a:moveTo>
                <a:lnTo>
                  <a:pt x="28" y="0"/>
                </a:lnTo>
                <a:lnTo>
                  <a:pt x="28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51" name=""/>
          <p:cNvSpPr/>
          <p:nvPr/>
        </p:nvSpPr>
        <p:spPr>
          <a:xfrm>
            <a:off x="590400" y="4829040"/>
            <a:ext cx="2171880" cy="9720"/>
          </a:xfrm>
          <a:custGeom>
            <a:avLst/>
            <a:gdLst/>
            <a:ahLst/>
            <a:rect l="0" t="0" r="r" b="b"/>
            <a:pathLst>
              <a:path w="6033" h="27">
                <a:moveTo>
                  <a:pt x="0" y="0"/>
                </a:moveTo>
                <a:lnTo>
                  <a:pt x="6033" y="0"/>
                </a:lnTo>
                <a:lnTo>
                  <a:pt x="603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52" name=""/>
          <p:cNvSpPr/>
          <p:nvPr/>
        </p:nvSpPr>
        <p:spPr>
          <a:xfrm>
            <a:off x="2761920" y="4829040"/>
            <a:ext cx="3715200" cy="9720"/>
          </a:xfrm>
          <a:custGeom>
            <a:avLst/>
            <a:gdLst/>
            <a:ahLst/>
            <a:rect l="0" t="0" r="r" b="b"/>
            <a:pathLst>
              <a:path w="10320" h="27">
                <a:moveTo>
                  <a:pt x="0" y="0"/>
                </a:moveTo>
                <a:lnTo>
                  <a:pt x="10320" y="0"/>
                </a:lnTo>
                <a:lnTo>
                  <a:pt x="1032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53" name=""/>
          <p:cNvSpPr/>
          <p:nvPr/>
        </p:nvSpPr>
        <p:spPr>
          <a:xfrm>
            <a:off x="6476760" y="4829040"/>
            <a:ext cx="5124960" cy="9720"/>
          </a:xfrm>
          <a:custGeom>
            <a:avLst/>
            <a:gdLst/>
            <a:ahLst/>
            <a:rect l="0" t="0" r="r" b="b"/>
            <a:pathLst>
              <a:path w="14236" h="27">
                <a:moveTo>
                  <a:pt x="0" y="0"/>
                </a:moveTo>
                <a:lnTo>
                  <a:pt x="14236" y="0"/>
                </a:lnTo>
                <a:lnTo>
                  <a:pt x="1423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54" name=""/>
          <p:cNvSpPr txBox="1"/>
          <p:nvPr/>
        </p:nvSpPr>
        <p:spPr>
          <a:xfrm>
            <a:off x="590400" y="1539000"/>
            <a:ext cx="7158060" cy="36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8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三つの大きさを、</a:t>
            </a:r>
            <a:r>
              <a:rPr lang="en-US" sz="28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1 epoch</a:t>
            </a:r>
            <a:r>
              <a:rPr lang="ja-JP" sz="28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で比較する</a:t>
            </a:r>
            <a:endParaRPr lang="en-US" sz="28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55" name=""/>
          <p:cNvSpPr txBox="1"/>
          <p:nvPr/>
        </p:nvSpPr>
        <p:spPr>
          <a:xfrm>
            <a:off x="590400" y="2352600"/>
            <a:ext cx="6289074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7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パラメータ</a:t>
            </a:r>
            <a:r>
              <a:rPr lang="ja-JP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は、学習で調整するモデル内部の数値。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56" name=""/>
          <p:cNvSpPr txBox="1"/>
          <p:nvPr/>
        </p:nvSpPr>
        <p:spPr>
          <a:xfrm>
            <a:off x="714240" y="2987280"/>
            <a:ext cx="721188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6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呼び名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57" name=""/>
          <p:cNvSpPr txBox="1"/>
          <p:nvPr/>
        </p:nvSpPr>
        <p:spPr>
          <a:xfrm>
            <a:off x="5104080" y="2987280"/>
            <a:ext cx="272205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6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パラメータ数 今回の学習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58" name=""/>
          <p:cNvSpPr txBox="1"/>
          <p:nvPr/>
        </p:nvSpPr>
        <p:spPr>
          <a:xfrm>
            <a:off x="714240" y="3482640"/>
            <a:ext cx="385434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1M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59" name=""/>
          <p:cNvSpPr txBox="1"/>
          <p:nvPr/>
        </p:nvSpPr>
        <p:spPr>
          <a:xfrm>
            <a:off x="5520960" y="3482640"/>
            <a:ext cx="3112866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約</a:t>
            </a:r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100</a:t>
            </a:r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万 教材全体を</a:t>
            </a:r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</a:t>
            </a:r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回使う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60" name=""/>
          <p:cNvSpPr txBox="1"/>
          <p:nvPr/>
        </p:nvSpPr>
        <p:spPr>
          <a:xfrm>
            <a:off x="714240" y="3978000"/>
            <a:ext cx="385434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5M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61" name=""/>
          <p:cNvSpPr txBox="1"/>
          <p:nvPr/>
        </p:nvSpPr>
        <p:spPr>
          <a:xfrm>
            <a:off x="5520960" y="3978000"/>
            <a:ext cx="3112866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約</a:t>
            </a:r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500</a:t>
            </a:r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万 教材全体を</a:t>
            </a:r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</a:t>
            </a:r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回使う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62" name=""/>
          <p:cNvSpPr txBox="1"/>
          <p:nvPr/>
        </p:nvSpPr>
        <p:spPr>
          <a:xfrm>
            <a:off x="714240" y="4473360"/>
            <a:ext cx="543168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15M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63" name=""/>
          <p:cNvSpPr txBox="1"/>
          <p:nvPr/>
        </p:nvSpPr>
        <p:spPr>
          <a:xfrm>
            <a:off x="5333040" y="4473360"/>
            <a:ext cx="3328146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約</a:t>
            </a:r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1,500</a:t>
            </a:r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万 教材全体を</a:t>
            </a:r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</a:t>
            </a:r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回使う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64" name=""/>
          <p:cNvSpPr txBox="1"/>
          <p:nvPr/>
        </p:nvSpPr>
        <p:spPr>
          <a:xfrm>
            <a:off x="590400" y="5086440"/>
            <a:ext cx="8265924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既存の学習済み重みを使わず、</a:t>
            </a:r>
            <a:r>
              <a:rPr lang="en-US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Transformer</a:t>
            </a:r>
            <a:r>
              <a:rPr lang="ja-JP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をゼロから学習する。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65" name=""/>
          <p:cNvSpPr txBox="1"/>
          <p:nvPr/>
        </p:nvSpPr>
        <p:spPr>
          <a:xfrm>
            <a:off x="11705760" y="6466680"/>
            <a:ext cx="231012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Hiragino Sans"/>
                <a:ea typeface="Hiragino Sans"/>
              </a:rPr>
              <a:t>12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6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6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69" name=""/>
          <p:cNvSpPr/>
          <p:nvPr/>
        </p:nvSpPr>
        <p:spPr>
          <a:xfrm>
            <a:off x="590400" y="5190840"/>
            <a:ext cx="11011320" cy="610200"/>
          </a:xfrm>
          <a:custGeom>
            <a:avLst/>
            <a:gdLst/>
            <a:ahLst/>
            <a:rect l="0" t="0" r="r" b="b"/>
            <a:pathLst>
              <a:path w="30587" h="1695">
                <a:moveTo>
                  <a:pt x="0" y="0"/>
                </a:moveTo>
                <a:lnTo>
                  <a:pt x="30587" y="0"/>
                </a:lnTo>
                <a:lnTo>
                  <a:pt x="30587" y="1695"/>
                </a:lnTo>
                <a:lnTo>
                  <a:pt x="0" y="1695"/>
                </a:lnTo>
                <a:lnTo>
                  <a:pt x="0" y="0"/>
                </a:lnTo>
                <a:close/>
              </a:path>
            </a:pathLst>
          </a:custGeom>
          <a:solidFill>
            <a:srgbClr val="F5F3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70" name=""/>
          <p:cNvSpPr/>
          <p:nvPr/>
        </p:nvSpPr>
        <p:spPr>
          <a:xfrm>
            <a:off x="590400" y="5190840"/>
            <a:ext cx="38520" cy="610200"/>
          </a:xfrm>
          <a:custGeom>
            <a:avLst/>
            <a:gdLst/>
            <a:ahLst/>
            <a:rect l="0" t="0" r="r" b="b"/>
            <a:pathLst>
              <a:path w="107" h="1695">
                <a:moveTo>
                  <a:pt x="0" y="0"/>
                </a:moveTo>
                <a:lnTo>
                  <a:pt x="107" y="0"/>
                </a:lnTo>
                <a:lnTo>
                  <a:pt x="107" y="1695"/>
                </a:lnTo>
                <a:lnTo>
                  <a:pt x="0" y="1695"/>
                </a:lnTo>
                <a:lnTo>
                  <a:pt x="0" y="0"/>
                </a:lnTo>
                <a:close/>
              </a:path>
            </a:pathLst>
          </a:custGeom>
          <a:solidFill>
            <a:srgbClr val="745DB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FFFFFF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71" name=""/>
          <p:cNvSpPr txBox="1"/>
          <p:nvPr/>
        </p:nvSpPr>
        <p:spPr>
          <a:xfrm>
            <a:off x="590400" y="698400"/>
            <a:ext cx="7887528" cy="3434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7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自己回帰：出力を次の入力に加えて繰り返す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72" name=""/>
          <p:cNvSpPr txBox="1"/>
          <p:nvPr/>
        </p:nvSpPr>
        <p:spPr>
          <a:xfrm>
            <a:off x="590400" y="1428840"/>
            <a:ext cx="9040932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GPT</a:t>
            </a:r>
            <a:r>
              <a:rPr lang="ja-JP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などの言語モデルは、</a:t>
            </a:r>
            <a:r>
              <a:rPr lang="ja-JP" sz="187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直前までの言葉から次を予測</a:t>
            </a:r>
            <a:r>
              <a:rPr lang="ja-JP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して文章を作る。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73" name=""/>
          <p:cNvSpPr txBox="1"/>
          <p:nvPr/>
        </p:nvSpPr>
        <p:spPr>
          <a:xfrm>
            <a:off x="857160" y="1947960"/>
            <a:ext cx="2296872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580" b="0" u="none" strike="noStrike">
                <a:solidFill>
                  <a:srgbClr val="52606D"/>
                </a:solidFill>
                <a:effectLst/>
                <a:uFillTx/>
                <a:latin typeface="Hiragino Sans"/>
                <a:ea typeface="Hiragino Sans"/>
              </a:rPr>
              <a:t>入力：ここまでの文章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74" name=""/>
          <p:cNvSpPr txBox="1"/>
          <p:nvPr/>
        </p:nvSpPr>
        <p:spPr>
          <a:xfrm>
            <a:off x="6926040" y="1947960"/>
            <a:ext cx="1607976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580" b="0" u="none" strike="noStrike">
                <a:solidFill>
                  <a:srgbClr val="52606D"/>
                </a:solidFill>
                <a:effectLst/>
                <a:uFillTx/>
                <a:latin typeface="Hiragino Sans"/>
                <a:ea typeface="Hiragino Sans"/>
              </a:rPr>
              <a:t>予測するモデル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75" name=""/>
          <p:cNvSpPr/>
          <p:nvPr/>
        </p:nvSpPr>
        <p:spPr>
          <a:xfrm>
            <a:off x="866520" y="2447640"/>
            <a:ext cx="743400" cy="648000"/>
          </a:xfrm>
          <a:custGeom>
            <a:avLst/>
            <a:gdLst/>
            <a:ahLst/>
            <a:rect l="0" t="0" r="r" b="b"/>
            <a:pathLst>
              <a:path w="2065" h="1800">
                <a:moveTo>
                  <a:pt x="0" y="1668"/>
                </a:moveTo>
                <a:lnTo>
                  <a:pt x="0" y="133"/>
                </a:lnTo>
                <a:cubicBezTo>
                  <a:pt x="0" y="115"/>
                  <a:pt x="4" y="98"/>
                  <a:pt x="10" y="82"/>
                </a:cubicBezTo>
                <a:cubicBezTo>
                  <a:pt x="17" y="66"/>
                  <a:pt x="27" y="51"/>
                  <a:pt x="39" y="39"/>
                </a:cubicBezTo>
                <a:cubicBezTo>
                  <a:pt x="51" y="27"/>
                  <a:pt x="66" y="17"/>
                  <a:pt x="82" y="10"/>
                </a:cubicBezTo>
                <a:cubicBezTo>
                  <a:pt x="98" y="4"/>
                  <a:pt x="115" y="0"/>
                  <a:pt x="132" y="0"/>
                </a:cubicBezTo>
                <a:lnTo>
                  <a:pt x="1933" y="0"/>
                </a:lnTo>
                <a:cubicBezTo>
                  <a:pt x="1950" y="0"/>
                  <a:pt x="1967" y="4"/>
                  <a:pt x="1983" y="10"/>
                </a:cubicBezTo>
                <a:cubicBezTo>
                  <a:pt x="1999" y="17"/>
                  <a:pt x="2014" y="27"/>
                  <a:pt x="2026" y="39"/>
                </a:cubicBezTo>
                <a:cubicBezTo>
                  <a:pt x="2039" y="51"/>
                  <a:pt x="2048" y="66"/>
                  <a:pt x="2055" y="82"/>
                </a:cubicBezTo>
                <a:cubicBezTo>
                  <a:pt x="2062" y="98"/>
                  <a:pt x="2065" y="115"/>
                  <a:pt x="2065" y="133"/>
                </a:cubicBezTo>
                <a:lnTo>
                  <a:pt x="2065" y="1668"/>
                </a:lnTo>
                <a:cubicBezTo>
                  <a:pt x="2065" y="1686"/>
                  <a:pt x="2062" y="1703"/>
                  <a:pt x="2055" y="1719"/>
                </a:cubicBezTo>
                <a:cubicBezTo>
                  <a:pt x="2048" y="1735"/>
                  <a:pt x="2039" y="1749"/>
                  <a:pt x="2026" y="1762"/>
                </a:cubicBezTo>
                <a:cubicBezTo>
                  <a:pt x="2014" y="1774"/>
                  <a:pt x="1999" y="1784"/>
                  <a:pt x="1983" y="1790"/>
                </a:cubicBezTo>
                <a:cubicBezTo>
                  <a:pt x="1967" y="1797"/>
                  <a:pt x="1950" y="1800"/>
                  <a:pt x="1933" y="1800"/>
                </a:cubicBezTo>
                <a:lnTo>
                  <a:pt x="132" y="1800"/>
                </a:lnTo>
                <a:cubicBezTo>
                  <a:pt x="115" y="1800"/>
                  <a:pt x="98" y="1797"/>
                  <a:pt x="82" y="1790"/>
                </a:cubicBezTo>
                <a:cubicBezTo>
                  <a:pt x="66" y="1784"/>
                  <a:pt x="51" y="1774"/>
                  <a:pt x="39" y="1762"/>
                </a:cubicBezTo>
                <a:cubicBezTo>
                  <a:pt x="27" y="1749"/>
                  <a:pt x="17" y="1735"/>
                  <a:pt x="10" y="1719"/>
                </a:cubicBezTo>
                <a:cubicBezTo>
                  <a:pt x="4" y="1703"/>
                  <a:pt x="0" y="1686"/>
                  <a:pt x="0" y="1668"/>
                </a:cubicBez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76" name=""/>
          <p:cNvSpPr/>
          <p:nvPr/>
        </p:nvSpPr>
        <p:spPr>
          <a:xfrm>
            <a:off x="866520" y="2447640"/>
            <a:ext cx="743400" cy="648000"/>
          </a:xfrm>
          <a:custGeom>
            <a:avLst/>
            <a:gdLst/>
            <a:ahLst/>
            <a:rect l="0" t="0" r="r" b="b"/>
            <a:pathLst>
              <a:path w="2065" h="1800">
                <a:moveTo>
                  <a:pt x="0" y="1668"/>
                </a:moveTo>
                <a:lnTo>
                  <a:pt x="0" y="133"/>
                </a:lnTo>
                <a:cubicBezTo>
                  <a:pt x="0" y="115"/>
                  <a:pt x="4" y="98"/>
                  <a:pt x="10" y="82"/>
                </a:cubicBezTo>
                <a:cubicBezTo>
                  <a:pt x="17" y="66"/>
                  <a:pt x="27" y="51"/>
                  <a:pt x="39" y="39"/>
                </a:cubicBezTo>
                <a:cubicBezTo>
                  <a:pt x="51" y="27"/>
                  <a:pt x="66" y="17"/>
                  <a:pt x="82" y="10"/>
                </a:cubicBezTo>
                <a:cubicBezTo>
                  <a:pt x="98" y="4"/>
                  <a:pt x="115" y="0"/>
                  <a:pt x="132" y="0"/>
                </a:cubicBezTo>
                <a:lnTo>
                  <a:pt x="1933" y="0"/>
                </a:lnTo>
                <a:cubicBezTo>
                  <a:pt x="1950" y="0"/>
                  <a:pt x="1967" y="4"/>
                  <a:pt x="1983" y="10"/>
                </a:cubicBezTo>
                <a:cubicBezTo>
                  <a:pt x="1999" y="17"/>
                  <a:pt x="2014" y="27"/>
                  <a:pt x="2026" y="39"/>
                </a:cubicBezTo>
                <a:cubicBezTo>
                  <a:pt x="2039" y="51"/>
                  <a:pt x="2048" y="66"/>
                  <a:pt x="2055" y="82"/>
                </a:cubicBezTo>
                <a:cubicBezTo>
                  <a:pt x="2062" y="98"/>
                  <a:pt x="2065" y="115"/>
                  <a:pt x="2065" y="133"/>
                </a:cubicBezTo>
                <a:lnTo>
                  <a:pt x="2065" y="1668"/>
                </a:lnTo>
                <a:cubicBezTo>
                  <a:pt x="2065" y="1686"/>
                  <a:pt x="2062" y="1703"/>
                  <a:pt x="2055" y="1719"/>
                </a:cubicBezTo>
                <a:cubicBezTo>
                  <a:pt x="2048" y="1735"/>
                  <a:pt x="2039" y="1749"/>
                  <a:pt x="2026" y="1762"/>
                </a:cubicBezTo>
                <a:cubicBezTo>
                  <a:pt x="2014" y="1774"/>
                  <a:pt x="1999" y="1784"/>
                  <a:pt x="1983" y="1790"/>
                </a:cubicBezTo>
                <a:cubicBezTo>
                  <a:pt x="1967" y="1797"/>
                  <a:pt x="1950" y="1800"/>
                  <a:pt x="1933" y="1800"/>
                </a:cubicBezTo>
                <a:lnTo>
                  <a:pt x="132" y="1800"/>
                </a:lnTo>
                <a:cubicBezTo>
                  <a:pt x="115" y="1800"/>
                  <a:pt x="98" y="1797"/>
                  <a:pt x="82" y="1790"/>
                </a:cubicBezTo>
                <a:cubicBezTo>
                  <a:pt x="66" y="1784"/>
                  <a:pt x="51" y="1774"/>
                  <a:pt x="39" y="1762"/>
                </a:cubicBezTo>
                <a:cubicBezTo>
                  <a:pt x="27" y="1749"/>
                  <a:pt x="17" y="1735"/>
                  <a:pt x="10" y="1719"/>
                </a:cubicBezTo>
                <a:cubicBezTo>
                  <a:pt x="4" y="1703"/>
                  <a:pt x="0" y="1686"/>
                  <a:pt x="0" y="1668"/>
                </a:cubicBezTo>
                <a:close/>
              </a:path>
            </a:pathLst>
          </a:custGeom>
          <a:noFill/>
          <a:ln w="18720">
            <a:solidFill>
              <a:srgbClr val="92B1C8"/>
            </a:solidFill>
            <a:miter/>
          </a:ln>
        </p:spPr>
        <p:txBody>
          <a:bodyPr lIns="9360" tIns="9360" rIns="9360" bIns="936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77" name=""/>
          <p:cNvSpPr txBox="1"/>
          <p:nvPr/>
        </p:nvSpPr>
        <p:spPr>
          <a:xfrm>
            <a:off x="9682200" y="1947960"/>
            <a:ext cx="1607976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580" b="0" u="none" strike="noStrike">
                <a:solidFill>
                  <a:srgbClr val="52606D"/>
                </a:solidFill>
                <a:effectLst/>
                <a:uFillTx/>
                <a:latin typeface="Hiragino Sans"/>
                <a:ea typeface="Hiragino Sans"/>
              </a:rPr>
              <a:t>出力：次の言葉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78" name=""/>
          <p:cNvSpPr/>
          <p:nvPr/>
        </p:nvSpPr>
        <p:spPr>
          <a:xfrm>
            <a:off x="1742760" y="2447640"/>
            <a:ext cx="743400" cy="648000"/>
          </a:xfrm>
          <a:custGeom>
            <a:avLst/>
            <a:gdLst/>
            <a:ahLst/>
            <a:rect l="0" t="0" r="r" b="b"/>
            <a:pathLst>
              <a:path w="2065" h="1800">
                <a:moveTo>
                  <a:pt x="0" y="1668"/>
                </a:moveTo>
                <a:lnTo>
                  <a:pt x="0" y="133"/>
                </a:lnTo>
                <a:cubicBezTo>
                  <a:pt x="0" y="115"/>
                  <a:pt x="4" y="98"/>
                  <a:pt x="10" y="82"/>
                </a:cubicBezTo>
                <a:cubicBezTo>
                  <a:pt x="17" y="66"/>
                  <a:pt x="27" y="51"/>
                  <a:pt x="39" y="39"/>
                </a:cubicBezTo>
                <a:cubicBezTo>
                  <a:pt x="52" y="27"/>
                  <a:pt x="66" y="17"/>
                  <a:pt x="82" y="10"/>
                </a:cubicBezTo>
                <a:cubicBezTo>
                  <a:pt x="98" y="4"/>
                  <a:pt x="115" y="0"/>
                  <a:pt x="133" y="0"/>
                </a:cubicBezTo>
                <a:lnTo>
                  <a:pt x="1933" y="0"/>
                </a:lnTo>
                <a:cubicBezTo>
                  <a:pt x="1950" y="0"/>
                  <a:pt x="1967" y="4"/>
                  <a:pt x="1983" y="10"/>
                </a:cubicBezTo>
                <a:cubicBezTo>
                  <a:pt x="2000" y="17"/>
                  <a:pt x="2014" y="27"/>
                  <a:pt x="2026" y="39"/>
                </a:cubicBezTo>
                <a:cubicBezTo>
                  <a:pt x="2039" y="51"/>
                  <a:pt x="2048" y="66"/>
                  <a:pt x="2055" y="82"/>
                </a:cubicBezTo>
                <a:cubicBezTo>
                  <a:pt x="2062" y="98"/>
                  <a:pt x="2065" y="115"/>
                  <a:pt x="2065" y="133"/>
                </a:cubicBezTo>
                <a:lnTo>
                  <a:pt x="2065" y="1668"/>
                </a:lnTo>
                <a:cubicBezTo>
                  <a:pt x="2065" y="1686"/>
                  <a:pt x="2062" y="1703"/>
                  <a:pt x="2055" y="1719"/>
                </a:cubicBezTo>
                <a:cubicBezTo>
                  <a:pt x="2048" y="1735"/>
                  <a:pt x="2039" y="1749"/>
                  <a:pt x="2026" y="1762"/>
                </a:cubicBezTo>
                <a:cubicBezTo>
                  <a:pt x="2014" y="1774"/>
                  <a:pt x="2000" y="1784"/>
                  <a:pt x="1983" y="1790"/>
                </a:cubicBezTo>
                <a:cubicBezTo>
                  <a:pt x="1967" y="1797"/>
                  <a:pt x="1950" y="1800"/>
                  <a:pt x="1933" y="1800"/>
                </a:cubicBezTo>
                <a:lnTo>
                  <a:pt x="133" y="1800"/>
                </a:lnTo>
                <a:cubicBezTo>
                  <a:pt x="115" y="1800"/>
                  <a:pt x="98" y="1797"/>
                  <a:pt x="82" y="1790"/>
                </a:cubicBezTo>
                <a:cubicBezTo>
                  <a:pt x="66" y="1784"/>
                  <a:pt x="52" y="1774"/>
                  <a:pt x="39" y="1762"/>
                </a:cubicBezTo>
                <a:cubicBezTo>
                  <a:pt x="27" y="1749"/>
                  <a:pt x="17" y="1735"/>
                  <a:pt x="10" y="1719"/>
                </a:cubicBezTo>
                <a:cubicBezTo>
                  <a:pt x="4" y="1703"/>
                  <a:pt x="0" y="1686"/>
                  <a:pt x="0" y="1668"/>
                </a:cubicBez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79" name=""/>
          <p:cNvSpPr/>
          <p:nvPr/>
        </p:nvSpPr>
        <p:spPr>
          <a:xfrm>
            <a:off x="1742760" y="2447640"/>
            <a:ext cx="743400" cy="648000"/>
          </a:xfrm>
          <a:custGeom>
            <a:avLst/>
            <a:gdLst/>
            <a:ahLst/>
            <a:rect l="0" t="0" r="r" b="b"/>
            <a:pathLst>
              <a:path w="2065" h="1800">
                <a:moveTo>
                  <a:pt x="0" y="1668"/>
                </a:moveTo>
                <a:lnTo>
                  <a:pt x="0" y="133"/>
                </a:lnTo>
                <a:cubicBezTo>
                  <a:pt x="0" y="115"/>
                  <a:pt x="4" y="98"/>
                  <a:pt x="10" y="82"/>
                </a:cubicBezTo>
                <a:cubicBezTo>
                  <a:pt x="17" y="66"/>
                  <a:pt x="27" y="51"/>
                  <a:pt x="39" y="39"/>
                </a:cubicBezTo>
                <a:cubicBezTo>
                  <a:pt x="52" y="27"/>
                  <a:pt x="66" y="17"/>
                  <a:pt x="82" y="10"/>
                </a:cubicBezTo>
                <a:cubicBezTo>
                  <a:pt x="98" y="4"/>
                  <a:pt x="115" y="0"/>
                  <a:pt x="133" y="0"/>
                </a:cubicBezTo>
                <a:lnTo>
                  <a:pt x="1933" y="0"/>
                </a:lnTo>
                <a:cubicBezTo>
                  <a:pt x="1950" y="0"/>
                  <a:pt x="1967" y="4"/>
                  <a:pt x="1983" y="10"/>
                </a:cubicBezTo>
                <a:cubicBezTo>
                  <a:pt x="2000" y="17"/>
                  <a:pt x="2014" y="27"/>
                  <a:pt x="2026" y="39"/>
                </a:cubicBezTo>
                <a:cubicBezTo>
                  <a:pt x="2039" y="51"/>
                  <a:pt x="2048" y="66"/>
                  <a:pt x="2055" y="82"/>
                </a:cubicBezTo>
                <a:cubicBezTo>
                  <a:pt x="2062" y="98"/>
                  <a:pt x="2065" y="115"/>
                  <a:pt x="2065" y="133"/>
                </a:cubicBezTo>
                <a:lnTo>
                  <a:pt x="2065" y="1668"/>
                </a:lnTo>
                <a:cubicBezTo>
                  <a:pt x="2065" y="1686"/>
                  <a:pt x="2062" y="1703"/>
                  <a:pt x="2055" y="1719"/>
                </a:cubicBezTo>
                <a:cubicBezTo>
                  <a:pt x="2048" y="1735"/>
                  <a:pt x="2039" y="1749"/>
                  <a:pt x="2026" y="1762"/>
                </a:cubicBezTo>
                <a:cubicBezTo>
                  <a:pt x="2014" y="1774"/>
                  <a:pt x="2000" y="1784"/>
                  <a:pt x="1983" y="1790"/>
                </a:cubicBezTo>
                <a:cubicBezTo>
                  <a:pt x="1967" y="1797"/>
                  <a:pt x="1950" y="1800"/>
                  <a:pt x="1933" y="1800"/>
                </a:cubicBezTo>
                <a:lnTo>
                  <a:pt x="133" y="1800"/>
                </a:lnTo>
                <a:cubicBezTo>
                  <a:pt x="115" y="1800"/>
                  <a:pt x="98" y="1797"/>
                  <a:pt x="82" y="1790"/>
                </a:cubicBezTo>
                <a:cubicBezTo>
                  <a:pt x="66" y="1784"/>
                  <a:pt x="52" y="1774"/>
                  <a:pt x="39" y="1762"/>
                </a:cubicBezTo>
                <a:cubicBezTo>
                  <a:pt x="27" y="1749"/>
                  <a:pt x="17" y="1735"/>
                  <a:pt x="10" y="1719"/>
                </a:cubicBezTo>
                <a:cubicBezTo>
                  <a:pt x="4" y="1703"/>
                  <a:pt x="0" y="1686"/>
                  <a:pt x="0" y="1668"/>
                </a:cubicBezTo>
                <a:close/>
              </a:path>
            </a:pathLst>
          </a:custGeom>
          <a:noFill/>
          <a:ln w="18720">
            <a:solidFill>
              <a:srgbClr val="92B1C8"/>
            </a:solidFill>
            <a:miter/>
          </a:ln>
        </p:spPr>
        <p:txBody>
          <a:bodyPr lIns="9360" tIns="9360" rIns="9360" bIns="936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80" name=""/>
          <p:cNvSpPr txBox="1"/>
          <p:nvPr/>
        </p:nvSpPr>
        <p:spPr>
          <a:xfrm>
            <a:off x="1104840" y="2641680"/>
            <a:ext cx="307602" cy="267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1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私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81" name=""/>
          <p:cNvSpPr/>
          <p:nvPr/>
        </p:nvSpPr>
        <p:spPr>
          <a:xfrm>
            <a:off x="2619360" y="2447640"/>
            <a:ext cx="743040" cy="648000"/>
          </a:xfrm>
          <a:custGeom>
            <a:avLst/>
            <a:gdLst/>
            <a:ahLst/>
            <a:rect l="0" t="0" r="r" b="b"/>
            <a:pathLst>
              <a:path w="2064" h="1800">
                <a:moveTo>
                  <a:pt x="0" y="1668"/>
                </a:moveTo>
                <a:lnTo>
                  <a:pt x="0" y="133"/>
                </a:lnTo>
                <a:cubicBezTo>
                  <a:pt x="0" y="115"/>
                  <a:pt x="3" y="98"/>
                  <a:pt x="10" y="82"/>
                </a:cubicBezTo>
                <a:cubicBezTo>
                  <a:pt x="16" y="66"/>
                  <a:pt x="26" y="51"/>
                  <a:pt x="38" y="39"/>
                </a:cubicBezTo>
                <a:cubicBezTo>
                  <a:pt x="51" y="27"/>
                  <a:pt x="65" y="17"/>
                  <a:pt x="81" y="10"/>
                </a:cubicBezTo>
                <a:cubicBezTo>
                  <a:pt x="97" y="4"/>
                  <a:pt x="114" y="0"/>
                  <a:pt x="132" y="0"/>
                </a:cubicBezTo>
                <a:lnTo>
                  <a:pt x="1931" y="0"/>
                </a:lnTo>
                <a:cubicBezTo>
                  <a:pt x="1949" y="0"/>
                  <a:pt x="1965" y="4"/>
                  <a:pt x="1982" y="10"/>
                </a:cubicBezTo>
                <a:cubicBezTo>
                  <a:pt x="1998" y="17"/>
                  <a:pt x="2013" y="27"/>
                  <a:pt x="2026" y="39"/>
                </a:cubicBezTo>
                <a:cubicBezTo>
                  <a:pt x="2038" y="51"/>
                  <a:pt x="2048" y="66"/>
                  <a:pt x="2054" y="82"/>
                </a:cubicBezTo>
                <a:cubicBezTo>
                  <a:pt x="2061" y="98"/>
                  <a:pt x="2064" y="115"/>
                  <a:pt x="2064" y="133"/>
                </a:cubicBezTo>
                <a:lnTo>
                  <a:pt x="2064" y="1668"/>
                </a:lnTo>
                <a:cubicBezTo>
                  <a:pt x="2064" y="1686"/>
                  <a:pt x="2061" y="1703"/>
                  <a:pt x="2054" y="1719"/>
                </a:cubicBezTo>
                <a:cubicBezTo>
                  <a:pt x="2048" y="1735"/>
                  <a:pt x="2038" y="1749"/>
                  <a:pt x="2026" y="1762"/>
                </a:cubicBezTo>
                <a:cubicBezTo>
                  <a:pt x="2013" y="1774"/>
                  <a:pt x="1998" y="1784"/>
                  <a:pt x="1982" y="1790"/>
                </a:cubicBezTo>
                <a:cubicBezTo>
                  <a:pt x="1965" y="1797"/>
                  <a:pt x="1949" y="1800"/>
                  <a:pt x="1931" y="1800"/>
                </a:cubicBezTo>
                <a:lnTo>
                  <a:pt x="132" y="1800"/>
                </a:lnTo>
                <a:cubicBezTo>
                  <a:pt x="114" y="1800"/>
                  <a:pt x="97" y="1797"/>
                  <a:pt x="81" y="1790"/>
                </a:cubicBezTo>
                <a:cubicBezTo>
                  <a:pt x="65" y="1784"/>
                  <a:pt x="51" y="1774"/>
                  <a:pt x="38" y="1762"/>
                </a:cubicBezTo>
                <a:cubicBezTo>
                  <a:pt x="26" y="1749"/>
                  <a:pt x="16" y="1735"/>
                  <a:pt x="10" y="1719"/>
                </a:cubicBezTo>
                <a:cubicBezTo>
                  <a:pt x="3" y="1703"/>
                  <a:pt x="0" y="1686"/>
                  <a:pt x="0" y="1668"/>
                </a:cubicBez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82" name=""/>
          <p:cNvSpPr/>
          <p:nvPr/>
        </p:nvSpPr>
        <p:spPr>
          <a:xfrm>
            <a:off x="2619360" y="2447640"/>
            <a:ext cx="743040" cy="648000"/>
          </a:xfrm>
          <a:custGeom>
            <a:avLst/>
            <a:gdLst/>
            <a:ahLst/>
            <a:rect l="0" t="0" r="r" b="b"/>
            <a:pathLst>
              <a:path w="2064" h="1800">
                <a:moveTo>
                  <a:pt x="0" y="1668"/>
                </a:moveTo>
                <a:lnTo>
                  <a:pt x="0" y="133"/>
                </a:lnTo>
                <a:cubicBezTo>
                  <a:pt x="0" y="115"/>
                  <a:pt x="3" y="98"/>
                  <a:pt x="10" y="82"/>
                </a:cubicBezTo>
                <a:cubicBezTo>
                  <a:pt x="16" y="66"/>
                  <a:pt x="26" y="51"/>
                  <a:pt x="38" y="39"/>
                </a:cubicBezTo>
                <a:cubicBezTo>
                  <a:pt x="51" y="27"/>
                  <a:pt x="65" y="17"/>
                  <a:pt x="81" y="10"/>
                </a:cubicBezTo>
                <a:cubicBezTo>
                  <a:pt x="97" y="4"/>
                  <a:pt x="114" y="0"/>
                  <a:pt x="132" y="0"/>
                </a:cubicBezTo>
                <a:lnTo>
                  <a:pt x="1931" y="0"/>
                </a:lnTo>
                <a:cubicBezTo>
                  <a:pt x="1949" y="0"/>
                  <a:pt x="1965" y="4"/>
                  <a:pt x="1982" y="10"/>
                </a:cubicBezTo>
                <a:cubicBezTo>
                  <a:pt x="1998" y="17"/>
                  <a:pt x="2013" y="27"/>
                  <a:pt x="2026" y="39"/>
                </a:cubicBezTo>
                <a:cubicBezTo>
                  <a:pt x="2038" y="51"/>
                  <a:pt x="2048" y="66"/>
                  <a:pt x="2054" y="82"/>
                </a:cubicBezTo>
                <a:cubicBezTo>
                  <a:pt x="2061" y="98"/>
                  <a:pt x="2064" y="115"/>
                  <a:pt x="2064" y="133"/>
                </a:cubicBezTo>
                <a:lnTo>
                  <a:pt x="2064" y="1668"/>
                </a:lnTo>
                <a:cubicBezTo>
                  <a:pt x="2064" y="1686"/>
                  <a:pt x="2061" y="1703"/>
                  <a:pt x="2054" y="1719"/>
                </a:cubicBezTo>
                <a:cubicBezTo>
                  <a:pt x="2048" y="1735"/>
                  <a:pt x="2038" y="1749"/>
                  <a:pt x="2026" y="1762"/>
                </a:cubicBezTo>
                <a:cubicBezTo>
                  <a:pt x="2013" y="1774"/>
                  <a:pt x="1998" y="1784"/>
                  <a:pt x="1982" y="1790"/>
                </a:cubicBezTo>
                <a:cubicBezTo>
                  <a:pt x="1965" y="1797"/>
                  <a:pt x="1949" y="1800"/>
                  <a:pt x="1931" y="1800"/>
                </a:cubicBezTo>
                <a:lnTo>
                  <a:pt x="132" y="1800"/>
                </a:lnTo>
                <a:cubicBezTo>
                  <a:pt x="114" y="1800"/>
                  <a:pt x="97" y="1797"/>
                  <a:pt x="81" y="1790"/>
                </a:cubicBezTo>
                <a:cubicBezTo>
                  <a:pt x="65" y="1784"/>
                  <a:pt x="51" y="1774"/>
                  <a:pt x="38" y="1762"/>
                </a:cubicBezTo>
                <a:cubicBezTo>
                  <a:pt x="26" y="1749"/>
                  <a:pt x="16" y="1735"/>
                  <a:pt x="10" y="1719"/>
                </a:cubicBezTo>
                <a:cubicBezTo>
                  <a:pt x="3" y="1703"/>
                  <a:pt x="0" y="1686"/>
                  <a:pt x="0" y="1668"/>
                </a:cubicBezTo>
                <a:close/>
              </a:path>
            </a:pathLst>
          </a:custGeom>
          <a:noFill/>
          <a:ln w="18720">
            <a:solidFill>
              <a:srgbClr val="92B1C8"/>
            </a:solidFill>
            <a:miter/>
          </a:ln>
        </p:spPr>
        <p:txBody>
          <a:bodyPr lIns="9360" tIns="9360" rIns="9360" bIns="936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83" name=""/>
          <p:cNvSpPr txBox="1"/>
          <p:nvPr/>
        </p:nvSpPr>
        <p:spPr>
          <a:xfrm>
            <a:off x="1981080" y="2641680"/>
            <a:ext cx="307602" cy="267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1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は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84" name=""/>
          <p:cNvSpPr/>
          <p:nvPr/>
        </p:nvSpPr>
        <p:spPr>
          <a:xfrm>
            <a:off x="3495600" y="2447640"/>
            <a:ext cx="743040" cy="648000"/>
          </a:xfrm>
          <a:custGeom>
            <a:avLst/>
            <a:gdLst/>
            <a:ahLst/>
            <a:rect l="0" t="0" r="r" b="b"/>
            <a:pathLst>
              <a:path w="2064" h="1800">
                <a:moveTo>
                  <a:pt x="0" y="1668"/>
                </a:moveTo>
                <a:lnTo>
                  <a:pt x="0" y="133"/>
                </a:lnTo>
                <a:cubicBezTo>
                  <a:pt x="0" y="115"/>
                  <a:pt x="3" y="98"/>
                  <a:pt x="10" y="82"/>
                </a:cubicBezTo>
                <a:cubicBezTo>
                  <a:pt x="16" y="66"/>
                  <a:pt x="26" y="51"/>
                  <a:pt x="38" y="39"/>
                </a:cubicBezTo>
                <a:cubicBezTo>
                  <a:pt x="51" y="27"/>
                  <a:pt x="65" y="17"/>
                  <a:pt x="81" y="10"/>
                </a:cubicBezTo>
                <a:cubicBezTo>
                  <a:pt x="98" y="4"/>
                  <a:pt x="114" y="0"/>
                  <a:pt x="132" y="0"/>
                </a:cubicBezTo>
                <a:lnTo>
                  <a:pt x="1932" y="0"/>
                </a:lnTo>
                <a:cubicBezTo>
                  <a:pt x="1950" y="0"/>
                  <a:pt x="1967" y="4"/>
                  <a:pt x="1983" y="10"/>
                </a:cubicBezTo>
                <a:cubicBezTo>
                  <a:pt x="1999" y="17"/>
                  <a:pt x="2013" y="27"/>
                  <a:pt x="2026" y="39"/>
                </a:cubicBezTo>
                <a:cubicBezTo>
                  <a:pt x="2038" y="51"/>
                  <a:pt x="2048" y="66"/>
                  <a:pt x="2054" y="82"/>
                </a:cubicBezTo>
                <a:cubicBezTo>
                  <a:pt x="2061" y="98"/>
                  <a:pt x="2064" y="115"/>
                  <a:pt x="2064" y="133"/>
                </a:cubicBezTo>
                <a:lnTo>
                  <a:pt x="2064" y="1668"/>
                </a:lnTo>
                <a:cubicBezTo>
                  <a:pt x="2064" y="1686"/>
                  <a:pt x="2061" y="1703"/>
                  <a:pt x="2054" y="1719"/>
                </a:cubicBezTo>
                <a:cubicBezTo>
                  <a:pt x="2048" y="1735"/>
                  <a:pt x="2038" y="1749"/>
                  <a:pt x="2026" y="1762"/>
                </a:cubicBezTo>
                <a:cubicBezTo>
                  <a:pt x="2013" y="1774"/>
                  <a:pt x="1999" y="1784"/>
                  <a:pt x="1983" y="1790"/>
                </a:cubicBezTo>
                <a:cubicBezTo>
                  <a:pt x="1967" y="1797"/>
                  <a:pt x="1950" y="1800"/>
                  <a:pt x="1932" y="1800"/>
                </a:cubicBezTo>
                <a:lnTo>
                  <a:pt x="132" y="1800"/>
                </a:lnTo>
                <a:cubicBezTo>
                  <a:pt x="114" y="1800"/>
                  <a:pt x="98" y="1797"/>
                  <a:pt x="81" y="1790"/>
                </a:cubicBezTo>
                <a:cubicBezTo>
                  <a:pt x="65" y="1784"/>
                  <a:pt x="51" y="1774"/>
                  <a:pt x="38" y="1762"/>
                </a:cubicBezTo>
                <a:cubicBezTo>
                  <a:pt x="26" y="1749"/>
                  <a:pt x="16" y="1735"/>
                  <a:pt x="10" y="1719"/>
                </a:cubicBezTo>
                <a:cubicBezTo>
                  <a:pt x="3" y="1703"/>
                  <a:pt x="0" y="1686"/>
                  <a:pt x="0" y="1668"/>
                </a:cubicBez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85" name=""/>
          <p:cNvSpPr/>
          <p:nvPr/>
        </p:nvSpPr>
        <p:spPr>
          <a:xfrm>
            <a:off x="3495600" y="2447640"/>
            <a:ext cx="743040" cy="648000"/>
          </a:xfrm>
          <a:custGeom>
            <a:avLst/>
            <a:gdLst/>
            <a:ahLst/>
            <a:rect l="0" t="0" r="r" b="b"/>
            <a:pathLst>
              <a:path w="2064" h="1800">
                <a:moveTo>
                  <a:pt x="0" y="1668"/>
                </a:moveTo>
                <a:lnTo>
                  <a:pt x="0" y="133"/>
                </a:lnTo>
                <a:cubicBezTo>
                  <a:pt x="0" y="115"/>
                  <a:pt x="3" y="98"/>
                  <a:pt x="10" y="82"/>
                </a:cubicBezTo>
                <a:cubicBezTo>
                  <a:pt x="16" y="66"/>
                  <a:pt x="26" y="51"/>
                  <a:pt x="38" y="39"/>
                </a:cubicBezTo>
                <a:cubicBezTo>
                  <a:pt x="51" y="27"/>
                  <a:pt x="65" y="17"/>
                  <a:pt x="81" y="10"/>
                </a:cubicBezTo>
                <a:cubicBezTo>
                  <a:pt x="98" y="4"/>
                  <a:pt x="114" y="0"/>
                  <a:pt x="132" y="0"/>
                </a:cubicBezTo>
                <a:lnTo>
                  <a:pt x="1932" y="0"/>
                </a:lnTo>
                <a:cubicBezTo>
                  <a:pt x="1950" y="0"/>
                  <a:pt x="1967" y="4"/>
                  <a:pt x="1983" y="10"/>
                </a:cubicBezTo>
                <a:cubicBezTo>
                  <a:pt x="1999" y="17"/>
                  <a:pt x="2013" y="27"/>
                  <a:pt x="2026" y="39"/>
                </a:cubicBezTo>
                <a:cubicBezTo>
                  <a:pt x="2038" y="51"/>
                  <a:pt x="2048" y="66"/>
                  <a:pt x="2054" y="82"/>
                </a:cubicBezTo>
                <a:cubicBezTo>
                  <a:pt x="2061" y="98"/>
                  <a:pt x="2064" y="115"/>
                  <a:pt x="2064" y="133"/>
                </a:cubicBezTo>
                <a:lnTo>
                  <a:pt x="2064" y="1668"/>
                </a:lnTo>
                <a:cubicBezTo>
                  <a:pt x="2064" y="1686"/>
                  <a:pt x="2061" y="1703"/>
                  <a:pt x="2054" y="1719"/>
                </a:cubicBezTo>
                <a:cubicBezTo>
                  <a:pt x="2048" y="1735"/>
                  <a:pt x="2038" y="1749"/>
                  <a:pt x="2026" y="1762"/>
                </a:cubicBezTo>
                <a:cubicBezTo>
                  <a:pt x="2013" y="1774"/>
                  <a:pt x="1999" y="1784"/>
                  <a:pt x="1983" y="1790"/>
                </a:cubicBezTo>
                <a:cubicBezTo>
                  <a:pt x="1967" y="1797"/>
                  <a:pt x="1950" y="1800"/>
                  <a:pt x="1932" y="1800"/>
                </a:cubicBezTo>
                <a:lnTo>
                  <a:pt x="132" y="1800"/>
                </a:lnTo>
                <a:cubicBezTo>
                  <a:pt x="114" y="1800"/>
                  <a:pt x="98" y="1797"/>
                  <a:pt x="81" y="1790"/>
                </a:cubicBezTo>
                <a:cubicBezTo>
                  <a:pt x="65" y="1784"/>
                  <a:pt x="51" y="1774"/>
                  <a:pt x="38" y="1762"/>
                </a:cubicBezTo>
                <a:cubicBezTo>
                  <a:pt x="26" y="1749"/>
                  <a:pt x="16" y="1735"/>
                  <a:pt x="10" y="1719"/>
                </a:cubicBezTo>
                <a:cubicBezTo>
                  <a:pt x="3" y="1703"/>
                  <a:pt x="0" y="1686"/>
                  <a:pt x="0" y="1668"/>
                </a:cubicBezTo>
                <a:close/>
              </a:path>
            </a:pathLst>
          </a:custGeom>
          <a:noFill/>
          <a:ln w="18720">
            <a:solidFill>
              <a:srgbClr val="92B1C8"/>
            </a:solidFill>
            <a:miter/>
          </a:ln>
        </p:spPr>
        <p:txBody>
          <a:bodyPr lIns="9360" tIns="9360" rIns="9360" bIns="936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86" name=""/>
          <p:cNvSpPr txBox="1"/>
          <p:nvPr/>
        </p:nvSpPr>
        <p:spPr>
          <a:xfrm>
            <a:off x="2857320" y="2641680"/>
            <a:ext cx="307602" cy="267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1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猫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87" name=""/>
          <p:cNvSpPr txBox="1"/>
          <p:nvPr/>
        </p:nvSpPr>
        <p:spPr>
          <a:xfrm>
            <a:off x="3733920" y="2641680"/>
            <a:ext cx="307602" cy="267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1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が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88" name=""/>
          <p:cNvSpPr/>
          <p:nvPr/>
        </p:nvSpPr>
        <p:spPr>
          <a:xfrm>
            <a:off x="6581520" y="2381040"/>
            <a:ext cx="2076840" cy="781560"/>
          </a:xfrm>
          <a:custGeom>
            <a:avLst/>
            <a:gdLst/>
            <a:ahLst/>
            <a:rect l="0" t="0" r="r" b="b"/>
            <a:pathLst>
              <a:path w="5769" h="2171">
                <a:moveTo>
                  <a:pt x="0" y="1985"/>
                </a:moveTo>
                <a:lnTo>
                  <a:pt x="0" y="185"/>
                </a:lnTo>
                <a:cubicBezTo>
                  <a:pt x="0" y="173"/>
                  <a:pt x="1" y="161"/>
                  <a:pt x="4" y="149"/>
                </a:cubicBezTo>
                <a:cubicBezTo>
                  <a:pt x="6" y="137"/>
                  <a:pt x="10" y="126"/>
                  <a:pt x="14" y="114"/>
                </a:cubicBezTo>
                <a:cubicBezTo>
                  <a:pt x="19" y="103"/>
                  <a:pt x="25" y="93"/>
                  <a:pt x="31" y="82"/>
                </a:cubicBezTo>
                <a:cubicBezTo>
                  <a:pt x="38" y="72"/>
                  <a:pt x="46" y="63"/>
                  <a:pt x="54" y="54"/>
                </a:cubicBezTo>
                <a:cubicBezTo>
                  <a:pt x="63" y="46"/>
                  <a:pt x="72" y="38"/>
                  <a:pt x="83" y="31"/>
                </a:cubicBezTo>
                <a:cubicBezTo>
                  <a:pt x="93" y="25"/>
                  <a:pt x="103" y="19"/>
                  <a:pt x="115" y="14"/>
                </a:cubicBezTo>
                <a:cubicBezTo>
                  <a:pt x="126" y="10"/>
                  <a:pt x="137" y="6"/>
                  <a:pt x="149" y="4"/>
                </a:cubicBezTo>
                <a:cubicBezTo>
                  <a:pt x="161" y="1"/>
                  <a:pt x="173" y="0"/>
                  <a:pt x="185" y="0"/>
                </a:cubicBezTo>
                <a:lnTo>
                  <a:pt x="5584" y="0"/>
                </a:lnTo>
                <a:cubicBezTo>
                  <a:pt x="5596" y="0"/>
                  <a:pt x="5608" y="1"/>
                  <a:pt x="5620" y="4"/>
                </a:cubicBezTo>
                <a:cubicBezTo>
                  <a:pt x="5632" y="6"/>
                  <a:pt x="5644" y="10"/>
                  <a:pt x="5655" y="14"/>
                </a:cubicBezTo>
                <a:cubicBezTo>
                  <a:pt x="5666" y="19"/>
                  <a:pt x="5677" y="25"/>
                  <a:pt x="5687" y="31"/>
                </a:cubicBezTo>
                <a:cubicBezTo>
                  <a:pt x="5697" y="38"/>
                  <a:pt x="5706" y="46"/>
                  <a:pt x="5715" y="54"/>
                </a:cubicBezTo>
                <a:cubicBezTo>
                  <a:pt x="5723" y="63"/>
                  <a:pt x="5731" y="72"/>
                  <a:pt x="5738" y="82"/>
                </a:cubicBezTo>
                <a:cubicBezTo>
                  <a:pt x="5745" y="93"/>
                  <a:pt x="5750" y="103"/>
                  <a:pt x="5755" y="114"/>
                </a:cubicBezTo>
                <a:cubicBezTo>
                  <a:pt x="5760" y="126"/>
                  <a:pt x="5763" y="137"/>
                  <a:pt x="5766" y="149"/>
                </a:cubicBezTo>
                <a:cubicBezTo>
                  <a:pt x="5768" y="161"/>
                  <a:pt x="5769" y="173"/>
                  <a:pt x="5769" y="185"/>
                </a:cubicBezTo>
                <a:lnTo>
                  <a:pt x="5769" y="1985"/>
                </a:lnTo>
                <a:cubicBezTo>
                  <a:pt x="5769" y="1998"/>
                  <a:pt x="5768" y="2010"/>
                  <a:pt x="5766" y="2022"/>
                </a:cubicBezTo>
                <a:cubicBezTo>
                  <a:pt x="5763" y="2034"/>
                  <a:pt x="5760" y="2045"/>
                  <a:pt x="5755" y="2056"/>
                </a:cubicBezTo>
                <a:cubicBezTo>
                  <a:pt x="5750" y="2068"/>
                  <a:pt x="5745" y="2078"/>
                  <a:pt x="5738" y="2088"/>
                </a:cubicBezTo>
                <a:cubicBezTo>
                  <a:pt x="5731" y="2098"/>
                  <a:pt x="5723" y="2108"/>
                  <a:pt x="5715" y="2116"/>
                </a:cubicBezTo>
                <a:cubicBezTo>
                  <a:pt x="5706" y="2125"/>
                  <a:pt x="5697" y="2133"/>
                  <a:pt x="5687" y="2139"/>
                </a:cubicBezTo>
                <a:cubicBezTo>
                  <a:pt x="5677" y="2146"/>
                  <a:pt x="5666" y="2152"/>
                  <a:pt x="5655" y="2157"/>
                </a:cubicBezTo>
                <a:cubicBezTo>
                  <a:pt x="5644" y="2161"/>
                  <a:pt x="5632" y="2165"/>
                  <a:pt x="5620" y="2167"/>
                </a:cubicBezTo>
                <a:cubicBezTo>
                  <a:pt x="5608" y="2169"/>
                  <a:pt x="5596" y="2171"/>
                  <a:pt x="5584" y="2171"/>
                </a:cubicBezTo>
                <a:lnTo>
                  <a:pt x="185" y="2171"/>
                </a:lnTo>
                <a:cubicBezTo>
                  <a:pt x="173" y="2171"/>
                  <a:pt x="161" y="2169"/>
                  <a:pt x="149" y="2167"/>
                </a:cubicBezTo>
                <a:cubicBezTo>
                  <a:pt x="137" y="2165"/>
                  <a:pt x="126" y="2161"/>
                  <a:pt x="115" y="2157"/>
                </a:cubicBezTo>
                <a:cubicBezTo>
                  <a:pt x="103" y="2152"/>
                  <a:pt x="93" y="2146"/>
                  <a:pt x="83" y="2139"/>
                </a:cubicBezTo>
                <a:cubicBezTo>
                  <a:pt x="72" y="2133"/>
                  <a:pt x="63" y="2125"/>
                  <a:pt x="54" y="2116"/>
                </a:cubicBezTo>
                <a:cubicBezTo>
                  <a:pt x="46" y="2108"/>
                  <a:pt x="38" y="2098"/>
                  <a:pt x="31" y="2088"/>
                </a:cubicBezTo>
                <a:cubicBezTo>
                  <a:pt x="25" y="2078"/>
                  <a:pt x="19" y="2068"/>
                  <a:pt x="14" y="2056"/>
                </a:cubicBezTo>
                <a:cubicBezTo>
                  <a:pt x="10" y="2045"/>
                  <a:pt x="6" y="2034"/>
                  <a:pt x="4" y="2022"/>
                </a:cubicBezTo>
                <a:cubicBezTo>
                  <a:pt x="1" y="2010"/>
                  <a:pt x="0" y="1998"/>
                  <a:pt x="0" y="1985"/>
                </a:cubicBezTo>
                <a:close/>
              </a:path>
            </a:pathLst>
          </a:custGeom>
          <a:solidFill>
            <a:srgbClr val="F0ECF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89" name=""/>
          <p:cNvSpPr/>
          <p:nvPr/>
        </p:nvSpPr>
        <p:spPr>
          <a:xfrm>
            <a:off x="6581520" y="2381040"/>
            <a:ext cx="2076840" cy="781560"/>
          </a:xfrm>
          <a:custGeom>
            <a:avLst/>
            <a:gdLst/>
            <a:ahLst/>
            <a:rect l="0" t="0" r="r" b="b"/>
            <a:pathLst>
              <a:path w="5769" h="2171">
                <a:moveTo>
                  <a:pt x="0" y="1985"/>
                </a:moveTo>
                <a:lnTo>
                  <a:pt x="0" y="185"/>
                </a:lnTo>
                <a:cubicBezTo>
                  <a:pt x="0" y="173"/>
                  <a:pt x="1" y="161"/>
                  <a:pt x="4" y="149"/>
                </a:cubicBezTo>
                <a:cubicBezTo>
                  <a:pt x="6" y="137"/>
                  <a:pt x="10" y="126"/>
                  <a:pt x="14" y="114"/>
                </a:cubicBezTo>
                <a:cubicBezTo>
                  <a:pt x="19" y="103"/>
                  <a:pt x="25" y="93"/>
                  <a:pt x="31" y="82"/>
                </a:cubicBezTo>
                <a:cubicBezTo>
                  <a:pt x="38" y="72"/>
                  <a:pt x="46" y="63"/>
                  <a:pt x="54" y="54"/>
                </a:cubicBezTo>
                <a:cubicBezTo>
                  <a:pt x="63" y="46"/>
                  <a:pt x="72" y="38"/>
                  <a:pt x="83" y="31"/>
                </a:cubicBezTo>
                <a:cubicBezTo>
                  <a:pt x="93" y="25"/>
                  <a:pt x="103" y="19"/>
                  <a:pt x="115" y="14"/>
                </a:cubicBezTo>
                <a:cubicBezTo>
                  <a:pt x="126" y="10"/>
                  <a:pt x="137" y="6"/>
                  <a:pt x="149" y="4"/>
                </a:cubicBezTo>
                <a:cubicBezTo>
                  <a:pt x="161" y="1"/>
                  <a:pt x="173" y="0"/>
                  <a:pt x="185" y="0"/>
                </a:cubicBezTo>
                <a:lnTo>
                  <a:pt x="5584" y="0"/>
                </a:lnTo>
                <a:cubicBezTo>
                  <a:pt x="5596" y="0"/>
                  <a:pt x="5608" y="1"/>
                  <a:pt x="5620" y="4"/>
                </a:cubicBezTo>
                <a:cubicBezTo>
                  <a:pt x="5632" y="6"/>
                  <a:pt x="5644" y="10"/>
                  <a:pt x="5655" y="14"/>
                </a:cubicBezTo>
                <a:cubicBezTo>
                  <a:pt x="5666" y="19"/>
                  <a:pt x="5677" y="25"/>
                  <a:pt x="5687" y="31"/>
                </a:cubicBezTo>
                <a:cubicBezTo>
                  <a:pt x="5697" y="38"/>
                  <a:pt x="5706" y="46"/>
                  <a:pt x="5715" y="54"/>
                </a:cubicBezTo>
                <a:cubicBezTo>
                  <a:pt x="5723" y="63"/>
                  <a:pt x="5731" y="72"/>
                  <a:pt x="5738" y="82"/>
                </a:cubicBezTo>
                <a:cubicBezTo>
                  <a:pt x="5745" y="93"/>
                  <a:pt x="5750" y="103"/>
                  <a:pt x="5755" y="114"/>
                </a:cubicBezTo>
                <a:cubicBezTo>
                  <a:pt x="5760" y="126"/>
                  <a:pt x="5763" y="137"/>
                  <a:pt x="5766" y="149"/>
                </a:cubicBezTo>
                <a:cubicBezTo>
                  <a:pt x="5768" y="161"/>
                  <a:pt x="5769" y="173"/>
                  <a:pt x="5769" y="185"/>
                </a:cubicBezTo>
                <a:lnTo>
                  <a:pt x="5769" y="1985"/>
                </a:lnTo>
                <a:cubicBezTo>
                  <a:pt x="5769" y="1998"/>
                  <a:pt x="5768" y="2010"/>
                  <a:pt x="5766" y="2022"/>
                </a:cubicBezTo>
                <a:cubicBezTo>
                  <a:pt x="5763" y="2034"/>
                  <a:pt x="5760" y="2045"/>
                  <a:pt x="5755" y="2056"/>
                </a:cubicBezTo>
                <a:cubicBezTo>
                  <a:pt x="5750" y="2068"/>
                  <a:pt x="5745" y="2078"/>
                  <a:pt x="5738" y="2088"/>
                </a:cubicBezTo>
                <a:cubicBezTo>
                  <a:pt x="5731" y="2098"/>
                  <a:pt x="5723" y="2108"/>
                  <a:pt x="5715" y="2116"/>
                </a:cubicBezTo>
                <a:cubicBezTo>
                  <a:pt x="5706" y="2125"/>
                  <a:pt x="5697" y="2133"/>
                  <a:pt x="5687" y="2139"/>
                </a:cubicBezTo>
                <a:cubicBezTo>
                  <a:pt x="5677" y="2146"/>
                  <a:pt x="5666" y="2152"/>
                  <a:pt x="5655" y="2157"/>
                </a:cubicBezTo>
                <a:cubicBezTo>
                  <a:pt x="5644" y="2161"/>
                  <a:pt x="5632" y="2165"/>
                  <a:pt x="5620" y="2167"/>
                </a:cubicBezTo>
                <a:cubicBezTo>
                  <a:pt x="5608" y="2169"/>
                  <a:pt x="5596" y="2171"/>
                  <a:pt x="5584" y="2171"/>
                </a:cubicBezTo>
                <a:lnTo>
                  <a:pt x="185" y="2171"/>
                </a:lnTo>
                <a:cubicBezTo>
                  <a:pt x="173" y="2171"/>
                  <a:pt x="161" y="2169"/>
                  <a:pt x="149" y="2167"/>
                </a:cubicBezTo>
                <a:cubicBezTo>
                  <a:pt x="137" y="2165"/>
                  <a:pt x="126" y="2161"/>
                  <a:pt x="115" y="2157"/>
                </a:cubicBezTo>
                <a:cubicBezTo>
                  <a:pt x="103" y="2152"/>
                  <a:pt x="93" y="2146"/>
                  <a:pt x="83" y="2139"/>
                </a:cubicBezTo>
                <a:cubicBezTo>
                  <a:pt x="72" y="2133"/>
                  <a:pt x="63" y="2125"/>
                  <a:pt x="54" y="2116"/>
                </a:cubicBezTo>
                <a:cubicBezTo>
                  <a:pt x="46" y="2108"/>
                  <a:pt x="38" y="2098"/>
                  <a:pt x="31" y="2088"/>
                </a:cubicBezTo>
                <a:cubicBezTo>
                  <a:pt x="25" y="2078"/>
                  <a:pt x="19" y="2068"/>
                  <a:pt x="14" y="2056"/>
                </a:cubicBezTo>
                <a:cubicBezTo>
                  <a:pt x="10" y="2045"/>
                  <a:pt x="6" y="2034"/>
                  <a:pt x="4" y="2022"/>
                </a:cubicBezTo>
                <a:cubicBezTo>
                  <a:pt x="1" y="2010"/>
                  <a:pt x="0" y="1998"/>
                  <a:pt x="0" y="1985"/>
                </a:cubicBezTo>
                <a:close/>
              </a:path>
            </a:pathLst>
          </a:custGeom>
          <a:noFill/>
          <a:ln w="18720">
            <a:solidFill>
              <a:srgbClr val="8A79C8"/>
            </a:solidFill>
            <a:miter/>
          </a:ln>
        </p:spPr>
        <p:txBody>
          <a:bodyPr lIns="9360" tIns="9360" rIns="9360" bIns="936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90" name=""/>
          <p:cNvSpPr txBox="1"/>
          <p:nvPr/>
        </p:nvSpPr>
        <p:spPr>
          <a:xfrm>
            <a:off x="6010200" y="2586600"/>
            <a:ext cx="416070" cy="36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2850" b="0" u="none" strike="noStrike">
                <a:solidFill>
                  <a:srgbClr val="697786"/>
                </a:solidFill>
                <a:effectLst/>
                <a:uFillTx/>
                <a:latin typeface="Hiragino Sans"/>
                <a:ea typeface="Hiragino Sans"/>
              </a:rPr>
              <a:t>→</a:t>
            </a:r>
            <a:endParaRPr lang="en-US" sz="28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91" name=""/>
          <p:cNvSpPr txBox="1"/>
          <p:nvPr/>
        </p:nvSpPr>
        <p:spPr>
          <a:xfrm>
            <a:off x="6959880" y="2641680"/>
            <a:ext cx="1534284" cy="267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100" b="1" u="none" strike="noStrike">
                <a:solidFill>
                  <a:srgbClr val="685098"/>
                </a:solidFill>
                <a:effectLst/>
                <a:uFillTx/>
                <a:latin typeface="Hiragino Sans"/>
                <a:ea typeface="Hiragino Sans"/>
              </a:rPr>
              <a:t>言語モデル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92" name=""/>
          <p:cNvSpPr/>
          <p:nvPr/>
        </p:nvSpPr>
        <p:spPr>
          <a:xfrm>
            <a:off x="9820080" y="2400120"/>
            <a:ext cx="1124280" cy="743400"/>
          </a:xfrm>
          <a:custGeom>
            <a:avLst/>
            <a:gdLst/>
            <a:ahLst/>
            <a:rect l="0" t="0" r="r" b="b"/>
            <a:pathLst>
              <a:path w="3123" h="2065">
                <a:moveTo>
                  <a:pt x="0" y="1932"/>
                </a:moveTo>
                <a:lnTo>
                  <a:pt x="0" y="132"/>
                </a:lnTo>
                <a:cubicBezTo>
                  <a:pt x="0" y="115"/>
                  <a:pt x="3" y="98"/>
                  <a:pt x="10" y="82"/>
                </a:cubicBezTo>
                <a:cubicBezTo>
                  <a:pt x="17" y="65"/>
                  <a:pt x="26" y="51"/>
                  <a:pt x="39" y="39"/>
                </a:cubicBezTo>
                <a:cubicBezTo>
                  <a:pt x="51" y="26"/>
                  <a:pt x="65" y="17"/>
                  <a:pt x="82" y="10"/>
                </a:cubicBezTo>
                <a:cubicBezTo>
                  <a:pt x="98" y="3"/>
                  <a:pt x="115" y="0"/>
                  <a:pt x="132" y="0"/>
                </a:cubicBezTo>
                <a:lnTo>
                  <a:pt x="2991" y="0"/>
                </a:lnTo>
                <a:cubicBezTo>
                  <a:pt x="3008" y="0"/>
                  <a:pt x="3025" y="3"/>
                  <a:pt x="3041" y="10"/>
                </a:cubicBezTo>
                <a:cubicBezTo>
                  <a:pt x="3058" y="17"/>
                  <a:pt x="3072" y="26"/>
                  <a:pt x="3084" y="39"/>
                </a:cubicBezTo>
                <a:cubicBezTo>
                  <a:pt x="3097" y="51"/>
                  <a:pt x="3106" y="65"/>
                  <a:pt x="3113" y="82"/>
                </a:cubicBezTo>
                <a:cubicBezTo>
                  <a:pt x="3120" y="98"/>
                  <a:pt x="3123" y="115"/>
                  <a:pt x="3123" y="132"/>
                </a:cubicBezTo>
                <a:lnTo>
                  <a:pt x="3123" y="1932"/>
                </a:lnTo>
                <a:cubicBezTo>
                  <a:pt x="3123" y="1950"/>
                  <a:pt x="3120" y="1967"/>
                  <a:pt x="3113" y="1983"/>
                </a:cubicBezTo>
                <a:cubicBezTo>
                  <a:pt x="3106" y="1999"/>
                  <a:pt x="3097" y="2014"/>
                  <a:pt x="3084" y="2026"/>
                </a:cubicBezTo>
                <a:cubicBezTo>
                  <a:pt x="3072" y="2038"/>
                  <a:pt x="3058" y="2048"/>
                  <a:pt x="3041" y="2055"/>
                </a:cubicBezTo>
                <a:cubicBezTo>
                  <a:pt x="3025" y="2061"/>
                  <a:pt x="3008" y="2065"/>
                  <a:pt x="2991" y="2065"/>
                </a:cubicBezTo>
                <a:lnTo>
                  <a:pt x="132" y="2065"/>
                </a:lnTo>
                <a:cubicBezTo>
                  <a:pt x="115" y="2065"/>
                  <a:pt x="98" y="2061"/>
                  <a:pt x="82" y="2055"/>
                </a:cubicBezTo>
                <a:cubicBezTo>
                  <a:pt x="65" y="2048"/>
                  <a:pt x="51" y="2038"/>
                  <a:pt x="39" y="2026"/>
                </a:cubicBezTo>
                <a:cubicBezTo>
                  <a:pt x="26" y="2014"/>
                  <a:pt x="17" y="1999"/>
                  <a:pt x="10" y="1983"/>
                </a:cubicBezTo>
                <a:cubicBezTo>
                  <a:pt x="3" y="1967"/>
                  <a:pt x="0" y="1950"/>
                  <a:pt x="0" y="1932"/>
                </a:cubicBezTo>
                <a:close/>
              </a:path>
            </a:pathLst>
          </a:custGeom>
          <a:solidFill>
            <a:srgbClr val="FFF1D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93" name=""/>
          <p:cNvSpPr/>
          <p:nvPr/>
        </p:nvSpPr>
        <p:spPr>
          <a:xfrm>
            <a:off x="9820080" y="2400120"/>
            <a:ext cx="1124280" cy="743400"/>
          </a:xfrm>
          <a:custGeom>
            <a:avLst/>
            <a:gdLst/>
            <a:ahLst/>
            <a:rect l="0" t="0" r="r" b="b"/>
            <a:pathLst>
              <a:path w="3123" h="2065">
                <a:moveTo>
                  <a:pt x="0" y="1932"/>
                </a:moveTo>
                <a:lnTo>
                  <a:pt x="0" y="132"/>
                </a:lnTo>
                <a:cubicBezTo>
                  <a:pt x="0" y="115"/>
                  <a:pt x="3" y="98"/>
                  <a:pt x="10" y="82"/>
                </a:cubicBezTo>
                <a:cubicBezTo>
                  <a:pt x="17" y="65"/>
                  <a:pt x="26" y="51"/>
                  <a:pt x="39" y="39"/>
                </a:cubicBezTo>
                <a:cubicBezTo>
                  <a:pt x="51" y="26"/>
                  <a:pt x="65" y="17"/>
                  <a:pt x="82" y="10"/>
                </a:cubicBezTo>
                <a:cubicBezTo>
                  <a:pt x="98" y="3"/>
                  <a:pt x="115" y="0"/>
                  <a:pt x="132" y="0"/>
                </a:cubicBezTo>
                <a:lnTo>
                  <a:pt x="2991" y="0"/>
                </a:lnTo>
                <a:cubicBezTo>
                  <a:pt x="3008" y="0"/>
                  <a:pt x="3025" y="3"/>
                  <a:pt x="3041" y="10"/>
                </a:cubicBezTo>
                <a:cubicBezTo>
                  <a:pt x="3058" y="17"/>
                  <a:pt x="3072" y="26"/>
                  <a:pt x="3084" y="39"/>
                </a:cubicBezTo>
                <a:cubicBezTo>
                  <a:pt x="3097" y="51"/>
                  <a:pt x="3106" y="65"/>
                  <a:pt x="3113" y="82"/>
                </a:cubicBezTo>
                <a:cubicBezTo>
                  <a:pt x="3120" y="98"/>
                  <a:pt x="3123" y="115"/>
                  <a:pt x="3123" y="132"/>
                </a:cubicBezTo>
                <a:lnTo>
                  <a:pt x="3123" y="1932"/>
                </a:lnTo>
                <a:cubicBezTo>
                  <a:pt x="3123" y="1950"/>
                  <a:pt x="3120" y="1967"/>
                  <a:pt x="3113" y="1983"/>
                </a:cubicBezTo>
                <a:cubicBezTo>
                  <a:pt x="3106" y="1999"/>
                  <a:pt x="3097" y="2014"/>
                  <a:pt x="3084" y="2026"/>
                </a:cubicBezTo>
                <a:cubicBezTo>
                  <a:pt x="3072" y="2038"/>
                  <a:pt x="3058" y="2048"/>
                  <a:pt x="3041" y="2055"/>
                </a:cubicBezTo>
                <a:cubicBezTo>
                  <a:pt x="3025" y="2061"/>
                  <a:pt x="3008" y="2065"/>
                  <a:pt x="2991" y="2065"/>
                </a:cubicBezTo>
                <a:lnTo>
                  <a:pt x="132" y="2065"/>
                </a:lnTo>
                <a:cubicBezTo>
                  <a:pt x="115" y="2065"/>
                  <a:pt x="98" y="2061"/>
                  <a:pt x="82" y="2055"/>
                </a:cubicBezTo>
                <a:cubicBezTo>
                  <a:pt x="65" y="2048"/>
                  <a:pt x="51" y="2038"/>
                  <a:pt x="39" y="2026"/>
                </a:cubicBezTo>
                <a:cubicBezTo>
                  <a:pt x="26" y="2014"/>
                  <a:pt x="17" y="1999"/>
                  <a:pt x="10" y="1983"/>
                </a:cubicBezTo>
                <a:cubicBezTo>
                  <a:pt x="3" y="1967"/>
                  <a:pt x="0" y="1950"/>
                  <a:pt x="0" y="1932"/>
                </a:cubicBezTo>
                <a:close/>
              </a:path>
            </a:pathLst>
          </a:custGeom>
          <a:noFill/>
          <a:ln w="18720">
            <a:solidFill>
              <a:srgbClr val="CF7D31"/>
            </a:solidFill>
            <a:miter/>
          </a:ln>
        </p:spPr>
        <p:txBody>
          <a:bodyPr lIns="9360" tIns="9360" rIns="9360" bIns="936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94" name=""/>
          <p:cNvSpPr txBox="1"/>
          <p:nvPr/>
        </p:nvSpPr>
        <p:spPr>
          <a:xfrm>
            <a:off x="8867880" y="2586600"/>
            <a:ext cx="416070" cy="36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2850" b="0" u="none" strike="noStrike">
                <a:solidFill>
                  <a:srgbClr val="697786"/>
                </a:solidFill>
                <a:effectLst/>
                <a:uFillTx/>
                <a:latin typeface="Hiragino Sans"/>
                <a:ea typeface="Hiragino Sans"/>
              </a:rPr>
              <a:t>→</a:t>
            </a:r>
            <a:endParaRPr lang="en-US" sz="28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95" name=""/>
          <p:cNvSpPr/>
          <p:nvPr/>
        </p:nvSpPr>
        <p:spPr>
          <a:xfrm>
            <a:off x="866520" y="4162320"/>
            <a:ext cx="743400" cy="648000"/>
          </a:xfrm>
          <a:custGeom>
            <a:avLst/>
            <a:gdLst/>
            <a:ahLst/>
            <a:rect l="0" t="0" r="r" b="b"/>
            <a:pathLst>
              <a:path w="2065" h="1800">
                <a:moveTo>
                  <a:pt x="0" y="1668"/>
                </a:moveTo>
                <a:lnTo>
                  <a:pt x="0" y="133"/>
                </a:lnTo>
                <a:cubicBezTo>
                  <a:pt x="0" y="115"/>
                  <a:pt x="4" y="98"/>
                  <a:pt x="10" y="81"/>
                </a:cubicBezTo>
                <a:cubicBezTo>
                  <a:pt x="17" y="65"/>
                  <a:pt x="27" y="51"/>
                  <a:pt x="39" y="39"/>
                </a:cubicBezTo>
                <a:cubicBezTo>
                  <a:pt x="51" y="26"/>
                  <a:pt x="66" y="17"/>
                  <a:pt x="82" y="10"/>
                </a:cubicBezTo>
                <a:cubicBezTo>
                  <a:pt x="98" y="3"/>
                  <a:pt x="115" y="0"/>
                  <a:pt x="132" y="0"/>
                </a:cubicBezTo>
                <a:lnTo>
                  <a:pt x="1933" y="0"/>
                </a:lnTo>
                <a:cubicBezTo>
                  <a:pt x="1950" y="0"/>
                  <a:pt x="1967" y="3"/>
                  <a:pt x="1983" y="10"/>
                </a:cubicBezTo>
                <a:cubicBezTo>
                  <a:pt x="1999" y="17"/>
                  <a:pt x="2014" y="26"/>
                  <a:pt x="2026" y="39"/>
                </a:cubicBezTo>
                <a:cubicBezTo>
                  <a:pt x="2039" y="51"/>
                  <a:pt x="2048" y="65"/>
                  <a:pt x="2055" y="81"/>
                </a:cubicBezTo>
                <a:cubicBezTo>
                  <a:pt x="2062" y="98"/>
                  <a:pt x="2065" y="115"/>
                  <a:pt x="2065" y="133"/>
                </a:cubicBezTo>
                <a:lnTo>
                  <a:pt x="2065" y="1668"/>
                </a:lnTo>
                <a:cubicBezTo>
                  <a:pt x="2065" y="1685"/>
                  <a:pt x="2062" y="1702"/>
                  <a:pt x="2055" y="1718"/>
                </a:cubicBezTo>
                <a:cubicBezTo>
                  <a:pt x="2048" y="1734"/>
                  <a:pt x="2039" y="1749"/>
                  <a:pt x="2026" y="1761"/>
                </a:cubicBezTo>
                <a:cubicBezTo>
                  <a:pt x="2014" y="1774"/>
                  <a:pt x="1999" y="1783"/>
                  <a:pt x="1983" y="1790"/>
                </a:cubicBezTo>
                <a:cubicBezTo>
                  <a:pt x="1967" y="1797"/>
                  <a:pt x="1950" y="1800"/>
                  <a:pt x="1933" y="1800"/>
                </a:cubicBezTo>
                <a:lnTo>
                  <a:pt x="132" y="1800"/>
                </a:lnTo>
                <a:cubicBezTo>
                  <a:pt x="115" y="1800"/>
                  <a:pt x="98" y="1797"/>
                  <a:pt x="82" y="1790"/>
                </a:cubicBezTo>
                <a:cubicBezTo>
                  <a:pt x="66" y="1783"/>
                  <a:pt x="51" y="1774"/>
                  <a:pt x="39" y="1761"/>
                </a:cubicBezTo>
                <a:cubicBezTo>
                  <a:pt x="27" y="1749"/>
                  <a:pt x="17" y="1734"/>
                  <a:pt x="10" y="1718"/>
                </a:cubicBezTo>
                <a:cubicBezTo>
                  <a:pt x="4" y="1702"/>
                  <a:pt x="0" y="1685"/>
                  <a:pt x="0" y="1668"/>
                </a:cubicBez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96" name=""/>
          <p:cNvSpPr/>
          <p:nvPr/>
        </p:nvSpPr>
        <p:spPr>
          <a:xfrm>
            <a:off x="866520" y="4162320"/>
            <a:ext cx="743400" cy="648000"/>
          </a:xfrm>
          <a:custGeom>
            <a:avLst/>
            <a:gdLst/>
            <a:ahLst/>
            <a:rect l="0" t="0" r="r" b="b"/>
            <a:pathLst>
              <a:path w="2065" h="1800">
                <a:moveTo>
                  <a:pt x="0" y="1668"/>
                </a:moveTo>
                <a:lnTo>
                  <a:pt x="0" y="133"/>
                </a:lnTo>
                <a:cubicBezTo>
                  <a:pt x="0" y="115"/>
                  <a:pt x="4" y="98"/>
                  <a:pt x="10" y="81"/>
                </a:cubicBezTo>
                <a:cubicBezTo>
                  <a:pt x="17" y="65"/>
                  <a:pt x="27" y="51"/>
                  <a:pt x="39" y="39"/>
                </a:cubicBezTo>
                <a:cubicBezTo>
                  <a:pt x="51" y="26"/>
                  <a:pt x="66" y="17"/>
                  <a:pt x="82" y="10"/>
                </a:cubicBezTo>
                <a:cubicBezTo>
                  <a:pt x="98" y="3"/>
                  <a:pt x="115" y="0"/>
                  <a:pt x="132" y="0"/>
                </a:cubicBezTo>
                <a:lnTo>
                  <a:pt x="1933" y="0"/>
                </a:lnTo>
                <a:cubicBezTo>
                  <a:pt x="1950" y="0"/>
                  <a:pt x="1967" y="3"/>
                  <a:pt x="1983" y="10"/>
                </a:cubicBezTo>
                <a:cubicBezTo>
                  <a:pt x="1999" y="17"/>
                  <a:pt x="2014" y="26"/>
                  <a:pt x="2026" y="39"/>
                </a:cubicBezTo>
                <a:cubicBezTo>
                  <a:pt x="2039" y="51"/>
                  <a:pt x="2048" y="65"/>
                  <a:pt x="2055" y="81"/>
                </a:cubicBezTo>
                <a:cubicBezTo>
                  <a:pt x="2062" y="98"/>
                  <a:pt x="2065" y="115"/>
                  <a:pt x="2065" y="133"/>
                </a:cubicBezTo>
                <a:lnTo>
                  <a:pt x="2065" y="1668"/>
                </a:lnTo>
                <a:cubicBezTo>
                  <a:pt x="2065" y="1685"/>
                  <a:pt x="2062" y="1702"/>
                  <a:pt x="2055" y="1718"/>
                </a:cubicBezTo>
                <a:cubicBezTo>
                  <a:pt x="2048" y="1734"/>
                  <a:pt x="2039" y="1749"/>
                  <a:pt x="2026" y="1761"/>
                </a:cubicBezTo>
                <a:cubicBezTo>
                  <a:pt x="2014" y="1774"/>
                  <a:pt x="1999" y="1783"/>
                  <a:pt x="1983" y="1790"/>
                </a:cubicBezTo>
                <a:cubicBezTo>
                  <a:pt x="1967" y="1797"/>
                  <a:pt x="1950" y="1800"/>
                  <a:pt x="1933" y="1800"/>
                </a:cubicBezTo>
                <a:lnTo>
                  <a:pt x="132" y="1800"/>
                </a:lnTo>
                <a:cubicBezTo>
                  <a:pt x="115" y="1800"/>
                  <a:pt x="98" y="1797"/>
                  <a:pt x="82" y="1790"/>
                </a:cubicBezTo>
                <a:cubicBezTo>
                  <a:pt x="66" y="1783"/>
                  <a:pt x="51" y="1774"/>
                  <a:pt x="39" y="1761"/>
                </a:cubicBezTo>
                <a:cubicBezTo>
                  <a:pt x="27" y="1749"/>
                  <a:pt x="17" y="1734"/>
                  <a:pt x="10" y="1718"/>
                </a:cubicBezTo>
                <a:cubicBezTo>
                  <a:pt x="4" y="1702"/>
                  <a:pt x="0" y="1685"/>
                  <a:pt x="0" y="1668"/>
                </a:cubicBezTo>
                <a:close/>
              </a:path>
            </a:pathLst>
          </a:custGeom>
          <a:noFill/>
          <a:ln w="18720">
            <a:solidFill>
              <a:srgbClr val="92B1C8"/>
            </a:solidFill>
            <a:miter/>
          </a:ln>
        </p:spPr>
        <p:txBody>
          <a:bodyPr lIns="9360" tIns="9360" rIns="9360" bIns="936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97" name=""/>
          <p:cNvSpPr txBox="1"/>
          <p:nvPr/>
        </p:nvSpPr>
        <p:spPr>
          <a:xfrm>
            <a:off x="10096560" y="2625120"/>
            <a:ext cx="659916" cy="286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250" b="1" u="none" strike="noStrike">
                <a:solidFill>
                  <a:srgbClr val="A75A15"/>
                </a:solidFill>
                <a:effectLst/>
                <a:uFillTx/>
                <a:latin typeface="Hiragino Sans"/>
                <a:ea typeface="Hiragino Sans"/>
              </a:rPr>
              <a:t>好き</a:t>
            </a:r>
            <a:endParaRPr lang="en-US" sz="22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98" name=""/>
          <p:cNvSpPr/>
          <p:nvPr/>
        </p:nvSpPr>
        <p:spPr>
          <a:xfrm>
            <a:off x="1742760" y="4162320"/>
            <a:ext cx="743400" cy="648000"/>
          </a:xfrm>
          <a:custGeom>
            <a:avLst/>
            <a:gdLst/>
            <a:ahLst/>
            <a:rect l="0" t="0" r="r" b="b"/>
            <a:pathLst>
              <a:path w="2065" h="1800">
                <a:moveTo>
                  <a:pt x="0" y="1668"/>
                </a:moveTo>
                <a:lnTo>
                  <a:pt x="0" y="133"/>
                </a:lnTo>
                <a:cubicBezTo>
                  <a:pt x="0" y="115"/>
                  <a:pt x="4" y="98"/>
                  <a:pt x="10" y="81"/>
                </a:cubicBezTo>
                <a:cubicBezTo>
                  <a:pt x="17" y="65"/>
                  <a:pt x="27" y="51"/>
                  <a:pt x="39" y="39"/>
                </a:cubicBezTo>
                <a:cubicBezTo>
                  <a:pt x="52" y="26"/>
                  <a:pt x="66" y="17"/>
                  <a:pt x="82" y="10"/>
                </a:cubicBezTo>
                <a:cubicBezTo>
                  <a:pt x="98" y="3"/>
                  <a:pt x="115" y="0"/>
                  <a:pt x="133" y="0"/>
                </a:cubicBezTo>
                <a:lnTo>
                  <a:pt x="1933" y="0"/>
                </a:lnTo>
                <a:cubicBezTo>
                  <a:pt x="1950" y="0"/>
                  <a:pt x="1967" y="3"/>
                  <a:pt x="1983" y="10"/>
                </a:cubicBezTo>
                <a:cubicBezTo>
                  <a:pt x="2000" y="17"/>
                  <a:pt x="2014" y="26"/>
                  <a:pt x="2026" y="39"/>
                </a:cubicBezTo>
                <a:cubicBezTo>
                  <a:pt x="2039" y="51"/>
                  <a:pt x="2048" y="65"/>
                  <a:pt x="2055" y="81"/>
                </a:cubicBezTo>
                <a:cubicBezTo>
                  <a:pt x="2062" y="98"/>
                  <a:pt x="2065" y="115"/>
                  <a:pt x="2065" y="133"/>
                </a:cubicBezTo>
                <a:lnTo>
                  <a:pt x="2065" y="1668"/>
                </a:lnTo>
                <a:cubicBezTo>
                  <a:pt x="2065" y="1685"/>
                  <a:pt x="2062" y="1702"/>
                  <a:pt x="2055" y="1718"/>
                </a:cubicBezTo>
                <a:cubicBezTo>
                  <a:pt x="2048" y="1734"/>
                  <a:pt x="2039" y="1749"/>
                  <a:pt x="2026" y="1761"/>
                </a:cubicBezTo>
                <a:cubicBezTo>
                  <a:pt x="2014" y="1774"/>
                  <a:pt x="2000" y="1783"/>
                  <a:pt x="1983" y="1790"/>
                </a:cubicBezTo>
                <a:cubicBezTo>
                  <a:pt x="1967" y="1797"/>
                  <a:pt x="1950" y="1800"/>
                  <a:pt x="1933" y="1800"/>
                </a:cubicBezTo>
                <a:lnTo>
                  <a:pt x="133" y="1800"/>
                </a:lnTo>
                <a:cubicBezTo>
                  <a:pt x="115" y="1800"/>
                  <a:pt x="98" y="1797"/>
                  <a:pt x="82" y="1790"/>
                </a:cubicBezTo>
                <a:cubicBezTo>
                  <a:pt x="66" y="1783"/>
                  <a:pt x="52" y="1774"/>
                  <a:pt x="39" y="1761"/>
                </a:cubicBezTo>
                <a:cubicBezTo>
                  <a:pt x="27" y="1749"/>
                  <a:pt x="17" y="1734"/>
                  <a:pt x="10" y="1718"/>
                </a:cubicBezTo>
                <a:cubicBezTo>
                  <a:pt x="4" y="1702"/>
                  <a:pt x="0" y="1685"/>
                  <a:pt x="0" y="1668"/>
                </a:cubicBez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599" name=""/>
          <p:cNvSpPr/>
          <p:nvPr/>
        </p:nvSpPr>
        <p:spPr>
          <a:xfrm>
            <a:off x="1742760" y="4162320"/>
            <a:ext cx="743400" cy="648000"/>
          </a:xfrm>
          <a:custGeom>
            <a:avLst/>
            <a:gdLst/>
            <a:ahLst/>
            <a:rect l="0" t="0" r="r" b="b"/>
            <a:pathLst>
              <a:path w="2065" h="1800">
                <a:moveTo>
                  <a:pt x="0" y="1668"/>
                </a:moveTo>
                <a:lnTo>
                  <a:pt x="0" y="133"/>
                </a:lnTo>
                <a:cubicBezTo>
                  <a:pt x="0" y="115"/>
                  <a:pt x="4" y="98"/>
                  <a:pt x="10" y="81"/>
                </a:cubicBezTo>
                <a:cubicBezTo>
                  <a:pt x="17" y="65"/>
                  <a:pt x="27" y="51"/>
                  <a:pt x="39" y="39"/>
                </a:cubicBezTo>
                <a:cubicBezTo>
                  <a:pt x="52" y="26"/>
                  <a:pt x="66" y="17"/>
                  <a:pt x="82" y="10"/>
                </a:cubicBezTo>
                <a:cubicBezTo>
                  <a:pt x="98" y="3"/>
                  <a:pt x="115" y="0"/>
                  <a:pt x="133" y="0"/>
                </a:cubicBezTo>
                <a:lnTo>
                  <a:pt x="1933" y="0"/>
                </a:lnTo>
                <a:cubicBezTo>
                  <a:pt x="1950" y="0"/>
                  <a:pt x="1967" y="3"/>
                  <a:pt x="1983" y="10"/>
                </a:cubicBezTo>
                <a:cubicBezTo>
                  <a:pt x="2000" y="17"/>
                  <a:pt x="2014" y="26"/>
                  <a:pt x="2026" y="39"/>
                </a:cubicBezTo>
                <a:cubicBezTo>
                  <a:pt x="2039" y="51"/>
                  <a:pt x="2048" y="65"/>
                  <a:pt x="2055" y="81"/>
                </a:cubicBezTo>
                <a:cubicBezTo>
                  <a:pt x="2062" y="98"/>
                  <a:pt x="2065" y="115"/>
                  <a:pt x="2065" y="133"/>
                </a:cubicBezTo>
                <a:lnTo>
                  <a:pt x="2065" y="1668"/>
                </a:lnTo>
                <a:cubicBezTo>
                  <a:pt x="2065" y="1685"/>
                  <a:pt x="2062" y="1702"/>
                  <a:pt x="2055" y="1718"/>
                </a:cubicBezTo>
                <a:cubicBezTo>
                  <a:pt x="2048" y="1734"/>
                  <a:pt x="2039" y="1749"/>
                  <a:pt x="2026" y="1761"/>
                </a:cubicBezTo>
                <a:cubicBezTo>
                  <a:pt x="2014" y="1774"/>
                  <a:pt x="2000" y="1783"/>
                  <a:pt x="1983" y="1790"/>
                </a:cubicBezTo>
                <a:cubicBezTo>
                  <a:pt x="1967" y="1797"/>
                  <a:pt x="1950" y="1800"/>
                  <a:pt x="1933" y="1800"/>
                </a:cubicBezTo>
                <a:lnTo>
                  <a:pt x="133" y="1800"/>
                </a:lnTo>
                <a:cubicBezTo>
                  <a:pt x="115" y="1800"/>
                  <a:pt x="98" y="1797"/>
                  <a:pt x="82" y="1790"/>
                </a:cubicBezTo>
                <a:cubicBezTo>
                  <a:pt x="66" y="1783"/>
                  <a:pt x="52" y="1774"/>
                  <a:pt x="39" y="1761"/>
                </a:cubicBezTo>
                <a:cubicBezTo>
                  <a:pt x="27" y="1749"/>
                  <a:pt x="17" y="1734"/>
                  <a:pt x="10" y="1718"/>
                </a:cubicBezTo>
                <a:cubicBezTo>
                  <a:pt x="4" y="1702"/>
                  <a:pt x="0" y="1685"/>
                  <a:pt x="0" y="1668"/>
                </a:cubicBezTo>
                <a:close/>
              </a:path>
            </a:pathLst>
          </a:custGeom>
          <a:noFill/>
          <a:ln w="18720">
            <a:solidFill>
              <a:srgbClr val="92B1C8"/>
            </a:solidFill>
            <a:miter/>
          </a:ln>
        </p:spPr>
        <p:txBody>
          <a:bodyPr lIns="9360" tIns="9360" rIns="9360" bIns="936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00" name=""/>
          <p:cNvSpPr txBox="1"/>
          <p:nvPr/>
        </p:nvSpPr>
        <p:spPr>
          <a:xfrm>
            <a:off x="1104840" y="4356360"/>
            <a:ext cx="307602" cy="267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1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私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01" name=""/>
          <p:cNvSpPr/>
          <p:nvPr/>
        </p:nvSpPr>
        <p:spPr>
          <a:xfrm>
            <a:off x="2619360" y="4162320"/>
            <a:ext cx="743040" cy="648000"/>
          </a:xfrm>
          <a:custGeom>
            <a:avLst/>
            <a:gdLst/>
            <a:ahLst/>
            <a:rect l="0" t="0" r="r" b="b"/>
            <a:pathLst>
              <a:path w="2064" h="1800">
                <a:moveTo>
                  <a:pt x="0" y="1668"/>
                </a:moveTo>
                <a:lnTo>
                  <a:pt x="0" y="133"/>
                </a:lnTo>
                <a:cubicBezTo>
                  <a:pt x="0" y="115"/>
                  <a:pt x="3" y="98"/>
                  <a:pt x="10" y="81"/>
                </a:cubicBezTo>
                <a:cubicBezTo>
                  <a:pt x="16" y="65"/>
                  <a:pt x="26" y="51"/>
                  <a:pt x="38" y="39"/>
                </a:cubicBezTo>
                <a:cubicBezTo>
                  <a:pt x="51" y="26"/>
                  <a:pt x="65" y="17"/>
                  <a:pt x="81" y="10"/>
                </a:cubicBezTo>
                <a:cubicBezTo>
                  <a:pt x="97" y="3"/>
                  <a:pt x="114" y="0"/>
                  <a:pt x="132" y="0"/>
                </a:cubicBezTo>
                <a:lnTo>
                  <a:pt x="1931" y="0"/>
                </a:lnTo>
                <a:cubicBezTo>
                  <a:pt x="1949" y="0"/>
                  <a:pt x="1965" y="3"/>
                  <a:pt x="1982" y="10"/>
                </a:cubicBezTo>
                <a:cubicBezTo>
                  <a:pt x="1998" y="17"/>
                  <a:pt x="2013" y="26"/>
                  <a:pt x="2026" y="39"/>
                </a:cubicBezTo>
                <a:cubicBezTo>
                  <a:pt x="2038" y="51"/>
                  <a:pt x="2048" y="65"/>
                  <a:pt x="2054" y="81"/>
                </a:cubicBezTo>
                <a:cubicBezTo>
                  <a:pt x="2061" y="98"/>
                  <a:pt x="2064" y="115"/>
                  <a:pt x="2064" y="133"/>
                </a:cubicBezTo>
                <a:lnTo>
                  <a:pt x="2064" y="1668"/>
                </a:lnTo>
                <a:cubicBezTo>
                  <a:pt x="2064" y="1685"/>
                  <a:pt x="2061" y="1702"/>
                  <a:pt x="2054" y="1718"/>
                </a:cubicBezTo>
                <a:cubicBezTo>
                  <a:pt x="2048" y="1734"/>
                  <a:pt x="2038" y="1749"/>
                  <a:pt x="2026" y="1761"/>
                </a:cubicBezTo>
                <a:cubicBezTo>
                  <a:pt x="2013" y="1774"/>
                  <a:pt x="1998" y="1783"/>
                  <a:pt x="1982" y="1790"/>
                </a:cubicBezTo>
                <a:cubicBezTo>
                  <a:pt x="1965" y="1797"/>
                  <a:pt x="1949" y="1800"/>
                  <a:pt x="1931" y="1800"/>
                </a:cubicBezTo>
                <a:lnTo>
                  <a:pt x="132" y="1800"/>
                </a:lnTo>
                <a:cubicBezTo>
                  <a:pt x="114" y="1800"/>
                  <a:pt x="97" y="1797"/>
                  <a:pt x="81" y="1790"/>
                </a:cubicBezTo>
                <a:cubicBezTo>
                  <a:pt x="65" y="1783"/>
                  <a:pt x="51" y="1774"/>
                  <a:pt x="38" y="1761"/>
                </a:cubicBezTo>
                <a:cubicBezTo>
                  <a:pt x="26" y="1749"/>
                  <a:pt x="16" y="1734"/>
                  <a:pt x="10" y="1718"/>
                </a:cubicBezTo>
                <a:cubicBezTo>
                  <a:pt x="3" y="1702"/>
                  <a:pt x="0" y="1685"/>
                  <a:pt x="0" y="1668"/>
                </a:cubicBez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02" name=""/>
          <p:cNvSpPr/>
          <p:nvPr/>
        </p:nvSpPr>
        <p:spPr>
          <a:xfrm>
            <a:off x="2619360" y="4162320"/>
            <a:ext cx="743040" cy="648000"/>
          </a:xfrm>
          <a:custGeom>
            <a:avLst/>
            <a:gdLst/>
            <a:ahLst/>
            <a:rect l="0" t="0" r="r" b="b"/>
            <a:pathLst>
              <a:path w="2064" h="1800">
                <a:moveTo>
                  <a:pt x="0" y="1668"/>
                </a:moveTo>
                <a:lnTo>
                  <a:pt x="0" y="133"/>
                </a:lnTo>
                <a:cubicBezTo>
                  <a:pt x="0" y="115"/>
                  <a:pt x="3" y="98"/>
                  <a:pt x="10" y="81"/>
                </a:cubicBezTo>
                <a:cubicBezTo>
                  <a:pt x="16" y="65"/>
                  <a:pt x="26" y="51"/>
                  <a:pt x="38" y="39"/>
                </a:cubicBezTo>
                <a:cubicBezTo>
                  <a:pt x="51" y="26"/>
                  <a:pt x="65" y="17"/>
                  <a:pt x="81" y="10"/>
                </a:cubicBezTo>
                <a:cubicBezTo>
                  <a:pt x="97" y="3"/>
                  <a:pt x="114" y="0"/>
                  <a:pt x="132" y="0"/>
                </a:cubicBezTo>
                <a:lnTo>
                  <a:pt x="1931" y="0"/>
                </a:lnTo>
                <a:cubicBezTo>
                  <a:pt x="1949" y="0"/>
                  <a:pt x="1965" y="3"/>
                  <a:pt x="1982" y="10"/>
                </a:cubicBezTo>
                <a:cubicBezTo>
                  <a:pt x="1998" y="17"/>
                  <a:pt x="2013" y="26"/>
                  <a:pt x="2026" y="39"/>
                </a:cubicBezTo>
                <a:cubicBezTo>
                  <a:pt x="2038" y="51"/>
                  <a:pt x="2048" y="65"/>
                  <a:pt x="2054" y="81"/>
                </a:cubicBezTo>
                <a:cubicBezTo>
                  <a:pt x="2061" y="98"/>
                  <a:pt x="2064" y="115"/>
                  <a:pt x="2064" y="133"/>
                </a:cubicBezTo>
                <a:lnTo>
                  <a:pt x="2064" y="1668"/>
                </a:lnTo>
                <a:cubicBezTo>
                  <a:pt x="2064" y="1685"/>
                  <a:pt x="2061" y="1702"/>
                  <a:pt x="2054" y="1718"/>
                </a:cubicBezTo>
                <a:cubicBezTo>
                  <a:pt x="2048" y="1734"/>
                  <a:pt x="2038" y="1749"/>
                  <a:pt x="2026" y="1761"/>
                </a:cubicBezTo>
                <a:cubicBezTo>
                  <a:pt x="2013" y="1774"/>
                  <a:pt x="1998" y="1783"/>
                  <a:pt x="1982" y="1790"/>
                </a:cubicBezTo>
                <a:cubicBezTo>
                  <a:pt x="1965" y="1797"/>
                  <a:pt x="1949" y="1800"/>
                  <a:pt x="1931" y="1800"/>
                </a:cubicBezTo>
                <a:lnTo>
                  <a:pt x="132" y="1800"/>
                </a:lnTo>
                <a:cubicBezTo>
                  <a:pt x="114" y="1800"/>
                  <a:pt x="97" y="1797"/>
                  <a:pt x="81" y="1790"/>
                </a:cubicBezTo>
                <a:cubicBezTo>
                  <a:pt x="65" y="1783"/>
                  <a:pt x="51" y="1774"/>
                  <a:pt x="38" y="1761"/>
                </a:cubicBezTo>
                <a:cubicBezTo>
                  <a:pt x="26" y="1749"/>
                  <a:pt x="16" y="1734"/>
                  <a:pt x="10" y="1718"/>
                </a:cubicBezTo>
                <a:cubicBezTo>
                  <a:pt x="3" y="1702"/>
                  <a:pt x="0" y="1685"/>
                  <a:pt x="0" y="1668"/>
                </a:cubicBezTo>
                <a:close/>
              </a:path>
            </a:pathLst>
          </a:custGeom>
          <a:noFill/>
          <a:ln w="18720">
            <a:solidFill>
              <a:srgbClr val="92B1C8"/>
            </a:solidFill>
            <a:miter/>
          </a:ln>
        </p:spPr>
        <p:txBody>
          <a:bodyPr lIns="9360" tIns="9360" rIns="9360" bIns="936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03" name=""/>
          <p:cNvSpPr txBox="1"/>
          <p:nvPr/>
        </p:nvSpPr>
        <p:spPr>
          <a:xfrm>
            <a:off x="1981080" y="4356360"/>
            <a:ext cx="307602" cy="267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1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は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04" name=""/>
          <p:cNvSpPr/>
          <p:nvPr/>
        </p:nvSpPr>
        <p:spPr>
          <a:xfrm>
            <a:off x="3495600" y="4162320"/>
            <a:ext cx="743040" cy="648000"/>
          </a:xfrm>
          <a:custGeom>
            <a:avLst/>
            <a:gdLst/>
            <a:ahLst/>
            <a:rect l="0" t="0" r="r" b="b"/>
            <a:pathLst>
              <a:path w="2064" h="1800">
                <a:moveTo>
                  <a:pt x="0" y="1668"/>
                </a:moveTo>
                <a:lnTo>
                  <a:pt x="0" y="133"/>
                </a:lnTo>
                <a:cubicBezTo>
                  <a:pt x="0" y="115"/>
                  <a:pt x="3" y="98"/>
                  <a:pt x="10" y="81"/>
                </a:cubicBezTo>
                <a:cubicBezTo>
                  <a:pt x="16" y="65"/>
                  <a:pt x="26" y="51"/>
                  <a:pt x="38" y="39"/>
                </a:cubicBezTo>
                <a:cubicBezTo>
                  <a:pt x="51" y="26"/>
                  <a:pt x="65" y="17"/>
                  <a:pt x="81" y="10"/>
                </a:cubicBezTo>
                <a:cubicBezTo>
                  <a:pt x="98" y="3"/>
                  <a:pt x="114" y="0"/>
                  <a:pt x="132" y="0"/>
                </a:cubicBezTo>
                <a:lnTo>
                  <a:pt x="1932" y="0"/>
                </a:lnTo>
                <a:cubicBezTo>
                  <a:pt x="1950" y="0"/>
                  <a:pt x="1967" y="3"/>
                  <a:pt x="1983" y="10"/>
                </a:cubicBezTo>
                <a:cubicBezTo>
                  <a:pt x="1999" y="17"/>
                  <a:pt x="2013" y="26"/>
                  <a:pt x="2026" y="39"/>
                </a:cubicBezTo>
                <a:cubicBezTo>
                  <a:pt x="2038" y="51"/>
                  <a:pt x="2048" y="65"/>
                  <a:pt x="2054" y="81"/>
                </a:cubicBezTo>
                <a:cubicBezTo>
                  <a:pt x="2061" y="98"/>
                  <a:pt x="2064" y="115"/>
                  <a:pt x="2064" y="133"/>
                </a:cubicBezTo>
                <a:lnTo>
                  <a:pt x="2064" y="1668"/>
                </a:lnTo>
                <a:cubicBezTo>
                  <a:pt x="2064" y="1685"/>
                  <a:pt x="2061" y="1702"/>
                  <a:pt x="2054" y="1718"/>
                </a:cubicBezTo>
                <a:cubicBezTo>
                  <a:pt x="2048" y="1734"/>
                  <a:pt x="2038" y="1749"/>
                  <a:pt x="2026" y="1761"/>
                </a:cubicBezTo>
                <a:cubicBezTo>
                  <a:pt x="2013" y="1774"/>
                  <a:pt x="1999" y="1783"/>
                  <a:pt x="1983" y="1790"/>
                </a:cubicBezTo>
                <a:cubicBezTo>
                  <a:pt x="1967" y="1797"/>
                  <a:pt x="1950" y="1800"/>
                  <a:pt x="1932" y="1800"/>
                </a:cubicBezTo>
                <a:lnTo>
                  <a:pt x="132" y="1800"/>
                </a:lnTo>
                <a:cubicBezTo>
                  <a:pt x="114" y="1800"/>
                  <a:pt x="98" y="1797"/>
                  <a:pt x="81" y="1790"/>
                </a:cubicBezTo>
                <a:cubicBezTo>
                  <a:pt x="65" y="1783"/>
                  <a:pt x="51" y="1774"/>
                  <a:pt x="38" y="1761"/>
                </a:cubicBezTo>
                <a:cubicBezTo>
                  <a:pt x="26" y="1749"/>
                  <a:pt x="16" y="1734"/>
                  <a:pt x="10" y="1718"/>
                </a:cubicBezTo>
                <a:cubicBezTo>
                  <a:pt x="3" y="1702"/>
                  <a:pt x="0" y="1685"/>
                  <a:pt x="0" y="1668"/>
                </a:cubicBez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05" name=""/>
          <p:cNvSpPr/>
          <p:nvPr/>
        </p:nvSpPr>
        <p:spPr>
          <a:xfrm>
            <a:off x="3495600" y="4162320"/>
            <a:ext cx="743040" cy="648000"/>
          </a:xfrm>
          <a:custGeom>
            <a:avLst/>
            <a:gdLst/>
            <a:ahLst/>
            <a:rect l="0" t="0" r="r" b="b"/>
            <a:pathLst>
              <a:path w="2064" h="1800">
                <a:moveTo>
                  <a:pt x="0" y="1668"/>
                </a:moveTo>
                <a:lnTo>
                  <a:pt x="0" y="133"/>
                </a:lnTo>
                <a:cubicBezTo>
                  <a:pt x="0" y="115"/>
                  <a:pt x="3" y="98"/>
                  <a:pt x="10" y="81"/>
                </a:cubicBezTo>
                <a:cubicBezTo>
                  <a:pt x="16" y="65"/>
                  <a:pt x="26" y="51"/>
                  <a:pt x="38" y="39"/>
                </a:cubicBezTo>
                <a:cubicBezTo>
                  <a:pt x="51" y="26"/>
                  <a:pt x="65" y="17"/>
                  <a:pt x="81" y="10"/>
                </a:cubicBezTo>
                <a:cubicBezTo>
                  <a:pt x="98" y="3"/>
                  <a:pt x="114" y="0"/>
                  <a:pt x="132" y="0"/>
                </a:cubicBezTo>
                <a:lnTo>
                  <a:pt x="1932" y="0"/>
                </a:lnTo>
                <a:cubicBezTo>
                  <a:pt x="1950" y="0"/>
                  <a:pt x="1967" y="3"/>
                  <a:pt x="1983" y="10"/>
                </a:cubicBezTo>
                <a:cubicBezTo>
                  <a:pt x="1999" y="17"/>
                  <a:pt x="2013" y="26"/>
                  <a:pt x="2026" y="39"/>
                </a:cubicBezTo>
                <a:cubicBezTo>
                  <a:pt x="2038" y="51"/>
                  <a:pt x="2048" y="65"/>
                  <a:pt x="2054" y="81"/>
                </a:cubicBezTo>
                <a:cubicBezTo>
                  <a:pt x="2061" y="98"/>
                  <a:pt x="2064" y="115"/>
                  <a:pt x="2064" y="133"/>
                </a:cubicBezTo>
                <a:lnTo>
                  <a:pt x="2064" y="1668"/>
                </a:lnTo>
                <a:cubicBezTo>
                  <a:pt x="2064" y="1685"/>
                  <a:pt x="2061" y="1702"/>
                  <a:pt x="2054" y="1718"/>
                </a:cubicBezTo>
                <a:cubicBezTo>
                  <a:pt x="2048" y="1734"/>
                  <a:pt x="2038" y="1749"/>
                  <a:pt x="2026" y="1761"/>
                </a:cubicBezTo>
                <a:cubicBezTo>
                  <a:pt x="2013" y="1774"/>
                  <a:pt x="1999" y="1783"/>
                  <a:pt x="1983" y="1790"/>
                </a:cubicBezTo>
                <a:cubicBezTo>
                  <a:pt x="1967" y="1797"/>
                  <a:pt x="1950" y="1800"/>
                  <a:pt x="1932" y="1800"/>
                </a:cubicBezTo>
                <a:lnTo>
                  <a:pt x="132" y="1800"/>
                </a:lnTo>
                <a:cubicBezTo>
                  <a:pt x="114" y="1800"/>
                  <a:pt x="98" y="1797"/>
                  <a:pt x="81" y="1790"/>
                </a:cubicBezTo>
                <a:cubicBezTo>
                  <a:pt x="65" y="1783"/>
                  <a:pt x="51" y="1774"/>
                  <a:pt x="38" y="1761"/>
                </a:cubicBezTo>
                <a:cubicBezTo>
                  <a:pt x="26" y="1749"/>
                  <a:pt x="16" y="1734"/>
                  <a:pt x="10" y="1718"/>
                </a:cubicBezTo>
                <a:cubicBezTo>
                  <a:pt x="3" y="1702"/>
                  <a:pt x="0" y="1685"/>
                  <a:pt x="0" y="1668"/>
                </a:cubicBezTo>
                <a:close/>
              </a:path>
            </a:pathLst>
          </a:custGeom>
          <a:noFill/>
          <a:ln w="18720">
            <a:solidFill>
              <a:srgbClr val="92B1C8"/>
            </a:solidFill>
            <a:miter/>
          </a:ln>
        </p:spPr>
        <p:txBody>
          <a:bodyPr lIns="9360" tIns="9360" rIns="9360" bIns="936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06" name=""/>
          <p:cNvSpPr txBox="1"/>
          <p:nvPr/>
        </p:nvSpPr>
        <p:spPr>
          <a:xfrm>
            <a:off x="2857320" y="4356360"/>
            <a:ext cx="307602" cy="267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1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猫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07" name=""/>
          <p:cNvSpPr/>
          <p:nvPr/>
        </p:nvSpPr>
        <p:spPr>
          <a:xfrm>
            <a:off x="4371840" y="4162320"/>
            <a:ext cx="743400" cy="648000"/>
          </a:xfrm>
          <a:custGeom>
            <a:avLst/>
            <a:gdLst/>
            <a:ahLst/>
            <a:rect l="0" t="0" r="r" b="b"/>
            <a:pathLst>
              <a:path w="2065" h="1800">
                <a:moveTo>
                  <a:pt x="0" y="1668"/>
                </a:moveTo>
                <a:lnTo>
                  <a:pt x="0" y="133"/>
                </a:lnTo>
                <a:cubicBezTo>
                  <a:pt x="0" y="115"/>
                  <a:pt x="3" y="98"/>
                  <a:pt x="10" y="81"/>
                </a:cubicBezTo>
                <a:cubicBezTo>
                  <a:pt x="17" y="65"/>
                  <a:pt x="26" y="51"/>
                  <a:pt x="39" y="39"/>
                </a:cubicBezTo>
                <a:cubicBezTo>
                  <a:pt x="51" y="26"/>
                  <a:pt x="65" y="17"/>
                  <a:pt x="82" y="10"/>
                </a:cubicBezTo>
                <a:cubicBezTo>
                  <a:pt x="98" y="3"/>
                  <a:pt x="115" y="0"/>
                  <a:pt x="132" y="0"/>
                </a:cubicBezTo>
                <a:lnTo>
                  <a:pt x="1932" y="0"/>
                </a:lnTo>
                <a:cubicBezTo>
                  <a:pt x="1950" y="0"/>
                  <a:pt x="1967" y="3"/>
                  <a:pt x="1983" y="10"/>
                </a:cubicBezTo>
                <a:cubicBezTo>
                  <a:pt x="1999" y="17"/>
                  <a:pt x="2013" y="26"/>
                  <a:pt x="2026" y="39"/>
                </a:cubicBezTo>
                <a:cubicBezTo>
                  <a:pt x="2038" y="51"/>
                  <a:pt x="2048" y="65"/>
                  <a:pt x="2055" y="81"/>
                </a:cubicBezTo>
                <a:cubicBezTo>
                  <a:pt x="2061" y="98"/>
                  <a:pt x="2065" y="115"/>
                  <a:pt x="2065" y="133"/>
                </a:cubicBezTo>
                <a:lnTo>
                  <a:pt x="2065" y="1668"/>
                </a:lnTo>
                <a:cubicBezTo>
                  <a:pt x="2065" y="1685"/>
                  <a:pt x="2061" y="1702"/>
                  <a:pt x="2055" y="1718"/>
                </a:cubicBezTo>
                <a:cubicBezTo>
                  <a:pt x="2048" y="1734"/>
                  <a:pt x="2038" y="1749"/>
                  <a:pt x="2026" y="1761"/>
                </a:cubicBezTo>
                <a:cubicBezTo>
                  <a:pt x="2013" y="1774"/>
                  <a:pt x="1999" y="1783"/>
                  <a:pt x="1983" y="1790"/>
                </a:cubicBezTo>
                <a:cubicBezTo>
                  <a:pt x="1967" y="1797"/>
                  <a:pt x="1950" y="1800"/>
                  <a:pt x="1932" y="1800"/>
                </a:cubicBezTo>
                <a:lnTo>
                  <a:pt x="132" y="1800"/>
                </a:lnTo>
                <a:cubicBezTo>
                  <a:pt x="115" y="1800"/>
                  <a:pt x="98" y="1797"/>
                  <a:pt x="82" y="1790"/>
                </a:cubicBezTo>
                <a:cubicBezTo>
                  <a:pt x="65" y="1783"/>
                  <a:pt x="51" y="1774"/>
                  <a:pt x="39" y="1761"/>
                </a:cubicBezTo>
                <a:cubicBezTo>
                  <a:pt x="26" y="1749"/>
                  <a:pt x="17" y="1734"/>
                  <a:pt x="10" y="1718"/>
                </a:cubicBezTo>
                <a:cubicBezTo>
                  <a:pt x="3" y="1702"/>
                  <a:pt x="0" y="1685"/>
                  <a:pt x="0" y="1668"/>
                </a:cubicBezTo>
                <a:close/>
              </a:path>
            </a:pathLst>
          </a:custGeom>
          <a:solidFill>
            <a:srgbClr val="FFF1D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08" name=""/>
          <p:cNvSpPr/>
          <p:nvPr/>
        </p:nvSpPr>
        <p:spPr>
          <a:xfrm>
            <a:off x="4371840" y="4162320"/>
            <a:ext cx="743400" cy="648000"/>
          </a:xfrm>
          <a:custGeom>
            <a:avLst/>
            <a:gdLst/>
            <a:ahLst/>
            <a:rect l="0" t="0" r="r" b="b"/>
            <a:pathLst>
              <a:path w="2065" h="1800">
                <a:moveTo>
                  <a:pt x="0" y="1668"/>
                </a:moveTo>
                <a:lnTo>
                  <a:pt x="0" y="133"/>
                </a:lnTo>
                <a:cubicBezTo>
                  <a:pt x="0" y="115"/>
                  <a:pt x="3" y="98"/>
                  <a:pt x="10" y="81"/>
                </a:cubicBezTo>
                <a:cubicBezTo>
                  <a:pt x="17" y="65"/>
                  <a:pt x="26" y="51"/>
                  <a:pt x="39" y="39"/>
                </a:cubicBezTo>
                <a:cubicBezTo>
                  <a:pt x="51" y="26"/>
                  <a:pt x="65" y="17"/>
                  <a:pt x="82" y="10"/>
                </a:cubicBezTo>
                <a:cubicBezTo>
                  <a:pt x="98" y="3"/>
                  <a:pt x="115" y="0"/>
                  <a:pt x="132" y="0"/>
                </a:cubicBezTo>
                <a:lnTo>
                  <a:pt x="1932" y="0"/>
                </a:lnTo>
                <a:cubicBezTo>
                  <a:pt x="1950" y="0"/>
                  <a:pt x="1967" y="3"/>
                  <a:pt x="1983" y="10"/>
                </a:cubicBezTo>
                <a:cubicBezTo>
                  <a:pt x="1999" y="17"/>
                  <a:pt x="2013" y="26"/>
                  <a:pt x="2026" y="39"/>
                </a:cubicBezTo>
                <a:cubicBezTo>
                  <a:pt x="2038" y="51"/>
                  <a:pt x="2048" y="65"/>
                  <a:pt x="2055" y="81"/>
                </a:cubicBezTo>
                <a:cubicBezTo>
                  <a:pt x="2061" y="98"/>
                  <a:pt x="2065" y="115"/>
                  <a:pt x="2065" y="133"/>
                </a:cubicBezTo>
                <a:lnTo>
                  <a:pt x="2065" y="1668"/>
                </a:lnTo>
                <a:cubicBezTo>
                  <a:pt x="2065" y="1685"/>
                  <a:pt x="2061" y="1702"/>
                  <a:pt x="2055" y="1718"/>
                </a:cubicBezTo>
                <a:cubicBezTo>
                  <a:pt x="2048" y="1734"/>
                  <a:pt x="2038" y="1749"/>
                  <a:pt x="2026" y="1761"/>
                </a:cubicBezTo>
                <a:cubicBezTo>
                  <a:pt x="2013" y="1774"/>
                  <a:pt x="1999" y="1783"/>
                  <a:pt x="1983" y="1790"/>
                </a:cubicBezTo>
                <a:cubicBezTo>
                  <a:pt x="1967" y="1797"/>
                  <a:pt x="1950" y="1800"/>
                  <a:pt x="1932" y="1800"/>
                </a:cubicBezTo>
                <a:lnTo>
                  <a:pt x="132" y="1800"/>
                </a:lnTo>
                <a:cubicBezTo>
                  <a:pt x="115" y="1800"/>
                  <a:pt x="98" y="1797"/>
                  <a:pt x="82" y="1790"/>
                </a:cubicBezTo>
                <a:cubicBezTo>
                  <a:pt x="65" y="1783"/>
                  <a:pt x="51" y="1774"/>
                  <a:pt x="39" y="1761"/>
                </a:cubicBezTo>
                <a:cubicBezTo>
                  <a:pt x="26" y="1749"/>
                  <a:pt x="17" y="1734"/>
                  <a:pt x="10" y="1718"/>
                </a:cubicBezTo>
                <a:cubicBezTo>
                  <a:pt x="3" y="1702"/>
                  <a:pt x="0" y="1685"/>
                  <a:pt x="0" y="1668"/>
                </a:cubicBezTo>
                <a:close/>
              </a:path>
            </a:pathLst>
          </a:custGeom>
          <a:noFill/>
          <a:ln w="18720">
            <a:solidFill>
              <a:srgbClr val="CF7D31"/>
            </a:solidFill>
            <a:miter/>
          </a:ln>
        </p:spPr>
        <p:txBody>
          <a:bodyPr lIns="9360" tIns="9360" rIns="9360" bIns="936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09" name=""/>
          <p:cNvSpPr txBox="1"/>
          <p:nvPr/>
        </p:nvSpPr>
        <p:spPr>
          <a:xfrm>
            <a:off x="3733920" y="4356360"/>
            <a:ext cx="307602" cy="267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1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が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10" name=""/>
          <p:cNvSpPr txBox="1"/>
          <p:nvPr/>
        </p:nvSpPr>
        <p:spPr>
          <a:xfrm>
            <a:off x="4476600" y="4356360"/>
            <a:ext cx="614376" cy="267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100" b="0" u="none" strike="noStrike">
                <a:solidFill>
                  <a:srgbClr val="A75A15"/>
                </a:solidFill>
                <a:effectLst/>
                <a:uFillTx/>
                <a:latin typeface="Hiragino Sans"/>
                <a:ea typeface="Hiragino Sans"/>
              </a:rPr>
              <a:t>好き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11" name=""/>
          <p:cNvSpPr/>
          <p:nvPr/>
        </p:nvSpPr>
        <p:spPr>
          <a:xfrm>
            <a:off x="6581520" y="4095720"/>
            <a:ext cx="2076840" cy="781200"/>
          </a:xfrm>
          <a:custGeom>
            <a:avLst/>
            <a:gdLst/>
            <a:ahLst/>
            <a:rect l="0" t="0" r="r" b="b"/>
            <a:pathLst>
              <a:path w="5769" h="2170">
                <a:moveTo>
                  <a:pt x="0" y="1985"/>
                </a:moveTo>
                <a:lnTo>
                  <a:pt x="0" y="185"/>
                </a:lnTo>
                <a:cubicBezTo>
                  <a:pt x="0" y="173"/>
                  <a:pt x="1" y="161"/>
                  <a:pt x="4" y="149"/>
                </a:cubicBezTo>
                <a:cubicBezTo>
                  <a:pt x="6" y="137"/>
                  <a:pt x="10" y="125"/>
                  <a:pt x="14" y="114"/>
                </a:cubicBezTo>
                <a:cubicBezTo>
                  <a:pt x="19" y="103"/>
                  <a:pt x="25" y="92"/>
                  <a:pt x="31" y="82"/>
                </a:cubicBezTo>
                <a:cubicBezTo>
                  <a:pt x="38" y="72"/>
                  <a:pt x="46" y="62"/>
                  <a:pt x="54" y="54"/>
                </a:cubicBezTo>
                <a:cubicBezTo>
                  <a:pt x="63" y="45"/>
                  <a:pt x="72" y="38"/>
                  <a:pt x="83" y="31"/>
                </a:cubicBezTo>
                <a:cubicBezTo>
                  <a:pt x="93" y="24"/>
                  <a:pt x="103" y="18"/>
                  <a:pt x="115" y="14"/>
                </a:cubicBezTo>
                <a:cubicBezTo>
                  <a:pt x="126" y="9"/>
                  <a:pt x="137" y="6"/>
                  <a:pt x="149" y="3"/>
                </a:cubicBezTo>
                <a:cubicBezTo>
                  <a:pt x="161" y="1"/>
                  <a:pt x="173" y="0"/>
                  <a:pt x="185" y="0"/>
                </a:cubicBezTo>
                <a:lnTo>
                  <a:pt x="5584" y="0"/>
                </a:lnTo>
                <a:cubicBezTo>
                  <a:pt x="5596" y="0"/>
                  <a:pt x="5608" y="1"/>
                  <a:pt x="5620" y="3"/>
                </a:cubicBezTo>
                <a:cubicBezTo>
                  <a:pt x="5632" y="6"/>
                  <a:pt x="5644" y="9"/>
                  <a:pt x="5655" y="14"/>
                </a:cubicBezTo>
                <a:cubicBezTo>
                  <a:pt x="5666" y="18"/>
                  <a:pt x="5677" y="24"/>
                  <a:pt x="5687" y="31"/>
                </a:cubicBezTo>
                <a:cubicBezTo>
                  <a:pt x="5697" y="38"/>
                  <a:pt x="5706" y="45"/>
                  <a:pt x="5715" y="54"/>
                </a:cubicBezTo>
                <a:cubicBezTo>
                  <a:pt x="5723" y="62"/>
                  <a:pt x="5731" y="72"/>
                  <a:pt x="5738" y="82"/>
                </a:cubicBezTo>
                <a:cubicBezTo>
                  <a:pt x="5745" y="92"/>
                  <a:pt x="5750" y="103"/>
                  <a:pt x="5755" y="114"/>
                </a:cubicBezTo>
                <a:cubicBezTo>
                  <a:pt x="5760" y="125"/>
                  <a:pt x="5763" y="137"/>
                  <a:pt x="5766" y="149"/>
                </a:cubicBezTo>
                <a:cubicBezTo>
                  <a:pt x="5768" y="161"/>
                  <a:pt x="5769" y="173"/>
                  <a:pt x="5769" y="185"/>
                </a:cubicBezTo>
                <a:lnTo>
                  <a:pt x="5769" y="1985"/>
                </a:lnTo>
                <a:cubicBezTo>
                  <a:pt x="5769" y="1997"/>
                  <a:pt x="5768" y="2009"/>
                  <a:pt x="5766" y="2021"/>
                </a:cubicBezTo>
                <a:cubicBezTo>
                  <a:pt x="5763" y="2033"/>
                  <a:pt x="5760" y="2045"/>
                  <a:pt x="5755" y="2056"/>
                </a:cubicBezTo>
                <a:cubicBezTo>
                  <a:pt x="5750" y="2067"/>
                  <a:pt x="5745" y="2078"/>
                  <a:pt x="5738" y="2088"/>
                </a:cubicBezTo>
                <a:cubicBezTo>
                  <a:pt x="5731" y="2098"/>
                  <a:pt x="5723" y="2107"/>
                  <a:pt x="5715" y="2116"/>
                </a:cubicBezTo>
                <a:cubicBezTo>
                  <a:pt x="5706" y="2125"/>
                  <a:pt x="5697" y="2132"/>
                  <a:pt x="5687" y="2139"/>
                </a:cubicBezTo>
                <a:cubicBezTo>
                  <a:pt x="5677" y="2146"/>
                  <a:pt x="5666" y="2151"/>
                  <a:pt x="5655" y="2156"/>
                </a:cubicBezTo>
                <a:cubicBezTo>
                  <a:pt x="5644" y="2161"/>
                  <a:pt x="5632" y="2164"/>
                  <a:pt x="5620" y="2167"/>
                </a:cubicBezTo>
                <a:cubicBezTo>
                  <a:pt x="5608" y="2169"/>
                  <a:pt x="5596" y="2170"/>
                  <a:pt x="5584" y="2170"/>
                </a:cubicBezTo>
                <a:lnTo>
                  <a:pt x="185" y="2170"/>
                </a:lnTo>
                <a:cubicBezTo>
                  <a:pt x="173" y="2170"/>
                  <a:pt x="161" y="2169"/>
                  <a:pt x="149" y="2167"/>
                </a:cubicBezTo>
                <a:cubicBezTo>
                  <a:pt x="137" y="2164"/>
                  <a:pt x="126" y="2161"/>
                  <a:pt x="115" y="2156"/>
                </a:cubicBezTo>
                <a:cubicBezTo>
                  <a:pt x="103" y="2151"/>
                  <a:pt x="93" y="2146"/>
                  <a:pt x="83" y="2139"/>
                </a:cubicBezTo>
                <a:cubicBezTo>
                  <a:pt x="72" y="2132"/>
                  <a:pt x="63" y="2125"/>
                  <a:pt x="54" y="2116"/>
                </a:cubicBezTo>
                <a:cubicBezTo>
                  <a:pt x="46" y="2107"/>
                  <a:pt x="38" y="2098"/>
                  <a:pt x="31" y="2088"/>
                </a:cubicBezTo>
                <a:cubicBezTo>
                  <a:pt x="25" y="2078"/>
                  <a:pt x="19" y="2067"/>
                  <a:pt x="14" y="2056"/>
                </a:cubicBezTo>
                <a:cubicBezTo>
                  <a:pt x="10" y="2045"/>
                  <a:pt x="6" y="2033"/>
                  <a:pt x="4" y="2021"/>
                </a:cubicBezTo>
                <a:cubicBezTo>
                  <a:pt x="1" y="2009"/>
                  <a:pt x="0" y="1997"/>
                  <a:pt x="0" y="1985"/>
                </a:cubicBezTo>
                <a:close/>
              </a:path>
            </a:pathLst>
          </a:custGeom>
          <a:solidFill>
            <a:srgbClr val="F0ECF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12" name=""/>
          <p:cNvSpPr/>
          <p:nvPr/>
        </p:nvSpPr>
        <p:spPr>
          <a:xfrm>
            <a:off x="6581520" y="4095720"/>
            <a:ext cx="2076840" cy="781200"/>
          </a:xfrm>
          <a:custGeom>
            <a:avLst/>
            <a:gdLst/>
            <a:ahLst/>
            <a:rect l="0" t="0" r="r" b="b"/>
            <a:pathLst>
              <a:path w="5769" h="2170">
                <a:moveTo>
                  <a:pt x="0" y="1985"/>
                </a:moveTo>
                <a:lnTo>
                  <a:pt x="0" y="185"/>
                </a:lnTo>
                <a:cubicBezTo>
                  <a:pt x="0" y="173"/>
                  <a:pt x="1" y="161"/>
                  <a:pt x="4" y="149"/>
                </a:cubicBezTo>
                <a:cubicBezTo>
                  <a:pt x="6" y="137"/>
                  <a:pt x="10" y="125"/>
                  <a:pt x="14" y="114"/>
                </a:cubicBezTo>
                <a:cubicBezTo>
                  <a:pt x="19" y="103"/>
                  <a:pt x="25" y="92"/>
                  <a:pt x="31" y="82"/>
                </a:cubicBezTo>
                <a:cubicBezTo>
                  <a:pt x="38" y="72"/>
                  <a:pt x="46" y="62"/>
                  <a:pt x="54" y="54"/>
                </a:cubicBezTo>
                <a:cubicBezTo>
                  <a:pt x="63" y="45"/>
                  <a:pt x="72" y="38"/>
                  <a:pt x="83" y="31"/>
                </a:cubicBezTo>
                <a:cubicBezTo>
                  <a:pt x="93" y="24"/>
                  <a:pt x="103" y="18"/>
                  <a:pt x="115" y="14"/>
                </a:cubicBezTo>
                <a:cubicBezTo>
                  <a:pt x="126" y="9"/>
                  <a:pt x="137" y="6"/>
                  <a:pt x="149" y="3"/>
                </a:cubicBezTo>
                <a:cubicBezTo>
                  <a:pt x="161" y="1"/>
                  <a:pt x="173" y="0"/>
                  <a:pt x="185" y="0"/>
                </a:cubicBezTo>
                <a:lnTo>
                  <a:pt x="5584" y="0"/>
                </a:lnTo>
                <a:cubicBezTo>
                  <a:pt x="5596" y="0"/>
                  <a:pt x="5608" y="1"/>
                  <a:pt x="5620" y="3"/>
                </a:cubicBezTo>
                <a:cubicBezTo>
                  <a:pt x="5632" y="6"/>
                  <a:pt x="5644" y="9"/>
                  <a:pt x="5655" y="14"/>
                </a:cubicBezTo>
                <a:cubicBezTo>
                  <a:pt x="5666" y="18"/>
                  <a:pt x="5677" y="24"/>
                  <a:pt x="5687" y="31"/>
                </a:cubicBezTo>
                <a:cubicBezTo>
                  <a:pt x="5697" y="38"/>
                  <a:pt x="5706" y="45"/>
                  <a:pt x="5715" y="54"/>
                </a:cubicBezTo>
                <a:cubicBezTo>
                  <a:pt x="5723" y="62"/>
                  <a:pt x="5731" y="72"/>
                  <a:pt x="5738" y="82"/>
                </a:cubicBezTo>
                <a:cubicBezTo>
                  <a:pt x="5745" y="92"/>
                  <a:pt x="5750" y="103"/>
                  <a:pt x="5755" y="114"/>
                </a:cubicBezTo>
                <a:cubicBezTo>
                  <a:pt x="5760" y="125"/>
                  <a:pt x="5763" y="137"/>
                  <a:pt x="5766" y="149"/>
                </a:cubicBezTo>
                <a:cubicBezTo>
                  <a:pt x="5768" y="161"/>
                  <a:pt x="5769" y="173"/>
                  <a:pt x="5769" y="185"/>
                </a:cubicBezTo>
                <a:lnTo>
                  <a:pt x="5769" y="1985"/>
                </a:lnTo>
                <a:cubicBezTo>
                  <a:pt x="5769" y="1997"/>
                  <a:pt x="5768" y="2009"/>
                  <a:pt x="5766" y="2021"/>
                </a:cubicBezTo>
                <a:cubicBezTo>
                  <a:pt x="5763" y="2033"/>
                  <a:pt x="5760" y="2045"/>
                  <a:pt x="5755" y="2056"/>
                </a:cubicBezTo>
                <a:cubicBezTo>
                  <a:pt x="5750" y="2067"/>
                  <a:pt x="5745" y="2078"/>
                  <a:pt x="5738" y="2088"/>
                </a:cubicBezTo>
                <a:cubicBezTo>
                  <a:pt x="5731" y="2098"/>
                  <a:pt x="5723" y="2107"/>
                  <a:pt x="5715" y="2116"/>
                </a:cubicBezTo>
                <a:cubicBezTo>
                  <a:pt x="5706" y="2125"/>
                  <a:pt x="5697" y="2132"/>
                  <a:pt x="5687" y="2139"/>
                </a:cubicBezTo>
                <a:cubicBezTo>
                  <a:pt x="5677" y="2146"/>
                  <a:pt x="5666" y="2151"/>
                  <a:pt x="5655" y="2156"/>
                </a:cubicBezTo>
                <a:cubicBezTo>
                  <a:pt x="5644" y="2161"/>
                  <a:pt x="5632" y="2164"/>
                  <a:pt x="5620" y="2167"/>
                </a:cubicBezTo>
                <a:cubicBezTo>
                  <a:pt x="5608" y="2169"/>
                  <a:pt x="5596" y="2170"/>
                  <a:pt x="5584" y="2170"/>
                </a:cubicBezTo>
                <a:lnTo>
                  <a:pt x="185" y="2170"/>
                </a:lnTo>
                <a:cubicBezTo>
                  <a:pt x="173" y="2170"/>
                  <a:pt x="161" y="2169"/>
                  <a:pt x="149" y="2167"/>
                </a:cubicBezTo>
                <a:cubicBezTo>
                  <a:pt x="137" y="2164"/>
                  <a:pt x="126" y="2161"/>
                  <a:pt x="115" y="2156"/>
                </a:cubicBezTo>
                <a:cubicBezTo>
                  <a:pt x="103" y="2151"/>
                  <a:pt x="93" y="2146"/>
                  <a:pt x="83" y="2139"/>
                </a:cubicBezTo>
                <a:cubicBezTo>
                  <a:pt x="72" y="2132"/>
                  <a:pt x="63" y="2125"/>
                  <a:pt x="54" y="2116"/>
                </a:cubicBezTo>
                <a:cubicBezTo>
                  <a:pt x="46" y="2107"/>
                  <a:pt x="38" y="2098"/>
                  <a:pt x="31" y="2088"/>
                </a:cubicBezTo>
                <a:cubicBezTo>
                  <a:pt x="25" y="2078"/>
                  <a:pt x="19" y="2067"/>
                  <a:pt x="14" y="2056"/>
                </a:cubicBezTo>
                <a:cubicBezTo>
                  <a:pt x="10" y="2045"/>
                  <a:pt x="6" y="2033"/>
                  <a:pt x="4" y="2021"/>
                </a:cubicBezTo>
                <a:cubicBezTo>
                  <a:pt x="1" y="2009"/>
                  <a:pt x="0" y="1997"/>
                  <a:pt x="0" y="1985"/>
                </a:cubicBezTo>
                <a:close/>
              </a:path>
            </a:pathLst>
          </a:custGeom>
          <a:noFill/>
          <a:ln w="18720">
            <a:solidFill>
              <a:srgbClr val="8A79C8"/>
            </a:solidFill>
            <a:miter/>
          </a:ln>
        </p:spPr>
        <p:txBody>
          <a:bodyPr lIns="9360" tIns="9360" rIns="9360" bIns="936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13" name=""/>
          <p:cNvSpPr txBox="1"/>
          <p:nvPr/>
        </p:nvSpPr>
        <p:spPr>
          <a:xfrm>
            <a:off x="6010200" y="4301280"/>
            <a:ext cx="416070" cy="36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2850" b="0" u="none" strike="noStrike">
                <a:solidFill>
                  <a:srgbClr val="697786"/>
                </a:solidFill>
                <a:effectLst/>
                <a:uFillTx/>
                <a:latin typeface="Hiragino Sans"/>
                <a:ea typeface="Hiragino Sans"/>
              </a:rPr>
              <a:t>→</a:t>
            </a:r>
            <a:endParaRPr lang="en-US" sz="28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14" name=""/>
          <p:cNvSpPr txBox="1"/>
          <p:nvPr/>
        </p:nvSpPr>
        <p:spPr>
          <a:xfrm>
            <a:off x="6959880" y="4356360"/>
            <a:ext cx="1534284" cy="267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100" b="1" u="none" strike="noStrike">
                <a:solidFill>
                  <a:srgbClr val="685098"/>
                </a:solidFill>
                <a:effectLst/>
                <a:uFillTx/>
                <a:latin typeface="Hiragino Sans"/>
                <a:ea typeface="Hiragino Sans"/>
              </a:rPr>
              <a:t>同じモデル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15" name=""/>
          <p:cNvSpPr/>
          <p:nvPr/>
        </p:nvSpPr>
        <p:spPr>
          <a:xfrm>
            <a:off x="9820080" y="4114440"/>
            <a:ext cx="1124280" cy="743400"/>
          </a:xfrm>
          <a:custGeom>
            <a:avLst/>
            <a:gdLst/>
            <a:ahLst/>
            <a:rect l="0" t="0" r="r" b="b"/>
            <a:pathLst>
              <a:path w="3123" h="2065">
                <a:moveTo>
                  <a:pt x="0" y="1932"/>
                </a:moveTo>
                <a:lnTo>
                  <a:pt x="0" y="133"/>
                </a:lnTo>
                <a:cubicBezTo>
                  <a:pt x="0" y="115"/>
                  <a:pt x="3" y="98"/>
                  <a:pt x="10" y="82"/>
                </a:cubicBezTo>
                <a:cubicBezTo>
                  <a:pt x="17" y="66"/>
                  <a:pt x="26" y="52"/>
                  <a:pt x="39" y="39"/>
                </a:cubicBezTo>
                <a:cubicBezTo>
                  <a:pt x="51" y="27"/>
                  <a:pt x="65" y="17"/>
                  <a:pt x="82" y="11"/>
                </a:cubicBezTo>
                <a:cubicBezTo>
                  <a:pt x="98" y="4"/>
                  <a:pt x="115" y="0"/>
                  <a:pt x="132" y="0"/>
                </a:cubicBezTo>
                <a:lnTo>
                  <a:pt x="2991" y="0"/>
                </a:lnTo>
                <a:cubicBezTo>
                  <a:pt x="3008" y="0"/>
                  <a:pt x="3025" y="4"/>
                  <a:pt x="3041" y="11"/>
                </a:cubicBezTo>
                <a:cubicBezTo>
                  <a:pt x="3058" y="17"/>
                  <a:pt x="3072" y="27"/>
                  <a:pt x="3084" y="39"/>
                </a:cubicBezTo>
                <a:cubicBezTo>
                  <a:pt x="3097" y="52"/>
                  <a:pt x="3106" y="66"/>
                  <a:pt x="3113" y="82"/>
                </a:cubicBezTo>
                <a:cubicBezTo>
                  <a:pt x="3120" y="98"/>
                  <a:pt x="3123" y="115"/>
                  <a:pt x="3123" y="133"/>
                </a:cubicBezTo>
                <a:lnTo>
                  <a:pt x="3123" y="1932"/>
                </a:lnTo>
                <a:cubicBezTo>
                  <a:pt x="3123" y="1949"/>
                  <a:pt x="3120" y="1966"/>
                  <a:pt x="3113" y="1984"/>
                </a:cubicBezTo>
                <a:cubicBezTo>
                  <a:pt x="3106" y="2000"/>
                  <a:pt x="3097" y="2014"/>
                  <a:pt x="3084" y="2027"/>
                </a:cubicBezTo>
                <a:cubicBezTo>
                  <a:pt x="3072" y="2039"/>
                  <a:pt x="3058" y="2048"/>
                  <a:pt x="3041" y="2055"/>
                </a:cubicBezTo>
                <a:cubicBezTo>
                  <a:pt x="3025" y="2062"/>
                  <a:pt x="3008" y="2065"/>
                  <a:pt x="2991" y="2065"/>
                </a:cubicBezTo>
                <a:lnTo>
                  <a:pt x="132" y="2065"/>
                </a:lnTo>
                <a:cubicBezTo>
                  <a:pt x="115" y="2065"/>
                  <a:pt x="98" y="2062"/>
                  <a:pt x="82" y="2055"/>
                </a:cubicBezTo>
                <a:cubicBezTo>
                  <a:pt x="65" y="2048"/>
                  <a:pt x="51" y="2039"/>
                  <a:pt x="39" y="2027"/>
                </a:cubicBezTo>
                <a:cubicBezTo>
                  <a:pt x="26" y="2014"/>
                  <a:pt x="17" y="2000"/>
                  <a:pt x="10" y="1984"/>
                </a:cubicBezTo>
                <a:cubicBezTo>
                  <a:pt x="3" y="1966"/>
                  <a:pt x="0" y="1949"/>
                  <a:pt x="0" y="1932"/>
                </a:cubicBezTo>
                <a:close/>
              </a:path>
            </a:pathLst>
          </a:custGeom>
          <a:solidFill>
            <a:srgbClr val="EDF7E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16" name=""/>
          <p:cNvSpPr/>
          <p:nvPr/>
        </p:nvSpPr>
        <p:spPr>
          <a:xfrm>
            <a:off x="9820080" y="4114440"/>
            <a:ext cx="1124280" cy="743400"/>
          </a:xfrm>
          <a:custGeom>
            <a:avLst/>
            <a:gdLst/>
            <a:ahLst/>
            <a:rect l="0" t="0" r="r" b="b"/>
            <a:pathLst>
              <a:path w="3123" h="2065">
                <a:moveTo>
                  <a:pt x="0" y="1932"/>
                </a:moveTo>
                <a:lnTo>
                  <a:pt x="0" y="133"/>
                </a:lnTo>
                <a:cubicBezTo>
                  <a:pt x="0" y="115"/>
                  <a:pt x="3" y="98"/>
                  <a:pt x="10" y="82"/>
                </a:cubicBezTo>
                <a:cubicBezTo>
                  <a:pt x="17" y="66"/>
                  <a:pt x="26" y="52"/>
                  <a:pt x="39" y="39"/>
                </a:cubicBezTo>
                <a:cubicBezTo>
                  <a:pt x="51" y="27"/>
                  <a:pt x="65" y="17"/>
                  <a:pt x="82" y="11"/>
                </a:cubicBezTo>
                <a:cubicBezTo>
                  <a:pt x="98" y="4"/>
                  <a:pt x="115" y="0"/>
                  <a:pt x="132" y="0"/>
                </a:cubicBezTo>
                <a:lnTo>
                  <a:pt x="2991" y="0"/>
                </a:lnTo>
                <a:cubicBezTo>
                  <a:pt x="3008" y="0"/>
                  <a:pt x="3025" y="4"/>
                  <a:pt x="3041" y="11"/>
                </a:cubicBezTo>
                <a:cubicBezTo>
                  <a:pt x="3058" y="17"/>
                  <a:pt x="3072" y="27"/>
                  <a:pt x="3084" y="39"/>
                </a:cubicBezTo>
                <a:cubicBezTo>
                  <a:pt x="3097" y="52"/>
                  <a:pt x="3106" y="66"/>
                  <a:pt x="3113" y="82"/>
                </a:cubicBezTo>
                <a:cubicBezTo>
                  <a:pt x="3120" y="98"/>
                  <a:pt x="3123" y="115"/>
                  <a:pt x="3123" y="133"/>
                </a:cubicBezTo>
                <a:lnTo>
                  <a:pt x="3123" y="1932"/>
                </a:lnTo>
                <a:cubicBezTo>
                  <a:pt x="3123" y="1949"/>
                  <a:pt x="3120" y="1966"/>
                  <a:pt x="3113" y="1984"/>
                </a:cubicBezTo>
                <a:cubicBezTo>
                  <a:pt x="3106" y="2000"/>
                  <a:pt x="3097" y="2014"/>
                  <a:pt x="3084" y="2027"/>
                </a:cubicBezTo>
                <a:cubicBezTo>
                  <a:pt x="3072" y="2039"/>
                  <a:pt x="3058" y="2048"/>
                  <a:pt x="3041" y="2055"/>
                </a:cubicBezTo>
                <a:cubicBezTo>
                  <a:pt x="3025" y="2062"/>
                  <a:pt x="3008" y="2065"/>
                  <a:pt x="2991" y="2065"/>
                </a:cubicBezTo>
                <a:lnTo>
                  <a:pt x="132" y="2065"/>
                </a:lnTo>
                <a:cubicBezTo>
                  <a:pt x="115" y="2065"/>
                  <a:pt x="98" y="2062"/>
                  <a:pt x="82" y="2055"/>
                </a:cubicBezTo>
                <a:cubicBezTo>
                  <a:pt x="65" y="2048"/>
                  <a:pt x="51" y="2039"/>
                  <a:pt x="39" y="2027"/>
                </a:cubicBezTo>
                <a:cubicBezTo>
                  <a:pt x="26" y="2014"/>
                  <a:pt x="17" y="2000"/>
                  <a:pt x="10" y="1984"/>
                </a:cubicBezTo>
                <a:cubicBezTo>
                  <a:pt x="3" y="1966"/>
                  <a:pt x="0" y="1949"/>
                  <a:pt x="0" y="1932"/>
                </a:cubicBezTo>
                <a:close/>
              </a:path>
            </a:pathLst>
          </a:custGeom>
          <a:noFill/>
          <a:ln w="18720">
            <a:solidFill>
              <a:srgbClr val="78A785"/>
            </a:solidFill>
            <a:miter/>
          </a:ln>
        </p:spPr>
        <p:txBody>
          <a:bodyPr lIns="9360" tIns="9360" rIns="9360" bIns="936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17" name=""/>
          <p:cNvSpPr txBox="1"/>
          <p:nvPr/>
        </p:nvSpPr>
        <p:spPr>
          <a:xfrm>
            <a:off x="8867880" y="4301280"/>
            <a:ext cx="416070" cy="36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2850" b="0" u="none" strike="noStrike">
                <a:solidFill>
                  <a:srgbClr val="697786"/>
                </a:solidFill>
                <a:effectLst/>
                <a:uFillTx/>
                <a:latin typeface="Hiragino Sans"/>
                <a:ea typeface="Hiragino Sans"/>
              </a:rPr>
              <a:t>→</a:t>
            </a:r>
            <a:endParaRPr lang="en-US" sz="28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18" name=""/>
          <p:cNvSpPr txBox="1"/>
          <p:nvPr/>
        </p:nvSpPr>
        <p:spPr>
          <a:xfrm>
            <a:off x="10096560" y="4339440"/>
            <a:ext cx="659916" cy="286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250" b="1" u="none" strike="noStrike">
                <a:solidFill>
                  <a:srgbClr val="327C50"/>
                </a:solidFill>
                <a:effectLst/>
                <a:uFillTx/>
                <a:latin typeface="Hiragino Sans"/>
                <a:ea typeface="Hiragino Sans"/>
              </a:rPr>
              <a:t>です</a:t>
            </a:r>
            <a:endParaRPr lang="en-US" sz="22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19" name=""/>
          <p:cNvSpPr txBox="1"/>
          <p:nvPr/>
        </p:nvSpPr>
        <p:spPr>
          <a:xfrm>
            <a:off x="799920" y="5380560"/>
            <a:ext cx="8676198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学習では</a:t>
            </a:r>
            <a:r>
              <a:rPr lang="ja-JP" sz="1800" b="0" u="none" strike="noStrike">
                <a:solidFill>
                  <a:srgbClr val="59636E"/>
                </a:solidFill>
                <a:effectLst/>
                <a:uFillTx/>
                <a:latin typeface="Hiragino Sans"/>
                <a:ea typeface="Hiragino Sans"/>
              </a:rPr>
              <a:t>、文章の途中までを見せ、実際の次の言葉を当てるように学ぶ。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20" name=""/>
          <p:cNvSpPr txBox="1"/>
          <p:nvPr/>
        </p:nvSpPr>
        <p:spPr>
          <a:xfrm>
            <a:off x="590400" y="5994000"/>
            <a:ext cx="7300476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430" b="0" u="none" strike="noStrike">
                <a:solidFill>
                  <a:srgbClr val="52606D"/>
                </a:solidFill>
                <a:effectLst/>
                <a:uFillTx/>
                <a:latin typeface="Hiragino Sans"/>
                <a:ea typeface="Hiragino Sans"/>
              </a:rPr>
              <a:t>説明用に言葉で区切った例。実際はトークン単位で予測し、生成を繰り返す。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21" name=""/>
          <p:cNvSpPr/>
          <p:nvPr/>
        </p:nvSpPr>
        <p:spPr>
          <a:xfrm>
            <a:off x="4743360" y="3647880"/>
            <a:ext cx="5639040" cy="28800"/>
          </a:xfrm>
          <a:custGeom>
            <a:avLst/>
            <a:gdLst/>
            <a:ahLst/>
            <a:rect l="0" t="0" r="r" b="b"/>
            <a:pathLst>
              <a:path w="15664" h="80">
                <a:moveTo>
                  <a:pt x="0" y="0"/>
                </a:moveTo>
                <a:lnTo>
                  <a:pt x="15664" y="0"/>
                </a:lnTo>
                <a:lnTo>
                  <a:pt x="1566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CF7D3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FFFFFF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22" name=""/>
          <p:cNvSpPr/>
          <p:nvPr/>
        </p:nvSpPr>
        <p:spPr>
          <a:xfrm>
            <a:off x="10353600" y="3152520"/>
            <a:ext cx="28800" cy="524160"/>
          </a:xfrm>
          <a:custGeom>
            <a:avLst/>
            <a:gdLst/>
            <a:ahLst/>
            <a:rect l="0" t="0" r="r" b="b"/>
            <a:pathLst>
              <a:path w="80" h="1456">
                <a:moveTo>
                  <a:pt x="0" y="0"/>
                </a:moveTo>
                <a:lnTo>
                  <a:pt x="80" y="0"/>
                </a:lnTo>
                <a:lnTo>
                  <a:pt x="80" y="1456"/>
                </a:lnTo>
                <a:lnTo>
                  <a:pt x="0" y="1456"/>
                </a:lnTo>
                <a:lnTo>
                  <a:pt x="0" y="0"/>
                </a:lnTo>
                <a:close/>
              </a:path>
            </a:pathLst>
          </a:custGeom>
          <a:solidFill>
            <a:srgbClr val="CF7D3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FFFFFF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23" name=""/>
          <p:cNvSpPr/>
          <p:nvPr/>
        </p:nvSpPr>
        <p:spPr>
          <a:xfrm>
            <a:off x="5067000" y="3295440"/>
            <a:ext cx="3772440" cy="314640"/>
          </a:xfrm>
          <a:custGeom>
            <a:avLst/>
            <a:gdLst/>
            <a:ahLst/>
            <a:rect l="0" t="0" r="r" b="b"/>
            <a:pathLst>
              <a:path w="10479" h="874">
                <a:moveTo>
                  <a:pt x="0" y="0"/>
                </a:moveTo>
                <a:lnTo>
                  <a:pt x="10479" y="0"/>
                </a:lnTo>
                <a:lnTo>
                  <a:pt x="10479" y="874"/>
                </a:lnTo>
                <a:lnTo>
                  <a:pt x="0" y="87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24" name=""/>
          <p:cNvSpPr txBox="1"/>
          <p:nvPr/>
        </p:nvSpPr>
        <p:spPr>
          <a:xfrm>
            <a:off x="285840" y="239760"/>
            <a:ext cx="181332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350" b="0" u="none" strike="noStrike">
                <a:solidFill>
                  <a:srgbClr val="666666"/>
                </a:solidFill>
                <a:effectLst/>
                <a:uFillTx/>
                <a:latin typeface="Hiragino Sans"/>
                <a:ea typeface="Hiragino Sans"/>
              </a:rPr>
              <a:t>4. </a:t>
            </a:r>
            <a:r>
              <a:rPr lang="ja-JP" sz="1350" b="0" u="none" strike="noStrike">
                <a:solidFill>
                  <a:srgbClr val="666666"/>
                </a:solidFill>
                <a:effectLst/>
                <a:uFillTx/>
                <a:latin typeface="Hiragino Sans"/>
                <a:ea typeface="Hiragino Sans"/>
              </a:rPr>
              <a:t>モデルと評価方法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25" name=""/>
          <p:cNvSpPr txBox="1"/>
          <p:nvPr/>
        </p:nvSpPr>
        <p:spPr>
          <a:xfrm>
            <a:off x="5067360" y="3339720"/>
            <a:ext cx="4322574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650" b="0" u="none" strike="noStrike">
                <a:solidFill>
                  <a:srgbClr val="A75A15"/>
                </a:solidFill>
                <a:effectLst/>
                <a:uFillTx/>
                <a:latin typeface="Hiragino Sans"/>
                <a:ea typeface="Hiragino Sans"/>
              </a:rPr>
              <a:t>出力した「好き」を、次の入力の末尾へ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26" name=""/>
          <p:cNvSpPr txBox="1"/>
          <p:nvPr/>
        </p:nvSpPr>
        <p:spPr>
          <a:xfrm>
            <a:off x="4572000" y="3555720"/>
            <a:ext cx="395370" cy="3434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2700" b="0" u="none" strike="noStrike">
                <a:solidFill>
                  <a:srgbClr val="CF7D31"/>
                </a:solidFill>
                <a:effectLst/>
                <a:uFillTx/>
                <a:latin typeface="Hiragino Sans"/>
                <a:ea typeface="Hiragino Sans"/>
              </a:rPr>
              <a:t>↓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27" name=""/>
          <p:cNvSpPr txBox="1"/>
          <p:nvPr/>
        </p:nvSpPr>
        <p:spPr>
          <a:xfrm>
            <a:off x="11705760" y="6466680"/>
            <a:ext cx="231012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Hiragino Sans"/>
                <a:ea typeface="Hiragino Sans"/>
              </a:rPr>
              <a:t>13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2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3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31" name=""/>
          <p:cNvSpPr/>
          <p:nvPr/>
        </p:nvSpPr>
        <p:spPr>
          <a:xfrm>
            <a:off x="595080" y="1576080"/>
            <a:ext cx="11001960" cy="3753360"/>
          </a:xfrm>
          <a:custGeom>
            <a:avLst/>
            <a:gdLst/>
            <a:ahLst/>
            <a:rect l="0" t="0" r="r" b="b"/>
            <a:pathLst>
              <a:path w="30561" h="10426">
                <a:moveTo>
                  <a:pt x="0" y="10280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20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30415" y="0"/>
                </a:lnTo>
                <a:cubicBezTo>
                  <a:pt x="30425" y="0"/>
                  <a:pt x="30434" y="1"/>
                  <a:pt x="30443" y="3"/>
                </a:cubicBezTo>
                <a:cubicBezTo>
                  <a:pt x="30453" y="5"/>
                  <a:pt x="30462" y="8"/>
                  <a:pt x="30471" y="11"/>
                </a:cubicBezTo>
                <a:cubicBezTo>
                  <a:pt x="30480" y="15"/>
                  <a:pt x="30488" y="20"/>
                  <a:pt x="30496" y="25"/>
                </a:cubicBezTo>
                <a:cubicBezTo>
                  <a:pt x="30504" y="30"/>
                  <a:pt x="30511" y="36"/>
                  <a:pt x="30518" y="43"/>
                </a:cubicBezTo>
                <a:cubicBezTo>
                  <a:pt x="30525" y="50"/>
                  <a:pt x="30531" y="57"/>
                  <a:pt x="30536" y="65"/>
                </a:cubicBezTo>
                <a:cubicBezTo>
                  <a:pt x="30541" y="73"/>
                  <a:pt x="30546" y="81"/>
                  <a:pt x="30549" y="90"/>
                </a:cubicBezTo>
                <a:cubicBezTo>
                  <a:pt x="30553" y="99"/>
                  <a:pt x="30556" y="108"/>
                  <a:pt x="30558" y="117"/>
                </a:cubicBezTo>
                <a:cubicBezTo>
                  <a:pt x="30560" y="127"/>
                  <a:pt x="30561" y="136"/>
                  <a:pt x="30561" y="146"/>
                </a:cubicBezTo>
                <a:lnTo>
                  <a:pt x="30561" y="10280"/>
                </a:lnTo>
                <a:cubicBezTo>
                  <a:pt x="30561" y="10290"/>
                  <a:pt x="30560" y="10299"/>
                  <a:pt x="30558" y="10309"/>
                </a:cubicBezTo>
                <a:cubicBezTo>
                  <a:pt x="30556" y="10318"/>
                  <a:pt x="30553" y="10327"/>
                  <a:pt x="30549" y="10336"/>
                </a:cubicBezTo>
                <a:cubicBezTo>
                  <a:pt x="30546" y="10345"/>
                  <a:pt x="30541" y="10353"/>
                  <a:pt x="30536" y="10361"/>
                </a:cubicBezTo>
                <a:cubicBezTo>
                  <a:pt x="30531" y="10369"/>
                  <a:pt x="30525" y="10377"/>
                  <a:pt x="30518" y="10383"/>
                </a:cubicBezTo>
                <a:cubicBezTo>
                  <a:pt x="30511" y="10390"/>
                  <a:pt x="30504" y="10396"/>
                  <a:pt x="30496" y="10401"/>
                </a:cubicBezTo>
                <a:cubicBezTo>
                  <a:pt x="30488" y="10407"/>
                  <a:pt x="30480" y="10411"/>
                  <a:pt x="30471" y="10415"/>
                </a:cubicBezTo>
                <a:cubicBezTo>
                  <a:pt x="30462" y="10419"/>
                  <a:pt x="30453" y="10421"/>
                  <a:pt x="30443" y="10423"/>
                </a:cubicBezTo>
                <a:cubicBezTo>
                  <a:pt x="30434" y="10425"/>
                  <a:pt x="30425" y="10426"/>
                  <a:pt x="30415" y="10426"/>
                </a:cubicBezTo>
                <a:lnTo>
                  <a:pt x="146" y="10426"/>
                </a:lnTo>
                <a:cubicBezTo>
                  <a:pt x="136" y="10426"/>
                  <a:pt x="127" y="10425"/>
                  <a:pt x="117" y="10423"/>
                </a:cubicBezTo>
                <a:cubicBezTo>
                  <a:pt x="108" y="10421"/>
                  <a:pt x="99" y="10419"/>
                  <a:pt x="90" y="10415"/>
                </a:cubicBezTo>
                <a:cubicBezTo>
                  <a:pt x="81" y="10411"/>
                  <a:pt x="73" y="10407"/>
                  <a:pt x="65" y="10401"/>
                </a:cubicBezTo>
                <a:cubicBezTo>
                  <a:pt x="57" y="10396"/>
                  <a:pt x="50" y="10390"/>
                  <a:pt x="43" y="10383"/>
                </a:cubicBezTo>
                <a:cubicBezTo>
                  <a:pt x="36" y="10377"/>
                  <a:pt x="30" y="10369"/>
                  <a:pt x="25" y="10361"/>
                </a:cubicBezTo>
                <a:cubicBezTo>
                  <a:pt x="19" y="10353"/>
                  <a:pt x="15" y="10345"/>
                  <a:pt x="11" y="10336"/>
                </a:cubicBezTo>
                <a:cubicBezTo>
                  <a:pt x="8" y="10327"/>
                  <a:pt x="5" y="10318"/>
                  <a:pt x="3" y="10309"/>
                </a:cubicBezTo>
                <a:cubicBezTo>
                  <a:pt x="1" y="10299"/>
                  <a:pt x="0" y="10290"/>
                  <a:pt x="0" y="10280"/>
                </a:cubicBez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32" name=""/>
          <p:cNvSpPr/>
          <p:nvPr/>
        </p:nvSpPr>
        <p:spPr>
          <a:xfrm>
            <a:off x="595080" y="1576080"/>
            <a:ext cx="11001960" cy="3753360"/>
          </a:xfrm>
          <a:custGeom>
            <a:avLst/>
            <a:gdLst/>
            <a:ahLst/>
            <a:rect l="0" t="0" r="r" b="b"/>
            <a:pathLst>
              <a:path w="30561" h="10426">
                <a:moveTo>
                  <a:pt x="0" y="10280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20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30415" y="0"/>
                </a:lnTo>
                <a:cubicBezTo>
                  <a:pt x="30425" y="0"/>
                  <a:pt x="30434" y="1"/>
                  <a:pt x="30443" y="3"/>
                </a:cubicBezTo>
                <a:cubicBezTo>
                  <a:pt x="30453" y="5"/>
                  <a:pt x="30462" y="8"/>
                  <a:pt x="30471" y="11"/>
                </a:cubicBezTo>
                <a:cubicBezTo>
                  <a:pt x="30480" y="15"/>
                  <a:pt x="30488" y="20"/>
                  <a:pt x="30496" y="25"/>
                </a:cubicBezTo>
                <a:cubicBezTo>
                  <a:pt x="30504" y="30"/>
                  <a:pt x="30511" y="36"/>
                  <a:pt x="30518" y="43"/>
                </a:cubicBezTo>
                <a:cubicBezTo>
                  <a:pt x="30525" y="50"/>
                  <a:pt x="30531" y="57"/>
                  <a:pt x="30536" y="65"/>
                </a:cubicBezTo>
                <a:cubicBezTo>
                  <a:pt x="30541" y="73"/>
                  <a:pt x="30546" y="81"/>
                  <a:pt x="30549" y="90"/>
                </a:cubicBezTo>
                <a:cubicBezTo>
                  <a:pt x="30553" y="99"/>
                  <a:pt x="30556" y="108"/>
                  <a:pt x="30558" y="117"/>
                </a:cubicBezTo>
                <a:cubicBezTo>
                  <a:pt x="30560" y="127"/>
                  <a:pt x="30561" y="136"/>
                  <a:pt x="30561" y="146"/>
                </a:cubicBezTo>
                <a:lnTo>
                  <a:pt x="30561" y="10280"/>
                </a:lnTo>
                <a:cubicBezTo>
                  <a:pt x="30561" y="10290"/>
                  <a:pt x="30560" y="10299"/>
                  <a:pt x="30558" y="10309"/>
                </a:cubicBezTo>
                <a:cubicBezTo>
                  <a:pt x="30556" y="10318"/>
                  <a:pt x="30553" y="10327"/>
                  <a:pt x="30549" y="10336"/>
                </a:cubicBezTo>
                <a:cubicBezTo>
                  <a:pt x="30546" y="10345"/>
                  <a:pt x="30541" y="10353"/>
                  <a:pt x="30536" y="10361"/>
                </a:cubicBezTo>
                <a:cubicBezTo>
                  <a:pt x="30531" y="10369"/>
                  <a:pt x="30525" y="10377"/>
                  <a:pt x="30518" y="10383"/>
                </a:cubicBezTo>
                <a:cubicBezTo>
                  <a:pt x="30511" y="10390"/>
                  <a:pt x="30504" y="10396"/>
                  <a:pt x="30496" y="10401"/>
                </a:cubicBezTo>
                <a:cubicBezTo>
                  <a:pt x="30488" y="10407"/>
                  <a:pt x="30480" y="10411"/>
                  <a:pt x="30471" y="10415"/>
                </a:cubicBezTo>
                <a:cubicBezTo>
                  <a:pt x="30462" y="10419"/>
                  <a:pt x="30453" y="10421"/>
                  <a:pt x="30443" y="10423"/>
                </a:cubicBezTo>
                <a:cubicBezTo>
                  <a:pt x="30434" y="10425"/>
                  <a:pt x="30425" y="10426"/>
                  <a:pt x="30415" y="10426"/>
                </a:cubicBezTo>
                <a:lnTo>
                  <a:pt x="146" y="10426"/>
                </a:lnTo>
                <a:cubicBezTo>
                  <a:pt x="136" y="10426"/>
                  <a:pt x="127" y="10425"/>
                  <a:pt x="117" y="10423"/>
                </a:cubicBezTo>
                <a:cubicBezTo>
                  <a:pt x="108" y="10421"/>
                  <a:pt x="99" y="10419"/>
                  <a:pt x="90" y="10415"/>
                </a:cubicBezTo>
                <a:cubicBezTo>
                  <a:pt x="81" y="10411"/>
                  <a:pt x="73" y="10407"/>
                  <a:pt x="65" y="10401"/>
                </a:cubicBezTo>
                <a:cubicBezTo>
                  <a:pt x="57" y="10396"/>
                  <a:pt x="50" y="10390"/>
                  <a:pt x="43" y="10383"/>
                </a:cubicBezTo>
                <a:cubicBezTo>
                  <a:pt x="36" y="10377"/>
                  <a:pt x="30" y="10369"/>
                  <a:pt x="25" y="10361"/>
                </a:cubicBezTo>
                <a:cubicBezTo>
                  <a:pt x="19" y="10353"/>
                  <a:pt x="15" y="10345"/>
                  <a:pt x="11" y="10336"/>
                </a:cubicBezTo>
                <a:cubicBezTo>
                  <a:pt x="8" y="10327"/>
                  <a:pt x="5" y="10318"/>
                  <a:pt x="3" y="10309"/>
                </a:cubicBezTo>
                <a:cubicBezTo>
                  <a:pt x="1" y="10299"/>
                  <a:pt x="0" y="10290"/>
                  <a:pt x="0" y="10280"/>
                </a:cubicBezTo>
                <a:close/>
              </a:path>
            </a:pathLst>
          </a:custGeom>
          <a:noFill/>
          <a:ln w="9360">
            <a:solidFill>
              <a:srgbClr val="D8E1E9"/>
            </a:solidFill>
            <a:miter/>
          </a:ln>
        </p:spPr>
        <p:txBody>
          <a:bodyPr lIns="4680" tIns="4680" rIns="4680" bIns="468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33" name=""/>
          <p:cNvSpPr/>
          <p:nvPr/>
        </p:nvSpPr>
        <p:spPr>
          <a:xfrm>
            <a:off x="590400" y="1171440"/>
            <a:ext cx="1257480" cy="295560"/>
          </a:xfrm>
          <a:custGeom>
            <a:avLst/>
            <a:gdLst/>
            <a:ahLst/>
            <a:rect l="0" t="0" r="r" b="b"/>
            <a:pathLst>
              <a:path w="3493" h="821">
                <a:moveTo>
                  <a:pt x="0" y="662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7"/>
                  <a:pt x="8" y="108"/>
                  <a:pt x="12" y="98"/>
                </a:cubicBezTo>
                <a:cubicBezTo>
                  <a:pt x="16" y="88"/>
                  <a:pt x="21" y="79"/>
                  <a:pt x="27" y="70"/>
                </a:cubicBezTo>
                <a:cubicBezTo>
                  <a:pt x="32" y="62"/>
                  <a:pt x="39" y="54"/>
                  <a:pt x="46" y="46"/>
                </a:cubicBezTo>
                <a:cubicBezTo>
                  <a:pt x="54" y="39"/>
                  <a:pt x="62" y="32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9" y="8"/>
                  <a:pt x="118" y="5"/>
                  <a:pt x="129" y="3"/>
                </a:cubicBezTo>
                <a:cubicBezTo>
                  <a:pt x="139" y="1"/>
                  <a:pt x="149" y="0"/>
                  <a:pt x="160" y="0"/>
                </a:cubicBezTo>
                <a:lnTo>
                  <a:pt x="3335" y="0"/>
                </a:lnTo>
                <a:cubicBezTo>
                  <a:pt x="3345" y="0"/>
                  <a:pt x="3355" y="1"/>
                  <a:pt x="3366" y="3"/>
                </a:cubicBezTo>
                <a:cubicBezTo>
                  <a:pt x="3376" y="5"/>
                  <a:pt x="3386" y="8"/>
                  <a:pt x="3395" y="12"/>
                </a:cubicBezTo>
                <a:cubicBezTo>
                  <a:pt x="3405" y="16"/>
                  <a:pt x="3414" y="21"/>
                  <a:pt x="3423" y="27"/>
                </a:cubicBezTo>
                <a:cubicBezTo>
                  <a:pt x="3432" y="32"/>
                  <a:pt x="3440" y="39"/>
                  <a:pt x="3447" y="46"/>
                </a:cubicBezTo>
                <a:cubicBezTo>
                  <a:pt x="3454" y="54"/>
                  <a:pt x="3461" y="62"/>
                  <a:pt x="3467" y="70"/>
                </a:cubicBezTo>
                <a:cubicBezTo>
                  <a:pt x="3472" y="79"/>
                  <a:pt x="3477" y="88"/>
                  <a:pt x="3481" y="98"/>
                </a:cubicBezTo>
                <a:cubicBezTo>
                  <a:pt x="3485" y="108"/>
                  <a:pt x="3488" y="117"/>
                  <a:pt x="3490" y="128"/>
                </a:cubicBezTo>
                <a:cubicBezTo>
                  <a:pt x="3492" y="138"/>
                  <a:pt x="3493" y="148"/>
                  <a:pt x="3493" y="159"/>
                </a:cubicBezTo>
                <a:lnTo>
                  <a:pt x="3493" y="662"/>
                </a:lnTo>
                <a:cubicBezTo>
                  <a:pt x="3493" y="673"/>
                  <a:pt x="3492" y="683"/>
                  <a:pt x="3490" y="693"/>
                </a:cubicBezTo>
                <a:cubicBezTo>
                  <a:pt x="3488" y="704"/>
                  <a:pt x="3485" y="713"/>
                  <a:pt x="3481" y="723"/>
                </a:cubicBezTo>
                <a:cubicBezTo>
                  <a:pt x="3477" y="733"/>
                  <a:pt x="3472" y="742"/>
                  <a:pt x="3467" y="751"/>
                </a:cubicBezTo>
                <a:cubicBezTo>
                  <a:pt x="3461" y="759"/>
                  <a:pt x="3454" y="767"/>
                  <a:pt x="3447" y="775"/>
                </a:cubicBezTo>
                <a:cubicBezTo>
                  <a:pt x="3440" y="782"/>
                  <a:pt x="3432" y="789"/>
                  <a:pt x="3423" y="794"/>
                </a:cubicBezTo>
                <a:cubicBezTo>
                  <a:pt x="3414" y="800"/>
                  <a:pt x="3405" y="805"/>
                  <a:pt x="3395" y="809"/>
                </a:cubicBezTo>
                <a:cubicBezTo>
                  <a:pt x="3386" y="813"/>
                  <a:pt x="3376" y="816"/>
                  <a:pt x="3366" y="818"/>
                </a:cubicBezTo>
                <a:cubicBezTo>
                  <a:pt x="3355" y="820"/>
                  <a:pt x="3345" y="821"/>
                  <a:pt x="3335" y="821"/>
                </a:cubicBezTo>
                <a:lnTo>
                  <a:pt x="160" y="821"/>
                </a:lnTo>
                <a:cubicBezTo>
                  <a:pt x="149" y="821"/>
                  <a:pt x="139" y="820"/>
                  <a:pt x="129" y="818"/>
                </a:cubicBezTo>
                <a:cubicBezTo>
                  <a:pt x="118" y="816"/>
                  <a:pt x="109" y="813"/>
                  <a:pt x="98" y="809"/>
                </a:cubicBezTo>
                <a:cubicBezTo>
                  <a:pt x="88" y="805"/>
                  <a:pt x="79" y="800"/>
                  <a:pt x="70" y="794"/>
                </a:cubicBezTo>
                <a:cubicBezTo>
                  <a:pt x="62" y="789"/>
                  <a:pt x="54" y="782"/>
                  <a:pt x="46" y="775"/>
                </a:cubicBezTo>
                <a:cubicBezTo>
                  <a:pt x="39" y="767"/>
                  <a:pt x="32" y="759"/>
                  <a:pt x="27" y="751"/>
                </a:cubicBezTo>
                <a:cubicBezTo>
                  <a:pt x="21" y="742"/>
                  <a:pt x="16" y="733"/>
                  <a:pt x="12" y="723"/>
                </a:cubicBezTo>
                <a:cubicBezTo>
                  <a:pt x="8" y="713"/>
                  <a:pt x="5" y="704"/>
                  <a:pt x="3" y="693"/>
                </a:cubicBezTo>
                <a:cubicBezTo>
                  <a:pt x="1" y="683"/>
                  <a:pt x="0" y="673"/>
                  <a:pt x="0" y="662"/>
                </a:cubicBezTo>
                <a:close/>
              </a:path>
            </a:pathLst>
          </a:custGeom>
          <a:solidFill>
            <a:srgbClr val="EEF3F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34" name=""/>
          <p:cNvSpPr txBox="1"/>
          <p:nvPr/>
        </p:nvSpPr>
        <p:spPr>
          <a:xfrm>
            <a:off x="590400" y="561600"/>
            <a:ext cx="7943418" cy="314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47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実装①：生成したトークンを、次の入力に加える</a:t>
            </a:r>
            <a:endParaRPr lang="en-US" sz="247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35" name=""/>
          <p:cNvSpPr txBox="1"/>
          <p:nvPr/>
        </p:nvSpPr>
        <p:spPr>
          <a:xfrm>
            <a:off x="664200" y="1208520"/>
            <a:ext cx="1277604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450" b="0" u="none" strike="noStrike">
                <a:solidFill>
                  <a:srgbClr val="17212B"/>
                </a:solidFill>
                <a:effectLst/>
                <a:uFillTx/>
                <a:latin typeface="Menlo"/>
                <a:ea typeface="Menlo"/>
              </a:rPr>
              <a:t>currentIds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36" name=""/>
          <p:cNvSpPr txBox="1"/>
          <p:nvPr/>
        </p:nvSpPr>
        <p:spPr>
          <a:xfrm>
            <a:off x="1848240" y="1196640"/>
            <a:ext cx="761553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 は日本語指示と生成済みコード。</a:t>
            </a:r>
            <a:r>
              <a:rPr lang="en-US" sz="16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1</a:t>
            </a:r>
            <a:r>
              <a:rPr lang="ja-JP" sz="16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回の推論で次の</a:t>
            </a:r>
            <a:r>
              <a:rPr lang="en-US" sz="16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1</a:t>
            </a:r>
            <a:r>
              <a:rPr lang="ja-JP" sz="16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トークンを選ぶ。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37" name=""/>
          <p:cNvSpPr txBox="1"/>
          <p:nvPr/>
        </p:nvSpPr>
        <p:spPr>
          <a:xfrm>
            <a:off x="762120" y="1716480"/>
            <a:ext cx="3803832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CF222E"/>
                </a:solidFill>
                <a:effectLst/>
                <a:uFillTx/>
                <a:latin typeface="Menlo"/>
                <a:ea typeface="Menlo"/>
              </a:rPr>
              <a:t>const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currentIds = [...promptIds];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38" name=""/>
          <p:cNvSpPr txBox="1"/>
          <p:nvPr/>
        </p:nvSpPr>
        <p:spPr>
          <a:xfrm>
            <a:off x="762120" y="1935720"/>
            <a:ext cx="2685204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CF222E"/>
                </a:solidFill>
                <a:effectLst/>
                <a:uFillTx/>
                <a:latin typeface="Menlo"/>
                <a:ea typeface="Menlo"/>
              </a:rPr>
              <a:t>const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generatedIds = [];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39" name=""/>
          <p:cNvSpPr txBox="1"/>
          <p:nvPr/>
        </p:nvSpPr>
        <p:spPr>
          <a:xfrm>
            <a:off x="762120" y="2154960"/>
            <a:ext cx="6040674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CF222E"/>
                </a:solidFill>
                <a:effectLst/>
                <a:uFillTx/>
                <a:latin typeface="Menlo"/>
                <a:ea typeface="Menlo"/>
              </a:rPr>
              <a:t>const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limit = model.context_length - promptIds.length;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40" name=""/>
          <p:cNvSpPr txBox="1"/>
          <p:nvPr/>
        </p:nvSpPr>
        <p:spPr>
          <a:xfrm>
            <a:off x="762120" y="2373840"/>
            <a:ext cx="2013696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CF222E"/>
                </a:solidFill>
                <a:effectLst/>
                <a:uFillTx/>
                <a:latin typeface="Menlo"/>
                <a:ea typeface="Menlo"/>
              </a:rPr>
              <a:t>let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ended = </a:t>
            </a:r>
            <a:r>
              <a:rPr lang="en-US" sz="1280" b="0" u="none" strike="noStrike">
                <a:solidFill>
                  <a:srgbClr val="0550AE"/>
                </a:solidFill>
                <a:effectLst/>
                <a:uFillTx/>
                <a:latin typeface="Menlo"/>
                <a:ea typeface="Menlo"/>
              </a:rPr>
              <a:t>false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;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41" name=""/>
          <p:cNvSpPr txBox="1"/>
          <p:nvPr/>
        </p:nvSpPr>
        <p:spPr>
          <a:xfrm>
            <a:off x="762120" y="2593080"/>
            <a:ext cx="448362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59636E"/>
                </a:solidFill>
                <a:effectLst/>
                <a:uFillTx/>
                <a:latin typeface="Menlo"/>
                <a:ea typeface="Menlo"/>
              </a:rPr>
              <a:t>// …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42" name=""/>
          <p:cNvSpPr txBox="1"/>
          <p:nvPr/>
        </p:nvSpPr>
        <p:spPr>
          <a:xfrm>
            <a:off x="1152000" y="2600640"/>
            <a:ext cx="2230218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280" b="0" u="none" strike="noStrike">
                <a:solidFill>
                  <a:srgbClr val="59636E"/>
                </a:solidFill>
                <a:effectLst/>
                <a:uFillTx/>
                <a:latin typeface="Hiragino Sans"/>
                <a:ea typeface="Hiragino Sans"/>
              </a:rPr>
              <a:t>（表示の準備などを省略）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43" name=""/>
          <p:cNvSpPr txBox="1"/>
          <p:nvPr/>
        </p:nvSpPr>
        <p:spPr>
          <a:xfrm>
            <a:off x="762120" y="2811960"/>
            <a:ext cx="6822306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CF222E"/>
                </a:solidFill>
                <a:effectLst/>
                <a:uFillTx/>
                <a:latin typeface="Menlo"/>
                <a:ea typeface="Menlo"/>
              </a:rPr>
              <a:t>for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(</a:t>
            </a:r>
            <a:r>
              <a:rPr lang="en-US" sz="1280" b="0" u="none" strike="noStrike">
                <a:solidFill>
                  <a:srgbClr val="CF222E"/>
                </a:solidFill>
                <a:effectLst/>
                <a:uFillTx/>
                <a:latin typeface="Menlo"/>
                <a:ea typeface="Menlo"/>
              </a:rPr>
              <a:t>let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step = </a:t>
            </a:r>
            <a:r>
              <a:rPr lang="en-US" sz="1280" b="0" u="none" strike="noStrike">
                <a:solidFill>
                  <a:srgbClr val="0550AE"/>
                </a:solidFill>
                <a:effectLst/>
                <a:uFillTx/>
                <a:latin typeface="Menlo"/>
                <a:ea typeface="Menlo"/>
              </a:rPr>
              <a:t>0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; step &lt; limit &amp;&amp; </a:t>
            </a:r>
            <a:r>
              <a:rPr lang="en-US" sz="1280" b="0" u="none" strike="noStrike">
                <a:solidFill>
                  <a:srgbClr val="6639BA"/>
                </a:solidFill>
                <a:effectLst/>
                <a:uFillTx/>
                <a:latin typeface="Menlo"/>
                <a:ea typeface="Menlo"/>
              </a:rPr>
              <a:t>current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(job); step += </a:t>
            </a:r>
            <a:r>
              <a:rPr lang="en-US" sz="1280" b="0" u="none" strike="noStrike">
                <a:solidFill>
                  <a:srgbClr val="0550AE"/>
                </a:solidFill>
                <a:effectLst/>
                <a:uFillTx/>
                <a:latin typeface="Menlo"/>
                <a:ea typeface="Menlo"/>
              </a:rPr>
              <a:t>1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) {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44" name=""/>
          <p:cNvSpPr txBox="1"/>
          <p:nvPr/>
        </p:nvSpPr>
        <p:spPr>
          <a:xfrm>
            <a:off x="762120" y="3031200"/>
            <a:ext cx="11239380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 </a:t>
            </a:r>
            <a:r>
              <a:rPr lang="en-US" sz="1280" b="0" u="none" strike="noStrike">
                <a:solidFill>
                  <a:srgbClr val="CF222E"/>
                </a:solidFill>
                <a:effectLst/>
                <a:uFillTx/>
                <a:latin typeface="Menlo"/>
                <a:ea typeface="Menlo"/>
              </a:rPr>
              <a:t>const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input = </a:t>
            </a:r>
            <a:r>
              <a:rPr lang="en-US" sz="1280" b="0" u="none" strike="noStrike">
                <a:solidFill>
                  <a:srgbClr val="CF222E"/>
                </a:solidFill>
                <a:effectLst/>
                <a:uFillTx/>
                <a:latin typeface="Menlo"/>
                <a:ea typeface="Menlo"/>
              </a:rPr>
              <a:t>new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ort.</a:t>
            </a:r>
            <a:r>
              <a:rPr lang="en-US" sz="1280" b="0" u="none" strike="noStrike">
                <a:solidFill>
                  <a:srgbClr val="6639BA"/>
                </a:solidFill>
                <a:effectLst/>
                <a:uFillTx/>
                <a:latin typeface="Menlo"/>
                <a:ea typeface="Menlo"/>
              </a:rPr>
              <a:t>Tensor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(</a:t>
            </a:r>
            <a:r>
              <a:rPr lang="en-US" sz="1280" b="0" u="none" strike="noStrike">
                <a:solidFill>
                  <a:srgbClr val="0A3069"/>
                </a:solidFill>
                <a:effectLst/>
                <a:uFillTx/>
                <a:latin typeface="Menlo"/>
                <a:ea typeface="Menlo"/>
              </a:rPr>
              <a:t>"int64"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, </a:t>
            </a:r>
            <a:r>
              <a:rPr lang="en-US" sz="1280" b="0" u="none" strike="noStrike">
                <a:solidFill>
                  <a:srgbClr val="6639BA"/>
                </a:solidFill>
                <a:effectLst/>
                <a:uFillTx/>
                <a:latin typeface="Menlo"/>
                <a:ea typeface="Menlo"/>
              </a:rPr>
              <a:t>BigInt64Array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.</a:t>
            </a:r>
            <a:r>
              <a:rPr lang="en-US" sz="1280" b="0" u="none" strike="noStrike">
                <a:solidFill>
                  <a:srgbClr val="6639BA"/>
                </a:solidFill>
                <a:effectLst/>
                <a:uFillTx/>
                <a:latin typeface="Menlo"/>
                <a:ea typeface="Menlo"/>
              </a:rPr>
              <a:t>from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(currentIds, </a:t>
            </a:r>
            <a:r>
              <a:rPr lang="en-US" sz="1280" b="0" u="none" strike="noStrike">
                <a:solidFill>
                  <a:srgbClr val="6639BA"/>
                </a:solidFill>
                <a:effectLst/>
                <a:uFillTx/>
                <a:latin typeface="Menlo"/>
                <a:ea typeface="Menlo"/>
              </a:rPr>
              <a:t>BigInt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), [</a:t>
            </a:r>
            <a:r>
              <a:rPr lang="en-US" sz="1280" b="0" u="none" strike="noStrike">
                <a:solidFill>
                  <a:srgbClr val="0550AE"/>
                </a:solidFill>
                <a:effectLst/>
                <a:uFillTx/>
                <a:latin typeface="Menlo"/>
                <a:ea typeface="Menlo"/>
              </a:rPr>
              <a:t>1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, currentIds.length]);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45" name=""/>
          <p:cNvSpPr txBox="1"/>
          <p:nvPr/>
        </p:nvSpPr>
        <p:spPr>
          <a:xfrm>
            <a:off x="762120" y="3250080"/>
            <a:ext cx="1566162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 </a:t>
            </a:r>
            <a:r>
              <a:rPr lang="en-US" sz="1280" b="0" u="none" strike="noStrike">
                <a:solidFill>
                  <a:srgbClr val="CF222E"/>
                </a:solidFill>
                <a:effectLst/>
                <a:uFillTx/>
                <a:latin typeface="Menlo"/>
                <a:ea typeface="Menlo"/>
              </a:rPr>
              <a:t>let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outputs;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46" name=""/>
          <p:cNvSpPr txBox="1"/>
          <p:nvPr/>
        </p:nvSpPr>
        <p:spPr>
          <a:xfrm>
            <a:off x="762120" y="3469320"/>
            <a:ext cx="783288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 </a:t>
            </a:r>
            <a:r>
              <a:rPr lang="en-US" sz="1280" b="0" u="none" strike="noStrike">
                <a:solidFill>
                  <a:srgbClr val="CF222E"/>
                </a:solidFill>
                <a:effectLst/>
                <a:uFillTx/>
                <a:latin typeface="Menlo"/>
                <a:ea typeface="Menlo"/>
              </a:rPr>
              <a:t>try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{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47" name=""/>
          <p:cNvSpPr txBox="1"/>
          <p:nvPr/>
        </p:nvSpPr>
        <p:spPr>
          <a:xfrm>
            <a:off x="762120" y="3678840"/>
            <a:ext cx="6934914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   outputs = </a:t>
            </a:r>
            <a:r>
              <a:rPr lang="en-US" sz="1280" b="0" u="none" strike="noStrike">
                <a:solidFill>
                  <a:srgbClr val="CF222E"/>
                </a:solidFill>
                <a:effectLst/>
                <a:uFillTx/>
                <a:latin typeface="Menlo"/>
                <a:ea typeface="Menlo"/>
              </a:rPr>
              <a:t>await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runtime.session.</a:t>
            </a:r>
            <a:r>
              <a:rPr lang="en-US" sz="1280" b="0" u="none" strike="noStrike">
                <a:solidFill>
                  <a:srgbClr val="6639BA"/>
                </a:solidFill>
                <a:effectLst/>
                <a:uFillTx/>
                <a:latin typeface="Menlo"/>
                <a:ea typeface="Menlo"/>
              </a:rPr>
              <a:t>run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({ </a:t>
            </a:r>
            <a:r>
              <a:rPr lang="en-US" sz="1280" b="0" u="none" strike="noStrike">
                <a:solidFill>
                  <a:srgbClr val="0550AE"/>
                </a:solidFill>
                <a:effectLst/>
                <a:uFillTx/>
                <a:latin typeface="Menlo"/>
                <a:ea typeface="Menlo"/>
              </a:rPr>
              <a:t>input_ids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: input });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48" name=""/>
          <p:cNvSpPr txBox="1"/>
          <p:nvPr/>
        </p:nvSpPr>
        <p:spPr>
          <a:xfrm>
            <a:off x="762120" y="3897720"/>
            <a:ext cx="3244104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   </a:t>
            </a:r>
            <a:r>
              <a:rPr lang="en-US" sz="1280" b="0" u="none" strike="noStrike">
                <a:solidFill>
                  <a:srgbClr val="CF222E"/>
                </a:solidFill>
                <a:effectLst/>
                <a:uFillTx/>
                <a:latin typeface="Menlo"/>
                <a:ea typeface="Menlo"/>
              </a:rPr>
              <a:t>if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(!</a:t>
            </a:r>
            <a:r>
              <a:rPr lang="en-US" sz="1280" b="0" u="none" strike="noStrike">
                <a:solidFill>
                  <a:srgbClr val="6639BA"/>
                </a:solidFill>
                <a:effectLst/>
                <a:uFillTx/>
                <a:latin typeface="Menlo"/>
                <a:ea typeface="Menlo"/>
              </a:rPr>
              <a:t>current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(job)) </a:t>
            </a:r>
            <a:r>
              <a:rPr lang="en-US" sz="1280" b="0" u="none" strike="noStrike">
                <a:solidFill>
                  <a:srgbClr val="CF222E"/>
                </a:solidFill>
                <a:effectLst/>
                <a:uFillTx/>
                <a:latin typeface="Menlo"/>
                <a:ea typeface="Menlo"/>
              </a:rPr>
              <a:t>break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;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49" name=""/>
          <p:cNvSpPr txBox="1"/>
          <p:nvPr/>
        </p:nvSpPr>
        <p:spPr>
          <a:xfrm>
            <a:off x="762120" y="4116960"/>
            <a:ext cx="7383276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   </a:t>
            </a:r>
            <a:r>
              <a:rPr lang="en-US" sz="1280" b="0" u="none" strike="noStrike">
                <a:solidFill>
                  <a:srgbClr val="CF222E"/>
                </a:solidFill>
                <a:effectLst/>
                <a:uFillTx/>
                <a:latin typeface="Menlo"/>
                <a:ea typeface="Menlo"/>
              </a:rPr>
              <a:t>const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tokenId = </a:t>
            </a:r>
            <a:r>
              <a:rPr lang="en-US" sz="1280" b="0" u="none" strike="noStrike">
                <a:solidFill>
                  <a:srgbClr val="6639BA"/>
                </a:solidFill>
                <a:effectLst/>
                <a:uFillTx/>
                <a:latin typeface="Menlo"/>
                <a:ea typeface="Menlo"/>
              </a:rPr>
              <a:t>selectToken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(outputs.logits.data, temperature);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50" name=""/>
          <p:cNvSpPr txBox="1"/>
          <p:nvPr/>
        </p:nvSpPr>
        <p:spPr>
          <a:xfrm>
            <a:off x="762120" y="4335840"/>
            <a:ext cx="9172170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   </a:t>
            </a:r>
            <a:r>
              <a:rPr lang="en-US" sz="1280" b="0" u="none" strike="noStrike">
                <a:solidFill>
                  <a:srgbClr val="CF222E"/>
                </a:solidFill>
                <a:effectLst/>
                <a:uFillTx/>
                <a:latin typeface="Menlo"/>
                <a:ea typeface="Menlo"/>
              </a:rPr>
              <a:t>if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(tokenId === state.manifest.special_token_ids.eos) { ended = </a:t>
            </a:r>
            <a:r>
              <a:rPr lang="en-US" sz="1280" b="0" u="none" strike="noStrike">
                <a:solidFill>
                  <a:srgbClr val="0550AE"/>
                </a:solidFill>
                <a:effectLst/>
                <a:uFillTx/>
                <a:latin typeface="Menlo"/>
                <a:ea typeface="Menlo"/>
              </a:rPr>
              <a:t>true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; </a:t>
            </a:r>
            <a:r>
              <a:rPr lang="en-US" sz="1280" b="0" u="none" strike="noStrike">
                <a:solidFill>
                  <a:srgbClr val="CF222E"/>
                </a:solidFill>
                <a:effectLst/>
                <a:uFillTx/>
                <a:latin typeface="Menlo"/>
                <a:ea typeface="Menlo"/>
              </a:rPr>
              <a:t>break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; }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51" name=""/>
          <p:cNvSpPr txBox="1"/>
          <p:nvPr/>
        </p:nvSpPr>
        <p:spPr>
          <a:xfrm>
            <a:off x="762120" y="4555080"/>
            <a:ext cx="3244518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   currentIds.</a:t>
            </a:r>
            <a:r>
              <a:rPr lang="en-US" sz="1280" b="0" u="none" strike="noStrike">
                <a:solidFill>
                  <a:srgbClr val="6639BA"/>
                </a:solidFill>
                <a:effectLst/>
                <a:uFillTx/>
                <a:latin typeface="Menlo"/>
                <a:ea typeface="Menlo"/>
              </a:rPr>
              <a:t>push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(tokenId);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52" name=""/>
          <p:cNvSpPr txBox="1"/>
          <p:nvPr/>
        </p:nvSpPr>
        <p:spPr>
          <a:xfrm>
            <a:off x="762120" y="4774320"/>
            <a:ext cx="3468492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   generatedIds.</a:t>
            </a:r>
            <a:r>
              <a:rPr lang="en-US" sz="1280" b="0" u="none" strike="noStrike">
                <a:solidFill>
                  <a:srgbClr val="6639BA"/>
                </a:solidFill>
                <a:effectLst/>
                <a:uFillTx/>
                <a:latin typeface="Menlo"/>
                <a:ea typeface="Menlo"/>
              </a:rPr>
              <a:t>push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(tokenId);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53" name=""/>
          <p:cNvSpPr txBox="1"/>
          <p:nvPr/>
        </p:nvSpPr>
        <p:spPr>
          <a:xfrm>
            <a:off x="762120" y="4993200"/>
            <a:ext cx="895896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   </a:t>
            </a:r>
            <a:r>
              <a:rPr lang="en-US" sz="1280" b="0" u="none" strike="noStrike">
                <a:solidFill>
                  <a:srgbClr val="59636E"/>
                </a:solidFill>
                <a:effectLst/>
                <a:uFillTx/>
                <a:latin typeface="Menlo"/>
                <a:ea typeface="Menlo"/>
              </a:rPr>
              <a:t>// …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54" name=""/>
          <p:cNvSpPr txBox="1"/>
          <p:nvPr/>
        </p:nvSpPr>
        <p:spPr>
          <a:xfrm>
            <a:off x="1541880" y="5001120"/>
            <a:ext cx="1115316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280" b="0" u="none" strike="noStrike">
                <a:solidFill>
                  <a:srgbClr val="59636E"/>
                </a:solidFill>
                <a:effectLst/>
                <a:uFillTx/>
                <a:latin typeface="Hiragino Sans"/>
                <a:ea typeface="Hiragino Sans"/>
              </a:rPr>
              <a:t>（表示更新・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55" name=""/>
          <p:cNvSpPr txBox="1"/>
          <p:nvPr/>
        </p:nvSpPr>
        <p:spPr>
          <a:xfrm>
            <a:off x="2513520" y="4993200"/>
            <a:ext cx="783702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59636E"/>
                </a:solidFill>
                <a:effectLst/>
                <a:uFillTx/>
                <a:latin typeface="Menlo"/>
                <a:ea typeface="Menlo"/>
              </a:rPr>
              <a:t>finally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56" name=""/>
          <p:cNvSpPr/>
          <p:nvPr/>
        </p:nvSpPr>
        <p:spPr>
          <a:xfrm>
            <a:off x="590400" y="5457600"/>
            <a:ext cx="2810160" cy="295560"/>
          </a:xfrm>
          <a:custGeom>
            <a:avLst/>
            <a:gdLst/>
            <a:ahLst/>
            <a:rect l="0" t="0" r="r" b="b"/>
            <a:pathLst>
              <a:path w="7806" h="821">
                <a:moveTo>
                  <a:pt x="0" y="663"/>
                </a:moveTo>
                <a:lnTo>
                  <a:pt x="0" y="160"/>
                </a:lnTo>
                <a:cubicBezTo>
                  <a:pt x="0" y="149"/>
                  <a:pt x="1" y="139"/>
                  <a:pt x="3" y="129"/>
                </a:cubicBezTo>
                <a:cubicBezTo>
                  <a:pt x="5" y="119"/>
                  <a:pt x="8" y="109"/>
                  <a:pt x="12" y="99"/>
                </a:cubicBezTo>
                <a:cubicBezTo>
                  <a:pt x="16" y="89"/>
                  <a:pt x="21" y="80"/>
                  <a:pt x="27" y="72"/>
                </a:cubicBezTo>
                <a:cubicBezTo>
                  <a:pt x="32" y="63"/>
                  <a:pt x="39" y="55"/>
                  <a:pt x="46" y="48"/>
                </a:cubicBezTo>
                <a:cubicBezTo>
                  <a:pt x="54" y="40"/>
                  <a:pt x="62" y="34"/>
                  <a:pt x="70" y="28"/>
                </a:cubicBezTo>
                <a:cubicBezTo>
                  <a:pt x="79" y="22"/>
                  <a:pt x="88" y="17"/>
                  <a:pt x="98" y="13"/>
                </a:cubicBezTo>
                <a:cubicBezTo>
                  <a:pt x="108" y="8"/>
                  <a:pt x="117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7647" y="0"/>
                </a:lnTo>
                <a:cubicBezTo>
                  <a:pt x="7658" y="0"/>
                  <a:pt x="7668" y="1"/>
                  <a:pt x="7678" y="3"/>
                </a:cubicBezTo>
                <a:cubicBezTo>
                  <a:pt x="7689" y="5"/>
                  <a:pt x="7698" y="8"/>
                  <a:pt x="7708" y="13"/>
                </a:cubicBezTo>
                <a:cubicBezTo>
                  <a:pt x="7718" y="17"/>
                  <a:pt x="7727" y="22"/>
                  <a:pt x="7736" y="28"/>
                </a:cubicBezTo>
                <a:cubicBezTo>
                  <a:pt x="7744" y="34"/>
                  <a:pt x="7752" y="40"/>
                  <a:pt x="7760" y="48"/>
                </a:cubicBezTo>
                <a:cubicBezTo>
                  <a:pt x="7767" y="55"/>
                  <a:pt x="7774" y="63"/>
                  <a:pt x="7779" y="72"/>
                </a:cubicBezTo>
                <a:cubicBezTo>
                  <a:pt x="7785" y="80"/>
                  <a:pt x="7790" y="89"/>
                  <a:pt x="7794" y="99"/>
                </a:cubicBezTo>
                <a:cubicBezTo>
                  <a:pt x="7798" y="109"/>
                  <a:pt x="7801" y="119"/>
                  <a:pt x="7803" y="129"/>
                </a:cubicBezTo>
                <a:cubicBezTo>
                  <a:pt x="7805" y="139"/>
                  <a:pt x="7806" y="149"/>
                  <a:pt x="7806" y="160"/>
                </a:cubicBezTo>
                <a:lnTo>
                  <a:pt x="7806" y="663"/>
                </a:lnTo>
                <a:cubicBezTo>
                  <a:pt x="7806" y="673"/>
                  <a:pt x="7805" y="683"/>
                  <a:pt x="7803" y="694"/>
                </a:cubicBezTo>
                <a:cubicBezTo>
                  <a:pt x="7801" y="704"/>
                  <a:pt x="7798" y="714"/>
                  <a:pt x="7794" y="723"/>
                </a:cubicBezTo>
                <a:cubicBezTo>
                  <a:pt x="7790" y="733"/>
                  <a:pt x="7785" y="742"/>
                  <a:pt x="7779" y="751"/>
                </a:cubicBezTo>
                <a:cubicBezTo>
                  <a:pt x="7774" y="759"/>
                  <a:pt x="7767" y="767"/>
                  <a:pt x="7760" y="775"/>
                </a:cubicBezTo>
                <a:cubicBezTo>
                  <a:pt x="7752" y="782"/>
                  <a:pt x="7744" y="789"/>
                  <a:pt x="7736" y="795"/>
                </a:cubicBezTo>
                <a:cubicBezTo>
                  <a:pt x="7727" y="800"/>
                  <a:pt x="7718" y="805"/>
                  <a:pt x="7708" y="809"/>
                </a:cubicBezTo>
                <a:cubicBezTo>
                  <a:pt x="7698" y="813"/>
                  <a:pt x="7689" y="816"/>
                  <a:pt x="7678" y="818"/>
                </a:cubicBezTo>
                <a:cubicBezTo>
                  <a:pt x="7668" y="820"/>
                  <a:pt x="7658" y="821"/>
                  <a:pt x="7647" y="821"/>
                </a:cubicBezTo>
                <a:lnTo>
                  <a:pt x="159" y="821"/>
                </a:lnTo>
                <a:cubicBezTo>
                  <a:pt x="148" y="821"/>
                  <a:pt x="138" y="820"/>
                  <a:pt x="128" y="818"/>
                </a:cubicBezTo>
                <a:cubicBezTo>
                  <a:pt x="117" y="816"/>
                  <a:pt x="108" y="813"/>
                  <a:pt x="98" y="809"/>
                </a:cubicBezTo>
                <a:cubicBezTo>
                  <a:pt x="88" y="805"/>
                  <a:pt x="79" y="800"/>
                  <a:pt x="70" y="795"/>
                </a:cubicBezTo>
                <a:cubicBezTo>
                  <a:pt x="62" y="789"/>
                  <a:pt x="54" y="782"/>
                  <a:pt x="46" y="775"/>
                </a:cubicBezTo>
                <a:cubicBezTo>
                  <a:pt x="39" y="767"/>
                  <a:pt x="32" y="759"/>
                  <a:pt x="27" y="751"/>
                </a:cubicBezTo>
                <a:cubicBezTo>
                  <a:pt x="21" y="742"/>
                  <a:pt x="16" y="733"/>
                  <a:pt x="12" y="723"/>
                </a:cubicBezTo>
                <a:cubicBezTo>
                  <a:pt x="8" y="714"/>
                  <a:pt x="5" y="704"/>
                  <a:pt x="3" y="694"/>
                </a:cubicBezTo>
                <a:cubicBezTo>
                  <a:pt x="1" y="683"/>
                  <a:pt x="0" y="673"/>
                  <a:pt x="0" y="663"/>
                </a:cubicBezTo>
                <a:close/>
              </a:path>
            </a:pathLst>
          </a:custGeom>
          <a:solidFill>
            <a:srgbClr val="EEF3F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57" name=""/>
          <p:cNvSpPr txBox="1"/>
          <p:nvPr/>
        </p:nvSpPr>
        <p:spPr>
          <a:xfrm>
            <a:off x="3196080" y="5001120"/>
            <a:ext cx="3344706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280" b="0" u="none" strike="noStrike">
                <a:solidFill>
                  <a:srgbClr val="59636E"/>
                </a:solidFill>
                <a:effectLst/>
                <a:uFillTx/>
                <a:latin typeface="Hiragino Sans"/>
                <a:ea typeface="Hiragino Sans"/>
              </a:rPr>
              <a:t>によるリソース解放・閉じ括弧を省略）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58" name=""/>
          <p:cNvSpPr txBox="1"/>
          <p:nvPr/>
        </p:nvSpPr>
        <p:spPr>
          <a:xfrm>
            <a:off x="664200" y="5495040"/>
            <a:ext cx="3064842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450" b="1" u="none" strike="noStrike">
                <a:solidFill>
                  <a:srgbClr val="245F8B"/>
                </a:solidFill>
                <a:effectLst/>
                <a:uFillTx/>
                <a:latin typeface="Menlo"/>
                <a:ea typeface="Menlo"/>
              </a:rPr>
              <a:t>currentIds.push(tokenId)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59" name=""/>
          <p:cNvSpPr txBox="1"/>
          <p:nvPr/>
        </p:nvSpPr>
        <p:spPr>
          <a:xfrm>
            <a:off x="3402360" y="5482800"/>
            <a:ext cx="5122836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6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 で入力を伸ばし、同じモデルをもう一度呼ぶ。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60" name=""/>
          <p:cNvSpPr/>
          <p:nvPr/>
        </p:nvSpPr>
        <p:spPr>
          <a:xfrm>
            <a:off x="1914480" y="5752800"/>
            <a:ext cx="486000" cy="295920"/>
          </a:xfrm>
          <a:custGeom>
            <a:avLst/>
            <a:gdLst/>
            <a:ahLst/>
            <a:rect l="0" t="0" r="r" b="b"/>
            <a:pathLst>
              <a:path w="1350" h="822">
                <a:moveTo>
                  <a:pt x="0" y="663"/>
                </a:moveTo>
                <a:lnTo>
                  <a:pt x="0" y="160"/>
                </a:lnTo>
                <a:cubicBezTo>
                  <a:pt x="0" y="150"/>
                  <a:pt x="1" y="139"/>
                  <a:pt x="3" y="129"/>
                </a:cubicBezTo>
                <a:cubicBezTo>
                  <a:pt x="5" y="119"/>
                  <a:pt x="8" y="109"/>
                  <a:pt x="12" y="99"/>
                </a:cubicBezTo>
                <a:cubicBezTo>
                  <a:pt x="16" y="90"/>
                  <a:pt x="21" y="81"/>
                  <a:pt x="26" y="72"/>
                </a:cubicBezTo>
                <a:cubicBezTo>
                  <a:pt x="32" y="63"/>
                  <a:pt x="39" y="55"/>
                  <a:pt x="46" y="48"/>
                </a:cubicBezTo>
                <a:cubicBezTo>
                  <a:pt x="53" y="40"/>
                  <a:pt x="62" y="34"/>
                  <a:pt x="70" y="28"/>
                </a:cubicBezTo>
                <a:cubicBezTo>
                  <a:pt x="79" y="22"/>
                  <a:pt x="88" y="17"/>
                  <a:pt x="98" y="13"/>
                </a:cubicBezTo>
                <a:cubicBezTo>
                  <a:pt x="107" y="8"/>
                  <a:pt x="117" y="5"/>
                  <a:pt x="127" y="3"/>
                </a:cubicBezTo>
                <a:cubicBezTo>
                  <a:pt x="138" y="1"/>
                  <a:pt x="148" y="0"/>
                  <a:pt x="158" y="0"/>
                </a:cubicBezTo>
                <a:lnTo>
                  <a:pt x="1191" y="0"/>
                </a:lnTo>
                <a:cubicBezTo>
                  <a:pt x="1202" y="0"/>
                  <a:pt x="1212" y="1"/>
                  <a:pt x="1222" y="3"/>
                </a:cubicBezTo>
                <a:cubicBezTo>
                  <a:pt x="1232" y="5"/>
                  <a:pt x="1242" y="8"/>
                  <a:pt x="1252" y="13"/>
                </a:cubicBezTo>
                <a:cubicBezTo>
                  <a:pt x="1262" y="17"/>
                  <a:pt x="1271" y="22"/>
                  <a:pt x="1279" y="28"/>
                </a:cubicBezTo>
                <a:cubicBezTo>
                  <a:pt x="1288" y="34"/>
                  <a:pt x="1296" y="40"/>
                  <a:pt x="1304" y="48"/>
                </a:cubicBezTo>
                <a:cubicBezTo>
                  <a:pt x="1311" y="55"/>
                  <a:pt x="1317" y="63"/>
                  <a:pt x="1323" y="72"/>
                </a:cubicBezTo>
                <a:cubicBezTo>
                  <a:pt x="1329" y="81"/>
                  <a:pt x="1334" y="90"/>
                  <a:pt x="1338" y="99"/>
                </a:cubicBezTo>
                <a:cubicBezTo>
                  <a:pt x="1342" y="109"/>
                  <a:pt x="1345" y="119"/>
                  <a:pt x="1347" y="129"/>
                </a:cubicBezTo>
                <a:cubicBezTo>
                  <a:pt x="1349" y="139"/>
                  <a:pt x="1350" y="150"/>
                  <a:pt x="1350" y="160"/>
                </a:cubicBezTo>
                <a:lnTo>
                  <a:pt x="1350" y="663"/>
                </a:lnTo>
                <a:cubicBezTo>
                  <a:pt x="1350" y="673"/>
                  <a:pt x="1349" y="684"/>
                  <a:pt x="1347" y="694"/>
                </a:cubicBezTo>
                <a:cubicBezTo>
                  <a:pt x="1345" y="704"/>
                  <a:pt x="1342" y="714"/>
                  <a:pt x="1338" y="724"/>
                </a:cubicBezTo>
                <a:cubicBezTo>
                  <a:pt x="1334" y="733"/>
                  <a:pt x="1329" y="742"/>
                  <a:pt x="1323" y="751"/>
                </a:cubicBezTo>
                <a:cubicBezTo>
                  <a:pt x="1317" y="760"/>
                  <a:pt x="1311" y="768"/>
                  <a:pt x="1304" y="775"/>
                </a:cubicBezTo>
                <a:cubicBezTo>
                  <a:pt x="1296" y="782"/>
                  <a:pt x="1288" y="789"/>
                  <a:pt x="1279" y="795"/>
                </a:cubicBezTo>
                <a:cubicBezTo>
                  <a:pt x="1271" y="801"/>
                  <a:pt x="1262" y="805"/>
                  <a:pt x="1252" y="809"/>
                </a:cubicBezTo>
                <a:cubicBezTo>
                  <a:pt x="1242" y="813"/>
                  <a:pt x="1232" y="816"/>
                  <a:pt x="1222" y="818"/>
                </a:cubicBezTo>
                <a:cubicBezTo>
                  <a:pt x="1212" y="821"/>
                  <a:pt x="1202" y="822"/>
                  <a:pt x="1191" y="822"/>
                </a:cubicBezTo>
                <a:lnTo>
                  <a:pt x="158" y="822"/>
                </a:lnTo>
                <a:cubicBezTo>
                  <a:pt x="148" y="822"/>
                  <a:pt x="138" y="821"/>
                  <a:pt x="127" y="818"/>
                </a:cubicBezTo>
                <a:cubicBezTo>
                  <a:pt x="117" y="816"/>
                  <a:pt x="107" y="813"/>
                  <a:pt x="98" y="809"/>
                </a:cubicBezTo>
                <a:cubicBezTo>
                  <a:pt x="88" y="805"/>
                  <a:pt x="79" y="801"/>
                  <a:pt x="70" y="795"/>
                </a:cubicBezTo>
                <a:cubicBezTo>
                  <a:pt x="62" y="789"/>
                  <a:pt x="53" y="782"/>
                  <a:pt x="46" y="775"/>
                </a:cubicBezTo>
                <a:cubicBezTo>
                  <a:pt x="39" y="768"/>
                  <a:pt x="32" y="760"/>
                  <a:pt x="26" y="751"/>
                </a:cubicBezTo>
                <a:cubicBezTo>
                  <a:pt x="21" y="742"/>
                  <a:pt x="16" y="733"/>
                  <a:pt x="12" y="724"/>
                </a:cubicBezTo>
                <a:cubicBezTo>
                  <a:pt x="8" y="714"/>
                  <a:pt x="5" y="704"/>
                  <a:pt x="3" y="694"/>
                </a:cubicBezTo>
                <a:cubicBezTo>
                  <a:pt x="1" y="684"/>
                  <a:pt x="0" y="673"/>
                  <a:pt x="0" y="663"/>
                </a:cubicBezTo>
                <a:close/>
              </a:path>
            </a:pathLst>
          </a:custGeom>
          <a:solidFill>
            <a:srgbClr val="EEF3F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61" name=""/>
          <p:cNvSpPr txBox="1"/>
          <p:nvPr/>
        </p:nvSpPr>
        <p:spPr>
          <a:xfrm>
            <a:off x="590400" y="5778360"/>
            <a:ext cx="152145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終了トークン 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62" name=""/>
          <p:cNvSpPr txBox="1"/>
          <p:nvPr/>
        </p:nvSpPr>
        <p:spPr>
          <a:xfrm>
            <a:off x="1991160" y="5790240"/>
            <a:ext cx="383778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450" b="0" u="none" strike="noStrike">
                <a:solidFill>
                  <a:srgbClr val="17212B"/>
                </a:solidFill>
                <a:effectLst/>
                <a:uFillTx/>
                <a:latin typeface="Menlo"/>
                <a:ea typeface="Menlo"/>
              </a:rPr>
              <a:t>eos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63" name=""/>
          <p:cNvSpPr txBox="1"/>
          <p:nvPr/>
        </p:nvSpPr>
        <p:spPr>
          <a:xfrm>
            <a:off x="2397960" y="5778360"/>
            <a:ext cx="4082454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、長さの上限、または中断で止まる。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64" name=""/>
          <p:cNvSpPr txBox="1"/>
          <p:nvPr/>
        </p:nvSpPr>
        <p:spPr>
          <a:xfrm>
            <a:off x="590400" y="6179760"/>
            <a:ext cx="52867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130" b="0" u="none" strike="noStrike">
                <a:solidFill>
                  <a:srgbClr val="52606D"/>
                </a:solidFill>
                <a:effectLst/>
                <a:uFillTx/>
                <a:latin typeface="Hiragino Sans"/>
                <a:ea typeface="Hiragino Sans"/>
              </a:rPr>
              <a:t>抜粋：</a:t>
            </a:r>
            <a:r>
              <a:rPr lang="en-US" sz="1130" b="0" u="none" strike="noStrike">
                <a:solidFill>
                  <a:srgbClr val="52606D"/>
                </a:solidFill>
                <a:effectLst/>
                <a:uFillTx/>
                <a:latin typeface="Hiragino Sans"/>
                <a:ea typeface="Hiragino Sans"/>
              </a:rPr>
              <a:t>web/demo.js 585–601</a:t>
            </a:r>
            <a:r>
              <a:rPr lang="ja-JP" sz="1130" b="0" u="none" strike="noStrike">
                <a:solidFill>
                  <a:srgbClr val="52606D"/>
                </a:solidFill>
                <a:effectLst/>
                <a:uFillTx/>
                <a:latin typeface="Hiragino Sans"/>
                <a:ea typeface="Hiragino Sans"/>
              </a:rPr>
              <a:t>行。字下げを調整し、省略箇所を明示。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65" name=""/>
          <p:cNvSpPr txBox="1"/>
          <p:nvPr/>
        </p:nvSpPr>
        <p:spPr>
          <a:xfrm>
            <a:off x="285840" y="230040"/>
            <a:ext cx="181332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350" b="0" u="none" strike="noStrike">
                <a:solidFill>
                  <a:srgbClr val="666666"/>
                </a:solidFill>
                <a:effectLst/>
                <a:uFillTx/>
                <a:latin typeface="Hiragino Sans"/>
                <a:ea typeface="Hiragino Sans"/>
              </a:rPr>
              <a:t>4. </a:t>
            </a:r>
            <a:r>
              <a:rPr lang="ja-JP" sz="1350" b="0" u="none" strike="noStrike">
                <a:solidFill>
                  <a:srgbClr val="666666"/>
                </a:solidFill>
                <a:effectLst/>
                <a:uFillTx/>
                <a:latin typeface="Hiragino Sans"/>
                <a:ea typeface="Hiragino Sans"/>
              </a:rPr>
              <a:t>モデルと評価方法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66" name=""/>
          <p:cNvSpPr txBox="1"/>
          <p:nvPr/>
        </p:nvSpPr>
        <p:spPr>
          <a:xfrm>
            <a:off x="11705400" y="6476400"/>
            <a:ext cx="2318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Hiragino Sans"/>
                <a:ea typeface="Hiragino Sans"/>
              </a:rPr>
              <a:t>14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6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6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70" name=""/>
          <p:cNvSpPr/>
          <p:nvPr/>
        </p:nvSpPr>
        <p:spPr>
          <a:xfrm>
            <a:off x="595080" y="1604880"/>
            <a:ext cx="11001960" cy="3105360"/>
          </a:xfrm>
          <a:custGeom>
            <a:avLst/>
            <a:gdLst/>
            <a:ahLst/>
            <a:rect l="0" t="0" r="r" b="b"/>
            <a:pathLst>
              <a:path w="30561" h="8626">
                <a:moveTo>
                  <a:pt x="0" y="8481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8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30415" y="0"/>
                </a:lnTo>
                <a:cubicBezTo>
                  <a:pt x="30425" y="0"/>
                  <a:pt x="30434" y="1"/>
                  <a:pt x="30443" y="3"/>
                </a:cubicBezTo>
                <a:cubicBezTo>
                  <a:pt x="30453" y="4"/>
                  <a:pt x="30462" y="7"/>
                  <a:pt x="30471" y="11"/>
                </a:cubicBezTo>
                <a:cubicBezTo>
                  <a:pt x="30480" y="14"/>
                  <a:pt x="30488" y="19"/>
                  <a:pt x="30496" y="24"/>
                </a:cubicBezTo>
                <a:cubicBezTo>
                  <a:pt x="30504" y="30"/>
                  <a:pt x="30511" y="36"/>
                  <a:pt x="30518" y="42"/>
                </a:cubicBezTo>
                <a:cubicBezTo>
                  <a:pt x="30525" y="49"/>
                  <a:pt x="30531" y="56"/>
                  <a:pt x="30536" y="64"/>
                </a:cubicBezTo>
                <a:cubicBezTo>
                  <a:pt x="30541" y="72"/>
                  <a:pt x="30546" y="81"/>
                  <a:pt x="30549" y="90"/>
                </a:cubicBezTo>
                <a:cubicBezTo>
                  <a:pt x="30553" y="98"/>
                  <a:pt x="30556" y="107"/>
                  <a:pt x="30558" y="117"/>
                </a:cubicBezTo>
                <a:cubicBezTo>
                  <a:pt x="30560" y="126"/>
                  <a:pt x="30561" y="136"/>
                  <a:pt x="30561" y="145"/>
                </a:cubicBezTo>
                <a:lnTo>
                  <a:pt x="30561" y="8481"/>
                </a:lnTo>
                <a:cubicBezTo>
                  <a:pt x="30561" y="8490"/>
                  <a:pt x="30560" y="8500"/>
                  <a:pt x="30558" y="8509"/>
                </a:cubicBezTo>
                <a:cubicBezTo>
                  <a:pt x="30556" y="8518"/>
                  <a:pt x="30553" y="8527"/>
                  <a:pt x="30549" y="8536"/>
                </a:cubicBezTo>
                <a:cubicBezTo>
                  <a:pt x="30546" y="8545"/>
                  <a:pt x="30541" y="8554"/>
                  <a:pt x="30536" y="8561"/>
                </a:cubicBezTo>
                <a:cubicBezTo>
                  <a:pt x="30531" y="8569"/>
                  <a:pt x="30525" y="8577"/>
                  <a:pt x="30518" y="8584"/>
                </a:cubicBezTo>
                <a:cubicBezTo>
                  <a:pt x="30511" y="8590"/>
                  <a:pt x="30504" y="8596"/>
                  <a:pt x="30496" y="8602"/>
                </a:cubicBezTo>
                <a:cubicBezTo>
                  <a:pt x="30488" y="8607"/>
                  <a:pt x="30480" y="8611"/>
                  <a:pt x="30471" y="8615"/>
                </a:cubicBezTo>
                <a:cubicBezTo>
                  <a:pt x="30462" y="8619"/>
                  <a:pt x="30453" y="8621"/>
                  <a:pt x="30443" y="8623"/>
                </a:cubicBezTo>
                <a:cubicBezTo>
                  <a:pt x="30434" y="8625"/>
                  <a:pt x="30425" y="8626"/>
                  <a:pt x="30415" y="8626"/>
                </a:cubicBezTo>
                <a:lnTo>
                  <a:pt x="146" y="8626"/>
                </a:lnTo>
                <a:cubicBezTo>
                  <a:pt x="136" y="8626"/>
                  <a:pt x="127" y="8625"/>
                  <a:pt x="117" y="8623"/>
                </a:cubicBezTo>
                <a:cubicBezTo>
                  <a:pt x="108" y="8621"/>
                  <a:pt x="99" y="8619"/>
                  <a:pt x="90" y="8615"/>
                </a:cubicBezTo>
                <a:cubicBezTo>
                  <a:pt x="81" y="8611"/>
                  <a:pt x="73" y="8607"/>
                  <a:pt x="65" y="8602"/>
                </a:cubicBezTo>
                <a:cubicBezTo>
                  <a:pt x="57" y="8596"/>
                  <a:pt x="50" y="8590"/>
                  <a:pt x="43" y="8584"/>
                </a:cubicBezTo>
                <a:cubicBezTo>
                  <a:pt x="36" y="8577"/>
                  <a:pt x="30" y="8569"/>
                  <a:pt x="25" y="8561"/>
                </a:cubicBezTo>
                <a:cubicBezTo>
                  <a:pt x="19" y="8554"/>
                  <a:pt x="15" y="8545"/>
                  <a:pt x="11" y="8536"/>
                </a:cubicBezTo>
                <a:cubicBezTo>
                  <a:pt x="8" y="8527"/>
                  <a:pt x="5" y="8518"/>
                  <a:pt x="3" y="8509"/>
                </a:cubicBezTo>
                <a:cubicBezTo>
                  <a:pt x="1" y="8500"/>
                  <a:pt x="0" y="8490"/>
                  <a:pt x="0" y="8481"/>
                </a:cubicBez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71" name=""/>
          <p:cNvSpPr/>
          <p:nvPr/>
        </p:nvSpPr>
        <p:spPr>
          <a:xfrm>
            <a:off x="595080" y="1604880"/>
            <a:ext cx="11001960" cy="3105360"/>
          </a:xfrm>
          <a:custGeom>
            <a:avLst/>
            <a:gdLst/>
            <a:ahLst/>
            <a:rect l="0" t="0" r="r" b="b"/>
            <a:pathLst>
              <a:path w="30561" h="8626">
                <a:moveTo>
                  <a:pt x="0" y="8481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8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30415" y="0"/>
                </a:lnTo>
                <a:cubicBezTo>
                  <a:pt x="30425" y="0"/>
                  <a:pt x="30434" y="1"/>
                  <a:pt x="30443" y="3"/>
                </a:cubicBezTo>
                <a:cubicBezTo>
                  <a:pt x="30453" y="4"/>
                  <a:pt x="30462" y="7"/>
                  <a:pt x="30471" y="11"/>
                </a:cubicBezTo>
                <a:cubicBezTo>
                  <a:pt x="30480" y="14"/>
                  <a:pt x="30488" y="19"/>
                  <a:pt x="30496" y="24"/>
                </a:cubicBezTo>
                <a:cubicBezTo>
                  <a:pt x="30504" y="30"/>
                  <a:pt x="30511" y="36"/>
                  <a:pt x="30518" y="42"/>
                </a:cubicBezTo>
                <a:cubicBezTo>
                  <a:pt x="30525" y="49"/>
                  <a:pt x="30531" y="56"/>
                  <a:pt x="30536" y="64"/>
                </a:cubicBezTo>
                <a:cubicBezTo>
                  <a:pt x="30541" y="72"/>
                  <a:pt x="30546" y="81"/>
                  <a:pt x="30549" y="90"/>
                </a:cubicBezTo>
                <a:cubicBezTo>
                  <a:pt x="30553" y="98"/>
                  <a:pt x="30556" y="107"/>
                  <a:pt x="30558" y="117"/>
                </a:cubicBezTo>
                <a:cubicBezTo>
                  <a:pt x="30560" y="126"/>
                  <a:pt x="30561" y="136"/>
                  <a:pt x="30561" y="145"/>
                </a:cubicBezTo>
                <a:lnTo>
                  <a:pt x="30561" y="8481"/>
                </a:lnTo>
                <a:cubicBezTo>
                  <a:pt x="30561" y="8490"/>
                  <a:pt x="30560" y="8500"/>
                  <a:pt x="30558" y="8509"/>
                </a:cubicBezTo>
                <a:cubicBezTo>
                  <a:pt x="30556" y="8518"/>
                  <a:pt x="30553" y="8527"/>
                  <a:pt x="30549" y="8536"/>
                </a:cubicBezTo>
                <a:cubicBezTo>
                  <a:pt x="30546" y="8545"/>
                  <a:pt x="30541" y="8554"/>
                  <a:pt x="30536" y="8561"/>
                </a:cubicBezTo>
                <a:cubicBezTo>
                  <a:pt x="30531" y="8569"/>
                  <a:pt x="30525" y="8577"/>
                  <a:pt x="30518" y="8584"/>
                </a:cubicBezTo>
                <a:cubicBezTo>
                  <a:pt x="30511" y="8590"/>
                  <a:pt x="30504" y="8596"/>
                  <a:pt x="30496" y="8602"/>
                </a:cubicBezTo>
                <a:cubicBezTo>
                  <a:pt x="30488" y="8607"/>
                  <a:pt x="30480" y="8611"/>
                  <a:pt x="30471" y="8615"/>
                </a:cubicBezTo>
                <a:cubicBezTo>
                  <a:pt x="30462" y="8619"/>
                  <a:pt x="30453" y="8621"/>
                  <a:pt x="30443" y="8623"/>
                </a:cubicBezTo>
                <a:cubicBezTo>
                  <a:pt x="30434" y="8625"/>
                  <a:pt x="30425" y="8626"/>
                  <a:pt x="30415" y="8626"/>
                </a:cubicBezTo>
                <a:lnTo>
                  <a:pt x="146" y="8626"/>
                </a:lnTo>
                <a:cubicBezTo>
                  <a:pt x="136" y="8626"/>
                  <a:pt x="127" y="8625"/>
                  <a:pt x="117" y="8623"/>
                </a:cubicBezTo>
                <a:cubicBezTo>
                  <a:pt x="108" y="8621"/>
                  <a:pt x="99" y="8619"/>
                  <a:pt x="90" y="8615"/>
                </a:cubicBezTo>
                <a:cubicBezTo>
                  <a:pt x="81" y="8611"/>
                  <a:pt x="73" y="8607"/>
                  <a:pt x="65" y="8602"/>
                </a:cubicBezTo>
                <a:cubicBezTo>
                  <a:pt x="57" y="8596"/>
                  <a:pt x="50" y="8590"/>
                  <a:pt x="43" y="8584"/>
                </a:cubicBezTo>
                <a:cubicBezTo>
                  <a:pt x="36" y="8577"/>
                  <a:pt x="30" y="8569"/>
                  <a:pt x="25" y="8561"/>
                </a:cubicBezTo>
                <a:cubicBezTo>
                  <a:pt x="19" y="8554"/>
                  <a:pt x="15" y="8545"/>
                  <a:pt x="11" y="8536"/>
                </a:cubicBezTo>
                <a:cubicBezTo>
                  <a:pt x="8" y="8527"/>
                  <a:pt x="5" y="8518"/>
                  <a:pt x="3" y="8509"/>
                </a:cubicBezTo>
                <a:cubicBezTo>
                  <a:pt x="1" y="8500"/>
                  <a:pt x="0" y="8490"/>
                  <a:pt x="0" y="8481"/>
                </a:cubicBezTo>
                <a:close/>
              </a:path>
            </a:pathLst>
          </a:custGeom>
          <a:noFill/>
          <a:ln w="9360">
            <a:solidFill>
              <a:srgbClr val="D8E1E9"/>
            </a:solidFill>
            <a:miter/>
          </a:ln>
        </p:spPr>
        <p:txBody>
          <a:bodyPr lIns="4680" tIns="4680" rIns="4680" bIns="468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72" name=""/>
          <p:cNvSpPr txBox="1"/>
          <p:nvPr/>
        </p:nvSpPr>
        <p:spPr>
          <a:xfrm>
            <a:off x="590400" y="599760"/>
            <a:ext cx="7582410" cy="314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47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実装②：ロジットを温度で調整し、確率にする</a:t>
            </a:r>
            <a:endParaRPr lang="en-US" sz="247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73" name=""/>
          <p:cNvSpPr/>
          <p:nvPr/>
        </p:nvSpPr>
        <p:spPr>
          <a:xfrm>
            <a:off x="4971960" y="1199880"/>
            <a:ext cx="2257560" cy="295560"/>
          </a:xfrm>
          <a:custGeom>
            <a:avLst/>
            <a:gdLst/>
            <a:ahLst/>
            <a:rect l="0" t="0" r="r" b="b"/>
            <a:pathLst>
              <a:path w="6271" h="821">
                <a:moveTo>
                  <a:pt x="0" y="663"/>
                </a:moveTo>
                <a:lnTo>
                  <a:pt x="0" y="159"/>
                </a:lnTo>
                <a:cubicBezTo>
                  <a:pt x="0" y="149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9"/>
                  <a:pt x="21" y="79"/>
                  <a:pt x="27" y="71"/>
                </a:cubicBezTo>
                <a:cubicBezTo>
                  <a:pt x="32" y="62"/>
                  <a:pt x="39" y="54"/>
                  <a:pt x="46" y="47"/>
                </a:cubicBezTo>
                <a:cubicBezTo>
                  <a:pt x="54" y="39"/>
                  <a:pt x="62" y="33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8" y="3"/>
                </a:cubicBezTo>
                <a:cubicBezTo>
                  <a:pt x="138" y="1"/>
                  <a:pt x="148" y="0"/>
                  <a:pt x="158" y="0"/>
                </a:cubicBezTo>
                <a:lnTo>
                  <a:pt x="6113" y="0"/>
                </a:lnTo>
                <a:cubicBezTo>
                  <a:pt x="6123" y="0"/>
                  <a:pt x="6133" y="1"/>
                  <a:pt x="6144" y="3"/>
                </a:cubicBezTo>
                <a:cubicBezTo>
                  <a:pt x="6154" y="5"/>
                  <a:pt x="6164" y="8"/>
                  <a:pt x="6173" y="12"/>
                </a:cubicBezTo>
                <a:cubicBezTo>
                  <a:pt x="6183" y="16"/>
                  <a:pt x="6192" y="21"/>
                  <a:pt x="6201" y="27"/>
                </a:cubicBezTo>
                <a:cubicBezTo>
                  <a:pt x="6209" y="33"/>
                  <a:pt x="6218" y="39"/>
                  <a:pt x="6225" y="47"/>
                </a:cubicBezTo>
                <a:cubicBezTo>
                  <a:pt x="6232" y="54"/>
                  <a:pt x="6239" y="62"/>
                  <a:pt x="6245" y="71"/>
                </a:cubicBezTo>
                <a:cubicBezTo>
                  <a:pt x="6250" y="79"/>
                  <a:pt x="6255" y="89"/>
                  <a:pt x="6259" y="98"/>
                </a:cubicBezTo>
                <a:cubicBezTo>
                  <a:pt x="6263" y="108"/>
                  <a:pt x="6266" y="118"/>
                  <a:pt x="6268" y="128"/>
                </a:cubicBezTo>
                <a:cubicBezTo>
                  <a:pt x="6270" y="138"/>
                  <a:pt x="6271" y="149"/>
                  <a:pt x="6271" y="159"/>
                </a:cubicBezTo>
                <a:lnTo>
                  <a:pt x="6271" y="663"/>
                </a:lnTo>
                <a:cubicBezTo>
                  <a:pt x="6271" y="673"/>
                  <a:pt x="6270" y="683"/>
                  <a:pt x="6268" y="694"/>
                </a:cubicBezTo>
                <a:cubicBezTo>
                  <a:pt x="6266" y="704"/>
                  <a:pt x="6263" y="714"/>
                  <a:pt x="6259" y="723"/>
                </a:cubicBezTo>
                <a:cubicBezTo>
                  <a:pt x="6255" y="733"/>
                  <a:pt x="6250" y="742"/>
                  <a:pt x="6245" y="751"/>
                </a:cubicBezTo>
                <a:cubicBezTo>
                  <a:pt x="6239" y="760"/>
                  <a:pt x="6232" y="768"/>
                  <a:pt x="6225" y="775"/>
                </a:cubicBezTo>
                <a:cubicBezTo>
                  <a:pt x="6218" y="782"/>
                  <a:pt x="6209" y="789"/>
                  <a:pt x="6201" y="795"/>
                </a:cubicBezTo>
                <a:cubicBezTo>
                  <a:pt x="6192" y="800"/>
                  <a:pt x="6183" y="805"/>
                  <a:pt x="6173" y="809"/>
                </a:cubicBezTo>
                <a:cubicBezTo>
                  <a:pt x="6164" y="813"/>
                  <a:pt x="6154" y="816"/>
                  <a:pt x="6144" y="818"/>
                </a:cubicBezTo>
                <a:cubicBezTo>
                  <a:pt x="6133" y="820"/>
                  <a:pt x="6123" y="821"/>
                  <a:pt x="6113" y="821"/>
                </a:cubicBezTo>
                <a:lnTo>
                  <a:pt x="158" y="821"/>
                </a:lnTo>
                <a:cubicBezTo>
                  <a:pt x="148" y="821"/>
                  <a:pt x="138" y="820"/>
                  <a:pt x="128" y="818"/>
                </a:cubicBezTo>
                <a:cubicBezTo>
                  <a:pt x="117" y="816"/>
                  <a:pt x="107" y="813"/>
                  <a:pt x="98" y="809"/>
                </a:cubicBezTo>
                <a:cubicBezTo>
                  <a:pt x="88" y="805"/>
                  <a:pt x="79" y="800"/>
                  <a:pt x="70" y="795"/>
                </a:cubicBezTo>
                <a:cubicBezTo>
                  <a:pt x="62" y="789"/>
                  <a:pt x="54" y="782"/>
                  <a:pt x="46" y="775"/>
                </a:cubicBezTo>
                <a:cubicBezTo>
                  <a:pt x="39" y="768"/>
                  <a:pt x="32" y="760"/>
                  <a:pt x="27" y="751"/>
                </a:cubicBezTo>
                <a:cubicBezTo>
                  <a:pt x="21" y="742"/>
                  <a:pt x="16" y="733"/>
                  <a:pt x="12" y="723"/>
                </a:cubicBezTo>
                <a:cubicBezTo>
                  <a:pt x="8" y="714"/>
                  <a:pt x="5" y="704"/>
                  <a:pt x="3" y="694"/>
                </a:cubicBezTo>
                <a:cubicBezTo>
                  <a:pt x="1" y="683"/>
                  <a:pt x="0" y="673"/>
                  <a:pt x="0" y="663"/>
                </a:cubicBezTo>
                <a:close/>
              </a:path>
            </a:pathLst>
          </a:custGeom>
          <a:solidFill>
            <a:srgbClr val="EEF3F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74" name=""/>
          <p:cNvSpPr txBox="1"/>
          <p:nvPr/>
        </p:nvSpPr>
        <p:spPr>
          <a:xfrm>
            <a:off x="590400" y="1225440"/>
            <a:ext cx="5018508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ロジットは各候補トークンの点数。</a:t>
            </a:r>
            <a:r>
              <a:rPr lang="en-US" sz="16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T &gt; 0</a:t>
            </a:r>
            <a:r>
              <a:rPr lang="ja-JP" sz="16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では 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75" name=""/>
          <p:cNvSpPr txBox="1"/>
          <p:nvPr/>
        </p:nvSpPr>
        <p:spPr>
          <a:xfrm>
            <a:off x="5043600" y="1237320"/>
            <a:ext cx="2426454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450" b="1" u="none" strike="noStrike">
                <a:solidFill>
                  <a:srgbClr val="245F8B"/>
                </a:solidFill>
                <a:effectLst/>
                <a:uFillTx/>
                <a:latin typeface="Menlo"/>
                <a:ea typeface="Menlo"/>
              </a:rPr>
              <a:t>softmax(logits / T)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76" name=""/>
          <p:cNvSpPr txBox="1"/>
          <p:nvPr/>
        </p:nvSpPr>
        <p:spPr>
          <a:xfrm>
            <a:off x="7226640" y="1225440"/>
            <a:ext cx="152145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6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 を計算する。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77" name=""/>
          <p:cNvSpPr txBox="1"/>
          <p:nvPr/>
        </p:nvSpPr>
        <p:spPr>
          <a:xfrm>
            <a:off x="762120" y="1745280"/>
            <a:ext cx="7047108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CF222E"/>
                </a:solidFill>
                <a:effectLst/>
                <a:uFillTx/>
                <a:latin typeface="Menlo"/>
                <a:ea typeface="Menlo"/>
              </a:rPr>
              <a:t>export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</a:t>
            </a:r>
            <a:r>
              <a:rPr lang="en-US" sz="1280" b="0" u="none" strike="noStrike">
                <a:solidFill>
                  <a:srgbClr val="CF222E"/>
                </a:solidFill>
                <a:effectLst/>
                <a:uFillTx/>
                <a:latin typeface="Menlo"/>
                <a:ea typeface="Menlo"/>
              </a:rPr>
              <a:t>function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</a:t>
            </a:r>
            <a:r>
              <a:rPr lang="en-US" sz="1280" b="0" u="none" strike="noStrike">
                <a:solidFill>
                  <a:srgbClr val="6639BA"/>
                </a:solidFill>
                <a:effectLst/>
                <a:uFillTx/>
                <a:latin typeface="Menlo"/>
                <a:ea typeface="Menlo"/>
              </a:rPr>
              <a:t>temperatureProbabilities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(logits, temperature) {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78" name=""/>
          <p:cNvSpPr txBox="1"/>
          <p:nvPr/>
        </p:nvSpPr>
        <p:spPr>
          <a:xfrm>
            <a:off x="762120" y="1964160"/>
            <a:ext cx="5033826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 </a:t>
            </a:r>
            <a:r>
              <a:rPr lang="en-US" sz="1280" b="0" u="none" strike="noStrike">
                <a:solidFill>
                  <a:srgbClr val="CF222E"/>
                </a:solidFill>
                <a:effectLst/>
                <a:uFillTx/>
                <a:latin typeface="Menlo"/>
                <a:ea typeface="Menlo"/>
              </a:rPr>
              <a:t>const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t = </a:t>
            </a:r>
            <a:r>
              <a:rPr lang="en-US" sz="1280" b="0" u="none" strike="noStrike">
                <a:solidFill>
                  <a:srgbClr val="6639BA"/>
                </a:solidFill>
                <a:effectLst/>
                <a:uFillTx/>
                <a:latin typeface="Menlo"/>
                <a:ea typeface="Menlo"/>
              </a:rPr>
              <a:t>validateTemperature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(temperature);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79" name=""/>
          <p:cNvSpPr txBox="1"/>
          <p:nvPr/>
        </p:nvSpPr>
        <p:spPr>
          <a:xfrm>
            <a:off x="762120" y="2183400"/>
            <a:ext cx="671922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 </a:t>
            </a:r>
            <a:r>
              <a:rPr lang="en-US" sz="1280" b="0" u="none" strike="noStrike">
                <a:solidFill>
                  <a:srgbClr val="59636E"/>
                </a:solidFill>
                <a:effectLst/>
                <a:uFillTx/>
                <a:latin typeface="Menlo"/>
                <a:ea typeface="Menlo"/>
              </a:rPr>
              <a:t>// …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80" name=""/>
          <p:cNvSpPr txBox="1"/>
          <p:nvPr/>
        </p:nvSpPr>
        <p:spPr>
          <a:xfrm>
            <a:off x="1347120" y="2190960"/>
            <a:ext cx="186714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280" b="0" u="none" strike="noStrike">
                <a:solidFill>
                  <a:srgbClr val="59636E"/>
                </a:solidFill>
                <a:effectLst/>
                <a:uFillTx/>
                <a:latin typeface="Hiragino Sans"/>
                <a:ea typeface="Hiragino Sans"/>
              </a:rPr>
              <a:t>（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81" name=""/>
          <p:cNvSpPr txBox="1"/>
          <p:nvPr/>
        </p:nvSpPr>
        <p:spPr>
          <a:xfrm>
            <a:off x="1509120" y="2183400"/>
            <a:ext cx="336168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59636E"/>
                </a:solidFill>
                <a:effectLst/>
                <a:uFillTx/>
                <a:latin typeface="Menlo"/>
                <a:ea typeface="Menlo"/>
              </a:rPr>
              <a:t>T=0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82" name=""/>
          <p:cNvSpPr txBox="1"/>
          <p:nvPr/>
        </p:nvSpPr>
        <p:spPr>
          <a:xfrm>
            <a:off x="1801440" y="2190960"/>
            <a:ext cx="2044332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280" b="0" u="none" strike="noStrike">
                <a:solidFill>
                  <a:srgbClr val="59636E"/>
                </a:solidFill>
                <a:effectLst/>
                <a:uFillTx/>
                <a:latin typeface="Hiragino Sans"/>
                <a:ea typeface="Hiragino Sans"/>
              </a:rPr>
              <a:t>・空配列の検査を省略）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83" name=""/>
          <p:cNvSpPr txBox="1"/>
          <p:nvPr/>
        </p:nvSpPr>
        <p:spPr>
          <a:xfrm>
            <a:off x="762120" y="2402280"/>
            <a:ext cx="2908350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 </a:t>
            </a:r>
            <a:r>
              <a:rPr lang="en-US" sz="1280" b="0" u="none" strike="noStrike">
                <a:solidFill>
                  <a:srgbClr val="CF222E"/>
                </a:solidFill>
                <a:effectLst/>
                <a:uFillTx/>
                <a:latin typeface="Menlo"/>
                <a:ea typeface="Menlo"/>
              </a:rPr>
              <a:t>let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maximum = -</a:t>
            </a:r>
            <a:r>
              <a:rPr lang="en-US" sz="1280" b="0" u="none" strike="noStrike">
                <a:solidFill>
                  <a:srgbClr val="6639BA"/>
                </a:solidFill>
                <a:effectLst/>
                <a:uFillTx/>
                <a:latin typeface="Menlo"/>
                <a:ea typeface="Menlo"/>
              </a:rPr>
              <a:t>Infinity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;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84" name=""/>
          <p:cNvSpPr txBox="1"/>
          <p:nvPr/>
        </p:nvSpPr>
        <p:spPr>
          <a:xfrm>
            <a:off x="762120" y="2621520"/>
            <a:ext cx="3467664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 </a:t>
            </a:r>
            <a:r>
              <a:rPr lang="en-US" sz="1280" b="0" u="none" strike="noStrike">
                <a:solidFill>
                  <a:srgbClr val="CF222E"/>
                </a:solidFill>
                <a:effectLst/>
                <a:uFillTx/>
                <a:latin typeface="Menlo"/>
                <a:ea typeface="Menlo"/>
              </a:rPr>
              <a:t>for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(</a:t>
            </a:r>
            <a:r>
              <a:rPr lang="en-US" sz="1280" b="0" u="none" strike="noStrike">
                <a:solidFill>
                  <a:srgbClr val="CF222E"/>
                </a:solidFill>
                <a:effectLst/>
                <a:uFillTx/>
                <a:latin typeface="Menlo"/>
                <a:ea typeface="Menlo"/>
              </a:rPr>
              <a:t>const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value </a:t>
            </a:r>
            <a:r>
              <a:rPr lang="en-US" sz="1280" b="0" u="none" strike="noStrike">
                <a:solidFill>
                  <a:srgbClr val="CF222E"/>
                </a:solidFill>
                <a:effectLst/>
                <a:uFillTx/>
                <a:latin typeface="Menlo"/>
                <a:ea typeface="Menlo"/>
              </a:rPr>
              <a:t>of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logits) {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85" name=""/>
          <p:cNvSpPr txBox="1"/>
          <p:nvPr/>
        </p:nvSpPr>
        <p:spPr>
          <a:xfrm>
            <a:off x="762120" y="2840760"/>
            <a:ext cx="895896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   </a:t>
            </a:r>
            <a:r>
              <a:rPr lang="en-US" sz="1280" b="0" u="none" strike="noStrike">
                <a:solidFill>
                  <a:srgbClr val="59636E"/>
                </a:solidFill>
                <a:effectLst/>
                <a:uFillTx/>
                <a:latin typeface="Menlo"/>
                <a:ea typeface="Menlo"/>
              </a:rPr>
              <a:t>// …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86" name=""/>
          <p:cNvSpPr txBox="1"/>
          <p:nvPr/>
        </p:nvSpPr>
        <p:spPr>
          <a:xfrm>
            <a:off x="1541880" y="2848320"/>
            <a:ext cx="2416104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280" b="0" u="none" strike="noStrike">
                <a:solidFill>
                  <a:srgbClr val="59636E"/>
                </a:solidFill>
                <a:effectLst/>
                <a:uFillTx/>
                <a:latin typeface="Hiragino Sans"/>
                <a:ea typeface="Hiragino Sans"/>
              </a:rPr>
              <a:t>（不正な数値の検査を省略）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87" name=""/>
          <p:cNvSpPr txBox="1"/>
          <p:nvPr/>
        </p:nvSpPr>
        <p:spPr>
          <a:xfrm>
            <a:off x="762120" y="3059640"/>
            <a:ext cx="4362732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   maximum = </a:t>
            </a:r>
            <a:r>
              <a:rPr lang="en-US" sz="1280" b="0" u="none" strike="noStrike">
                <a:solidFill>
                  <a:srgbClr val="6639BA"/>
                </a:solidFill>
                <a:effectLst/>
                <a:uFillTx/>
                <a:latin typeface="Menlo"/>
                <a:ea typeface="Menlo"/>
              </a:rPr>
              <a:t>Math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.</a:t>
            </a:r>
            <a:r>
              <a:rPr lang="en-US" sz="1280" b="0" u="none" strike="noStrike">
                <a:solidFill>
                  <a:srgbClr val="6639BA"/>
                </a:solidFill>
                <a:effectLst/>
                <a:uFillTx/>
                <a:latin typeface="Menlo"/>
                <a:ea typeface="Menlo"/>
              </a:rPr>
              <a:t>max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(maximum, value);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88" name=""/>
          <p:cNvSpPr txBox="1"/>
          <p:nvPr/>
        </p:nvSpPr>
        <p:spPr>
          <a:xfrm>
            <a:off x="762120" y="3278880"/>
            <a:ext cx="336168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 }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89" name=""/>
          <p:cNvSpPr txBox="1"/>
          <p:nvPr/>
        </p:nvSpPr>
        <p:spPr>
          <a:xfrm>
            <a:off x="762120" y="3497760"/>
            <a:ext cx="671922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 </a:t>
            </a:r>
            <a:r>
              <a:rPr lang="en-US" sz="1280" b="0" u="none" strike="noStrike">
                <a:solidFill>
                  <a:srgbClr val="59636E"/>
                </a:solidFill>
                <a:effectLst/>
                <a:uFillTx/>
                <a:latin typeface="Menlo"/>
                <a:ea typeface="Menlo"/>
              </a:rPr>
              <a:t>// …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90" name=""/>
          <p:cNvSpPr txBox="1"/>
          <p:nvPr/>
        </p:nvSpPr>
        <p:spPr>
          <a:xfrm>
            <a:off x="1347120" y="3505680"/>
            <a:ext cx="2601576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280" b="0" u="none" strike="noStrike">
                <a:solidFill>
                  <a:srgbClr val="59636E"/>
                </a:solidFill>
                <a:effectLst/>
                <a:uFillTx/>
                <a:latin typeface="Hiragino Sans"/>
                <a:ea typeface="Hiragino Sans"/>
              </a:rPr>
              <a:t>（元コードのコメントを省略）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91" name=""/>
          <p:cNvSpPr txBox="1"/>
          <p:nvPr/>
        </p:nvSpPr>
        <p:spPr>
          <a:xfrm>
            <a:off x="762120" y="3707280"/>
            <a:ext cx="10290798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 </a:t>
            </a:r>
            <a:r>
              <a:rPr lang="en-US" sz="1280" b="0" u="none" strike="noStrike">
                <a:solidFill>
                  <a:srgbClr val="CF222E"/>
                </a:solidFill>
                <a:effectLst/>
                <a:uFillTx/>
                <a:latin typeface="Menlo"/>
                <a:ea typeface="Menlo"/>
              </a:rPr>
              <a:t>const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probabilities = </a:t>
            </a:r>
            <a:r>
              <a:rPr lang="en-US" sz="1280" b="0" u="none" strike="noStrike">
                <a:solidFill>
                  <a:srgbClr val="6639BA"/>
                </a:solidFill>
                <a:effectLst/>
                <a:uFillTx/>
                <a:latin typeface="Menlo"/>
                <a:ea typeface="Menlo"/>
              </a:rPr>
              <a:t>Float64Array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.</a:t>
            </a:r>
            <a:r>
              <a:rPr lang="en-US" sz="1280" b="0" u="none" strike="noStrike">
                <a:solidFill>
                  <a:srgbClr val="6639BA"/>
                </a:solidFill>
                <a:effectLst/>
                <a:uFillTx/>
                <a:latin typeface="Menlo"/>
                <a:ea typeface="Menlo"/>
              </a:rPr>
              <a:t>from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(logits, value =&gt; </a:t>
            </a:r>
            <a:r>
              <a:rPr lang="en-US" sz="1280" b="0" u="none" strike="noStrike">
                <a:solidFill>
                  <a:srgbClr val="6639BA"/>
                </a:solidFill>
                <a:effectLst/>
                <a:uFillTx/>
                <a:latin typeface="Menlo"/>
                <a:ea typeface="Menlo"/>
              </a:rPr>
              <a:t>Math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.</a:t>
            </a:r>
            <a:r>
              <a:rPr lang="en-US" sz="1280" b="0" u="none" strike="noStrike">
                <a:solidFill>
                  <a:srgbClr val="6639BA"/>
                </a:solidFill>
                <a:effectLst/>
                <a:uFillTx/>
                <a:latin typeface="Menlo"/>
                <a:ea typeface="Menlo"/>
              </a:rPr>
              <a:t>exp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((value - maximum) / t));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92" name=""/>
          <p:cNvSpPr txBox="1"/>
          <p:nvPr/>
        </p:nvSpPr>
        <p:spPr>
          <a:xfrm>
            <a:off x="762120" y="3926520"/>
            <a:ext cx="7941348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 </a:t>
            </a:r>
            <a:r>
              <a:rPr lang="en-US" sz="1280" b="0" u="none" strike="noStrike">
                <a:solidFill>
                  <a:srgbClr val="CF222E"/>
                </a:solidFill>
                <a:effectLst/>
                <a:uFillTx/>
                <a:latin typeface="Menlo"/>
                <a:ea typeface="Menlo"/>
              </a:rPr>
              <a:t>const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sum = probabilities.</a:t>
            </a:r>
            <a:r>
              <a:rPr lang="en-US" sz="1280" b="0" u="none" strike="noStrike">
                <a:solidFill>
                  <a:srgbClr val="6639BA"/>
                </a:solidFill>
                <a:effectLst/>
                <a:uFillTx/>
                <a:latin typeface="Menlo"/>
                <a:ea typeface="Menlo"/>
              </a:rPr>
              <a:t>reduce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((total, value) =&gt; total + value, </a:t>
            </a:r>
            <a:r>
              <a:rPr lang="en-US" sz="1280" b="0" u="none" strike="noStrike">
                <a:solidFill>
                  <a:srgbClr val="0550AE"/>
                </a:solidFill>
                <a:effectLst/>
                <a:uFillTx/>
                <a:latin typeface="Menlo"/>
                <a:ea typeface="Menlo"/>
              </a:rPr>
              <a:t>0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);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93" name=""/>
          <p:cNvSpPr txBox="1"/>
          <p:nvPr/>
        </p:nvSpPr>
        <p:spPr>
          <a:xfrm>
            <a:off x="762120" y="4145400"/>
            <a:ext cx="5480946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 </a:t>
            </a:r>
            <a:r>
              <a:rPr lang="en-US" sz="1280" b="0" u="none" strike="noStrike">
                <a:solidFill>
                  <a:srgbClr val="CF222E"/>
                </a:solidFill>
                <a:effectLst/>
                <a:uFillTx/>
                <a:latin typeface="Menlo"/>
                <a:ea typeface="Menlo"/>
              </a:rPr>
              <a:t>return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probabilities.</a:t>
            </a:r>
            <a:r>
              <a:rPr lang="en-US" sz="1280" b="0" u="none" strike="noStrike">
                <a:solidFill>
                  <a:srgbClr val="6639BA"/>
                </a:solidFill>
                <a:effectLst/>
                <a:uFillTx/>
                <a:latin typeface="Menlo"/>
                <a:ea typeface="Menlo"/>
              </a:rPr>
              <a:t>map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(value =&gt; value / sum);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94" name=""/>
          <p:cNvSpPr txBox="1"/>
          <p:nvPr/>
        </p:nvSpPr>
        <p:spPr>
          <a:xfrm>
            <a:off x="762120" y="4364640"/>
            <a:ext cx="185886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}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95" name=""/>
          <p:cNvSpPr txBox="1"/>
          <p:nvPr/>
        </p:nvSpPr>
        <p:spPr>
          <a:xfrm>
            <a:off x="594720" y="4920840"/>
            <a:ext cx="5554638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1. </a:t>
            </a:r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最大値を引いてから </a:t>
            </a:r>
            <a:r>
              <a:rPr lang="en-US" sz="16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T</a:t>
            </a:r>
            <a:r>
              <a:rPr lang="ja-JP" sz="16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で割り、</a:t>
            </a:r>
            <a:r>
              <a:rPr lang="en-US" sz="16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exp</a:t>
            </a:r>
            <a:r>
              <a:rPr lang="ja-JP" sz="16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を計算</a:t>
            </a:r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する。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96" name=""/>
          <p:cNvSpPr txBox="1"/>
          <p:nvPr/>
        </p:nvSpPr>
        <p:spPr>
          <a:xfrm>
            <a:off x="594720" y="5283000"/>
            <a:ext cx="622449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2. </a:t>
            </a:r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全候補の合計で割り、</a:t>
            </a:r>
            <a:r>
              <a:rPr lang="ja-JP" sz="16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合計が</a:t>
            </a:r>
            <a:r>
              <a:rPr lang="en-US" sz="16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1</a:t>
            </a:r>
            <a:r>
              <a:rPr lang="ja-JP" sz="16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になる確率分布</a:t>
            </a:r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にする。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97" name=""/>
          <p:cNvSpPr/>
          <p:nvPr/>
        </p:nvSpPr>
        <p:spPr>
          <a:xfrm>
            <a:off x="4562280" y="5724360"/>
            <a:ext cx="2257920" cy="295560"/>
          </a:xfrm>
          <a:custGeom>
            <a:avLst/>
            <a:gdLst/>
            <a:ahLst/>
            <a:rect l="0" t="0" r="r" b="b"/>
            <a:pathLst>
              <a:path w="6272" h="821">
                <a:moveTo>
                  <a:pt x="0" y="662"/>
                </a:moveTo>
                <a:lnTo>
                  <a:pt x="0" y="160"/>
                </a:lnTo>
                <a:cubicBezTo>
                  <a:pt x="0" y="149"/>
                  <a:pt x="1" y="139"/>
                  <a:pt x="3" y="129"/>
                </a:cubicBezTo>
                <a:cubicBezTo>
                  <a:pt x="5" y="119"/>
                  <a:pt x="8" y="109"/>
                  <a:pt x="12" y="99"/>
                </a:cubicBezTo>
                <a:cubicBezTo>
                  <a:pt x="16" y="88"/>
                  <a:pt x="21" y="79"/>
                  <a:pt x="27" y="71"/>
                </a:cubicBezTo>
                <a:cubicBezTo>
                  <a:pt x="33" y="62"/>
                  <a:pt x="39" y="54"/>
                  <a:pt x="47" y="46"/>
                </a:cubicBezTo>
                <a:cubicBezTo>
                  <a:pt x="54" y="39"/>
                  <a:pt x="62" y="33"/>
                  <a:pt x="71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6113" y="0"/>
                </a:lnTo>
                <a:cubicBezTo>
                  <a:pt x="6123" y="0"/>
                  <a:pt x="6134" y="1"/>
                  <a:pt x="6144" y="3"/>
                </a:cubicBezTo>
                <a:cubicBezTo>
                  <a:pt x="6154" y="5"/>
                  <a:pt x="6164" y="8"/>
                  <a:pt x="6174" y="12"/>
                </a:cubicBezTo>
                <a:cubicBezTo>
                  <a:pt x="6183" y="16"/>
                  <a:pt x="6192" y="21"/>
                  <a:pt x="6201" y="27"/>
                </a:cubicBezTo>
                <a:cubicBezTo>
                  <a:pt x="6210" y="33"/>
                  <a:pt x="6218" y="39"/>
                  <a:pt x="6225" y="46"/>
                </a:cubicBezTo>
                <a:cubicBezTo>
                  <a:pt x="6233" y="54"/>
                  <a:pt x="6239" y="62"/>
                  <a:pt x="6245" y="71"/>
                </a:cubicBezTo>
                <a:cubicBezTo>
                  <a:pt x="6251" y="79"/>
                  <a:pt x="6256" y="88"/>
                  <a:pt x="6260" y="99"/>
                </a:cubicBezTo>
                <a:cubicBezTo>
                  <a:pt x="6264" y="109"/>
                  <a:pt x="6267" y="119"/>
                  <a:pt x="6269" y="129"/>
                </a:cubicBezTo>
                <a:cubicBezTo>
                  <a:pt x="6271" y="139"/>
                  <a:pt x="6272" y="149"/>
                  <a:pt x="6272" y="160"/>
                </a:cubicBezTo>
                <a:lnTo>
                  <a:pt x="6272" y="662"/>
                </a:lnTo>
                <a:cubicBezTo>
                  <a:pt x="6272" y="673"/>
                  <a:pt x="6271" y="683"/>
                  <a:pt x="6269" y="693"/>
                </a:cubicBezTo>
                <a:cubicBezTo>
                  <a:pt x="6267" y="704"/>
                  <a:pt x="6264" y="714"/>
                  <a:pt x="6260" y="723"/>
                </a:cubicBezTo>
                <a:cubicBezTo>
                  <a:pt x="6256" y="733"/>
                  <a:pt x="6251" y="742"/>
                  <a:pt x="6245" y="751"/>
                </a:cubicBezTo>
                <a:cubicBezTo>
                  <a:pt x="6239" y="759"/>
                  <a:pt x="6233" y="767"/>
                  <a:pt x="6225" y="775"/>
                </a:cubicBezTo>
                <a:cubicBezTo>
                  <a:pt x="6218" y="782"/>
                  <a:pt x="6210" y="789"/>
                  <a:pt x="6201" y="794"/>
                </a:cubicBezTo>
                <a:cubicBezTo>
                  <a:pt x="6192" y="800"/>
                  <a:pt x="6183" y="805"/>
                  <a:pt x="6174" y="809"/>
                </a:cubicBezTo>
                <a:cubicBezTo>
                  <a:pt x="6164" y="813"/>
                  <a:pt x="6154" y="816"/>
                  <a:pt x="6144" y="818"/>
                </a:cubicBezTo>
                <a:cubicBezTo>
                  <a:pt x="6134" y="820"/>
                  <a:pt x="6123" y="821"/>
                  <a:pt x="6113" y="821"/>
                </a:cubicBezTo>
                <a:lnTo>
                  <a:pt x="159" y="821"/>
                </a:lnTo>
                <a:cubicBezTo>
                  <a:pt x="148" y="821"/>
                  <a:pt x="138" y="820"/>
                  <a:pt x="128" y="818"/>
                </a:cubicBezTo>
                <a:cubicBezTo>
                  <a:pt x="118" y="816"/>
                  <a:pt x="108" y="813"/>
                  <a:pt x="98" y="809"/>
                </a:cubicBezTo>
                <a:cubicBezTo>
                  <a:pt x="88" y="805"/>
                  <a:pt x="79" y="800"/>
                  <a:pt x="71" y="794"/>
                </a:cubicBezTo>
                <a:cubicBezTo>
                  <a:pt x="62" y="789"/>
                  <a:pt x="54" y="782"/>
                  <a:pt x="47" y="775"/>
                </a:cubicBezTo>
                <a:cubicBezTo>
                  <a:pt x="39" y="767"/>
                  <a:pt x="33" y="759"/>
                  <a:pt x="27" y="751"/>
                </a:cubicBezTo>
                <a:cubicBezTo>
                  <a:pt x="21" y="742"/>
                  <a:pt x="16" y="733"/>
                  <a:pt x="12" y="723"/>
                </a:cubicBezTo>
                <a:cubicBezTo>
                  <a:pt x="8" y="714"/>
                  <a:pt x="5" y="704"/>
                  <a:pt x="3" y="693"/>
                </a:cubicBezTo>
                <a:cubicBezTo>
                  <a:pt x="1" y="683"/>
                  <a:pt x="0" y="673"/>
                  <a:pt x="0" y="662"/>
                </a:cubicBezTo>
                <a:close/>
              </a:path>
            </a:pathLst>
          </a:custGeom>
          <a:solidFill>
            <a:srgbClr val="EEF3F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98" name=""/>
          <p:cNvSpPr txBox="1"/>
          <p:nvPr/>
        </p:nvSpPr>
        <p:spPr>
          <a:xfrm>
            <a:off x="590400" y="5749560"/>
            <a:ext cx="4562694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最大値を引くのは数値の発散を防ぐため。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699" name=""/>
          <p:cNvSpPr txBox="1"/>
          <p:nvPr/>
        </p:nvSpPr>
        <p:spPr>
          <a:xfrm>
            <a:off x="4637160" y="5761440"/>
            <a:ext cx="2426454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450" b="0" u="none" strike="noStrike">
                <a:solidFill>
                  <a:srgbClr val="17212B"/>
                </a:solidFill>
                <a:effectLst/>
                <a:uFillTx/>
                <a:latin typeface="Menlo"/>
                <a:ea typeface="Menlo"/>
              </a:rPr>
              <a:t>softmax(logits / T)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00" name=""/>
          <p:cNvSpPr txBox="1"/>
          <p:nvPr/>
        </p:nvSpPr>
        <p:spPr>
          <a:xfrm>
            <a:off x="6820560" y="5749560"/>
            <a:ext cx="320229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 と数学的に同じ確率になる。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01" name=""/>
          <p:cNvSpPr txBox="1"/>
          <p:nvPr/>
        </p:nvSpPr>
        <p:spPr>
          <a:xfrm>
            <a:off x="590400" y="6141600"/>
            <a:ext cx="5173758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130" b="0" u="none" strike="noStrike">
                <a:solidFill>
                  <a:srgbClr val="52606D"/>
                </a:solidFill>
                <a:effectLst/>
                <a:uFillTx/>
                <a:latin typeface="Hiragino Sans"/>
                <a:ea typeface="Hiragino Sans"/>
              </a:rPr>
              <a:t>抜粋：</a:t>
            </a:r>
            <a:r>
              <a:rPr lang="en-US" sz="1130" b="0" u="none" strike="noStrike">
                <a:solidFill>
                  <a:srgbClr val="52606D"/>
                </a:solidFill>
                <a:effectLst/>
                <a:uFillTx/>
                <a:latin typeface="Hiragino Sans"/>
                <a:ea typeface="Hiragino Sans"/>
              </a:rPr>
              <a:t>web/sampling.js 10–23</a:t>
            </a:r>
            <a:r>
              <a:rPr lang="ja-JP" sz="1130" b="0" u="none" strike="noStrike">
                <a:solidFill>
                  <a:srgbClr val="52606D"/>
                </a:solidFill>
                <a:effectLst/>
                <a:uFillTx/>
                <a:latin typeface="Hiragino Sans"/>
                <a:ea typeface="Hiragino Sans"/>
              </a:rPr>
              <a:t>行。省略は入力検査とコメントのみ。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02" name=""/>
          <p:cNvSpPr txBox="1"/>
          <p:nvPr/>
        </p:nvSpPr>
        <p:spPr>
          <a:xfrm>
            <a:off x="11705760" y="6476400"/>
            <a:ext cx="231012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Hiragino Sans"/>
                <a:ea typeface="Hiragino Sans"/>
              </a:rPr>
              <a:t>15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0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0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06" name=""/>
          <p:cNvSpPr/>
          <p:nvPr/>
        </p:nvSpPr>
        <p:spPr>
          <a:xfrm>
            <a:off x="599760" y="1562040"/>
            <a:ext cx="2543760" cy="381240"/>
          </a:xfrm>
          <a:custGeom>
            <a:avLst/>
            <a:gdLst/>
            <a:ahLst/>
            <a:rect l="0" t="0" r="r" b="b"/>
            <a:pathLst>
              <a:path w="7066" h="1059">
                <a:moveTo>
                  <a:pt x="0" y="0"/>
                </a:moveTo>
                <a:lnTo>
                  <a:pt x="7066" y="0"/>
                </a:lnTo>
                <a:lnTo>
                  <a:pt x="7066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07" name=""/>
          <p:cNvSpPr/>
          <p:nvPr/>
        </p:nvSpPr>
        <p:spPr>
          <a:xfrm>
            <a:off x="3143160" y="1562040"/>
            <a:ext cx="2819520" cy="381240"/>
          </a:xfrm>
          <a:custGeom>
            <a:avLst/>
            <a:gdLst/>
            <a:ahLst/>
            <a:rect l="0" t="0" r="r" b="b"/>
            <a:pathLst>
              <a:path w="7832" h="1059">
                <a:moveTo>
                  <a:pt x="0" y="0"/>
                </a:moveTo>
                <a:lnTo>
                  <a:pt x="7832" y="0"/>
                </a:lnTo>
                <a:lnTo>
                  <a:pt x="7832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08" name=""/>
          <p:cNvSpPr/>
          <p:nvPr/>
        </p:nvSpPr>
        <p:spPr>
          <a:xfrm>
            <a:off x="5962320" y="1562040"/>
            <a:ext cx="2819880" cy="381240"/>
          </a:xfrm>
          <a:custGeom>
            <a:avLst/>
            <a:gdLst/>
            <a:ahLst/>
            <a:rect l="0" t="0" r="r" b="b"/>
            <a:pathLst>
              <a:path w="7833" h="1059">
                <a:moveTo>
                  <a:pt x="0" y="0"/>
                </a:moveTo>
                <a:lnTo>
                  <a:pt x="7833" y="0"/>
                </a:lnTo>
                <a:lnTo>
                  <a:pt x="7833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09" name=""/>
          <p:cNvSpPr/>
          <p:nvPr/>
        </p:nvSpPr>
        <p:spPr>
          <a:xfrm>
            <a:off x="8781840" y="1562040"/>
            <a:ext cx="2819880" cy="381240"/>
          </a:xfrm>
          <a:custGeom>
            <a:avLst/>
            <a:gdLst/>
            <a:ahLst/>
            <a:rect l="0" t="0" r="r" b="b"/>
            <a:pathLst>
              <a:path w="7833" h="1059">
                <a:moveTo>
                  <a:pt x="0" y="0"/>
                </a:moveTo>
                <a:lnTo>
                  <a:pt x="7833" y="0"/>
                </a:lnTo>
                <a:lnTo>
                  <a:pt x="7833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10" name=""/>
          <p:cNvSpPr/>
          <p:nvPr/>
        </p:nvSpPr>
        <p:spPr>
          <a:xfrm>
            <a:off x="599760" y="1562040"/>
            <a:ext cx="2543760" cy="381240"/>
          </a:xfrm>
          <a:custGeom>
            <a:avLst/>
            <a:gdLst/>
            <a:ahLst/>
            <a:rect l="0" t="0" r="r" b="b"/>
            <a:pathLst>
              <a:path w="7066" h="1059">
                <a:moveTo>
                  <a:pt x="0" y="0"/>
                </a:moveTo>
                <a:lnTo>
                  <a:pt x="7066" y="0"/>
                </a:lnTo>
                <a:lnTo>
                  <a:pt x="7066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11" name=""/>
          <p:cNvSpPr/>
          <p:nvPr/>
        </p:nvSpPr>
        <p:spPr>
          <a:xfrm>
            <a:off x="3143160" y="1562040"/>
            <a:ext cx="2819520" cy="381240"/>
          </a:xfrm>
          <a:custGeom>
            <a:avLst/>
            <a:gdLst/>
            <a:ahLst/>
            <a:rect l="0" t="0" r="r" b="b"/>
            <a:pathLst>
              <a:path w="7832" h="1059">
                <a:moveTo>
                  <a:pt x="0" y="0"/>
                </a:moveTo>
                <a:lnTo>
                  <a:pt x="7832" y="0"/>
                </a:lnTo>
                <a:lnTo>
                  <a:pt x="7832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12" name=""/>
          <p:cNvSpPr/>
          <p:nvPr/>
        </p:nvSpPr>
        <p:spPr>
          <a:xfrm>
            <a:off x="5962320" y="1562040"/>
            <a:ext cx="2819880" cy="381240"/>
          </a:xfrm>
          <a:custGeom>
            <a:avLst/>
            <a:gdLst/>
            <a:ahLst/>
            <a:rect l="0" t="0" r="r" b="b"/>
            <a:pathLst>
              <a:path w="7833" h="1059">
                <a:moveTo>
                  <a:pt x="0" y="0"/>
                </a:moveTo>
                <a:lnTo>
                  <a:pt x="7833" y="0"/>
                </a:lnTo>
                <a:lnTo>
                  <a:pt x="7833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13" name=""/>
          <p:cNvSpPr/>
          <p:nvPr/>
        </p:nvSpPr>
        <p:spPr>
          <a:xfrm>
            <a:off x="8781840" y="1562040"/>
            <a:ext cx="2819880" cy="381240"/>
          </a:xfrm>
          <a:custGeom>
            <a:avLst/>
            <a:gdLst/>
            <a:ahLst/>
            <a:rect l="0" t="0" r="r" b="b"/>
            <a:pathLst>
              <a:path w="7833" h="1059">
                <a:moveTo>
                  <a:pt x="0" y="0"/>
                </a:moveTo>
                <a:lnTo>
                  <a:pt x="7833" y="0"/>
                </a:lnTo>
                <a:lnTo>
                  <a:pt x="7833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14" name=""/>
          <p:cNvSpPr/>
          <p:nvPr/>
        </p:nvSpPr>
        <p:spPr>
          <a:xfrm>
            <a:off x="599760" y="1942920"/>
            <a:ext cx="2543760" cy="381240"/>
          </a:xfrm>
          <a:custGeom>
            <a:avLst/>
            <a:gdLst/>
            <a:ahLst/>
            <a:rect l="0" t="0" r="r" b="b"/>
            <a:pathLst>
              <a:path w="7066" h="1059">
                <a:moveTo>
                  <a:pt x="0" y="0"/>
                </a:moveTo>
                <a:lnTo>
                  <a:pt x="7066" y="0"/>
                </a:lnTo>
                <a:lnTo>
                  <a:pt x="7066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15" name=""/>
          <p:cNvSpPr/>
          <p:nvPr/>
        </p:nvSpPr>
        <p:spPr>
          <a:xfrm>
            <a:off x="3143160" y="1942920"/>
            <a:ext cx="2819520" cy="381240"/>
          </a:xfrm>
          <a:custGeom>
            <a:avLst/>
            <a:gdLst/>
            <a:ahLst/>
            <a:rect l="0" t="0" r="r" b="b"/>
            <a:pathLst>
              <a:path w="7832" h="1059">
                <a:moveTo>
                  <a:pt x="0" y="0"/>
                </a:moveTo>
                <a:lnTo>
                  <a:pt x="7832" y="0"/>
                </a:lnTo>
                <a:lnTo>
                  <a:pt x="7832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16" name=""/>
          <p:cNvSpPr/>
          <p:nvPr/>
        </p:nvSpPr>
        <p:spPr>
          <a:xfrm>
            <a:off x="5962320" y="1942920"/>
            <a:ext cx="2819880" cy="381240"/>
          </a:xfrm>
          <a:custGeom>
            <a:avLst/>
            <a:gdLst/>
            <a:ahLst/>
            <a:rect l="0" t="0" r="r" b="b"/>
            <a:pathLst>
              <a:path w="7833" h="1059">
                <a:moveTo>
                  <a:pt x="0" y="0"/>
                </a:moveTo>
                <a:lnTo>
                  <a:pt x="7833" y="0"/>
                </a:lnTo>
                <a:lnTo>
                  <a:pt x="7833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17" name=""/>
          <p:cNvSpPr/>
          <p:nvPr/>
        </p:nvSpPr>
        <p:spPr>
          <a:xfrm>
            <a:off x="8781840" y="1942920"/>
            <a:ext cx="2819880" cy="381240"/>
          </a:xfrm>
          <a:custGeom>
            <a:avLst/>
            <a:gdLst/>
            <a:ahLst/>
            <a:rect l="0" t="0" r="r" b="b"/>
            <a:pathLst>
              <a:path w="7833" h="1059">
                <a:moveTo>
                  <a:pt x="0" y="0"/>
                </a:moveTo>
                <a:lnTo>
                  <a:pt x="7833" y="0"/>
                </a:lnTo>
                <a:lnTo>
                  <a:pt x="7833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18" name=""/>
          <p:cNvSpPr/>
          <p:nvPr/>
        </p:nvSpPr>
        <p:spPr>
          <a:xfrm>
            <a:off x="599760" y="2323800"/>
            <a:ext cx="2543760" cy="390960"/>
          </a:xfrm>
          <a:custGeom>
            <a:avLst/>
            <a:gdLst/>
            <a:ahLst/>
            <a:rect l="0" t="0" r="r" b="b"/>
            <a:pathLst>
              <a:path w="7066" h="1086">
                <a:moveTo>
                  <a:pt x="0" y="0"/>
                </a:moveTo>
                <a:lnTo>
                  <a:pt x="7066" y="0"/>
                </a:lnTo>
                <a:lnTo>
                  <a:pt x="7066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19" name=""/>
          <p:cNvSpPr/>
          <p:nvPr/>
        </p:nvSpPr>
        <p:spPr>
          <a:xfrm>
            <a:off x="3143160" y="2323800"/>
            <a:ext cx="2819520" cy="390960"/>
          </a:xfrm>
          <a:custGeom>
            <a:avLst/>
            <a:gdLst/>
            <a:ahLst/>
            <a:rect l="0" t="0" r="r" b="b"/>
            <a:pathLst>
              <a:path w="7832" h="1086">
                <a:moveTo>
                  <a:pt x="0" y="0"/>
                </a:moveTo>
                <a:lnTo>
                  <a:pt x="7832" y="0"/>
                </a:lnTo>
                <a:lnTo>
                  <a:pt x="7832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20" name=""/>
          <p:cNvSpPr/>
          <p:nvPr/>
        </p:nvSpPr>
        <p:spPr>
          <a:xfrm>
            <a:off x="5962320" y="2323800"/>
            <a:ext cx="2819880" cy="390960"/>
          </a:xfrm>
          <a:custGeom>
            <a:avLst/>
            <a:gdLst/>
            <a:ahLst/>
            <a:rect l="0" t="0" r="r" b="b"/>
            <a:pathLst>
              <a:path w="7833" h="1086">
                <a:moveTo>
                  <a:pt x="0" y="0"/>
                </a:moveTo>
                <a:lnTo>
                  <a:pt x="7833" y="0"/>
                </a:lnTo>
                <a:lnTo>
                  <a:pt x="7833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21" name=""/>
          <p:cNvSpPr/>
          <p:nvPr/>
        </p:nvSpPr>
        <p:spPr>
          <a:xfrm>
            <a:off x="8781840" y="2323800"/>
            <a:ext cx="2819880" cy="390960"/>
          </a:xfrm>
          <a:custGeom>
            <a:avLst/>
            <a:gdLst/>
            <a:ahLst/>
            <a:rect l="0" t="0" r="r" b="b"/>
            <a:pathLst>
              <a:path w="7833" h="1086">
                <a:moveTo>
                  <a:pt x="0" y="0"/>
                </a:moveTo>
                <a:lnTo>
                  <a:pt x="7833" y="0"/>
                </a:lnTo>
                <a:lnTo>
                  <a:pt x="7833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22" name=""/>
          <p:cNvSpPr/>
          <p:nvPr/>
        </p:nvSpPr>
        <p:spPr>
          <a:xfrm>
            <a:off x="599760" y="2714400"/>
            <a:ext cx="2543760" cy="381240"/>
          </a:xfrm>
          <a:custGeom>
            <a:avLst/>
            <a:gdLst/>
            <a:ahLst/>
            <a:rect l="0" t="0" r="r" b="b"/>
            <a:pathLst>
              <a:path w="7066" h="1059">
                <a:moveTo>
                  <a:pt x="0" y="0"/>
                </a:moveTo>
                <a:lnTo>
                  <a:pt x="7066" y="0"/>
                </a:lnTo>
                <a:lnTo>
                  <a:pt x="7066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23" name=""/>
          <p:cNvSpPr/>
          <p:nvPr/>
        </p:nvSpPr>
        <p:spPr>
          <a:xfrm>
            <a:off x="3143160" y="2714400"/>
            <a:ext cx="2819520" cy="381240"/>
          </a:xfrm>
          <a:custGeom>
            <a:avLst/>
            <a:gdLst/>
            <a:ahLst/>
            <a:rect l="0" t="0" r="r" b="b"/>
            <a:pathLst>
              <a:path w="7832" h="1059">
                <a:moveTo>
                  <a:pt x="0" y="0"/>
                </a:moveTo>
                <a:lnTo>
                  <a:pt x="7832" y="0"/>
                </a:lnTo>
                <a:lnTo>
                  <a:pt x="7832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24" name=""/>
          <p:cNvSpPr/>
          <p:nvPr/>
        </p:nvSpPr>
        <p:spPr>
          <a:xfrm>
            <a:off x="5962320" y="2714400"/>
            <a:ext cx="2819880" cy="381240"/>
          </a:xfrm>
          <a:custGeom>
            <a:avLst/>
            <a:gdLst/>
            <a:ahLst/>
            <a:rect l="0" t="0" r="r" b="b"/>
            <a:pathLst>
              <a:path w="7833" h="1059">
                <a:moveTo>
                  <a:pt x="0" y="0"/>
                </a:moveTo>
                <a:lnTo>
                  <a:pt x="7833" y="0"/>
                </a:lnTo>
                <a:lnTo>
                  <a:pt x="7833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25" name=""/>
          <p:cNvSpPr/>
          <p:nvPr/>
        </p:nvSpPr>
        <p:spPr>
          <a:xfrm>
            <a:off x="8781840" y="2714400"/>
            <a:ext cx="2819880" cy="381240"/>
          </a:xfrm>
          <a:custGeom>
            <a:avLst/>
            <a:gdLst/>
            <a:ahLst/>
            <a:rect l="0" t="0" r="r" b="b"/>
            <a:pathLst>
              <a:path w="7833" h="1059">
                <a:moveTo>
                  <a:pt x="0" y="0"/>
                </a:moveTo>
                <a:lnTo>
                  <a:pt x="7833" y="0"/>
                </a:lnTo>
                <a:lnTo>
                  <a:pt x="7833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26" name=""/>
          <p:cNvSpPr/>
          <p:nvPr/>
        </p:nvSpPr>
        <p:spPr>
          <a:xfrm>
            <a:off x="590400" y="1552320"/>
            <a:ext cx="9720" cy="400320"/>
          </a:xfrm>
          <a:custGeom>
            <a:avLst/>
            <a:gdLst/>
            <a:ahLst/>
            <a:rect l="0" t="0" r="r" b="b"/>
            <a:pathLst>
              <a:path w="27" h="1112">
                <a:moveTo>
                  <a:pt x="0" y="0"/>
                </a:moveTo>
                <a:lnTo>
                  <a:pt x="27" y="0"/>
                </a:lnTo>
                <a:lnTo>
                  <a:pt x="27" y="1112"/>
                </a:lnTo>
                <a:lnTo>
                  <a:pt x="0" y="111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27" name=""/>
          <p:cNvSpPr/>
          <p:nvPr/>
        </p:nvSpPr>
        <p:spPr>
          <a:xfrm>
            <a:off x="590400" y="1552320"/>
            <a:ext cx="2562480" cy="10080"/>
          </a:xfrm>
          <a:custGeom>
            <a:avLst/>
            <a:gdLst/>
            <a:ahLst/>
            <a:rect l="0" t="0" r="r" b="b"/>
            <a:pathLst>
              <a:path w="7118" h="28">
                <a:moveTo>
                  <a:pt x="0" y="0"/>
                </a:moveTo>
                <a:lnTo>
                  <a:pt x="7118" y="0"/>
                </a:lnTo>
                <a:lnTo>
                  <a:pt x="711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28" name=""/>
          <p:cNvSpPr/>
          <p:nvPr/>
        </p:nvSpPr>
        <p:spPr>
          <a:xfrm>
            <a:off x="3143160" y="1552320"/>
            <a:ext cx="9720" cy="400320"/>
          </a:xfrm>
          <a:custGeom>
            <a:avLst/>
            <a:gdLst/>
            <a:ahLst/>
            <a:rect l="0" t="0" r="r" b="b"/>
            <a:pathLst>
              <a:path w="27" h="1112">
                <a:moveTo>
                  <a:pt x="0" y="0"/>
                </a:moveTo>
                <a:lnTo>
                  <a:pt x="27" y="0"/>
                </a:lnTo>
                <a:lnTo>
                  <a:pt x="27" y="1112"/>
                </a:lnTo>
                <a:lnTo>
                  <a:pt x="0" y="111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29" name=""/>
          <p:cNvSpPr/>
          <p:nvPr/>
        </p:nvSpPr>
        <p:spPr>
          <a:xfrm>
            <a:off x="3152520" y="1552320"/>
            <a:ext cx="2810160" cy="10080"/>
          </a:xfrm>
          <a:custGeom>
            <a:avLst/>
            <a:gdLst/>
            <a:ahLst/>
            <a:rect l="0" t="0" r="r" b="b"/>
            <a:pathLst>
              <a:path w="7806" h="28">
                <a:moveTo>
                  <a:pt x="0" y="0"/>
                </a:moveTo>
                <a:lnTo>
                  <a:pt x="7806" y="0"/>
                </a:lnTo>
                <a:lnTo>
                  <a:pt x="780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30" name=""/>
          <p:cNvSpPr/>
          <p:nvPr/>
        </p:nvSpPr>
        <p:spPr>
          <a:xfrm>
            <a:off x="5952960" y="1552320"/>
            <a:ext cx="9720" cy="400320"/>
          </a:xfrm>
          <a:custGeom>
            <a:avLst/>
            <a:gdLst/>
            <a:ahLst/>
            <a:rect l="0" t="0" r="r" b="b"/>
            <a:pathLst>
              <a:path w="27" h="1112">
                <a:moveTo>
                  <a:pt x="0" y="0"/>
                </a:moveTo>
                <a:lnTo>
                  <a:pt x="27" y="0"/>
                </a:lnTo>
                <a:lnTo>
                  <a:pt x="27" y="1112"/>
                </a:lnTo>
                <a:lnTo>
                  <a:pt x="0" y="111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31" name=""/>
          <p:cNvSpPr/>
          <p:nvPr/>
        </p:nvSpPr>
        <p:spPr>
          <a:xfrm>
            <a:off x="5962320" y="1552320"/>
            <a:ext cx="2819880" cy="10080"/>
          </a:xfrm>
          <a:custGeom>
            <a:avLst/>
            <a:gdLst/>
            <a:ahLst/>
            <a:rect l="0" t="0" r="r" b="b"/>
            <a:pathLst>
              <a:path w="7833" h="28">
                <a:moveTo>
                  <a:pt x="0" y="0"/>
                </a:moveTo>
                <a:lnTo>
                  <a:pt x="7833" y="0"/>
                </a:lnTo>
                <a:lnTo>
                  <a:pt x="783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32" name=""/>
          <p:cNvSpPr/>
          <p:nvPr/>
        </p:nvSpPr>
        <p:spPr>
          <a:xfrm>
            <a:off x="8772480" y="1552320"/>
            <a:ext cx="9720" cy="400320"/>
          </a:xfrm>
          <a:custGeom>
            <a:avLst/>
            <a:gdLst/>
            <a:ahLst/>
            <a:rect l="0" t="0" r="r" b="b"/>
            <a:pathLst>
              <a:path w="27" h="1112">
                <a:moveTo>
                  <a:pt x="0" y="0"/>
                </a:moveTo>
                <a:lnTo>
                  <a:pt x="27" y="0"/>
                </a:lnTo>
                <a:lnTo>
                  <a:pt x="27" y="1112"/>
                </a:lnTo>
                <a:lnTo>
                  <a:pt x="0" y="111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33" name=""/>
          <p:cNvSpPr/>
          <p:nvPr/>
        </p:nvSpPr>
        <p:spPr>
          <a:xfrm>
            <a:off x="8781840" y="1552320"/>
            <a:ext cx="2819880" cy="10080"/>
          </a:xfrm>
          <a:custGeom>
            <a:avLst/>
            <a:gdLst/>
            <a:ahLst/>
            <a:rect l="0" t="0" r="r" b="b"/>
            <a:pathLst>
              <a:path w="7833" h="28">
                <a:moveTo>
                  <a:pt x="0" y="0"/>
                </a:moveTo>
                <a:lnTo>
                  <a:pt x="7833" y="0"/>
                </a:lnTo>
                <a:lnTo>
                  <a:pt x="783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34" name=""/>
          <p:cNvSpPr/>
          <p:nvPr/>
        </p:nvSpPr>
        <p:spPr>
          <a:xfrm>
            <a:off x="11591640" y="1552320"/>
            <a:ext cx="10080" cy="400320"/>
          </a:xfrm>
          <a:custGeom>
            <a:avLst/>
            <a:gdLst/>
            <a:ahLst/>
            <a:rect l="0" t="0" r="r" b="b"/>
            <a:pathLst>
              <a:path w="28" h="1112">
                <a:moveTo>
                  <a:pt x="0" y="0"/>
                </a:moveTo>
                <a:lnTo>
                  <a:pt x="28" y="0"/>
                </a:lnTo>
                <a:lnTo>
                  <a:pt x="28" y="1112"/>
                </a:lnTo>
                <a:lnTo>
                  <a:pt x="0" y="111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35" name=""/>
          <p:cNvSpPr/>
          <p:nvPr/>
        </p:nvSpPr>
        <p:spPr>
          <a:xfrm>
            <a:off x="590400" y="1942920"/>
            <a:ext cx="2562480" cy="9720"/>
          </a:xfrm>
          <a:custGeom>
            <a:avLst/>
            <a:gdLst/>
            <a:ahLst/>
            <a:rect l="0" t="0" r="r" b="b"/>
            <a:pathLst>
              <a:path w="7118" h="27">
                <a:moveTo>
                  <a:pt x="0" y="0"/>
                </a:moveTo>
                <a:lnTo>
                  <a:pt x="7118" y="0"/>
                </a:lnTo>
                <a:lnTo>
                  <a:pt x="711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36" name=""/>
          <p:cNvSpPr/>
          <p:nvPr/>
        </p:nvSpPr>
        <p:spPr>
          <a:xfrm>
            <a:off x="3152520" y="1942920"/>
            <a:ext cx="2810160" cy="9720"/>
          </a:xfrm>
          <a:custGeom>
            <a:avLst/>
            <a:gdLst/>
            <a:ahLst/>
            <a:rect l="0" t="0" r="r" b="b"/>
            <a:pathLst>
              <a:path w="7806" h="27">
                <a:moveTo>
                  <a:pt x="0" y="0"/>
                </a:moveTo>
                <a:lnTo>
                  <a:pt x="7806" y="0"/>
                </a:lnTo>
                <a:lnTo>
                  <a:pt x="780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37" name=""/>
          <p:cNvSpPr/>
          <p:nvPr/>
        </p:nvSpPr>
        <p:spPr>
          <a:xfrm>
            <a:off x="5962320" y="1942920"/>
            <a:ext cx="2819880" cy="9720"/>
          </a:xfrm>
          <a:custGeom>
            <a:avLst/>
            <a:gdLst/>
            <a:ahLst/>
            <a:rect l="0" t="0" r="r" b="b"/>
            <a:pathLst>
              <a:path w="7833" h="27">
                <a:moveTo>
                  <a:pt x="0" y="0"/>
                </a:moveTo>
                <a:lnTo>
                  <a:pt x="7833" y="0"/>
                </a:lnTo>
                <a:lnTo>
                  <a:pt x="783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38" name=""/>
          <p:cNvSpPr/>
          <p:nvPr/>
        </p:nvSpPr>
        <p:spPr>
          <a:xfrm>
            <a:off x="8781840" y="1942920"/>
            <a:ext cx="2819880" cy="9720"/>
          </a:xfrm>
          <a:custGeom>
            <a:avLst/>
            <a:gdLst/>
            <a:ahLst/>
            <a:rect l="0" t="0" r="r" b="b"/>
            <a:pathLst>
              <a:path w="7833" h="27">
                <a:moveTo>
                  <a:pt x="0" y="0"/>
                </a:moveTo>
                <a:lnTo>
                  <a:pt x="7833" y="0"/>
                </a:lnTo>
                <a:lnTo>
                  <a:pt x="783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39" name=""/>
          <p:cNvSpPr/>
          <p:nvPr/>
        </p:nvSpPr>
        <p:spPr>
          <a:xfrm>
            <a:off x="590400" y="1952280"/>
            <a:ext cx="9720" cy="381600"/>
          </a:xfrm>
          <a:custGeom>
            <a:avLst/>
            <a:gdLst/>
            <a:ahLst/>
            <a:rect l="0" t="0" r="r" b="b"/>
            <a:pathLst>
              <a:path w="27" h="1060">
                <a:moveTo>
                  <a:pt x="0" y="0"/>
                </a:moveTo>
                <a:lnTo>
                  <a:pt x="27" y="0"/>
                </a:lnTo>
                <a:lnTo>
                  <a:pt x="27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40" name=""/>
          <p:cNvSpPr/>
          <p:nvPr/>
        </p:nvSpPr>
        <p:spPr>
          <a:xfrm>
            <a:off x="3143160" y="1952280"/>
            <a:ext cx="9720" cy="381600"/>
          </a:xfrm>
          <a:custGeom>
            <a:avLst/>
            <a:gdLst/>
            <a:ahLst/>
            <a:rect l="0" t="0" r="r" b="b"/>
            <a:pathLst>
              <a:path w="27" h="1060">
                <a:moveTo>
                  <a:pt x="0" y="0"/>
                </a:moveTo>
                <a:lnTo>
                  <a:pt x="27" y="0"/>
                </a:lnTo>
                <a:lnTo>
                  <a:pt x="27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41" name=""/>
          <p:cNvSpPr/>
          <p:nvPr/>
        </p:nvSpPr>
        <p:spPr>
          <a:xfrm>
            <a:off x="5952960" y="1952280"/>
            <a:ext cx="9720" cy="381600"/>
          </a:xfrm>
          <a:custGeom>
            <a:avLst/>
            <a:gdLst/>
            <a:ahLst/>
            <a:rect l="0" t="0" r="r" b="b"/>
            <a:pathLst>
              <a:path w="27" h="1060">
                <a:moveTo>
                  <a:pt x="0" y="0"/>
                </a:moveTo>
                <a:lnTo>
                  <a:pt x="27" y="0"/>
                </a:lnTo>
                <a:lnTo>
                  <a:pt x="27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42" name=""/>
          <p:cNvSpPr/>
          <p:nvPr/>
        </p:nvSpPr>
        <p:spPr>
          <a:xfrm>
            <a:off x="8772480" y="1952280"/>
            <a:ext cx="9720" cy="381600"/>
          </a:xfrm>
          <a:custGeom>
            <a:avLst/>
            <a:gdLst/>
            <a:ahLst/>
            <a:rect l="0" t="0" r="r" b="b"/>
            <a:pathLst>
              <a:path w="27" h="1060">
                <a:moveTo>
                  <a:pt x="0" y="0"/>
                </a:moveTo>
                <a:lnTo>
                  <a:pt x="27" y="0"/>
                </a:lnTo>
                <a:lnTo>
                  <a:pt x="27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43" name=""/>
          <p:cNvSpPr/>
          <p:nvPr/>
        </p:nvSpPr>
        <p:spPr>
          <a:xfrm>
            <a:off x="11591640" y="195228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44" name=""/>
          <p:cNvSpPr/>
          <p:nvPr/>
        </p:nvSpPr>
        <p:spPr>
          <a:xfrm>
            <a:off x="590400" y="233352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45" name=""/>
          <p:cNvSpPr/>
          <p:nvPr/>
        </p:nvSpPr>
        <p:spPr>
          <a:xfrm>
            <a:off x="590400" y="2323800"/>
            <a:ext cx="2562480" cy="10080"/>
          </a:xfrm>
          <a:custGeom>
            <a:avLst/>
            <a:gdLst/>
            <a:ahLst/>
            <a:rect l="0" t="0" r="r" b="b"/>
            <a:pathLst>
              <a:path w="7118" h="28">
                <a:moveTo>
                  <a:pt x="0" y="0"/>
                </a:moveTo>
                <a:lnTo>
                  <a:pt x="7118" y="0"/>
                </a:lnTo>
                <a:lnTo>
                  <a:pt x="711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46" name=""/>
          <p:cNvSpPr/>
          <p:nvPr/>
        </p:nvSpPr>
        <p:spPr>
          <a:xfrm>
            <a:off x="3143160" y="233352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47" name=""/>
          <p:cNvSpPr/>
          <p:nvPr/>
        </p:nvSpPr>
        <p:spPr>
          <a:xfrm>
            <a:off x="3152520" y="2323800"/>
            <a:ext cx="2810160" cy="10080"/>
          </a:xfrm>
          <a:custGeom>
            <a:avLst/>
            <a:gdLst/>
            <a:ahLst/>
            <a:rect l="0" t="0" r="r" b="b"/>
            <a:pathLst>
              <a:path w="7806" h="28">
                <a:moveTo>
                  <a:pt x="0" y="0"/>
                </a:moveTo>
                <a:lnTo>
                  <a:pt x="7806" y="0"/>
                </a:lnTo>
                <a:lnTo>
                  <a:pt x="780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48" name=""/>
          <p:cNvSpPr/>
          <p:nvPr/>
        </p:nvSpPr>
        <p:spPr>
          <a:xfrm>
            <a:off x="5952960" y="233352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49" name=""/>
          <p:cNvSpPr/>
          <p:nvPr/>
        </p:nvSpPr>
        <p:spPr>
          <a:xfrm>
            <a:off x="5962320" y="2323800"/>
            <a:ext cx="2819880" cy="10080"/>
          </a:xfrm>
          <a:custGeom>
            <a:avLst/>
            <a:gdLst/>
            <a:ahLst/>
            <a:rect l="0" t="0" r="r" b="b"/>
            <a:pathLst>
              <a:path w="7833" h="28">
                <a:moveTo>
                  <a:pt x="0" y="0"/>
                </a:moveTo>
                <a:lnTo>
                  <a:pt x="7833" y="0"/>
                </a:lnTo>
                <a:lnTo>
                  <a:pt x="783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50" name=""/>
          <p:cNvSpPr/>
          <p:nvPr/>
        </p:nvSpPr>
        <p:spPr>
          <a:xfrm>
            <a:off x="8772480" y="233352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51" name=""/>
          <p:cNvSpPr/>
          <p:nvPr/>
        </p:nvSpPr>
        <p:spPr>
          <a:xfrm>
            <a:off x="8781840" y="2323800"/>
            <a:ext cx="2819880" cy="10080"/>
          </a:xfrm>
          <a:custGeom>
            <a:avLst/>
            <a:gdLst/>
            <a:ahLst/>
            <a:rect l="0" t="0" r="r" b="b"/>
            <a:pathLst>
              <a:path w="7833" h="28">
                <a:moveTo>
                  <a:pt x="0" y="0"/>
                </a:moveTo>
                <a:lnTo>
                  <a:pt x="7833" y="0"/>
                </a:lnTo>
                <a:lnTo>
                  <a:pt x="783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52" name=""/>
          <p:cNvSpPr/>
          <p:nvPr/>
        </p:nvSpPr>
        <p:spPr>
          <a:xfrm>
            <a:off x="11591640" y="233352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53" name=""/>
          <p:cNvSpPr/>
          <p:nvPr/>
        </p:nvSpPr>
        <p:spPr>
          <a:xfrm>
            <a:off x="590400" y="271440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54" name=""/>
          <p:cNvSpPr/>
          <p:nvPr/>
        </p:nvSpPr>
        <p:spPr>
          <a:xfrm>
            <a:off x="590400" y="2705040"/>
            <a:ext cx="2562480" cy="9720"/>
          </a:xfrm>
          <a:custGeom>
            <a:avLst/>
            <a:gdLst/>
            <a:ahLst/>
            <a:rect l="0" t="0" r="r" b="b"/>
            <a:pathLst>
              <a:path w="7118" h="27">
                <a:moveTo>
                  <a:pt x="0" y="0"/>
                </a:moveTo>
                <a:lnTo>
                  <a:pt x="7118" y="0"/>
                </a:lnTo>
                <a:lnTo>
                  <a:pt x="711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55" name=""/>
          <p:cNvSpPr/>
          <p:nvPr/>
        </p:nvSpPr>
        <p:spPr>
          <a:xfrm>
            <a:off x="3143160" y="271440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56" name=""/>
          <p:cNvSpPr/>
          <p:nvPr/>
        </p:nvSpPr>
        <p:spPr>
          <a:xfrm>
            <a:off x="3152520" y="2705040"/>
            <a:ext cx="2810160" cy="9720"/>
          </a:xfrm>
          <a:custGeom>
            <a:avLst/>
            <a:gdLst/>
            <a:ahLst/>
            <a:rect l="0" t="0" r="r" b="b"/>
            <a:pathLst>
              <a:path w="7806" h="27">
                <a:moveTo>
                  <a:pt x="0" y="0"/>
                </a:moveTo>
                <a:lnTo>
                  <a:pt x="7806" y="0"/>
                </a:lnTo>
                <a:lnTo>
                  <a:pt x="780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57" name=""/>
          <p:cNvSpPr/>
          <p:nvPr/>
        </p:nvSpPr>
        <p:spPr>
          <a:xfrm>
            <a:off x="5952960" y="271440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58" name=""/>
          <p:cNvSpPr/>
          <p:nvPr/>
        </p:nvSpPr>
        <p:spPr>
          <a:xfrm>
            <a:off x="5962320" y="2705040"/>
            <a:ext cx="2819880" cy="9720"/>
          </a:xfrm>
          <a:custGeom>
            <a:avLst/>
            <a:gdLst/>
            <a:ahLst/>
            <a:rect l="0" t="0" r="r" b="b"/>
            <a:pathLst>
              <a:path w="7833" h="27">
                <a:moveTo>
                  <a:pt x="0" y="0"/>
                </a:moveTo>
                <a:lnTo>
                  <a:pt x="7833" y="0"/>
                </a:lnTo>
                <a:lnTo>
                  <a:pt x="783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59" name=""/>
          <p:cNvSpPr/>
          <p:nvPr/>
        </p:nvSpPr>
        <p:spPr>
          <a:xfrm>
            <a:off x="8772480" y="271440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60" name=""/>
          <p:cNvSpPr/>
          <p:nvPr/>
        </p:nvSpPr>
        <p:spPr>
          <a:xfrm>
            <a:off x="8781840" y="2705040"/>
            <a:ext cx="2819880" cy="9720"/>
          </a:xfrm>
          <a:custGeom>
            <a:avLst/>
            <a:gdLst/>
            <a:ahLst/>
            <a:rect l="0" t="0" r="r" b="b"/>
            <a:pathLst>
              <a:path w="7833" h="27">
                <a:moveTo>
                  <a:pt x="0" y="0"/>
                </a:moveTo>
                <a:lnTo>
                  <a:pt x="7833" y="0"/>
                </a:lnTo>
                <a:lnTo>
                  <a:pt x="783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61" name=""/>
          <p:cNvSpPr/>
          <p:nvPr/>
        </p:nvSpPr>
        <p:spPr>
          <a:xfrm>
            <a:off x="11591640" y="271440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62" name=""/>
          <p:cNvSpPr/>
          <p:nvPr/>
        </p:nvSpPr>
        <p:spPr>
          <a:xfrm>
            <a:off x="590400" y="3095280"/>
            <a:ext cx="2562480" cy="10080"/>
          </a:xfrm>
          <a:custGeom>
            <a:avLst/>
            <a:gdLst/>
            <a:ahLst/>
            <a:rect l="0" t="0" r="r" b="b"/>
            <a:pathLst>
              <a:path w="7118" h="28">
                <a:moveTo>
                  <a:pt x="0" y="0"/>
                </a:moveTo>
                <a:lnTo>
                  <a:pt x="7118" y="0"/>
                </a:lnTo>
                <a:lnTo>
                  <a:pt x="711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63" name=""/>
          <p:cNvSpPr/>
          <p:nvPr/>
        </p:nvSpPr>
        <p:spPr>
          <a:xfrm>
            <a:off x="3152520" y="3095280"/>
            <a:ext cx="2810160" cy="10080"/>
          </a:xfrm>
          <a:custGeom>
            <a:avLst/>
            <a:gdLst/>
            <a:ahLst/>
            <a:rect l="0" t="0" r="r" b="b"/>
            <a:pathLst>
              <a:path w="7806" h="28">
                <a:moveTo>
                  <a:pt x="0" y="0"/>
                </a:moveTo>
                <a:lnTo>
                  <a:pt x="7806" y="0"/>
                </a:lnTo>
                <a:lnTo>
                  <a:pt x="780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64" name=""/>
          <p:cNvSpPr/>
          <p:nvPr/>
        </p:nvSpPr>
        <p:spPr>
          <a:xfrm>
            <a:off x="5962320" y="3095280"/>
            <a:ext cx="2819880" cy="10080"/>
          </a:xfrm>
          <a:custGeom>
            <a:avLst/>
            <a:gdLst/>
            <a:ahLst/>
            <a:rect l="0" t="0" r="r" b="b"/>
            <a:pathLst>
              <a:path w="7833" h="28">
                <a:moveTo>
                  <a:pt x="0" y="0"/>
                </a:moveTo>
                <a:lnTo>
                  <a:pt x="7833" y="0"/>
                </a:lnTo>
                <a:lnTo>
                  <a:pt x="783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65" name=""/>
          <p:cNvSpPr/>
          <p:nvPr/>
        </p:nvSpPr>
        <p:spPr>
          <a:xfrm>
            <a:off x="8781840" y="3095280"/>
            <a:ext cx="2819880" cy="10080"/>
          </a:xfrm>
          <a:custGeom>
            <a:avLst/>
            <a:gdLst/>
            <a:ahLst/>
            <a:rect l="0" t="0" r="r" b="b"/>
            <a:pathLst>
              <a:path w="7833" h="28">
                <a:moveTo>
                  <a:pt x="0" y="0"/>
                </a:moveTo>
                <a:lnTo>
                  <a:pt x="7833" y="0"/>
                </a:lnTo>
                <a:lnTo>
                  <a:pt x="783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66" name=""/>
          <p:cNvSpPr/>
          <p:nvPr/>
        </p:nvSpPr>
        <p:spPr>
          <a:xfrm>
            <a:off x="595080" y="3633480"/>
            <a:ext cx="11001960" cy="2010240"/>
          </a:xfrm>
          <a:custGeom>
            <a:avLst/>
            <a:gdLst/>
            <a:ahLst/>
            <a:rect l="0" t="0" r="r" b="b"/>
            <a:pathLst>
              <a:path w="30561" h="5584">
                <a:moveTo>
                  <a:pt x="0" y="5439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20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30415" y="0"/>
                </a:lnTo>
                <a:cubicBezTo>
                  <a:pt x="30425" y="0"/>
                  <a:pt x="30434" y="1"/>
                  <a:pt x="30443" y="3"/>
                </a:cubicBezTo>
                <a:cubicBezTo>
                  <a:pt x="30453" y="5"/>
                  <a:pt x="30462" y="8"/>
                  <a:pt x="30471" y="11"/>
                </a:cubicBezTo>
                <a:cubicBezTo>
                  <a:pt x="30480" y="15"/>
                  <a:pt x="30488" y="20"/>
                  <a:pt x="30496" y="25"/>
                </a:cubicBezTo>
                <a:cubicBezTo>
                  <a:pt x="30504" y="30"/>
                  <a:pt x="30511" y="36"/>
                  <a:pt x="30518" y="43"/>
                </a:cubicBezTo>
                <a:cubicBezTo>
                  <a:pt x="30525" y="50"/>
                  <a:pt x="30531" y="57"/>
                  <a:pt x="30536" y="65"/>
                </a:cubicBezTo>
                <a:cubicBezTo>
                  <a:pt x="30541" y="73"/>
                  <a:pt x="30546" y="81"/>
                  <a:pt x="30549" y="90"/>
                </a:cubicBezTo>
                <a:cubicBezTo>
                  <a:pt x="30553" y="99"/>
                  <a:pt x="30556" y="108"/>
                  <a:pt x="30558" y="117"/>
                </a:cubicBezTo>
                <a:cubicBezTo>
                  <a:pt x="30560" y="127"/>
                  <a:pt x="30561" y="136"/>
                  <a:pt x="30561" y="146"/>
                </a:cubicBezTo>
                <a:lnTo>
                  <a:pt x="30561" y="5439"/>
                </a:lnTo>
                <a:cubicBezTo>
                  <a:pt x="30561" y="5448"/>
                  <a:pt x="30560" y="5458"/>
                  <a:pt x="30558" y="5467"/>
                </a:cubicBezTo>
                <a:cubicBezTo>
                  <a:pt x="30556" y="5476"/>
                  <a:pt x="30553" y="5485"/>
                  <a:pt x="30549" y="5494"/>
                </a:cubicBezTo>
                <a:cubicBezTo>
                  <a:pt x="30546" y="5503"/>
                  <a:pt x="30541" y="5511"/>
                  <a:pt x="30536" y="5519"/>
                </a:cubicBezTo>
                <a:cubicBezTo>
                  <a:pt x="30531" y="5527"/>
                  <a:pt x="30525" y="5535"/>
                  <a:pt x="30518" y="5541"/>
                </a:cubicBezTo>
                <a:cubicBezTo>
                  <a:pt x="30511" y="5548"/>
                  <a:pt x="30504" y="5554"/>
                  <a:pt x="30496" y="5560"/>
                </a:cubicBezTo>
                <a:cubicBezTo>
                  <a:pt x="30488" y="5565"/>
                  <a:pt x="30480" y="5569"/>
                  <a:pt x="30471" y="5573"/>
                </a:cubicBezTo>
                <a:cubicBezTo>
                  <a:pt x="30462" y="5577"/>
                  <a:pt x="30453" y="5579"/>
                  <a:pt x="30443" y="5581"/>
                </a:cubicBezTo>
                <a:cubicBezTo>
                  <a:pt x="30434" y="5583"/>
                  <a:pt x="30425" y="5584"/>
                  <a:pt x="30415" y="5584"/>
                </a:cubicBezTo>
                <a:lnTo>
                  <a:pt x="146" y="5584"/>
                </a:lnTo>
                <a:cubicBezTo>
                  <a:pt x="136" y="5584"/>
                  <a:pt x="127" y="5583"/>
                  <a:pt x="117" y="5581"/>
                </a:cubicBezTo>
                <a:cubicBezTo>
                  <a:pt x="108" y="5579"/>
                  <a:pt x="99" y="5577"/>
                  <a:pt x="90" y="5573"/>
                </a:cubicBezTo>
                <a:cubicBezTo>
                  <a:pt x="81" y="5569"/>
                  <a:pt x="73" y="5565"/>
                  <a:pt x="65" y="5560"/>
                </a:cubicBezTo>
                <a:cubicBezTo>
                  <a:pt x="57" y="5554"/>
                  <a:pt x="50" y="5548"/>
                  <a:pt x="43" y="5541"/>
                </a:cubicBezTo>
                <a:cubicBezTo>
                  <a:pt x="36" y="5535"/>
                  <a:pt x="30" y="5527"/>
                  <a:pt x="25" y="5519"/>
                </a:cubicBezTo>
                <a:cubicBezTo>
                  <a:pt x="19" y="5511"/>
                  <a:pt x="15" y="5503"/>
                  <a:pt x="11" y="5494"/>
                </a:cubicBezTo>
                <a:cubicBezTo>
                  <a:pt x="8" y="5485"/>
                  <a:pt x="5" y="5476"/>
                  <a:pt x="3" y="5467"/>
                </a:cubicBezTo>
                <a:cubicBezTo>
                  <a:pt x="1" y="5458"/>
                  <a:pt x="0" y="5448"/>
                  <a:pt x="0" y="5439"/>
                </a:cubicBez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67" name=""/>
          <p:cNvSpPr/>
          <p:nvPr/>
        </p:nvSpPr>
        <p:spPr>
          <a:xfrm>
            <a:off x="595080" y="3633480"/>
            <a:ext cx="11001960" cy="2010240"/>
          </a:xfrm>
          <a:custGeom>
            <a:avLst/>
            <a:gdLst/>
            <a:ahLst/>
            <a:rect l="0" t="0" r="r" b="b"/>
            <a:pathLst>
              <a:path w="30561" h="5584">
                <a:moveTo>
                  <a:pt x="0" y="5439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20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30415" y="0"/>
                </a:lnTo>
                <a:cubicBezTo>
                  <a:pt x="30425" y="0"/>
                  <a:pt x="30434" y="1"/>
                  <a:pt x="30443" y="3"/>
                </a:cubicBezTo>
                <a:cubicBezTo>
                  <a:pt x="30453" y="5"/>
                  <a:pt x="30462" y="8"/>
                  <a:pt x="30471" y="11"/>
                </a:cubicBezTo>
                <a:cubicBezTo>
                  <a:pt x="30480" y="15"/>
                  <a:pt x="30488" y="20"/>
                  <a:pt x="30496" y="25"/>
                </a:cubicBezTo>
                <a:cubicBezTo>
                  <a:pt x="30504" y="30"/>
                  <a:pt x="30511" y="36"/>
                  <a:pt x="30518" y="43"/>
                </a:cubicBezTo>
                <a:cubicBezTo>
                  <a:pt x="30525" y="50"/>
                  <a:pt x="30531" y="57"/>
                  <a:pt x="30536" y="65"/>
                </a:cubicBezTo>
                <a:cubicBezTo>
                  <a:pt x="30541" y="73"/>
                  <a:pt x="30546" y="81"/>
                  <a:pt x="30549" y="90"/>
                </a:cubicBezTo>
                <a:cubicBezTo>
                  <a:pt x="30553" y="99"/>
                  <a:pt x="30556" y="108"/>
                  <a:pt x="30558" y="117"/>
                </a:cubicBezTo>
                <a:cubicBezTo>
                  <a:pt x="30560" y="127"/>
                  <a:pt x="30561" y="136"/>
                  <a:pt x="30561" y="146"/>
                </a:cubicBezTo>
                <a:lnTo>
                  <a:pt x="30561" y="5439"/>
                </a:lnTo>
                <a:cubicBezTo>
                  <a:pt x="30561" y="5448"/>
                  <a:pt x="30560" y="5458"/>
                  <a:pt x="30558" y="5467"/>
                </a:cubicBezTo>
                <a:cubicBezTo>
                  <a:pt x="30556" y="5476"/>
                  <a:pt x="30553" y="5485"/>
                  <a:pt x="30549" y="5494"/>
                </a:cubicBezTo>
                <a:cubicBezTo>
                  <a:pt x="30546" y="5503"/>
                  <a:pt x="30541" y="5511"/>
                  <a:pt x="30536" y="5519"/>
                </a:cubicBezTo>
                <a:cubicBezTo>
                  <a:pt x="30531" y="5527"/>
                  <a:pt x="30525" y="5535"/>
                  <a:pt x="30518" y="5541"/>
                </a:cubicBezTo>
                <a:cubicBezTo>
                  <a:pt x="30511" y="5548"/>
                  <a:pt x="30504" y="5554"/>
                  <a:pt x="30496" y="5560"/>
                </a:cubicBezTo>
                <a:cubicBezTo>
                  <a:pt x="30488" y="5565"/>
                  <a:pt x="30480" y="5569"/>
                  <a:pt x="30471" y="5573"/>
                </a:cubicBezTo>
                <a:cubicBezTo>
                  <a:pt x="30462" y="5577"/>
                  <a:pt x="30453" y="5579"/>
                  <a:pt x="30443" y="5581"/>
                </a:cubicBezTo>
                <a:cubicBezTo>
                  <a:pt x="30434" y="5583"/>
                  <a:pt x="30425" y="5584"/>
                  <a:pt x="30415" y="5584"/>
                </a:cubicBezTo>
                <a:lnTo>
                  <a:pt x="146" y="5584"/>
                </a:lnTo>
                <a:cubicBezTo>
                  <a:pt x="136" y="5584"/>
                  <a:pt x="127" y="5583"/>
                  <a:pt x="117" y="5581"/>
                </a:cubicBezTo>
                <a:cubicBezTo>
                  <a:pt x="108" y="5579"/>
                  <a:pt x="99" y="5577"/>
                  <a:pt x="90" y="5573"/>
                </a:cubicBezTo>
                <a:cubicBezTo>
                  <a:pt x="81" y="5569"/>
                  <a:pt x="73" y="5565"/>
                  <a:pt x="65" y="5560"/>
                </a:cubicBezTo>
                <a:cubicBezTo>
                  <a:pt x="57" y="5554"/>
                  <a:pt x="50" y="5548"/>
                  <a:pt x="43" y="5541"/>
                </a:cubicBezTo>
                <a:cubicBezTo>
                  <a:pt x="36" y="5535"/>
                  <a:pt x="30" y="5527"/>
                  <a:pt x="25" y="5519"/>
                </a:cubicBezTo>
                <a:cubicBezTo>
                  <a:pt x="19" y="5511"/>
                  <a:pt x="15" y="5503"/>
                  <a:pt x="11" y="5494"/>
                </a:cubicBezTo>
                <a:cubicBezTo>
                  <a:pt x="8" y="5485"/>
                  <a:pt x="5" y="5476"/>
                  <a:pt x="3" y="5467"/>
                </a:cubicBezTo>
                <a:cubicBezTo>
                  <a:pt x="1" y="5458"/>
                  <a:pt x="0" y="5448"/>
                  <a:pt x="0" y="5439"/>
                </a:cubicBezTo>
                <a:close/>
              </a:path>
            </a:pathLst>
          </a:custGeom>
          <a:noFill/>
          <a:ln w="9360">
            <a:solidFill>
              <a:srgbClr val="D8E1E9"/>
            </a:solidFill>
            <a:miter/>
          </a:ln>
        </p:spPr>
        <p:txBody>
          <a:bodyPr lIns="4680" tIns="4680" rIns="4680" bIns="468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68" name=""/>
          <p:cNvSpPr txBox="1"/>
          <p:nvPr/>
        </p:nvSpPr>
        <p:spPr>
          <a:xfrm>
            <a:off x="590400" y="552240"/>
            <a:ext cx="6515532" cy="314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47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実装③：温度による違いと、</a:t>
            </a:r>
            <a:r>
              <a:rPr lang="en-US" sz="247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T=0</a:t>
            </a:r>
            <a:r>
              <a:rPr lang="ja-JP" sz="247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の処理</a:t>
            </a:r>
            <a:endParaRPr lang="en-US" sz="247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69" name=""/>
          <p:cNvSpPr/>
          <p:nvPr/>
        </p:nvSpPr>
        <p:spPr>
          <a:xfrm>
            <a:off x="1914480" y="1161720"/>
            <a:ext cx="1152720" cy="286200"/>
          </a:xfrm>
          <a:custGeom>
            <a:avLst/>
            <a:gdLst/>
            <a:ahLst/>
            <a:rect l="0" t="0" r="r" b="b"/>
            <a:pathLst>
              <a:path w="3202" h="795">
                <a:moveTo>
                  <a:pt x="0" y="636"/>
                </a:moveTo>
                <a:lnTo>
                  <a:pt x="0" y="159"/>
                </a:lnTo>
                <a:cubicBezTo>
                  <a:pt x="0" y="149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9"/>
                  <a:pt x="21" y="80"/>
                  <a:pt x="26" y="71"/>
                </a:cubicBezTo>
                <a:cubicBezTo>
                  <a:pt x="32" y="62"/>
                  <a:pt x="39" y="54"/>
                  <a:pt x="46" y="47"/>
                </a:cubicBezTo>
                <a:cubicBezTo>
                  <a:pt x="53" y="40"/>
                  <a:pt x="62" y="33"/>
                  <a:pt x="70" y="27"/>
                </a:cubicBezTo>
                <a:cubicBezTo>
                  <a:pt x="79" y="21"/>
                  <a:pt x="88" y="16"/>
                  <a:pt x="98" y="13"/>
                </a:cubicBezTo>
                <a:cubicBezTo>
                  <a:pt x="107" y="9"/>
                  <a:pt x="117" y="6"/>
                  <a:pt x="127" y="3"/>
                </a:cubicBezTo>
                <a:cubicBezTo>
                  <a:pt x="138" y="1"/>
                  <a:pt x="148" y="0"/>
                  <a:pt x="158" y="0"/>
                </a:cubicBezTo>
                <a:lnTo>
                  <a:pt x="3043" y="0"/>
                </a:lnTo>
                <a:cubicBezTo>
                  <a:pt x="3054" y="0"/>
                  <a:pt x="3064" y="1"/>
                  <a:pt x="3074" y="3"/>
                </a:cubicBezTo>
                <a:cubicBezTo>
                  <a:pt x="3085" y="6"/>
                  <a:pt x="3094" y="9"/>
                  <a:pt x="3104" y="13"/>
                </a:cubicBezTo>
                <a:cubicBezTo>
                  <a:pt x="3114" y="16"/>
                  <a:pt x="3123" y="21"/>
                  <a:pt x="3132" y="27"/>
                </a:cubicBezTo>
                <a:cubicBezTo>
                  <a:pt x="3140" y="33"/>
                  <a:pt x="3148" y="40"/>
                  <a:pt x="3156" y="47"/>
                </a:cubicBezTo>
                <a:cubicBezTo>
                  <a:pt x="3163" y="54"/>
                  <a:pt x="3170" y="62"/>
                  <a:pt x="3175" y="71"/>
                </a:cubicBezTo>
                <a:cubicBezTo>
                  <a:pt x="3181" y="80"/>
                  <a:pt x="3186" y="89"/>
                  <a:pt x="3190" y="98"/>
                </a:cubicBezTo>
                <a:cubicBezTo>
                  <a:pt x="3194" y="108"/>
                  <a:pt x="3197" y="118"/>
                  <a:pt x="3199" y="128"/>
                </a:cubicBezTo>
                <a:cubicBezTo>
                  <a:pt x="3201" y="138"/>
                  <a:pt x="3202" y="149"/>
                  <a:pt x="3202" y="159"/>
                </a:cubicBezTo>
                <a:lnTo>
                  <a:pt x="3202" y="636"/>
                </a:lnTo>
                <a:cubicBezTo>
                  <a:pt x="3202" y="647"/>
                  <a:pt x="3201" y="657"/>
                  <a:pt x="3199" y="667"/>
                </a:cubicBezTo>
                <a:cubicBezTo>
                  <a:pt x="3197" y="678"/>
                  <a:pt x="3194" y="688"/>
                  <a:pt x="3190" y="697"/>
                </a:cubicBezTo>
                <a:cubicBezTo>
                  <a:pt x="3186" y="707"/>
                  <a:pt x="3181" y="716"/>
                  <a:pt x="3175" y="725"/>
                </a:cubicBezTo>
                <a:cubicBezTo>
                  <a:pt x="3170" y="733"/>
                  <a:pt x="3163" y="741"/>
                  <a:pt x="3156" y="749"/>
                </a:cubicBezTo>
                <a:cubicBezTo>
                  <a:pt x="3148" y="756"/>
                  <a:pt x="3140" y="763"/>
                  <a:pt x="3132" y="768"/>
                </a:cubicBezTo>
                <a:cubicBezTo>
                  <a:pt x="3123" y="774"/>
                  <a:pt x="3114" y="779"/>
                  <a:pt x="3104" y="783"/>
                </a:cubicBezTo>
                <a:cubicBezTo>
                  <a:pt x="3094" y="787"/>
                  <a:pt x="3085" y="790"/>
                  <a:pt x="3074" y="792"/>
                </a:cubicBezTo>
                <a:cubicBezTo>
                  <a:pt x="3064" y="794"/>
                  <a:pt x="3054" y="795"/>
                  <a:pt x="3043" y="795"/>
                </a:cubicBezTo>
                <a:lnTo>
                  <a:pt x="158" y="795"/>
                </a:lnTo>
                <a:cubicBezTo>
                  <a:pt x="148" y="795"/>
                  <a:pt x="138" y="794"/>
                  <a:pt x="127" y="792"/>
                </a:cubicBezTo>
                <a:cubicBezTo>
                  <a:pt x="117" y="790"/>
                  <a:pt x="107" y="787"/>
                  <a:pt x="98" y="783"/>
                </a:cubicBezTo>
                <a:cubicBezTo>
                  <a:pt x="88" y="779"/>
                  <a:pt x="79" y="774"/>
                  <a:pt x="70" y="768"/>
                </a:cubicBezTo>
                <a:cubicBezTo>
                  <a:pt x="62" y="763"/>
                  <a:pt x="53" y="756"/>
                  <a:pt x="46" y="749"/>
                </a:cubicBezTo>
                <a:cubicBezTo>
                  <a:pt x="39" y="741"/>
                  <a:pt x="32" y="733"/>
                  <a:pt x="26" y="725"/>
                </a:cubicBezTo>
                <a:cubicBezTo>
                  <a:pt x="21" y="716"/>
                  <a:pt x="16" y="707"/>
                  <a:pt x="12" y="697"/>
                </a:cubicBezTo>
                <a:cubicBezTo>
                  <a:pt x="8" y="688"/>
                  <a:pt x="5" y="678"/>
                  <a:pt x="3" y="667"/>
                </a:cubicBezTo>
                <a:cubicBezTo>
                  <a:pt x="1" y="657"/>
                  <a:pt x="0" y="647"/>
                  <a:pt x="0" y="636"/>
                </a:cubicBezTo>
                <a:close/>
              </a:path>
            </a:pathLst>
          </a:custGeom>
          <a:solidFill>
            <a:srgbClr val="EEF3F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70" name=""/>
          <p:cNvSpPr txBox="1"/>
          <p:nvPr/>
        </p:nvSpPr>
        <p:spPr>
          <a:xfrm>
            <a:off x="590400" y="1177560"/>
            <a:ext cx="152145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6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同じロジット 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71" name=""/>
          <p:cNvSpPr txBox="1"/>
          <p:nvPr/>
        </p:nvSpPr>
        <p:spPr>
          <a:xfrm>
            <a:off x="1991160" y="1199160"/>
            <a:ext cx="1150092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450" b="1" u="none" strike="noStrike">
                <a:solidFill>
                  <a:srgbClr val="245F8B"/>
                </a:solidFill>
                <a:effectLst/>
                <a:uFillTx/>
                <a:latin typeface="Menlo"/>
                <a:ea typeface="Menlo"/>
              </a:rPr>
              <a:t>[2, 1, 0]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72" name=""/>
          <p:cNvSpPr txBox="1"/>
          <p:nvPr/>
        </p:nvSpPr>
        <p:spPr>
          <a:xfrm>
            <a:off x="3064320" y="1177560"/>
            <a:ext cx="5603076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 に対する確率。実モデルの出力ではなく、計算例。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73" name=""/>
          <p:cNvSpPr txBox="1"/>
          <p:nvPr/>
        </p:nvSpPr>
        <p:spPr>
          <a:xfrm>
            <a:off x="2487960" y="1643400"/>
            <a:ext cx="616446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58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温度</a:t>
            </a:r>
            <a:r>
              <a:rPr lang="en-US" sz="158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T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74" name=""/>
          <p:cNvSpPr txBox="1"/>
          <p:nvPr/>
        </p:nvSpPr>
        <p:spPr>
          <a:xfrm>
            <a:off x="5284080" y="1643400"/>
            <a:ext cx="640044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58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候補</a:t>
            </a:r>
            <a:r>
              <a:rPr lang="en-US" sz="158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A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75" name=""/>
          <p:cNvSpPr txBox="1"/>
          <p:nvPr/>
        </p:nvSpPr>
        <p:spPr>
          <a:xfrm>
            <a:off x="8112960" y="1643400"/>
            <a:ext cx="6292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58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候補</a:t>
            </a:r>
            <a:r>
              <a:rPr lang="en-US" sz="158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B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76" name=""/>
          <p:cNvSpPr txBox="1"/>
          <p:nvPr/>
        </p:nvSpPr>
        <p:spPr>
          <a:xfrm>
            <a:off x="10922040" y="1643400"/>
            <a:ext cx="638388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58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候補</a:t>
            </a:r>
            <a:r>
              <a:rPr lang="en-US" sz="158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C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77" name=""/>
          <p:cNvSpPr txBox="1"/>
          <p:nvPr/>
        </p:nvSpPr>
        <p:spPr>
          <a:xfrm>
            <a:off x="2713680" y="2033640"/>
            <a:ext cx="357696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8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0.5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78" name=""/>
          <p:cNvSpPr txBox="1"/>
          <p:nvPr/>
        </p:nvSpPr>
        <p:spPr>
          <a:xfrm>
            <a:off x="5222880" y="2033640"/>
            <a:ext cx="710424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8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86.7%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79" name=""/>
          <p:cNvSpPr txBox="1"/>
          <p:nvPr/>
        </p:nvSpPr>
        <p:spPr>
          <a:xfrm>
            <a:off x="8042400" y="2033640"/>
            <a:ext cx="710424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8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11.7%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80" name=""/>
          <p:cNvSpPr txBox="1"/>
          <p:nvPr/>
        </p:nvSpPr>
        <p:spPr>
          <a:xfrm>
            <a:off x="10990800" y="2033640"/>
            <a:ext cx="559314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8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1.6%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81" name=""/>
          <p:cNvSpPr txBox="1"/>
          <p:nvPr/>
        </p:nvSpPr>
        <p:spPr>
          <a:xfrm>
            <a:off x="2713680" y="2414880"/>
            <a:ext cx="357696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8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1.0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82" name=""/>
          <p:cNvSpPr txBox="1"/>
          <p:nvPr/>
        </p:nvSpPr>
        <p:spPr>
          <a:xfrm>
            <a:off x="5222880" y="2414880"/>
            <a:ext cx="710424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8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66.5%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83" name=""/>
          <p:cNvSpPr txBox="1"/>
          <p:nvPr/>
        </p:nvSpPr>
        <p:spPr>
          <a:xfrm>
            <a:off x="8041680" y="2414880"/>
            <a:ext cx="711252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8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24.5%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84" name=""/>
          <p:cNvSpPr txBox="1"/>
          <p:nvPr/>
        </p:nvSpPr>
        <p:spPr>
          <a:xfrm>
            <a:off x="10990800" y="2414880"/>
            <a:ext cx="559314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8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9.0%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85" name=""/>
          <p:cNvSpPr txBox="1"/>
          <p:nvPr/>
        </p:nvSpPr>
        <p:spPr>
          <a:xfrm>
            <a:off x="2713680" y="2795760"/>
            <a:ext cx="357696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8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2.0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86" name=""/>
          <p:cNvSpPr txBox="1"/>
          <p:nvPr/>
        </p:nvSpPr>
        <p:spPr>
          <a:xfrm>
            <a:off x="5222880" y="2795760"/>
            <a:ext cx="710424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8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50.6%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87" name=""/>
          <p:cNvSpPr txBox="1"/>
          <p:nvPr/>
        </p:nvSpPr>
        <p:spPr>
          <a:xfrm>
            <a:off x="8042400" y="2795760"/>
            <a:ext cx="710424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8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30.7%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88" name=""/>
          <p:cNvSpPr txBox="1"/>
          <p:nvPr/>
        </p:nvSpPr>
        <p:spPr>
          <a:xfrm>
            <a:off x="10859400" y="2795760"/>
            <a:ext cx="710424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8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18.6%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89" name=""/>
          <p:cNvSpPr txBox="1"/>
          <p:nvPr/>
        </p:nvSpPr>
        <p:spPr>
          <a:xfrm>
            <a:off x="590400" y="3254040"/>
            <a:ext cx="8800398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T</a:t>
            </a:r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を小さくすると最大候補に集中し、大きくすると他の候補も選ばれやすくなる。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90" name=""/>
          <p:cNvSpPr txBox="1"/>
          <p:nvPr/>
        </p:nvSpPr>
        <p:spPr>
          <a:xfrm>
            <a:off x="762120" y="3773880"/>
            <a:ext cx="1566162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CF222E"/>
                </a:solidFill>
                <a:effectLst/>
                <a:uFillTx/>
                <a:latin typeface="Menlo"/>
                <a:ea typeface="Menlo"/>
              </a:rPr>
              <a:t>if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(t === </a:t>
            </a:r>
            <a:r>
              <a:rPr lang="en-US" sz="1280" b="0" u="none" strike="noStrike">
                <a:solidFill>
                  <a:srgbClr val="0550AE"/>
                </a:solidFill>
                <a:effectLst/>
                <a:uFillTx/>
                <a:latin typeface="Menlo"/>
                <a:ea typeface="Menlo"/>
              </a:rPr>
              <a:t>0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) {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91" name=""/>
          <p:cNvSpPr txBox="1"/>
          <p:nvPr/>
        </p:nvSpPr>
        <p:spPr>
          <a:xfrm>
            <a:off x="762120" y="3993120"/>
            <a:ext cx="1677942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 </a:t>
            </a:r>
            <a:r>
              <a:rPr lang="en-US" sz="1280" b="0" u="none" strike="noStrike">
                <a:solidFill>
                  <a:srgbClr val="CF222E"/>
                </a:solidFill>
                <a:effectLst/>
                <a:uFillTx/>
                <a:latin typeface="Menlo"/>
                <a:ea typeface="Menlo"/>
              </a:rPr>
              <a:t>let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best = </a:t>
            </a:r>
            <a:r>
              <a:rPr lang="en-US" sz="1280" b="0" u="none" strike="noStrike">
                <a:solidFill>
                  <a:srgbClr val="0550AE"/>
                </a:solidFill>
                <a:effectLst/>
                <a:uFillTx/>
                <a:latin typeface="Menlo"/>
                <a:ea typeface="Menlo"/>
              </a:rPr>
              <a:t>0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;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92" name=""/>
          <p:cNvSpPr txBox="1"/>
          <p:nvPr/>
        </p:nvSpPr>
        <p:spPr>
          <a:xfrm>
            <a:off x="762120" y="4212360"/>
            <a:ext cx="5144778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 </a:t>
            </a:r>
            <a:r>
              <a:rPr lang="en-US" sz="1280" b="0" u="none" strike="noStrike">
                <a:solidFill>
                  <a:srgbClr val="CF222E"/>
                </a:solidFill>
                <a:effectLst/>
                <a:uFillTx/>
                <a:latin typeface="Menlo"/>
                <a:ea typeface="Menlo"/>
              </a:rPr>
              <a:t>for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(</a:t>
            </a:r>
            <a:r>
              <a:rPr lang="en-US" sz="1280" b="0" u="none" strike="noStrike">
                <a:solidFill>
                  <a:srgbClr val="CF222E"/>
                </a:solidFill>
                <a:effectLst/>
                <a:uFillTx/>
                <a:latin typeface="Menlo"/>
                <a:ea typeface="Menlo"/>
              </a:rPr>
              <a:t>let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i = </a:t>
            </a:r>
            <a:r>
              <a:rPr lang="en-US" sz="1280" b="0" u="none" strike="noStrike">
                <a:solidFill>
                  <a:srgbClr val="0550AE"/>
                </a:solidFill>
                <a:effectLst/>
                <a:uFillTx/>
                <a:latin typeface="Menlo"/>
                <a:ea typeface="Menlo"/>
              </a:rPr>
              <a:t>0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; i &lt; logits.length; i += </a:t>
            </a:r>
            <a:r>
              <a:rPr lang="en-US" sz="1280" b="0" u="none" strike="noStrike">
                <a:solidFill>
                  <a:srgbClr val="0550AE"/>
                </a:solidFill>
                <a:effectLst/>
                <a:uFillTx/>
                <a:latin typeface="Menlo"/>
                <a:ea typeface="Menlo"/>
              </a:rPr>
              <a:t>1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) {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93" name=""/>
          <p:cNvSpPr txBox="1"/>
          <p:nvPr/>
        </p:nvSpPr>
        <p:spPr>
          <a:xfrm>
            <a:off x="762120" y="4431240"/>
            <a:ext cx="895896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   </a:t>
            </a:r>
            <a:r>
              <a:rPr lang="en-US" sz="1280" b="0" u="none" strike="noStrike">
                <a:solidFill>
                  <a:srgbClr val="59636E"/>
                </a:solidFill>
                <a:effectLst/>
                <a:uFillTx/>
                <a:latin typeface="Menlo"/>
                <a:ea typeface="Menlo"/>
              </a:rPr>
              <a:t>// …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94" name=""/>
          <p:cNvSpPr txBox="1"/>
          <p:nvPr/>
        </p:nvSpPr>
        <p:spPr>
          <a:xfrm>
            <a:off x="1541880" y="4439160"/>
            <a:ext cx="2416104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280" b="0" u="none" strike="noStrike">
                <a:solidFill>
                  <a:srgbClr val="59636E"/>
                </a:solidFill>
                <a:effectLst/>
                <a:uFillTx/>
                <a:latin typeface="Hiragino Sans"/>
                <a:ea typeface="Hiragino Sans"/>
              </a:rPr>
              <a:t>（不正な数値の検査を省略）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95" name=""/>
          <p:cNvSpPr txBox="1"/>
          <p:nvPr/>
        </p:nvSpPr>
        <p:spPr>
          <a:xfrm>
            <a:off x="762120" y="4650480"/>
            <a:ext cx="4810266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   </a:t>
            </a:r>
            <a:r>
              <a:rPr lang="en-US" sz="1280" b="0" u="none" strike="noStrike">
                <a:solidFill>
                  <a:srgbClr val="CF222E"/>
                </a:solidFill>
                <a:effectLst/>
                <a:uFillTx/>
                <a:latin typeface="Menlo"/>
                <a:ea typeface="Menlo"/>
              </a:rPr>
              <a:t>if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(logits[i] &gt; logits[best]) best = i;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96" name=""/>
          <p:cNvSpPr txBox="1"/>
          <p:nvPr/>
        </p:nvSpPr>
        <p:spPr>
          <a:xfrm>
            <a:off x="762120" y="4869360"/>
            <a:ext cx="336168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 }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97" name=""/>
          <p:cNvSpPr txBox="1"/>
          <p:nvPr/>
        </p:nvSpPr>
        <p:spPr>
          <a:xfrm>
            <a:off x="762120" y="5088600"/>
            <a:ext cx="1566576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 </a:t>
            </a:r>
            <a:r>
              <a:rPr lang="en-US" sz="1280" b="0" u="none" strike="noStrike">
                <a:solidFill>
                  <a:srgbClr val="CF222E"/>
                </a:solidFill>
                <a:effectLst/>
                <a:uFillTx/>
                <a:latin typeface="Menlo"/>
                <a:ea typeface="Menlo"/>
              </a:rPr>
              <a:t>return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best;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98" name=""/>
          <p:cNvSpPr txBox="1"/>
          <p:nvPr/>
        </p:nvSpPr>
        <p:spPr>
          <a:xfrm>
            <a:off x="762120" y="5307480"/>
            <a:ext cx="185886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}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799" name=""/>
          <p:cNvSpPr txBox="1"/>
          <p:nvPr/>
        </p:nvSpPr>
        <p:spPr>
          <a:xfrm>
            <a:off x="590400" y="5797440"/>
            <a:ext cx="1141110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6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T=0</a:t>
            </a:r>
            <a:r>
              <a:rPr lang="ja-JP" sz="16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では</a:t>
            </a:r>
            <a:r>
              <a:rPr lang="en-US" sz="16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softmax</a:t>
            </a:r>
            <a:r>
              <a:rPr lang="ja-JP" sz="16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を計算せず、最大候補を選ぶ（</a:t>
            </a:r>
            <a:r>
              <a:rPr lang="en-US" sz="16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greedy</a:t>
            </a:r>
            <a:r>
              <a:rPr lang="ja-JP" sz="16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）。</a:t>
            </a:r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 温度を上げても正解率が上がるとは限らない。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00" name=""/>
          <p:cNvSpPr txBox="1"/>
          <p:nvPr/>
        </p:nvSpPr>
        <p:spPr>
          <a:xfrm>
            <a:off x="590400" y="6189480"/>
            <a:ext cx="8176086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130" b="0" u="none" strike="noStrike">
                <a:solidFill>
                  <a:srgbClr val="52606D"/>
                </a:solidFill>
                <a:effectLst/>
                <a:uFillTx/>
                <a:latin typeface="Hiragino Sans"/>
                <a:ea typeface="Hiragino Sans"/>
              </a:rPr>
              <a:t>抜粋：</a:t>
            </a:r>
            <a:r>
              <a:rPr lang="en-US" sz="1130" b="0" u="none" strike="noStrike">
                <a:solidFill>
                  <a:srgbClr val="52606D"/>
                </a:solidFill>
                <a:effectLst/>
                <a:uFillTx/>
                <a:latin typeface="Hiragino Sans"/>
                <a:ea typeface="Hiragino Sans"/>
              </a:rPr>
              <a:t>web/sampling.js 28–35</a:t>
            </a:r>
            <a:r>
              <a:rPr lang="ja-JP" sz="1130" b="0" u="none" strike="noStrike">
                <a:solidFill>
                  <a:srgbClr val="52606D"/>
                </a:solidFill>
                <a:effectLst/>
                <a:uFillTx/>
                <a:latin typeface="Hiragino Sans"/>
                <a:ea typeface="Hiragino Sans"/>
              </a:rPr>
              <a:t>行。表は同ファイルの</a:t>
            </a:r>
            <a:r>
              <a:rPr lang="en-US" sz="1130" b="0" u="none" strike="noStrike">
                <a:solidFill>
                  <a:srgbClr val="52606D"/>
                </a:solidFill>
                <a:effectLst/>
                <a:uFillTx/>
                <a:latin typeface="Hiragino Sans"/>
                <a:ea typeface="Hiragino Sans"/>
              </a:rPr>
              <a:t>temperatureProbabilities</a:t>
            </a:r>
            <a:r>
              <a:rPr lang="ja-JP" sz="1130" b="0" u="none" strike="noStrike">
                <a:solidFill>
                  <a:srgbClr val="52606D"/>
                </a:solidFill>
                <a:effectLst/>
                <a:uFillTx/>
                <a:latin typeface="Hiragino Sans"/>
                <a:ea typeface="Hiragino Sans"/>
              </a:rPr>
              <a:t>で算出（丸めで合計に差）。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01" name=""/>
          <p:cNvSpPr txBox="1"/>
          <p:nvPr/>
        </p:nvSpPr>
        <p:spPr>
          <a:xfrm>
            <a:off x="11705760" y="6476400"/>
            <a:ext cx="231012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Hiragino Sans"/>
                <a:ea typeface="Hiragino Sans"/>
              </a:rPr>
              <a:t>16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0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0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05" name=""/>
          <p:cNvSpPr/>
          <p:nvPr/>
        </p:nvSpPr>
        <p:spPr>
          <a:xfrm>
            <a:off x="595080" y="1509480"/>
            <a:ext cx="11001960" cy="2886480"/>
          </a:xfrm>
          <a:custGeom>
            <a:avLst/>
            <a:gdLst/>
            <a:ahLst/>
            <a:rect l="0" t="0" r="r" b="b"/>
            <a:pathLst>
              <a:path w="30561" h="8018">
                <a:moveTo>
                  <a:pt x="0" y="7872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30415" y="0"/>
                </a:lnTo>
                <a:cubicBezTo>
                  <a:pt x="30425" y="0"/>
                  <a:pt x="30434" y="1"/>
                  <a:pt x="30443" y="3"/>
                </a:cubicBezTo>
                <a:cubicBezTo>
                  <a:pt x="30453" y="5"/>
                  <a:pt x="30462" y="8"/>
                  <a:pt x="30471" y="11"/>
                </a:cubicBezTo>
                <a:cubicBezTo>
                  <a:pt x="30480" y="15"/>
                  <a:pt x="30488" y="19"/>
                  <a:pt x="30496" y="25"/>
                </a:cubicBezTo>
                <a:cubicBezTo>
                  <a:pt x="30504" y="30"/>
                  <a:pt x="30511" y="36"/>
                  <a:pt x="30518" y="43"/>
                </a:cubicBezTo>
                <a:cubicBezTo>
                  <a:pt x="30525" y="50"/>
                  <a:pt x="30531" y="57"/>
                  <a:pt x="30536" y="65"/>
                </a:cubicBezTo>
                <a:cubicBezTo>
                  <a:pt x="30541" y="73"/>
                  <a:pt x="30546" y="81"/>
                  <a:pt x="30549" y="90"/>
                </a:cubicBezTo>
                <a:cubicBezTo>
                  <a:pt x="30553" y="99"/>
                  <a:pt x="30556" y="108"/>
                  <a:pt x="30558" y="117"/>
                </a:cubicBezTo>
                <a:cubicBezTo>
                  <a:pt x="30560" y="127"/>
                  <a:pt x="30561" y="136"/>
                  <a:pt x="30561" y="146"/>
                </a:cubicBezTo>
                <a:lnTo>
                  <a:pt x="30561" y="7872"/>
                </a:lnTo>
                <a:cubicBezTo>
                  <a:pt x="30561" y="7882"/>
                  <a:pt x="30560" y="7892"/>
                  <a:pt x="30558" y="7901"/>
                </a:cubicBezTo>
                <a:cubicBezTo>
                  <a:pt x="30556" y="7910"/>
                  <a:pt x="30553" y="7919"/>
                  <a:pt x="30549" y="7928"/>
                </a:cubicBezTo>
                <a:cubicBezTo>
                  <a:pt x="30546" y="7937"/>
                  <a:pt x="30541" y="7945"/>
                  <a:pt x="30536" y="7953"/>
                </a:cubicBezTo>
                <a:cubicBezTo>
                  <a:pt x="30531" y="7961"/>
                  <a:pt x="30525" y="7969"/>
                  <a:pt x="30518" y="7975"/>
                </a:cubicBezTo>
                <a:cubicBezTo>
                  <a:pt x="30511" y="7982"/>
                  <a:pt x="30504" y="7988"/>
                  <a:pt x="30496" y="7993"/>
                </a:cubicBezTo>
                <a:cubicBezTo>
                  <a:pt x="30488" y="7999"/>
                  <a:pt x="30480" y="8003"/>
                  <a:pt x="30471" y="8007"/>
                </a:cubicBezTo>
                <a:cubicBezTo>
                  <a:pt x="30462" y="8011"/>
                  <a:pt x="30453" y="8013"/>
                  <a:pt x="30443" y="8015"/>
                </a:cubicBezTo>
                <a:cubicBezTo>
                  <a:pt x="30434" y="8017"/>
                  <a:pt x="30425" y="8018"/>
                  <a:pt x="30415" y="8018"/>
                </a:cubicBezTo>
                <a:lnTo>
                  <a:pt x="146" y="8018"/>
                </a:lnTo>
                <a:cubicBezTo>
                  <a:pt x="136" y="8018"/>
                  <a:pt x="127" y="8017"/>
                  <a:pt x="117" y="8015"/>
                </a:cubicBezTo>
                <a:cubicBezTo>
                  <a:pt x="108" y="8013"/>
                  <a:pt x="99" y="8011"/>
                  <a:pt x="90" y="8007"/>
                </a:cubicBezTo>
                <a:cubicBezTo>
                  <a:pt x="81" y="8003"/>
                  <a:pt x="73" y="7999"/>
                  <a:pt x="65" y="7993"/>
                </a:cubicBezTo>
                <a:cubicBezTo>
                  <a:pt x="57" y="7988"/>
                  <a:pt x="50" y="7982"/>
                  <a:pt x="43" y="7975"/>
                </a:cubicBezTo>
                <a:cubicBezTo>
                  <a:pt x="36" y="7969"/>
                  <a:pt x="30" y="7961"/>
                  <a:pt x="25" y="7953"/>
                </a:cubicBezTo>
                <a:cubicBezTo>
                  <a:pt x="19" y="7945"/>
                  <a:pt x="15" y="7937"/>
                  <a:pt x="11" y="7928"/>
                </a:cubicBezTo>
                <a:cubicBezTo>
                  <a:pt x="8" y="7919"/>
                  <a:pt x="5" y="7910"/>
                  <a:pt x="3" y="7901"/>
                </a:cubicBezTo>
                <a:cubicBezTo>
                  <a:pt x="1" y="7892"/>
                  <a:pt x="0" y="7882"/>
                  <a:pt x="0" y="7872"/>
                </a:cubicBez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06" name=""/>
          <p:cNvSpPr/>
          <p:nvPr/>
        </p:nvSpPr>
        <p:spPr>
          <a:xfrm>
            <a:off x="595080" y="1509480"/>
            <a:ext cx="11001960" cy="2886480"/>
          </a:xfrm>
          <a:custGeom>
            <a:avLst/>
            <a:gdLst/>
            <a:ahLst/>
            <a:rect l="0" t="0" r="r" b="b"/>
            <a:pathLst>
              <a:path w="30561" h="8018">
                <a:moveTo>
                  <a:pt x="0" y="7872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30415" y="0"/>
                </a:lnTo>
                <a:cubicBezTo>
                  <a:pt x="30425" y="0"/>
                  <a:pt x="30434" y="1"/>
                  <a:pt x="30443" y="3"/>
                </a:cubicBezTo>
                <a:cubicBezTo>
                  <a:pt x="30453" y="5"/>
                  <a:pt x="30462" y="8"/>
                  <a:pt x="30471" y="11"/>
                </a:cubicBezTo>
                <a:cubicBezTo>
                  <a:pt x="30480" y="15"/>
                  <a:pt x="30488" y="19"/>
                  <a:pt x="30496" y="25"/>
                </a:cubicBezTo>
                <a:cubicBezTo>
                  <a:pt x="30504" y="30"/>
                  <a:pt x="30511" y="36"/>
                  <a:pt x="30518" y="43"/>
                </a:cubicBezTo>
                <a:cubicBezTo>
                  <a:pt x="30525" y="50"/>
                  <a:pt x="30531" y="57"/>
                  <a:pt x="30536" y="65"/>
                </a:cubicBezTo>
                <a:cubicBezTo>
                  <a:pt x="30541" y="73"/>
                  <a:pt x="30546" y="81"/>
                  <a:pt x="30549" y="90"/>
                </a:cubicBezTo>
                <a:cubicBezTo>
                  <a:pt x="30553" y="99"/>
                  <a:pt x="30556" y="108"/>
                  <a:pt x="30558" y="117"/>
                </a:cubicBezTo>
                <a:cubicBezTo>
                  <a:pt x="30560" y="127"/>
                  <a:pt x="30561" y="136"/>
                  <a:pt x="30561" y="146"/>
                </a:cubicBezTo>
                <a:lnTo>
                  <a:pt x="30561" y="7872"/>
                </a:lnTo>
                <a:cubicBezTo>
                  <a:pt x="30561" y="7882"/>
                  <a:pt x="30560" y="7892"/>
                  <a:pt x="30558" y="7901"/>
                </a:cubicBezTo>
                <a:cubicBezTo>
                  <a:pt x="30556" y="7910"/>
                  <a:pt x="30553" y="7919"/>
                  <a:pt x="30549" y="7928"/>
                </a:cubicBezTo>
                <a:cubicBezTo>
                  <a:pt x="30546" y="7937"/>
                  <a:pt x="30541" y="7945"/>
                  <a:pt x="30536" y="7953"/>
                </a:cubicBezTo>
                <a:cubicBezTo>
                  <a:pt x="30531" y="7961"/>
                  <a:pt x="30525" y="7969"/>
                  <a:pt x="30518" y="7975"/>
                </a:cubicBezTo>
                <a:cubicBezTo>
                  <a:pt x="30511" y="7982"/>
                  <a:pt x="30504" y="7988"/>
                  <a:pt x="30496" y="7993"/>
                </a:cubicBezTo>
                <a:cubicBezTo>
                  <a:pt x="30488" y="7999"/>
                  <a:pt x="30480" y="8003"/>
                  <a:pt x="30471" y="8007"/>
                </a:cubicBezTo>
                <a:cubicBezTo>
                  <a:pt x="30462" y="8011"/>
                  <a:pt x="30453" y="8013"/>
                  <a:pt x="30443" y="8015"/>
                </a:cubicBezTo>
                <a:cubicBezTo>
                  <a:pt x="30434" y="8017"/>
                  <a:pt x="30425" y="8018"/>
                  <a:pt x="30415" y="8018"/>
                </a:cubicBezTo>
                <a:lnTo>
                  <a:pt x="146" y="8018"/>
                </a:lnTo>
                <a:cubicBezTo>
                  <a:pt x="136" y="8018"/>
                  <a:pt x="127" y="8017"/>
                  <a:pt x="117" y="8015"/>
                </a:cubicBezTo>
                <a:cubicBezTo>
                  <a:pt x="108" y="8013"/>
                  <a:pt x="99" y="8011"/>
                  <a:pt x="90" y="8007"/>
                </a:cubicBezTo>
                <a:cubicBezTo>
                  <a:pt x="81" y="8003"/>
                  <a:pt x="73" y="7999"/>
                  <a:pt x="65" y="7993"/>
                </a:cubicBezTo>
                <a:cubicBezTo>
                  <a:pt x="57" y="7988"/>
                  <a:pt x="50" y="7982"/>
                  <a:pt x="43" y="7975"/>
                </a:cubicBezTo>
                <a:cubicBezTo>
                  <a:pt x="36" y="7969"/>
                  <a:pt x="30" y="7961"/>
                  <a:pt x="25" y="7953"/>
                </a:cubicBezTo>
                <a:cubicBezTo>
                  <a:pt x="19" y="7945"/>
                  <a:pt x="15" y="7937"/>
                  <a:pt x="11" y="7928"/>
                </a:cubicBezTo>
                <a:cubicBezTo>
                  <a:pt x="8" y="7919"/>
                  <a:pt x="5" y="7910"/>
                  <a:pt x="3" y="7901"/>
                </a:cubicBezTo>
                <a:cubicBezTo>
                  <a:pt x="1" y="7892"/>
                  <a:pt x="0" y="7882"/>
                  <a:pt x="0" y="7872"/>
                </a:cubicBezTo>
                <a:close/>
              </a:path>
            </a:pathLst>
          </a:custGeom>
          <a:noFill/>
          <a:ln w="9360">
            <a:solidFill>
              <a:srgbClr val="D8E1E9"/>
            </a:solidFill>
            <a:miter/>
          </a:ln>
        </p:spPr>
        <p:txBody>
          <a:bodyPr lIns="4680" tIns="4680" rIns="4680" bIns="468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07" name=""/>
          <p:cNvSpPr txBox="1"/>
          <p:nvPr/>
        </p:nvSpPr>
        <p:spPr>
          <a:xfrm>
            <a:off x="590400" y="504360"/>
            <a:ext cx="6387606" cy="314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47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実装④：確率に従って</a:t>
            </a:r>
            <a:r>
              <a:rPr lang="en-US" sz="247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1</a:t>
            </a:r>
            <a:r>
              <a:rPr lang="ja-JP" sz="247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トークンを選ぶ</a:t>
            </a:r>
            <a:endParaRPr lang="en-US" sz="247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08" name=""/>
          <p:cNvSpPr txBox="1"/>
          <p:nvPr/>
        </p:nvSpPr>
        <p:spPr>
          <a:xfrm>
            <a:off x="590400" y="1130040"/>
            <a:ext cx="7651548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T &gt; 0</a:t>
            </a:r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では、</a:t>
            </a:r>
            <a:r>
              <a:rPr lang="en-US" sz="16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0</a:t>
            </a:r>
            <a:r>
              <a:rPr lang="ja-JP" sz="16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以上</a:t>
            </a:r>
            <a:r>
              <a:rPr lang="en-US" sz="16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1</a:t>
            </a:r>
            <a:r>
              <a:rPr lang="ja-JP" sz="16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未満の乱数を引き、確率の幅に応じて候補を選ぶ。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09" name=""/>
          <p:cNvSpPr txBox="1"/>
          <p:nvPr/>
        </p:nvSpPr>
        <p:spPr>
          <a:xfrm>
            <a:off x="762120" y="1649880"/>
            <a:ext cx="8053956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CF222E"/>
                </a:solidFill>
                <a:effectLst/>
                <a:uFillTx/>
                <a:latin typeface="Menlo"/>
                <a:ea typeface="Menlo"/>
              </a:rPr>
              <a:t>export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</a:t>
            </a:r>
            <a:r>
              <a:rPr lang="en-US" sz="1280" b="0" u="none" strike="noStrike">
                <a:solidFill>
                  <a:srgbClr val="CF222E"/>
                </a:solidFill>
                <a:effectLst/>
                <a:uFillTx/>
                <a:latin typeface="Menlo"/>
                <a:ea typeface="Menlo"/>
              </a:rPr>
              <a:t>function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</a:t>
            </a:r>
            <a:r>
              <a:rPr lang="en-US" sz="1280" b="0" u="none" strike="noStrike">
                <a:solidFill>
                  <a:srgbClr val="6639BA"/>
                </a:solidFill>
                <a:effectLst/>
                <a:uFillTx/>
                <a:latin typeface="Menlo"/>
                <a:ea typeface="Menlo"/>
              </a:rPr>
              <a:t>selectToken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(logits, temperature, random = </a:t>
            </a:r>
            <a:r>
              <a:rPr lang="en-US" sz="1280" b="0" u="none" strike="noStrike">
                <a:solidFill>
                  <a:srgbClr val="953800"/>
                </a:solidFill>
                <a:effectLst/>
                <a:uFillTx/>
                <a:latin typeface="Menlo"/>
                <a:ea typeface="Menlo"/>
              </a:rPr>
              <a:t>Math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.random) {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10" name=""/>
          <p:cNvSpPr txBox="1"/>
          <p:nvPr/>
        </p:nvSpPr>
        <p:spPr>
          <a:xfrm>
            <a:off x="762120" y="1869120"/>
            <a:ext cx="5033826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 </a:t>
            </a:r>
            <a:r>
              <a:rPr lang="en-US" sz="1280" b="0" u="none" strike="noStrike">
                <a:solidFill>
                  <a:srgbClr val="CF222E"/>
                </a:solidFill>
                <a:effectLst/>
                <a:uFillTx/>
                <a:latin typeface="Menlo"/>
                <a:ea typeface="Menlo"/>
              </a:rPr>
              <a:t>const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t = </a:t>
            </a:r>
            <a:r>
              <a:rPr lang="en-US" sz="1280" b="0" u="none" strike="noStrike">
                <a:solidFill>
                  <a:srgbClr val="6639BA"/>
                </a:solidFill>
                <a:effectLst/>
                <a:uFillTx/>
                <a:latin typeface="Menlo"/>
                <a:ea typeface="Menlo"/>
              </a:rPr>
              <a:t>validateTemperature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(temperature);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11" name=""/>
          <p:cNvSpPr txBox="1"/>
          <p:nvPr/>
        </p:nvSpPr>
        <p:spPr>
          <a:xfrm>
            <a:off x="762120" y="2088000"/>
            <a:ext cx="671922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 </a:t>
            </a:r>
            <a:r>
              <a:rPr lang="en-US" sz="1280" b="0" u="none" strike="noStrike">
                <a:solidFill>
                  <a:srgbClr val="59636E"/>
                </a:solidFill>
                <a:effectLst/>
                <a:uFillTx/>
                <a:latin typeface="Menlo"/>
                <a:ea typeface="Menlo"/>
              </a:rPr>
              <a:t>// …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12" name=""/>
          <p:cNvSpPr txBox="1"/>
          <p:nvPr/>
        </p:nvSpPr>
        <p:spPr>
          <a:xfrm>
            <a:off x="1347120" y="2095920"/>
            <a:ext cx="1487088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280" b="0" u="none" strike="noStrike">
                <a:solidFill>
                  <a:srgbClr val="59636E"/>
                </a:solidFill>
                <a:effectLst/>
                <a:uFillTx/>
                <a:latin typeface="Hiragino Sans"/>
                <a:ea typeface="Hiragino Sans"/>
              </a:rPr>
              <a:t>（空配列の検査と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13" name=""/>
          <p:cNvSpPr txBox="1"/>
          <p:nvPr/>
        </p:nvSpPr>
        <p:spPr>
          <a:xfrm>
            <a:off x="2642400" y="2088000"/>
            <a:ext cx="336168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59636E"/>
                </a:solidFill>
                <a:effectLst/>
                <a:uFillTx/>
                <a:latin typeface="Menlo"/>
                <a:ea typeface="Menlo"/>
              </a:rPr>
              <a:t>T=0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14" name=""/>
          <p:cNvSpPr txBox="1"/>
          <p:nvPr/>
        </p:nvSpPr>
        <p:spPr>
          <a:xfrm>
            <a:off x="2935080" y="2095920"/>
            <a:ext cx="1301202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280" b="0" u="none" strike="noStrike">
                <a:solidFill>
                  <a:srgbClr val="59636E"/>
                </a:solidFill>
                <a:effectLst/>
                <a:uFillTx/>
                <a:latin typeface="Hiragino Sans"/>
                <a:ea typeface="Hiragino Sans"/>
              </a:rPr>
              <a:t>の分岐を省略）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15" name=""/>
          <p:cNvSpPr txBox="1"/>
          <p:nvPr/>
        </p:nvSpPr>
        <p:spPr>
          <a:xfrm>
            <a:off x="762120" y="2307240"/>
            <a:ext cx="6711768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 </a:t>
            </a:r>
            <a:r>
              <a:rPr lang="en-US" sz="1280" b="0" u="none" strike="noStrike">
                <a:solidFill>
                  <a:srgbClr val="CF222E"/>
                </a:solidFill>
                <a:effectLst/>
                <a:uFillTx/>
                <a:latin typeface="Menlo"/>
                <a:ea typeface="Menlo"/>
              </a:rPr>
              <a:t>const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probabilities = </a:t>
            </a:r>
            <a:r>
              <a:rPr lang="en-US" sz="1280" b="0" u="none" strike="noStrike">
                <a:solidFill>
                  <a:srgbClr val="6639BA"/>
                </a:solidFill>
                <a:effectLst/>
                <a:uFillTx/>
                <a:latin typeface="Menlo"/>
                <a:ea typeface="Menlo"/>
              </a:rPr>
              <a:t>temperatureProbabilities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(logits, t);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16" name=""/>
          <p:cNvSpPr txBox="1"/>
          <p:nvPr/>
        </p:nvSpPr>
        <p:spPr>
          <a:xfrm>
            <a:off x="762120" y="2526120"/>
            <a:ext cx="3020130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 </a:t>
            </a:r>
            <a:r>
              <a:rPr lang="en-US" sz="1280" b="0" u="none" strike="noStrike">
                <a:solidFill>
                  <a:srgbClr val="CF222E"/>
                </a:solidFill>
                <a:effectLst/>
                <a:uFillTx/>
                <a:latin typeface="Menlo"/>
                <a:ea typeface="Menlo"/>
              </a:rPr>
              <a:t>let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threshold = </a:t>
            </a:r>
            <a:r>
              <a:rPr lang="en-US" sz="1280" b="0" u="none" strike="noStrike">
                <a:solidFill>
                  <a:srgbClr val="6639BA"/>
                </a:solidFill>
                <a:effectLst/>
                <a:uFillTx/>
                <a:latin typeface="Menlo"/>
                <a:ea typeface="Menlo"/>
              </a:rPr>
              <a:t>random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();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17" name=""/>
          <p:cNvSpPr txBox="1"/>
          <p:nvPr/>
        </p:nvSpPr>
        <p:spPr>
          <a:xfrm>
            <a:off x="762120" y="2745360"/>
            <a:ext cx="671922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 </a:t>
            </a:r>
            <a:r>
              <a:rPr lang="en-US" sz="1280" b="0" u="none" strike="noStrike">
                <a:solidFill>
                  <a:srgbClr val="59636E"/>
                </a:solidFill>
                <a:effectLst/>
                <a:uFillTx/>
                <a:latin typeface="Menlo"/>
                <a:ea typeface="Menlo"/>
              </a:rPr>
              <a:t>// …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18" name=""/>
          <p:cNvSpPr txBox="1"/>
          <p:nvPr/>
        </p:nvSpPr>
        <p:spPr>
          <a:xfrm>
            <a:off x="1347120" y="2753280"/>
            <a:ext cx="743958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280" b="0" u="none" strike="noStrike">
                <a:solidFill>
                  <a:srgbClr val="59636E"/>
                </a:solidFill>
                <a:effectLst/>
                <a:uFillTx/>
                <a:latin typeface="Hiragino Sans"/>
                <a:ea typeface="Hiragino Sans"/>
              </a:rPr>
              <a:t>（乱数が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19" name=""/>
          <p:cNvSpPr txBox="1"/>
          <p:nvPr/>
        </p:nvSpPr>
        <p:spPr>
          <a:xfrm>
            <a:off x="1994760" y="2745360"/>
            <a:ext cx="185886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59636E"/>
                </a:solidFill>
                <a:effectLst/>
                <a:uFillTx/>
                <a:latin typeface="Menlo"/>
                <a:ea typeface="Menlo"/>
              </a:rPr>
              <a:t>0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20" name=""/>
          <p:cNvSpPr txBox="1"/>
          <p:nvPr/>
        </p:nvSpPr>
        <p:spPr>
          <a:xfrm>
            <a:off x="2092320" y="2753280"/>
            <a:ext cx="372186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280" b="0" u="none" strike="noStrike">
                <a:solidFill>
                  <a:srgbClr val="59636E"/>
                </a:solidFill>
                <a:effectLst/>
                <a:uFillTx/>
                <a:latin typeface="Hiragino Sans"/>
                <a:ea typeface="Hiragino Sans"/>
              </a:rPr>
              <a:t>以上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21" name=""/>
          <p:cNvSpPr txBox="1"/>
          <p:nvPr/>
        </p:nvSpPr>
        <p:spPr>
          <a:xfrm>
            <a:off x="2415960" y="2745360"/>
            <a:ext cx="185886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59636E"/>
                </a:solidFill>
                <a:effectLst/>
                <a:uFillTx/>
                <a:latin typeface="Menlo"/>
                <a:ea typeface="Menlo"/>
              </a:rPr>
              <a:t>1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22" name=""/>
          <p:cNvSpPr txBox="1"/>
          <p:nvPr/>
        </p:nvSpPr>
        <p:spPr>
          <a:xfrm>
            <a:off x="2513520" y="2753280"/>
            <a:ext cx="2601576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280" b="0" u="none" strike="noStrike">
                <a:solidFill>
                  <a:srgbClr val="59636E"/>
                </a:solidFill>
                <a:effectLst/>
                <a:uFillTx/>
                <a:latin typeface="Hiragino Sans"/>
                <a:ea typeface="Hiragino Sans"/>
              </a:rPr>
              <a:t>未満であることの検査を省略）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23" name=""/>
          <p:cNvSpPr txBox="1"/>
          <p:nvPr/>
        </p:nvSpPr>
        <p:spPr>
          <a:xfrm>
            <a:off x="762120" y="2964240"/>
            <a:ext cx="5927652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 </a:t>
            </a:r>
            <a:r>
              <a:rPr lang="en-US" sz="1280" b="0" u="none" strike="noStrike">
                <a:solidFill>
                  <a:srgbClr val="CF222E"/>
                </a:solidFill>
                <a:effectLst/>
                <a:uFillTx/>
                <a:latin typeface="Menlo"/>
                <a:ea typeface="Menlo"/>
              </a:rPr>
              <a:t>for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(</a:t>
            </a:r>
            <a:r>
              <a:rPr lang="en-US" sz="1280" b="0" u="none" strike="noStrike">
                <a:solidFill>
                  <a:srgbClr val="CF222E"/>
                </a:solidFill>
                <a:effectLst/>
                <a:uFillTx/>
                <a:latin typeface="Menlo"/>
                <a:ea typeface="Menlo"/>
              </a:rPr>
              <a:t>let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i = </a:t>
            </a:r>
            <a:r>
              <a:rPr lang="en-US" sz="1280" b="0" u="none" strike="noStrike">
                <a:solidFill>
                  <a:srgbClr val="0550AE"/>
                </a:solidFill>
                <a:effectLst/>
                <a:uFillTx/>
                <a:latin typeface="Menlo"/>
                <a:ea typeface="Menlo"/>
              </a:rPr>
              <a:t>0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; i &lt; probabilities.length; i += </a:t>
            </a:r>
            <a:r>
              <a:rPr lang="en-US" sz="1280" b="0" u="none" strike="noStrike">
                <a:solidFill>
                  <a:srgbClr val="0550AE"/>
                </a:solidFill>
                <a:effectLst/>
                <a:uFillTx/>
                <a:latin typeface="Menlo"/>
                <a:ea typeface="Menlo"/>
              </a:rPr>
              <a:t>1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) {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24" name=""/>
          <p:cNvSpPr txBox="1"/>
          <p:nvPr/>
        </p:nvSpPr>
        <p:spPr>
          <a:xfrm>
            <a:off x="762120" y="3183480"/>
            <a:ext cx="3803418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   threshold -= probabilities[i];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25" name=""/>
          <p:cNvSpPr txBox="1"/>
          <p:nvPr/>
        </p:nvSpPr>
        <p:spPr>
          <a:xfrm>
            <a:off x="762120" y="3402720"/>
            <a:ext cx="3579444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   </a:t>
            </a:r>
            <a:r>
              <a:rPr lang="en-US" sz="1280" b="0" u="none" strike="noStrike">
                <a:solidFill>
                  <a:srgbClr val="CF222E"/>
                </a:solidFill>
                <a:effectLst/>
                <a:uFillTx/>
                <a:latin typeface="Menlo"/>
                <a:ea typeface="Menlo"/>
              </a:rPr>
              <a:t>if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(threshold &lt; </a:t>
            </a:r>
            <a:r>
              <a:rPr lang="en-US" sz="1280" b="0" u="none" strike="noStrike">
                <a:solidFill>
                  <a:srgbClr val="0550AE"/>
                </a:solidFill>
                <a:effectLst/>
                <a:uFillTx/>
                <a:latin typeface="Menlo"/>
                <a:ea typeface="Menlo"/>
              </a:rPr>
              <a:t>0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) </a:t>
            </a:r>
            <a:r>
              <a:rPr lang="en-US" sz="1280" b="0" u="none" strike="noStrike">
                <a:solidFill>
                  <a:srgbClr val="CF222E"/>
                </a:solidFill>
                <a:effectLst/>
                <a:uFillTx/>
                <a:latin typeface="Menlo"/>
                <a:ea typeface="Menlo"/>
              </a:rPr>
              <a:t>return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i;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26" name=""/>
          <p:cNvSpPr txBox="1"/>
          <p:nvPr/>
        </p:nvSpPr>
        <p:spPr>
          <a:xfrm>
            <a:off x="762120" y="3612240"/>
            <a:ext cx="336168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 }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27" name=""/>
          <p:cNvSpPr txBox="1"/>
          <p:nvPr/>
        </p:nvSpPr>
        <p:spPr>
          <a:xfrm>
            <a:off x="762120" y="3831120"/>
            <a:ext cx="671922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 </a:t>
            </a:r>
            <a:r>
              <a:rPr lang="en-US" sz="1280" b="0" u="none" strike="noStrike">
                <a:solidFill>
                  <a:srgbClr val="59636E"/>
                </a:solidFill>
                <a:effectLst/>
                <a:uFillTx/>
                <a:latin typeface="Menlo"/>
                <a:ea typeface="Menlo"/>
              </a:rPr>
              <a:t>// …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28" name=""/>
          <p:cNvSpPr txBox="1"/>
          <p:nvPr/>
        </p:nvSpPr>
        <p:spPr>
          <a:xfrm>
            <a:off x="1347120" y="3839040"/>
            <a:ext cx="464508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280" b="0" u="none" strike="noStrike">
                <a:solidFill>
                  <a:srgbClr val="59636E"/>
                </a:solidFill>
                <a:effectLst/>
                <a:uFillTx/>
                <a:latin typeface="Hiragino Sans"/>
                <a:ea typeface="Hiragino Sans"/>
              </a:rPr>
              <a:t>（丸め誤差で候補が決まらなかった場合の処理を省略）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29" name=""/>
          <p:cNvSpPr txBox="1"/>
          <p:nvPr/>
        </p:nvSpPr>
        <p:spPr>
          <a:xfrm>
            <a:off x="762120" y="4050360"/>
            <a:ext cx="185886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}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30" name=""/>
          <p:cNvSpPr/>
          <p:nvPr/>
        </p:nvSpPr>
        <p:spPr>
          <a:xfrm>
            <a:off x="1704960" y="4524120"/>
            <a:ext cx="1819440" cy="295560"/>
          </a:xfrm>
          <a:custGeom>
            <a:avLst/>
            <a:gdLst/>
            <a:ahLst/>
            <a:rect l="0" t="0" r="r" b="b"/>
            <a:pathLst>
              <a:path w="5054" h="821">
                <a:moveTo>
                  <a:pt x="0" y="663"/>
                </a:moveTo>
                <a:lnTo>
                  <a:pt x="0" y="160"/>
                </a:lnTo>
                <a:cubicBezTo>
                  <a:pt x="0" y="150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9"/>
                  <a:pt x="21" y="79"/>
                  <a:pt x="26" y="71"/>
                </a:cubicBezTo>
                <a:cubicBezTo>
                  <a:pt x="32" y="62"/>
                  <a:pt x="39" y="54"/>
                  <a:pt x="46" y="47"/>
                </a:cubicBezTo>
                <a:cubicBezTo>
                  <a:pt x="53" y="39"/>
                  <a:pt x="61" y="33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7" y="3"/>
                </a:cubicBezTo>
                <a:cubicBezTo>
                  <a:pt x="138" y="1"/>
                  <a:pt x="148" y="0"/>
                  <a:pt x="158" y="0"/>
                </a:cubicBezTo>
                <a:lnTo>
                  <a:pt x="4895" y="0"/>
                </a:lnTo>
                <a:cubicBezTo>
                  <a:pt x="4906" y="0"/>
                  <a:pt x="4916" y="1"/>
                  <a:pt x="4926" y="3"/>
                </a:cubicBezTo>
                <a:cubicBezTo>
                  <a:pt x="4937" y="5"/>
                  <a:pt x="4946" y="8"/>
                  <a:pt x="4956" y="12"/>
                </a:cubicBezTo>
                <a:cubicBezTo>
                  <a:pt x="4966" y="16"/>
                  <a:pt x="4975" y="21"/>
                  <a:pt x="4984" y="27"/>
                </a:cubicBezTo>
                <a:cubicBezTo>
                  <a:pt x="4992" y="33"/>
                  <a:pt x="5000" y="39"/>
                  <a:pt x="5008" y="47"/>
                </a:cubicBezTo>
                <a:cubicBezTo>
                  <a:pt x="5015" y="54"/>
                  <a:pt x="5022" y="62"/>
                  <a:pt x="5027" y="71"/>
                </a:cubicBezTo>
                <a:cubicBezTo>
                  <a:pt x="5033" y="79"/>
                  <a:pt x="5038" y="89"/>
                  <a:pt x="5042" y="98"/>
                </a:cubicBezTo>
                <a:cubicBezTo>
                  <a:pt x="5046" y="108"/>
                  <a:pt x="5049" y="118"/>
                  <a:pt x="5051" y="128"/>
                </a:cubicBezTo>
                <a:cubicBezTo>
                  <a:pt x="5053" y="138"/>
                  <a:pt x="5054" y="150"/>
                  <a:pt x="5054" y="160"/>
                </a:cubicBezTo>
                <a:lnTo>
                  <a:pt x="5054" y="663"/>
                </a:lnTo>
                <a:cubicBezTo>
                  <a:pt x="5054" y="673"/>
                  <a:pt x="5053" y="683"/>
                  <a:pt x="5051" y="694"/>
                </a:cubicBezTo>
                <a:cubicBezTo>
                  <a:pt x="5049" y="704"/>
                  <a:pt x="5046" y="714"/>
                  <a:pt x="5042" y="723"/>
                </a:cubicBezTo>
                <a:cubicBezTo>
                  <a:pt x="5038" y="733"/>
                  <a:pt x="5033" y="742"/>
                  <a:pt x="5027" y="751"/>
                </a:cubicBezTo>
                <a:cubicBezTo>
                  <a:pt x="5022" y="760"/>
                  <a:pt x="5015" y="768"/>
                  <a:pt x="5008" y="775"/>
                </a:cubicBezTo>
                <a:cubicBezTo>
                  <a:pt x="5000" y="782"/>
                  <a:pt x="4992" y="789"/>
                  <a:pt x="4984" y="795"/>
                </a:cubicBezTo>
                <a:cubicBezTo>
                  <a:pt x="4975" y="800"/>
                  <a:pt x="4966" y="805"/>
                  <a:pt x="4956" y="809"/>
                </a:cubicBezTo>
                <a:cubicBezTo>
                  <a:pt x="4946" y="813"/>
                  <a:pt x="4937" y="816"/>
                  <a:pt x="4926" y="818"/>
                </a:cubicBezTo>
                <a:cubicBezTo>
                  <a:pt x="4916" y="820"/>
                  <a:pt x="4906" y="821"/>
                  <a:pt x="4895" y="821"/>
                </a:cubicBezTo>
                <a:lnTo>
                  <a:pt x="158" y="821"/>
                </a:lnTo>
                <a:cubicBezTo>
                  <a:pt x="148" y="821"/>
                  <a:pt x="138" y="820"/>
                  <a:pt x="127" y="818"/>
                </a:cubicBezTo>
                <a:cubicBezTo>
                  <a:pt x="117" y="816"/>
                  <a:pt x="107" y="813"/>
                  <a:pt x="98" y="809"/>
                </a:cubicBezTo>
                <a:cubicBezTo>
                  <a:pt x="88" y="805"/>
                  <a:pt x="79" y="800"/>
                  <a:pt x="70" y="795"/>
                </a:cubicBezTo>
                <a:cubicBezTo>
                  <a:pt x="61" y="789"/>
                  <a:pt x="53" y="782"/>
                  <a:pt x="46" y="775"/>
                </a:cubicBezTo>
                <a:cubicBezTo>
                  <a:pt x="39" y="768"/>
                  <a:pt x="32" y="760"/>
                  <a:pt x="26" y="751"/>
                </a:cubicBezTo>
                <a:cubicBezTo>
                  <a:pt x="21" y="742"/>
                  <a:pt x="16" y="733"/>
                  <a:pt x="12" y="723"/>
                </a:cubicBezTo>
                <a:cubicBezTo>
                  <a:pt x="8" y="714"/>
                  <a:pt x="5" y="704"/>
                  <a:pt x="3" y="694"/>
                </a:cubicBezTo>
                <a:cubicBezTo>
                  <a:pt x="1" y="683"/>
                  <a:pt x="0" y="673"/>
                  <a:pt x="0" y="663"/>
                </a:cubicBezTo>
                <a:close/>
              </a:path>
            </a:pathLst>
          </a:custGeom>
          <a:solidFill>
            <a:srgbClr val="EEF3F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31" name=""/>
          <p:cNvSpPr txBox="1"/>
          <p:nvPr/>
        </p:nvSpPr>
        <p:spPr>
          <a:xfrm>
            <a:off x="590400" y="4549680"/>
            <a:ext cx="128133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例：確率が 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32" name=""/>
          <p:cNvSpPr txBox="1"/>
          <p:nvPr/>
        </p:nvSpPr>
        <p:spPr>
          <a:xfrm>
            <a:off x="1781640" y="4561560"/>
            <a:ext cx="1915992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450" b="0" u="none" strike="noStrike">
                <a:solidFill>
                  <a:srgbClr val="17212B"/>
                </a:solidFill>
                <a:effectLst/>
                <a:uFillTx/>
                <a:latin typeface="Menlo"/>
                <a:ea typeface="Menlo"/>
              </a:rPr>
              <a:t>[0.6, 0.3, 0.1]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33" name=""/>
          <p:cNvSpPr/>
          <p:nvPr/>
        </p:nvSpPr>
        <p:spPr>
          <a:xfrm>
            <a:off x="4495680" y="4524120"/>
            <a:ext cx="486000" cy="295560"/>
          </a:xfrm>
          <a:custGeom>
            <a:avLst/>
            <a:gdLst/>
            <a:ahLst/>
            <a:rect l="0" t="0" r="r" b="b"/>
            <a:pathLst>
              <a:path w="1350" h="821">
                <a:moveTo>
                  <a:pt x="0" y="663"/>
                </a:moveTo>
                <a:lnTo>
                  <a:pt x="0" y="160"/>
                </a:lnTo>
                <a:cubicBezTo>
                  <a:pt x="0" y="150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9"/>
                  <a:pt x="21" y="79"/>
                  <a:pt x="27" y="71"/>
                </a:cubicBezTo>
                <a:cubicBezTo>
                  <a:pt x="32" y="62"/>
                  <a:pt x="39" y="54"/>
                  <a:pt x="46" y="47"/>
                </a:cubicBezTo>
                <a:cubicBezTo>
                  <a:pt x="54" y="39"/>
                  <a:pt x="62" y="33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1191" y="0"/>
                </a:lnTo>
                <a:cubicBezTo>
                  <a:pt x="1202" y="0"/>
                  <a:pt x="1212" y="1"/>
                  <a:pt x="1222" y="3"/>
                </a:cubicBezTo>
                <a:cubicBezTo>
                  <a:pt x="1233" y="5"/>
                  <a:pt x="1243" y="8"/>
                  <a:pt x="1252" y="12"/>
                </a:cubicBezTo>
                <a:cubicBezTo>
                  <a:pt x="1262" y="16"/>
                  <a:pt x="1271" y="21"/>
                  <a:pt x="1280" y="27"/>
                </a:cubicBezTo>
                <a:cubicBezTo>
                  <a:pt x="1288" y="33"/>
                  <a:pt x="1296" y="39"/>
                  <a:pt x="1304" y="47"/>
                </a:cubicBezTo>
                <a:cubicBezTo>
                  <a:pt x="1311" y="54"/>
                  <a:pt x="1318" y="62"/>
                  <a:pt x="1323" y="71"/>
                </a:cubicBezTo>
                <a:cubicBezTo>
                  <a:pt x="1329" y="79"/>
                  <a:pt x="1334" y="89"/>
                  <a:pt x="1338" y="98"/>
                </a:cubicBezTo>
                <a:cubicBezTo>
                  <a:pt x="1342" y="108"/>
                  <a:pt x="1345" y="118"/>
                  <a:pt x="1347" y="128"/>
                </a:cubicBezTo>
                <a:cubicBezTo>
                  <a:pt x="1349" y="138"/>
                  <a:pt x="1350" y="150"/>
                  <a:pt x="1350" y="160"/>
                </a:cubicBezTo>
                <a:lnTo>
                  <a:pt x="1350" y="663"/>
                </a:lnTo>
                <a:cubicBezTo>
                  <a:pt x="1350" y="673"/>
                  <a:pt x="1349" y="683"/>
                  <a:pt x="1347" y="694"/>
                </a:cubicBezTo>
                <a:cubicBezTo>
                  <a:pt x="1345" y="704"/>
                  <a:pt x="1342" y="714"/>
                  <a:pt x="1338" y="723"/>
                </a:cubicBezTo>
                <a:cubicBezTo>
                  <a:pt x="1334" y="733"/>
                  <a:pt x="1329" y="742"/>
                  <a:pt x="1323" y="751"/>
                </a:cubicBezTo>
                <a:cubicBezTo>
                  <a:pt x="1318" y="760"/>
                  <a:pt x="1311" y="768"/>
                  <a:pt x="1304" y="775"/>
                </a:cubicBezTo>
                <a:cubicBezTo>
                  <a:pt x="1296" y="782"/>
                  <a:pt x="1288" y="789"/>
                  <a:pt x="1280" y="795"/>
                </a:cubicBezTo>
                <a:cubicBezTo>
                  <a:pt x="1271" y="800"/>
                  <a:pt x="1262" y="805"/>
                  <a:pt x="1252" y="809"/>
                </a:cubicBezTo>
                <a:cubicBezTo>
                  <a:pt x="1243" y="813"/>
                  <a:pt x="1233" y="816"/>
                  <a:pt x="1222" y="818"/>
                </a:cubicBezTo>
                <a:cubicBezTo>
                  <a:pt x="1212" y="820"/>
                  <a:pt x="1202" y="821"/>
                  <a:pt x="1191" y="821"/>
                </a:cubicBezTo>
                <a:lnTo>
                  <a:pt x="159" y="821"/>
                </a:lnTo>
                <a:cubicBezTo>
                  <a:pt x="148" y="821"/>
                  <a:pt x="138" y="820"/>
                  <a:pt x="128" y="818"/>
                </a:cubicBezTo>
                <a:cubicBezTo>
                  <a:pt x="117" y="816"/>
                  <a:pt x="107" y="813"/>
                  <a:pt x="98" y="809"/>
                </a:cubicBezTo>
                <a:cubicBezTo>
                  <a:pt x="88" y="805"/>
                  <a:pt x="79" y="800"/>
                  <a:pt x="70" y="795"/>
                </a:cubicBezTo>
                <a:cubicBezTo>
                  <a:pt x="62" y="789"/>
                  <a:pt x="54" y="782"/>
                  <a:pt x="46" y="775"/>
                </a:cubicBezTo>
                <a:cubicBezTo>
                  <a:pt x="39" y="768"/>
                  <a:pt x="32" y="760"/>
                  <a:pt x="27" y="751"/>
                </a:cubicBezTo>
                <a:cubicBezTo>
                  <a:pt x="21" y="742"/>
                  <a:pt x="16" y="733"/>
                  <a:pt x="12" y="723"/>
                </a:cubicBezTo>
                <a:cubicBezTo>
                  <a:pt x="8" y="714"/>
                  <a:pt x="5" y="704"/>
                  <a:pt x="3" y="694"/>
                </a:cubicBezTo>
                <a:cubicBezTo>
                  <a:pt x="1" y="683"/>
                  <a:pt x="0" y="673"/>
                  <a:pt x="0" y="663"/>
                </a:cubicBezTo>
                <a:close/>
              </a:path>
            </a:pathLst>
          </a:custGeom>
          <a:solidFill>
            <a:srgbClr val="EEF3F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34" name=""/>
          <p:cNvSpPr txBox="1"/>
          <p:nvPr/>
        </p:nvSpPr>
        <p:spPr>
          <a:xfrm>
            <a:off x="3520800" y="4549680"/>
            <a:ext cx="1121112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 で乱数が 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35" name=""/>
          <p:cNvSpPr txBox="1"/>
          <p:nvPr/>
        </p:nvSpPr>
        <p:spPr>
          <a:xfrm>
            <a:off x="4572360" y="4561560"/>
            <a:ext cx="383778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450" b="0" u="none" strike="noStrike">
                <a:solidFill>
                  <a:srgbClr val="17212B"/>
                </a:solidFill>
                <a:effectLst/>
                <a:uFillTx/>
                <a:latin typeface="Menlo"/>
                <a:ea typeface="Menlo"/>
              </a:rPr>
              <a:t>0.7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36" name=""/>
          <p:cNvSpPr/>
          <p:nvPr/>
        </p:nvSpPr>
        <p:spPr>
          <a:xfrm>
            <a:off x="676080" y="511488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79"/>
                </a:moveTo>
                <a:cubicBezTo>
                  <a:pt x="160" y="90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79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39" y="149"/>
                  <a:pt x="31" y="144"/>
                  <a:pt x="23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90"/>
                  <a:pt x="0" y="79"/>
                </a:cubicBez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6" y="30"/>
                  <a:pt x="23" y="23"/>
                </a:cubicBezTo>
                <a:cubicBezTo>
                  <a:pt x="31" y="15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8"/>
                  <a:pt x="160" y="68"/>
                  <a:pt x="160" y="79"/>
                </a:cubicBezTo>
                <a:close/>
              </a:path>
            </a:pathLst>
          </a:custGeom>
          <a:solidFill>
            <a:srgbClr val="17212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FFFFFF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37" name=""/>
          <p:cNvSpPr txBox="1"/>
          <p:nvPr/>
        </p:nvSpPr>
        <p:spPr>
          <a:xfrm>
            <a:off x="4979160" y="4549680"/>
            <a:ext cx="80109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 の場合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38" name=""/>
          <p:cNvSpPr/>
          <p:nvPr/>
        </p:nvSpPr>
        <p:spPr>
          <a:xfrm>
            <a:off x="1638000" y="4991040"/>
            <a:ext cx="1810080" cy="295560"/>
          </a:xfrm>
          <a:custGeom>
            <a:avLst/>
            <a:gdLst/>
            <a:ahLst/>
            <a:rect l="0" t="0" r="r" b="b"/>
            <a:pathLst>
              <a:path w="5028" h="821">
                <a:moveTo>
                  <a:pt x="0" y="662"/>
                </a:moveTo>
                <a:lnTo>
                  <a:pt x="0" y="158"/>
                </a:lnTo>
                <a:cubicBezTo>
                  <a:pt x="0" y="148"/>
                  <a:pt x="1" y="138"/>
                  <a:pt x="3" y="127"/>
                </a:cubicBezTo>
                <a:cubicBezTo>
                  <a:pt x="5" y="117"/>
                  <a:pt x="8" y="107"/>
                  <a:pt x="12" y="98"/>
                </a:cubicBezTo>
                <a:cubicBezTo>
                  <a:pt x="16" y="88"/>
                  <a:pt x="21" y="79"/>
                  <a:pt x="27" y="70"/>
                </a:cubicBezTo>
                <a:cubicBezTo>
                  <a:pt x="33" y="62"/>
                  <a:pt x="39" y="54"/>
                  <a:pt x="47" y="46"/>
                </a:cubicBezTo>
                <a:cubicBezTo>
                  <a:pt x="54" y="39"/>
                  <a:pt x="62" y="32"/>
                  <a:pt x="71" y="26"/>
                </a:cubicBezTo>
                <a:cubicBezTo>
                  <a:pt x="80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4870" y="0"/>
                </a:lnTo>
                <a:cubicBezTo>
                  <a:pt x="4880" y="0"/>
                  <a:pt x="4890" y="1"/>
                  <a:pt x="4901" y="3"/>
                </a:cubicBezTo>
                <a:cubicBezTo>
                  <a:pt x="4911" y="5"/>
                  <a:pt x="4921" y="8"/>
                  <a:pt x="4930" y="12"/>
                </a:cubicBezTo>
                <a:cubicBezTo>
                  <a:pt x="4940" y="16"/>
                  <a:pt x="4949" y="21"/>
                  <a:pt x="4958" y="26"/>
                </a:cubicBezTo>
                <a:cubicBezTo>
                  <a:pt x="4967" y="32"/>
                  <a:pt x="4975" y="39"/>
                  <a:pt x="4982" y="46"/>
                </a:cubicBezTo>
                <a:cubicBezTo>
                  <a:pt x="4989" y="54"/>
                  <a:pt x="4996" y="62"/>
                  <a:pt x="5002" y="70"/>
                </a:cubicBezTo>
                <a:cubicBezTo>
                  <a:pt x="5007" y="79"/>
                  <a:pt x="5012" y="88"/>
                  <a:pt x="5016" y="98"/>
                </a:cubicBezTo>
                <a:cubicBezTo>
                  <a:pt x="5020" y="107"/>
                  <a:pt x="5023" y="117"/>
                  <a:pt x="5025" y="127"/>
                </a:cubicBezTo>
                <a:cubicBezTo>
                  <a:pt x="5027" y="138"/>
                  <a:pt x="5028" y="148"/>
                  <a:pt x="5028" y="158"/>
                </a:cubicBezTo>
                <a:lnTo>
                  <a:pt x="5028" y="662"/>
                </a:lnTo>
                <a:cubicBezTo>
                  <a:pt x="5028" y="673"/>
                  <a:pt x="5027" y="683"/>
                  <a:pt x="5025" y="693"/>
                </a:cubicBezTo>
                <a:cubicBezTo>
                  <a:pt x="5023" y="703"/>
                  <a:pt x="5020" y="713"/>
                  <a:pt x="5016" y="723"/>
                </a:cubicBezTo>
                <a:cubicBezTo>
                  <a:pt x="5012" y="733"/>
                  <a:pt x="5007" y="742"/>
                  <a:pt x="5002" y="750"/>
                </a:cubicBezTo>
                <a:cubicBezTo>
                  <a:pt x="4996" y="759"/>
                  <a:pt x="4989" y="767"/>
                  <a:pt x="4982" y="774"/>
                </a:cubicBezTo>
                <a:cubicBezTo>
                  <a:pt x="4975" y="782"/>
                  <a:pt x="4967" y="788"/>
                  <a:pt x="4958" y="794"/>
                </a:cubicBezTo>
                <a:cubicBezTo>
                  <a:pt x="4949" y="800"/>
                  <a:pt x="4940" y="805"/>
                  <a:pt x="4930" y="809"/>
                </a:cubicBezTo>
                <a:cubicBezTo>
                  <a:pt x="4921" y="813"/>
                  <a:pt x="4911" y="816"/>
                  <a:pt x="4901" y="818"/>
                </a:cubicBezTo>
                <a:cubicBezTo>
                  <a:pt x="4890" y="820"/>
                  <a:pt x="4880" y="821"/>
                  <a:pt x="4870" y="821"/>
                </a:cubicBezTo>
                <a:lnTo>
                  <a:pt x="159" y="821"/>
                </a:lnTo>
                <a:cubicBezTo>
                  <a:pt x="149" y="821"/>
                  <a:pt x="138" y="820"/>
                  <a:pt x="128" y="818"/>
                </a:cubicBezTo>
                <a:cubicBezTo>
                  <a:pt x="118" y="816"/>
                  <a:pt x="108" y="813"/>
                  <a:pt x="98" y="809"/>
                </a:cubicBezTo>
                <a:cubicBezTo>
                  <a:pt x="89" y="805"/>
                  <a:pt x="80" y="800"/>
                  <a:pt x="71" y="794"/>
                </a:cubicBezTo>
                <a:cubicBezTo>
                  <a:pt x="62" y="788"/>
                  <a:pt x="54" y="782"/>
                  <a:pt x="47" y="774"/>
                </a:cubicBezTo>
                <a:cubicBezTo>
                  <a:pt x="39" y="767"/>
                  <a:pt x="33" y="759"/>
                  <a:pt x="27" y="750"/>
                </a:cubicBezTo>
                <a:cubicBezTo>
                  <a:pt x="21" y="742"/>
                  <a:pt x="16" y="733"/>
                  <a:pt x="12" y="723"/>
                </a:cubicBezTo>
                <a:cubicBezTo>
                  <a:pt x="8" y="713"/>
                  <a:pt x="5" y="703"/>
                  <a:pt x="3" y="693"/>
                </a:cubicBezTo>
                <a:cubicBezTo>
                  <a:pt x="1" y="683"/>
                  <a:pt x="0" y="673"/>
                  <a:pt x="0" y="662"/>
                </a:cubicBezTo>
                <a:close/>
              </a:path>
            </a:pathLst>
          </a:custGeom>
          <a:solidFill>
            <a:srgbClr val="EEF3F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39" name=""/>
          <p:cNvSpPr txBox="1"/>
          <p:nvPr/>
        </p:nvSpPr>
        <p:spPr>
          <a:xfrm>
            <a:off x="852480" y="5016240"/>
            <a:ext cx="901278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候補</a:t>
            </a:r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A</a:t>
            </a:r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：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40" name=""/>
          <p:cNvSpPr txBox="1"/>
          <p:nvPr/>
        </p:nvSpPr>
        <p:spPr>
          <a:xfrm>
            <a:off x="1711800" y="5028120"/>
            <a:ext cx="1915992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450" b="0" u="none" strike="noStrike">
                <a:solidFill>
                  <a:srgbClr val="17212B"/>
                </a:solidFill>
                <a:effectLst/>
                <a:uFillTx/>
                <a:latin typeface="Menlo"/>
                <a:ea typeface="Menlo"/>
              </a:rPr>
              <a:t>0.7 − 0.6 = 0.1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41" name=""/>
          <p:cNvSpPr/>
          <p:nvPr/>
        </p:nvSpPr>
        <p:spPr>
          <a:xfrm>
            <a:off x="676080" y="547668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79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39" y="150"/>
                  <a:pt x="31" y="144"/>
                  <a:pt x="23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40"/>
                  <a:pt x="16" y="31"/>
                  <a:pt x="23" y="23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40"/>
                  <a:pt x="154" y="50"/>
                </a:cubicBezTo>
                <a:cubicBezTo>
                  <a:pt x="158" y="60"/>
                  <a:pt x="160" y="70"/>
                  <a:pt x="160" y="80"/>
                </a:cubicBezTo>
                <a:close/>
              </a:path>
            </a:pathLst>
          </a:custGeom>
          <a:solidFill>
            <a:srgbClr val="17212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FFFFFF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42" name=""/>
          <p:cNvSpPr txBox="1"/>
          <p:nvPr/>
        </p:nvSpPr>
        <p:spPr>
          <a:xfrm>
            <a:off x="3450960" y="5016240"/>
            <a:ext cx="2799882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。まだ</a:t>
            </a:r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0</a:t>
            </a:r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以上なので次へ。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43" name=""/>
          <p:cNvSpPr/>
          <p:nvPr/>
        </p:nvSpPr>
        <p:spPr>
          <a:xfrm>
            <a:off x="1628640" y="5352840"/>
            <a:ext cx="1924200" cy="295560"/>
          </a:xfrm>
          <a:custGeom>
            <a:avLst/>
            <a:gdLst/>
            <a:ahLst/>
            <a:rect l="0" t="0" r="r" b="b"/>
            <a:pathLst>
              <a:path w="5345" h="821">
                <a:moveTo>
                  <a:pt x="0" y="663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8"/>
                  <a:pt x="21" y="79"/>
                  <a:pt x="27" y="71"/>
                </a:cubicBezTo>
                <a:cubicBezTo>
                  <a:pt x="32" y="62"/>
                  <a:pt x="39" y="54"/>
                  <a:pt x="46" y="47"/>
                </a:cubicBezTo>
                <a:cubicBezTo>
                  <a:pt x="54" y="39"/>
                  <a:pt x="62" y="33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8" y="8"/>
                  <a:pt x="117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5187" y="0"/>
                </a:lnTo>
                <a:cubicBezTo>
                  <a:pt x="5197" y="0"/>
                  <a:pt x="5207" y="1"/>
                  <a:pt x="5218" y="3"/>
                </a:cubicBezTo>
                <a:cubicBezTo>
                  <a:pt x="5228" y="5"/>
                  <a:pt x="5238" y="8"/>
                  <a:pt x="5247" y="12"/>
                </a:cubicBezTo>
                <a:cubicBezTo>
                  <a:pt x="5257" y="16"/>
                  <a:pt x="5266" y="21"/>
                  <a:pt x="5275" y="27"/>
                </a:cubicBezTo>
                <a:cubicBezTo>
                  <a:pt x="5284" y="33"/>
                  <a:pt x="5292" y="39"/>
                  <a:pt x="5299" y="47"/>
                </a:cubicBezTo>
                <a:cubicBezTo>
                  <a:pt x="5306" y="54"/>
                  <a:pt x="5313" y="62"/>
                  <a:pt x="5319" y="71"/>
                </a:cubicBezTo>
                <a:cubicBezTo>
                  <a:pt x="5324" y="79"/>
                  <a:pt x="5329" y="88"/>
                  <a:pt x="5333" y="98"/>
                </a:cubicBezTo>
                <a:cubicBezTo>
                  <a:pt x="5337" y="108"/>
                  <a:pt x="5340" y="118"/>
                  <a:pt x="5342" y="128"/>
                </a:cubicBezTo>
                <a:cubicBezTo>
                  <a:pt x="5344" y="138"/>
                  <a:pt x="5345" y="148"/>
                  <a:pt x="5345" y="159"/>
                </a:cubicBezTo>
                <a:lnTo>
                  <a:pt x="5345" y="663"/>
                </a:lnTo>
                <a:cubicBezTo>
                  <a:pt x="5345" y="673"/>
                  <a:pt x="5344" y="683"/>
                  <a:pt x="5342" y="694"/>
                </a:cubicBezTo>
                <a:cubicBezTo>
                  <a:pt x="5340" y="704"/>
                  <a:pt x="5337" y="714"/>
                  <a:pt x="5333" y="723"/>
                </a:cubicBezTo>
                <a:cubicBezTo>
                  <a:pt x="5329" y="733"/>
                  <a:pt x="5324" y="742"/>
                  <a:pt x="5319" y="751"/>
                </a:cubicBezTo>
                <a:cubicBezTo>
                  <a:pt x="5313" y="759"/>
                  <a:pt x="5306" y="767"/>
                  <a:pt x="5299" y="775"/>
                </a:cubicBezTo>
                <a:cubicBezTo>
                  <a:pt x="5292" y="782"/>
                  <a:pt x="5284" y="789"/>
                  <a:pt x="5275" y="795"/>
                </a:cubicBezTo>
                <a:cubicBezTo>
                  <a:pt x="5266" y="800"/>
                  <a:pt x="5257" y="805"/>
                  <a:pt x="5247" y="809"/>
                </a:cubicBezTo>
                <a:cubicBezTo>
                  <a:pt x="5238" y="813"/>
                  <a:pt x="5228" y="816"/>
                  <a:pt x="5218" y="818"/>
                </a:cubicBezTo>
                <a:cubicBezTo>
                  <a:pt x="5207" y="820"/>
                  <a:pt x="5197" y="821"/>
                  <a:pt x="5187" y="821"/>
                </a:cubicBezTo>
                <a:lnTo>
                  <a:pt x="159" y="821"/>
                </a:lnTo>
                <a:cubicBezTo>
                  <a:pt x="148" y="821"/>
                  <a:pt x="138" y="820"/>
                  <a:pt x="128" y="818"/>
                </a:cubicBezTo>
                <a:cubicBezTo>
                  <a:pt x="117" y="816"/>
                  <a:pt x="108" y="813"/>
                  <a:pt x="98" y="809"/>
                </a:cubicBezTo>
                <a:cubicBezTo>
                  <a:pt x="88" y="805"/>
                  <a:pt x="79" y="800"/>
                  <a:pt x="70" y="795"/>
                </a:cubicBezTo>
                <a:cubicBezTo>
                  <a:pt x="62" y="789"/>
                  <a:pt x="54" y="782"/>
                  <a:pt x="46" y="775"/>
                </a:cubicBezTo>
                <a:cubicBezTo>
                  <a:pt x="39" y="767"/>
                  <a:pt x="32" y="759"/>
                  <a:pt x="27" y="751"/>
                </a:cubicBezTo>
                <a:cubicBezTo>
                  <a:pt x="21" y="742"/>
                  <a:pt x="16" y="733"/>
                  <a:pt x="12" y="723"/>
                </a:cubicBezTo>
                <a:cubicBezTo>
                  <a:pt x="8" y="714"/>
                  <a:pt x="5" y="704"/>
                  <a:pt x="3" y="694"/>
                </a:cubicBezTo>
                <a:cubicBezTo>
                  <a:pt x="1" y="683"/>
                  <a:pt x="0" y="673"/>
                  <a:pt x="0" y="663"/>
                </a:cubicBezTo>
                <a:close/>
              </a:path>
            </a:pathLst>
          </a:custGeom>
          <a:solidFill>
            <a:srgbClr val="EEF3F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44" name=""/>
          <p:cNvSpPr txBox="1"/>
          <p:nvPr/>
        </p:nvSpPr>
        <p:spPr>
          <a:xfrm>
            <a:off x="852480" y="5378040"/>
            <a:ext cx="89217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候補</a:t>
            </a:r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B</a:t>
            </a:r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：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45" name=""/>
          <p:cNvSpPr txBox="1"/>
          <p:nvPr/>
        </p:nvSpPr>
        <p:spPr>
          <a:xfrm>
            <a:off x="1704240" y="5390280"/>
            <a:ext cx="2043504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450" b="0" u="none" strike="noStrike">
                <a:solidFill>
                  <a:srgbClr val="17212B"/>
                </a:solidFill>
                <a:effectLst/>
                <a:uFillTx/>
                <a:latin typeface="Menlo"/>
                <a:ea typeface="Menlo"/>
              </a:rPr>
              <a:t>0.1 − 0.3 = −0.2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46" name=""/>
          <p:cNvSpPr txBox="1"/>
          <p:nvPr/>
        </p:nvSpPr>
        <p:spPr>
          <a:xfrm>
            <a:off x="3554280" y="5378040"/>
            <a:ext cx="345690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。</a:t>
            </a:r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0</a:t>
            </a:r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未満になり、</a:t>
            </a:r>
            <a:r>
              <a:rPr lang="ja-JP" sz="16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候補</a:t>
            </a:r>
            <a:r>
              <a:rPr lang="en-US" sz="16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B</a:t>
            </a:r>
            <a:r>
              <a:rPr lang="ja-JP" sz="16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を選ぶ</a:t>
            </a:r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。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47" name=""/>
          <p:cNvSpPr/>
          <p:nvPr/>
        </p:nvSpPr>
        <p:spPr>
          <a:xfrm>
            <a:off x="1704960" y="5819760"/>
            <a:ext cx="1266840" cy="285840"/>
          </a:xfrm>
          <a:custGeom>
            <a:avLst/>
            <a:gdLst/>
            <a:ahLst/>
            <a:rect l="0" t="0" r="r" b="b"/>
            <a:pathLst>
              <a:path w="3519" h="794">
                <a:moveTo>
                  <a:pt x="0" y="636"/>
                </a:moveTo>
                <a:lnTo>
                  <a:pt x="0" y="159"/>
                </a:lnTo>
                <a:cubicBezTo>
                  <a:pt x="0" y="149"/>
                  <a:pt x="1" y="139"/>
                  <a:pt x="3" y="128"/>
                </a:cubicBezTo>
                <a:cubicBezTo>
                  <a:pt x="5" y="118"/>
                  <a:pt x="8" y="108"/>
                  <a:pt x="12" y="99"/>
                </a:cubicBezTo>
                <a:cubicBezTo>
                  <a:pt x="16" y="88"/>
                  <a:pt x="21" y="79"/>
                  <a:pt x="26" y="70"/>
                </a:cubicBezTo>
                <a:cubicBezTo>
                  <a:pt x="32" y="61"/>
                  <a:pt x="39" y="53"/>
                  <a:pt x="46" y="46"/>
                </a:cubicBezTo>
                <a:cubicBezTo>
                  <a:pt x="53" y="39"/>
                  <a:pt x="61" y="32"/>
                  <a:pt x="70" y="26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7" y="3"/>
                </a:cubicBezTo>
                <a:cubicBezTo>
                  <a:pt x="138" y="1"/>
                  <a:pt x="148" y="0"/>
                  <a:pt x="158" y="0"/>
                </a:cubicBezTo>
                <a:lnTo>
                  <a:pt x="3361" y="0"/>
                </a:lnTo>
                <a:cubicBezTo>
                  <a:pt x="3371" y="0"/>
                  <a:pt x="3381" y="1"/>
                  <a:pt x="3392" y="3"/>
                </a:cubicBezTo>
                <a:cubicBezTo>
                  <a:pt x="3402" y="5"/>
                  <a:pt x="3412" y="8"/>
                  <a:pt x="3421" y="12"/>
                </a:cubicBezTo>
                <a:cubicBezTo>
                  <a:pt x="3431" y="16"/>
                  <a:pt x="3440" y="21"/>
                  <a:pt x="3449" y="26"/>
                </a:cubicBezTo>
                <a:cubicBezTo>
                  <a:pt x="3458" y="32"/>
                  <a:pt x="3466" y="39"/>
                  <a:pt x="3473" y="46"/>
                </a:cubicBezTo>
                <a:cubicBezTo>
                  <a:pt x="3480" y="53"/>
                  <a:pt x="3487" y="61"/>
                  <a:pt x="3493" y="70"/>
                </a:cubicBezTo>
                <a:cubicBezTo>
                  <a:pt x="3499" y="79"/>
                  <a:pt x="3503" y="88"/>
                  <a:pt x="3507" y="99"/>
                </a:cubicBezTo>
                <a:cubicBezTo>
                  <a:pt x="3511" y="108"/>
                  <a:pt x="3514" y="118"/>
                  <a:pt x="3516" y="128"/>
                </a:cubicBezTo>
                <a:cubicBezTo>
                  <a:pt x="3518" y="139"/>
                  <a:pt x="3519" y="149"/>
                  <a:pt x="3519" y="159"/>
                </a:cubicBezTo>
                <a:lnTo>
                  <a:pt x="3519" y="636"/>
                </a:lnTo>
                <a:cubicBezTo>
                  <a:pt x="3519" y="646"/>
                  <a:pt x="3518" y="656"/>
                  <a:pt x="3516" y="667"/>
                </a:cubicBezTo>
                <a:cubicBezTo>
                  <a:pt x="3514" y="677"/>
                  <a:pt x="3511" y="687"/>
                  <a:pt x="3507" y="696"/>
                </a:cubicBezTo>
                <a:cubicBezTo>
                  <a:pt x="3503" y="706"/>
                  <a:pt x="3499" y="715"/>
                  <a:pt x="3493" y="724"/>
                </a:cubicBezTo>
                <a:cubicBezTo>
                  <a:pt x="3487" y="732"/>
                  <a:pt x="3480" y="740"/>
                  <a:pt x="3473" y="748"/>
                </a:cubicBezTo>
                <a:cubicBezTo>
                  <a:pt x="3466" y="755"/>
                  <a:pt x="3458" y="762"/>
                  <a:pt x="3449" y="768"/>
                </a:cubicBezTo>
                <a:cubicBezTo>
                  <a:pt x="3440" y="773"/>
                  <a:pt x="3431" y="778"/>
                  <a:pt x="3421" y="782"/>
                </a:cubicBezTo>
                <a:cubicBezTo>
                  <a:pt x="3412" y="786"/>
                  <a:pt x="3402" y="789"/>
                  <a:pt x="3392" y="791"/>
                </a:cubicBezTo>
                <a:cubicBezTo>
                  <a:pt x="3381" y="793"/>
                  <a:pt x="3371" y="794"/>
                  <a:pt x="3361" y="794"/>
                </a:cubicBezTo>
                <a:lnTo>
                  <a:pt x="158" y="794"/>
                </a:lnTo>
                <a:cubicBezTo>
                  <a:pt x="148" y="794"/>
                  <a:pt x="138" y="793"/>
                  <a:pt x="127" y="791"/>
                </a:cubicBezTo>
                <a:cubicBezTo>
                  <a:pt x="117" y="789"/>
                  <a:pt x="107" y="786"/>
                  <a:pt x="98" y="782"/>
                </a:cubicBezTo>
                <a:cubicBezTo>
                  <a:pt x="88" y="778"/>
                  <a:pt x="79" y="773"/>
                  <a:pt x="70" y="768"/>
                </a:cubicBezTo>
                <a:cubicBezTo>
                  <a:pt x="61" y="762"/>
                  <a:pt x="53" y="755"/>
                  <a:pt x="46" y="748"/>
                </a:cubicBezTo>
                <a:cubicBezTo>
                  <a:pt x="39" y="740"/>
                  <a:pt x="32" y="732"/>
                  <a:pt x="26" y="724"/>
                </a:cubicBezTo>
                <a:cubicBezTo>
                  <a:pt x="21" y="715"/>
                  <a:pt x="16" y="706"/>
                  <a:pt x="12" y="696"/>
                </a:cubicBezTo>
                <a:cubicBezTo>
                  <a:pt x="8" y="687"/>
                  <a:pt x="5" y="677"/>
                  <a:pt x="3" y="667"/>
                </a:cubicBezTo>
                <a:cubicBezTo>
                  <a:pt x="1" y="656"/>
                  <a:pt x="0" y="646"/>
                  <a:pt x="0" y="636"/>
                </a:cubicBezTo>
                <a:close/>
              </a:path>
            </a:pathLst>
          </a:custGeom>
          <a:solidFill>
            <a:srgbClr val="EEF3F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48" name=""/>
          <p:cNvSpPr txBox="1"/>
          <p:nvPr/>
        </p:nvSpPr>
        <p:spPr>
          <a:xfrm>
            <a:off x="590400" y="5844960"/>
            <a:ext cx="1282986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選んだ</a:t>
            </a:r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ID</a:t>
            </a:r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を 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49" name=""/>
          <p:cNvSpPr txBox="1"/>
          <p:nvPr/>
        </p:nvSpPr>
        <p:spPr>
          <a:xfrm>
            <a:off x="1783080" y="5856840"/>
            <a:ext cx="1277604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450" b="0" u="none" strike="noStrike">
                <a:solidFill>
                  <a:srgbClr val="17212B"/>
                </a:solidFill>
                <a:effectLst/>
                <a:uFillTx/>
                <a:latin typeface="Menlo"/>
                <a:ea typeface="Menlo"/>
              </a:rPr>
              <a:t>currentIds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50" name=""/>
          <p:cNvSpPr txBox="1"/>
          <p:nvPr/>
        </p:nvSpPr>
        <p:spPr>
          <a:xfrm>
            <a:off x="2967120" y="5844960"/>
            <a:ext cx="6083316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 に追加し、</a:t>
            </a:r>
            <a:r>
              <a:rPr lang="ja-JP" sz="16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更新された入力で次のトークンを予測する。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51" name=""/>
          <p:cNvSpPr txBox="1"/>
          <p:nvPr/>
        </p:nvSpPr>
        <p:spPr>
          <a:xfrm>
            <a:off x="590400" y="6237000"/>
            <a:ext cx="7810524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130" b="0" u="none" strike="noStrike">
                <a:solidFill>
                  <a:srgbClr val="52606D"/>
                </a:solidFill>
                <a:effectLst/>
                <a:uFillTx/>
                <a:latin typeface="Hiragino Sans"/>
                <a:ea typeface="Hiragino Sans"/>
              </a:rPr>
              <a:t>抜粋：</a:t>
            </a:r>
            <a:r>
              <a:rPr lang="en-US" sz="1130" b="0" u="none" strike="noStrike">
                <a:solidFill>
                  <a:srgbClr val="52606D"/>
                </a:solidFill>
                <a:effectLst/>
                <a:uFillTx/>
                <a:latin typeface="Hiragino Sans"/>
                <a:ea typeface="Hiragino Sans"/>
              </a:rPr>
              <a:t>web/sampling.js 25–47</a:t>
            </a:r>
            <a:r>
              <a:rPr lang="ja-JP" sz="1130" b="0" u="none" strike="noStrike">
                <a:solidFill>
                  <a:srgbClr val="52606D"/>
                </a:solidFill>
                <a:effectLst/>
                <a:uFillTx/>
                <a:latin typeface="Hiragino Sans"/>
                <a:ea typeface="Hiragino Sans"/>
              </a:rPr>
              <a:t>行。モデルの出力確率に従う抽選で、毎回同じ候補になるとは限らない。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52" name=""/>
          <p:cNvSpPr txBox="1"/>
          <p:nvPr/>
        </p:nvSpPr>
        <p:spPr>
          <a:xfrm>
            <a:off x="11705760" y="6476400"/>
            <a:ext cx="231012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Hiragino Sans"/>
                <a:ea typeface="Hiragino Sans"/>
              </a:rPr>
              <a:t>17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5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5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56" name=""/>
          <p:cNvSpPr/>
          <p:nvPr/>
        </p:nvSpPr>
        <p:spPr>
          <a:xfrm>
            <a:off x="599760" y="1819080"/>
            <a:ext cx="3096000" cy="495720"/>
          </a:xfrm>
          <a:custGeom>
            <a:avLst/>
            <a:gdLst/>
            <a:ahLst/>
            <a:rect l="0" t="0" r="r" b="b"/>
            <a:pathLst>
              <a:path w="8600" h="1377">
                <a:moveTo>
                  <a:pt x="0" y="0"/>
                </a:moveTo>
                <a:lnTo>
                  <a:pt x="8600" y="0"/>
                </a:lnTo>
                <a:lnTo>
                  <a:pt x="8600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57" name=""/>
          <p:cNvSpPr/>
          <p:nvPr/>
        </p:nvSpPr>
        <p:spPr>
          <a:xfrm>
            <a:off x="3695400" y="1819080"/>
            <a:ext cx="5820120" cy="495720"/>
          </a:xfrm>
          <a:custGeom>
            <a:avLst/>
            <a:gdLst/>
            <a:ahLst/>
            <a:rect l="0" t="0" r="r" b="b"/>
            <a:pathLst>
              <a:path w="16167" h="1377">
                <a:moveTo>
                  <a:pt x="0" y="0"/>
                </a:moveTo>
                <a:lnTo>
                  <a:pt x="16167" y="0"/>
                </a:lnTo>
                <a:lnTo>
                  <a:pt x="16167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58" name=""/>
          <p:cNvSpPr/>
          <p:nvPr/>
        </p:nvSpPr>
        <p:spPr>
          <a:xfrm>
            <a:off x="9515160" y="1819080"/>
            <a:ext cx="2086560" cy="495720"/>
          </a:xfrm>
          <a:custGeom>
            <a:avLst/>
            <a:gdLst/>
            <a:ahLst/>
            <a:rect l="0" t="0" r="r" b="b"/>
            <a:pathLst>
              <a:path w="5796" h="1377">
                <a:moveTo>
                  <a:pt x="0" y="0"/>
                </a:moveTo>
                <a:lnTo>
                  <a:pt x="5796" y="0"/>
                </a:lnTo>
                <a:lnTo>
                  <a:pt x="5796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59" name=""/>
          <p:cNvSpPr/>
          <p:nvPr/>
        </p:nvSpPr>
        <p:spPr>
          <a:xfrm>
            <a:off x="599760" y="1819080"/>
            <a:ext cx="3096000" cy="495720"/>
          </a:xfrm>
          <a:custGeom>
            <a:avLst/>
            <a:gdLst/>
            <a:ahLst/>
            <a:rect l="0" t="0" r="r" b="b"/>
            <a:pathLst>
              <a:path w="8600" h="1377">
                <a:moveTo>
                  <a:pt x="0" y="0"/>
                </a:moveTo>
                <a:lnTo>
                  <a:pt x="8600" y="0"/>
                </a:lnTo>
                <a:lnTo>
                  <a:pt x="8600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60" name=""/>
          <p:cNvSpPr/>
          <p:nvPr/>
        </p:nvSpPr>
        <p:spPr>
          <a:xfrm>
            <a:off x="3695400" y="1819080"/>
            <a:ext cx="5820120" cy="495720"/>
          </a:xfrm>
          <a:custGeom>
            <a:avLst/>
            <a:gdLst/>
            <a:ahLst/>
            <a:rect l="0" t="0" r="r" b="b"/>
            <a:pathLst>
              <a:path w="16167" h="1377">
                <a:moveTo>
                  <a:pt x="0" y="0"/>
                </a:moveTo>
                <a:lnTo>
                  <a:pt x="16167" y="0"/>
                </a:lnTo>
                <a:lnTo>
                  <a:pt x="16167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61" name=""/>
          <p:cNvSpPr/>
          <p:nvPr/>
        </p:nvSpPr>
        <p:spPr>
          <a:xfrm>
            <a:off x="9515160" y="1819080"/>
            <a:ext cx="2086560" cy="495720"/>
          </a:xfrm>
          <a:custGeom>
            <a:avLst/>
            <a:gdLst/>
            <a:ahLst/>
            <a:rect l="0" t="0" r="r" b="b"/>
            <a:pathLst>
              <a:path w="5796" h="1377">
                <a:moveTo>
                  <a:pt x="0" y="0"/>
                </a:moveTo>
                <a:lnTo>
                  <a:pt x="5796" y="0"/>
                </a:lnTo>
                <a:lnTo>
                  <a:pt x="5796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62" name=""/>
          <p:cNvSpPr/>
          <p:nvPr/>
        </p:nvSpPr>
        <p:spPr>
          <a:xfrm>
            <a:off x="599760" y="2314440"/>
            <a:ext cx="3096000" cy="495720"/>
          </a:xfrm>
          <a:custGeom>
            <a:avLst/>
            <a:gdLst/>
            <a:ahLst/>
            <a:rect l="0" t="0" r="r" b="b"/>
            <a:pathLst>
              <a:path w="8600" h="1377">
                <a:moveTo>
                  <a:pt x="0" y="0"/>
                </a:moveTo>
                <a:lnTo>
                  <a:pt x="8600" y="0"/>
                </a:lnTo>
                <a:lnTo>
                  <a:pt x="8600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63" name=""/>
          <p:cNvSpPr/>
          <p:nvPr/>
        </p:nvSpPr>
        <p:spPr>
          <a:xfrm>
            <a:off x="3695400" y="2314440"/>
            <a:ext cx="5820120" cy="495720"/>
          </a:xfrm>
          <a:custGeom>
            <a:avLst/>
            <a:gdLst/>
            <a:ahLst/>
            <a:rect l="0" t="0" r="r" b="b"/>
            <a:pathLst>
              <a:path w="16167" h="1377">
                <a:moveTo>
                  <a:pt x="0" y="0"/>
                </a:moveTo>
                <a:lnTo>
                  <a:pt x="16167" y="0"/>
                </a:lnTo>
                <a:lnTo>
                  <a:pt x="16167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64" name=""/>
          <p:cNvSpPr/>
          <p:nvPr/>
        </p:nvSpPr>
        <p:spPr>
          <a:xfrm>
            <a:off x="9515160" y="2314440"/>
            <a:ext cx="2086560" cy="495720"/>
          </a:xfrm>
          <a:custGeom>
            <a:avLst/>
            <a:gdLst/>
            <a:ahLst/>
            <a:rect l="0" t="0" r="r" b="b"/>
            <a:pathLst>
              <a:path w="5796" h="1377">
                <a:moveTo>
                  <a:pt x="0" y="0"/>
                </a:moveTo>
                <a:lnTo>
                  <a:pt x="5796" y="0"/>
                </a:lnTo>
                <a:lnTo>
                  <a:pt x="5796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65" name=""/>
          <p:cNvSpPr/>
          <p:nvPr/>
        </p:nvSpPr>
        <p:spPr>
          <a:xfrm>
            <a:off x="599760" y="2809800"/>
            <a:ext cx="3096000" cy="495720"/>
          </a:xfrm>
          <a:custGeom>
            <a:avLst/>
            <a:gdLst/>
            <a:ahLst/>
            <a:rect l="0" t="0" r="r" b="b"/>
            <a:pathLst>
              <a:path w="8600" h="1377">
                <a:moveTo>
                  <a:pt x="0" y="0"/>
                </a:moveTo>
                <a:lnTo>
                  <a:pt x="8600" y="0"/>
                </a:lnTo>
                <a:lnTo>
                  <a:pt x="8600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66" name=""/>
          <p:cNvSpPr/>
          <p:nvPr/>
        </p:nvSpPr>
        <p:spPr>
          <a:xfrm>
            <a:off x="3695400" y="2809800"/>
            <a:ext cx="5820120" cy="495720"/>
          </a:xfrm>
          <a:custGeom>
            <a:avLst/>
            <a:gdLst/>
            <a:ahLst/>
            <a:rect l="0" t="0" r="r" b="b"/>
            <a:pathLst>
              <a:path w="16167" h="1377">
                <a:moveTo>
                  <a:pt x="0" y="0"/>
                </a:moveTo>
                <a:lnTo>
                  <a:pt x="16167" y="0"/>
                </a:lnTo>
                <a:lnTo>
                  <a:pt x="16167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67" name=""/>
          <p:cNvSpPr/>
          <p:nvPr/>
        </p:nvSpPr>
        <p:spPr>
          <a:xfrm>
            <a:off x="9515160" y="2809800"/>
            <a:ext cx="2086560" cy="495720"/>
          </a:xfrm>
          <a:custGeom>
            <a:avLst/>
            <a:gdLst/>
            <a:ahLst/>
            <a:rect l="0" t="0" r="r" b="b"/>
            <a:pathLst>
              <a:path w="5796" h="1377">
                <a:moveTo>
                  <a:pt x="0" y="0"/>
                </a:moveTo>
                <a:lnTo>
                  <a:pt x="5796" y="0"/>
                </a:lnTo>
                <a:lnTo>
                  <a:pt x="5796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68" name=""/>
          <p:cNvSpPr/>
          <p:nvPr/>
        </p:nvSpPr>
        <p:spPr>
          <a:xfrm>
            <a:off x="599760" y="3305160"/>
            <a:ext cx="3096000" cy="495360"/>
          </a:xfrm>
          <a:custGeom>
            <a:avLst/>
            <a:gdLst/>
            <a:ahLst/>
            <a:rect l="0" t="0" r="r" b="b"/>
            <a:pathLst>
              <a:path w="8600" h="1376">
                <a:moveTo>
                  <a:pt x="0" y="0"/>
                </a:moveTo>
                <a:lnTo>
                  <a:pt x="8600" y="0"/>
                </a:lnTo>
                <a:lnTo>
                  <a:pt x="8600" y="1376"/>
                </a:lnTo>
                <a:lnTo>
                  <a:pt x="0" y="137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69" name=""/>
          <p:cNvSpPr/>
          <p:nvPr/>
        </p:nvSpPr>
        <p:spPr>
          <a:xfrm>
            <a:off x="3695400" y="3305160"/>
            <a:ext cx="5820120" cy="495360"/>
          </a:xfrm>
          <a:custGeom>
            <a:avLst/>
            <a:gdLst/>
            <a:ahLst/>
            <a:rect l="0" t="0" r="r" b="b"/>
            <a:pathLst>
              <a:path w="16167" h="1376">
                <a:moveTo>
                  <a:pt x="0" y="0"/>
                </a:moveTo>
                <a:lnTo>
                  <a:pt x="16167" y="0"/>
                </a:lnTo>
                <a:lnTo>
                  <a:pt x="16167" y="1376"/>
                </a:lnTo>
                <a:lnTo>
                  <a:pt x="0" y="137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70" name=""/>
          <p:cNvSpPr/>
          <p:nvPr/>
        </p:nvSpPr>
        <p:spPr>
          <a:xfrm>
            <a:off x="9515160" y="3305160"/>
            <a:ext cx="2086560" cy="495360"/>
          </a:xfrm>
          <a:custGeom>
            <a:avLst/>
            <a:gdLst/>
            <a:ahLst/>
            <a:rect l="0" t="0" r="r" b="b"/>
            <a:pathLst>
              <a:path w="5796" h="1376">
                <a:moveTo>
                  <a:pt x="0" y="0"/>
                </a:moveTo>
                <a:lnTo>
                  <a:pt x="5796" y="0"/>
                </a:lnTo>
                <a:lnTo>
                  <a:pt x="5796" y="1376"/>
                </a:lnTo>
                <a:lnTo>
                  <a:pt x="0" y="137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71" name=""/>
          <p:cNvSpPr/>
          <p:nvPr/>
        </p:nvSpPr>
        <p:spPr>
          <a:xfrm>
            <a:off x="599760" y="3800160"/>
            <a:ext cx="3096000" cy="495720"/>
          </a:xfrm>
          <a:custGeom>
            <a:avLst/>
            <a:gdLst/>
            <a:ahLst/>
            <a:rect l="0" t="0" r="r" b="b"/>
            <a:pathLst>
              <a:path w="8600" h="1377">
                <a:moveTo>
                  <a:pt x="0" y="0"/>
                </a:moveTo>
                <a:lnTo>
                  <a:pt x="8600" y="0"/>
                </a:lnTo>
                <a:lnTo>
                  <a:pt x="8600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72" name=""/>
          <p:cNvSpPr/>
          <p:nvPr/>
        </p:nvSpPr>
        <p:spPr>
          <a:xfrm>
            <a:off x="3695400" y="3800160"/>
            <a:ext cx="5820120" cy="495720"/>
          </a:xfrm>
          <a:custGeom>
            <a:avLst/>
            <a:gdLst/>
            <a:ahLst/>
            <a:rect l="0" t="0" r="r" b="b"/>
            <a:pathLst>
              <a:path w="16167" h="1377">
                <a:moveTo>
                  <a:pt x="0" y="0"/>
                </a:moveTo>
                <a:lnTo>
                  <a:pt x="16167" y="0"/>
                </a:lnTo>
                <a:lnTo>
                  <a:pt x="16167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73" name=""/>
          <p:cNvSpPr/>
          <p:nvPr/>
        </p:nvSpPr>
        <p:spPr>
          <a:xfrm>
            <a:off x="9515160" y="3800160"/>
            <a:ext cx="2086560" cy="495720"/>
          </a:xfrm>
          <a:custGeom>
            <a:avLst/>
            <a:gdLst/>
            <a:ahLst/>
            <a:rect l="0" t="0" r="r" b="b"/>
            <a:pathLst>
              <a:path w="5796" h="1377">
                <a:moveTo>
                  <a:pt x="0" y="0"/>
                </a:moveTo>
                <a:lnTo>
                  <a:pt x="5796" y="0"/>
                </a:lnTo>
                <a:lnTo>
                  <a:pt x="5796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74" name=""/>
          <p:cNvSpPr/>
          <p:nvPr/>
        </p:nvSpPr>
        <p:spPr>
          <a:xfrm>
            <a:off x="599760" y="4295520"/>
            <a:ext cx="3096000" cy="495720"/>
          </a:xfrm>
          <a:custGeom>
            <a:avLst/>
            <a:gdLst/>
            <a:ahLst/>
            <a:rect l="0" t="0" r="r" b="b"/>
            <a:pathLst>
              <a:path w="8600" h="1377">
                <a:moveTo>
                  <a:pt x="0" y="0"/>
                </a:moveTo>
                <a:lnTo>
                  <a:pt x="8600" y="0"/>
                </a:lnTo>
                <a:lnTo>
                  <a:pt x="8600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75" name=""/>
          <p:cNvSpPr/>
          <p:nvPr/>
        </p:nvSpPr>
        <p:spPr>
          <a:xfrm>
            <a:off x="3695400" y="4295520"/>
            <a:ext cx="5820120" cy="495720"/>
          </a:xfrm>
          <a:custGeom>
            <a:avLst/>
            <a:gdLst/>
            <a:ahLst/>
            <a:rect l="0" t="0" r="r" b="b"/>
            <a:pathLst>
              <a:path w="16167" h="1377">
                <a:moveTo>
                  <a:pt x="0" y="0"/>
                </a:moveTo>
                <a:lnTo>
                  <a:pt x="16167" y="0"/>
                </a:lnTo>
                <a:lnTo>
                  <a:pt x="16167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76" name=""/>
          <p:cNvSpPr/>
          <p:nvPr/>
        </p:nvSpPr>
        <p:spPr>
          <a:xfrm>
            <a:off x="9515160" y="4295520"/>
            <a:ext cx="2086560" cy="495720"/>
          </a:xfrm>
          <a:custGeom>
            <a:avLst/>
            <a:gdLst/>
            <a:ahLst/>
            <a:rect l="0" t="0" r="r" b="b"/>
            <a:pathLst>
              <a:path w="5796" h="1377">
                <a:moveTo>
                  <a:pt x="0" y="0"/>
                </a:moveTo>
                <a:lnTo>
                  <a:pt x="5796" y="0"/>
                </a:lnTo>
                <a:lnTo>
                  <a:pt x="5796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77" name=""/>
          <p:cNvSpPr/>
          <p:nvPr/>
        </p:nvSpPr>
        <p:spPr>
          <a:xfrm>
            <a:off x="590400" y="1809720"/>
            <a:ext cx="9720" cy="505080"/>
          </a:xfrm>
          <a:custGeom>
            <a:avLst/>
            <a:gdLst/>
            <a:ahLst/>
            <a:rect l="0" t="0" r="r" b="b"/>
            <a:pathLst>
              <a:path w="27" h="1403">
                <a:moveTo>
                  <a:pt x="0" y="0"/>
                </a:moveTo>
                <a:lnTo>
                  <a:pt x="27" y="0"/>
                </a:lnTo>
                <a:lnTo>
                  <a:pt x="27" y="1403"/>
                </a:lnTo>
                <a:lnTo>
                  <a:pt x="0" y="140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78" name=""/>
          <p:cNvSpPr/>
          <p:nvPr/>
        </p:nvSpPr>
        <p:spPr>
          <a:xfrm>
            <a:off x="590400" y="1809720"/>
            <a:ext cx="3115080" cy="9720"/>
          </a:xfrm>
          <a:custGeom>
            <a:avLst/>
            <a:gdLst/>
            <a:ahLst/>
            <a:rect l="0" t="0" r="r" b="b"/>
            <a:pathLst>
              <a:path w="8653" h="27">
                <a:moveTo>
                  <a:pt x="0" y="0"/>
                </a:moveTo>
                <a:lnTo>
                  <a:pt x="8653" y="0"/>
                </a:lnTo>
                <a:lnTo>
                  <a:pt x="865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79" name=""/>
          <p:cNvSpPr/>
          <p:nvPr/>
        </p:nvSpPr>
        <p:spPr>
          <a:xfrm>
            <a:off x="3695400" y="1809720"/>
            <a:ext cx="10080" cy="505080"/>
          </a:xfrm>
          <a:custGeom>
            <a:avLst/>
            <a:gdLst/>
            <a:ahLst/>
            <a:rect l="0" t="0" r="r" b="b"/>
            <a:pathLst>
              <a:path w="28" h="1403">
                <a:moveTo>
                  <a:pt x="0" y="0"/>
                </a:moveTo>
                <a:lnTo>
                  <a:pt x="28" y="0"/>
                </a:lnTo>
                <a:lnTo>
                  <a:pt x="28" y="1403"/>
                </a:lnTo>
                <a:lnTo>
                  <a:pt x="0" y="140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80" name=""/>
          <p:cNvSpPr/>
          <p:nvPr/>
        </p:nvSpPr>
        <p:spPr>
          <a:xfrm>
            <a:off x="3705120" y="1809720"/>
            <a:ext cx="5810400" cy="9720"/>
          </a:xfrm>
          <a:custGeom>
            <a:avLst/>
            <a:gdLst/>
            <a:ahLst/>
            <a:rect l="0" t="0" r="r" b="b"/>
            <a:pathLst>
              <a:path w="16140" h="27">
                <a:moveTo>
                  <a:pt x="0" y="0"/>
                </a:moveTo>
                <a:lnTo>
                  <a:pt x="16140" y="0"/>
                </a:lnTo>
                <a:lnTo>
                  <a:pt x="1614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81" name=""/>
          <p:cNvSpPr/>
          <p:nvPr/>
        </p:nvSpPr>
        <p:spPr>
          <a:xfrm>
            <a:off x="9505800" y="1809720"/>
            <a:ext cx="9720" cy="505080"/>
          </a:xfrm>
          <a:custGeom>
            <a:avLst/>
            <a:gdLst/>
            <a:ahLst/>
            <a:rect l="0" t="0" r="r" b="b"/>
            <a:pathLst>
              <a:path w="27" h="1403">
                <a:moveTo>
                  <a:pt x="0" y="0"/>
                </a:moveTo>
                <a:lnTo>
                  <a:pt x="27" y="0"/>
                </a:lnTo>
                <a:lnTo>
                  <a:pt x="27" y="1403"/>
                </a:lnTo>
                <a:lnTo>
                  <a:pt x="0" y="140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82" name=""/>
          <p:cNvSpPr/>
          <p:nvPr/>
        </p:nvSpPr>
        <p:spPr>
          <a:xfrm>
            <a:off x="9515160" y="1809720"/>
            <a:ext cx="2086560" cy="9720"/>
          </a:xfrm>
          <a:custGeom>
            <a:avLst/>
            <a:gdLst/>
            <a:ahLst/>
            <a:rect l="0" t="0" r="r" b="b"/>
            <a:pathLst>
              <a:path w="5796" h="27">
                <a:moveTo>
                  <a:pt x="0" y="0"/>
                </a:moveTo>
                <a:lnTo>
                  <a:pt x="5796" y="0"/>
                </a:lnTo>
                <a:lnTo>
                  <a:pt x="579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83" name=""/>
          <p:cNvSpPr/>
          <p:nvPr/>
        </p:nvSpPr>
        <p:spPr>
          <a:xfrm>
            <a:off x="11591640" y="1809720"/>
            <a:ext cx="10080" cy="505080"/>
          </a:xfrm>
          <a:custGeom>
            <a:avLst/>
            <a:gdLst/>
            <a:ahLst/>
            <a:rect l="0" t="0" r="r" b="b"/>
            <a:pathLst>
              <a:path w="28" h="1403">
                <a:moveTo>
                  <a:pt x="0" y="0"/>
                </a:moveTo>
                <a:lnTo>
                  <a:pt x="28" y="0"/>
                </a:lnTo>
                <a:lnTo>
                  <a:pt x="28" y="1403"/>
                </a:lnTo>
                <a:lnTo>
                  <a:pt x="0" y="140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84" name=""/>
          <p:cNvSpPr/>
          <p:nvPr/>
        </p:nvSpPr>
        <p:spPr>
          <a:xfrm>
            <a:off x="590400" y="2304720"/>
            <a:ext cx="3115080" cy="10080"/>
          </a:xfrm>
          <a:custGeom>
            <a:avLst/>
            <a:gdLst/>
            <a:ahLst/>
            <a:rect l="0" t="0" r="r" b="b"/>
            <a:pathLst>
              <a:path w="8653" h="28">
                <a:moveTo>
                  <a:pt x="0" y="0"/>
                </a:moveTo>
                <a:lnTo>
                  <a:pt x="8653" y="0"/>
                </a:lnTo>
                <a:lnTo>
                  <a:pt x="865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85" name=""/>
          <p:cNvSpPr/>
          <p:nvPr/>
        </p:nvSpPr>
        <p:spPr>
          <a:xfrm>
            <a:off x="3705120" y="2304720"/>
            <a:ext cx="5810400" cy="10080"/>
          </a:xfrm>
          <a:custGeom>
            <a:avLst/>
            <a:gdLst/>
            <a:ahLst/>
            <a:rect l="0" t="0" r="r" b="b"/>
            <a:pathLst>
              <a:path w="16140" h="28">
                <a:moveTo>
                  <a:pt x="0" y="0"/>
                </a:moveTo>
                <a:lnTo>
                  <a:pt x="16140" y="0"/>
                </a:lnTo>
                <a:lnTo>
                  <a:pt x="1614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86" name=""/>
          <p:cNvSpPr/>
          <p:nvPr/>
        </p:nvSpPr>
        <p:spPr>
          <a:xfrm>
            <a:off x="9515160" y="2304720"/>
            <a:ext cx="2086560" cy="10080"/>
          </a:xfrm>
          <a:custGeom>
            <a:avLst/>
            <a:gdLst/>
            <a:ahLst/>
            <a:rect l="0" t="0" r="r" b="b"/>
            <a:pathLst>
              <a:path w="5796" h="28">
                <a:moveTo>
                  <a:pt x="0" y="0"/>
                </a:moveTo>
                <a:lnTo>
                  <a:pt x="5796" y="0"/>
                </a:lnTo>
                <a:lnTo>
                  <a:pt x="579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87" name=""/>
          <p:cNvSpPr/>
          <p:nvPr/>
        </p:nvSpPr>
        <p:spPr>
          <a:xfrm>
            <a:off x="590400" y="2314440"/>
            <a:ext cx="9720" cy="495720"/>
          </a:xfrm>
          <a:custGeom>
            <a:avLst/>
            <a:gdLst/>
            <a:ahLst/>
            <a:rect l="0" t="0" r="r" b="b"/>
            <a:pathLst>
              <a:path w="27" h="1377">
                <a:moveTo>
                  <a:pt x="0" y="0"/>
                </a:moveTo>
                <a:lnTo>
                  <a:pt x="27" y="0"/>
                </a:lnTo>
                <a:lnTo>
                  <a:pt x="27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88" name=""/>
          <p:cNvSpPr/>
          <p:nvPr/>
        </p:nvSpPr>
        <p:spPr>
          <a:xfrm>
            <a:off x="3695400" y="2314440"/>
            <a:ext cx="10080" cy="495720"/>
          </a:xfrm>
          <a:custGeom>
            <a:avLst/>
            <a:gdLst/>
            <a:ahLst/>
            <a:rect l="0" t="0" r="r" b="b"/>
            <a:pathLst>
              <a:path w="28" h="1377">
                <a:moveTo>
                  <a:pt x="0" y="0"/>
                </a:moveTo>
                <a:lnTo>
                  <a:pt x="28" y="0"/>
                </a:lnTo>
                <a:lnTo>
                  <a:pt x="28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89" name=""/>
          <p:cNvSpPr/>
          <p:nvPr/>
        </p:nvSpPr>
        <p:spPr>
          <a:xfrm>
            <a:off x="9505800" y="2314440"/>
            <a:ext cx="9720" cy="495720"/>
          </a:xfrm>
          <a:custGeom>
            <a:avLst/>
            <a:gdLst/>
            <a:ahLst/>
            <a:rect l="0" t="0" r="r" b="b"/>
            <a:pathLst>
              <a:path w="27" h="1377">
                <a:moveTo>
                  <a:pt x="0" y="0"/>
                </a:moveTo>
                <a:lnTo>
                  <a:pt x="27" y="0"/>
                </a:lnTo>
                <a:lnTo>
                  <a:pt x="27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90" name=""/>
          <p:cNvSpPr/>
          <p:nvPr/>
        </p:nvSpPr>
        <p:spPr>
          <a:xfrm>
            <a:off x="11591640" y="2314440"/>
            <a:ext cx="10080" cy="495720"/>
          </a:xfrm>
          <a:custGeom>
            <a:avLst/>
            <a:gdLst/>
            <a:ahLst/>
            <a:rect l="0" t="0" r="r" b="b"/>
            <a:pathLst>
              <a:path w="28" h="1377">
                <a:moveTo>
                  <a:pt x="0" y="0"/>
                </a:moveTo>
                <a:lnTo>
                  <a:pt x="28" y="0"/>
                </a:lnTo>
                <a:lnTo>
                  <a:pt x="28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91" name=""/>
          <p:cNvSpPr/>
          <p:nvPr/>
        </p:nvSpPr>
        <p:spPr>
          <a:xfrm>
            <a:off x="590400" y="2809800"/>
            <a:ext cx="9720" cy="495720"/>
          </a:xfrm>
          <a:custGeom>
            <a:avLst/>
            <a:gdLst/>
            <a:ahLst/>
            <a:rect l="0" t="0" r="r" b="b"/>
            <a:pathLst>
              <a:path w="27" h="1377">
                <a:moveTo>
                  <a:pt x="0" y="0"/>
                </a:moveTo>
                <a:lnTo>
                  <a:pt x="27" y="0"/>
                </a:lnTo>
                <a:lnTo>
                  <a:pt x="27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92" name=""/>
          <p:cNvSpPr/>
          <p:nvPr/>
        </p:nvSpPr>
        <p:spPr>
          <a:xfrm>
            <a:off x="590400" y="2800080"/>
            <a:ext cx="3115080" cy="10080"/>
          </a:xfrm>
          <a:custGeom>
            <a:avLst/>
            <a:gdLst/>
            <a:ahLst/>
            <a:rect l="0" t="0" r="r" b="b"/>
            <a:pathLst>
              <a:path w="8653" h="28">
                <a:moveTo>
                  <a:pt x="0" y="0"/>
                </a:moveTo>
                <a:lnTo>
                  <a:pt x="8653" y="0"/>
                </a:lnTo>
                <a:lnTo>
                  <a:pt x="865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93" name=""/>
          <p:cNvSpPr/>
          <p:nvPr/>
        </p:nvSpPr>
        <p:spPr>
          <a:xfrm>
            <a:off x="3695400" y="2809800"/>
            <a:ext cx="10080" cy="495720"/>
          </a:xfrm>
          <a:custGeom>
            <a:avLst/>
            <a:gdLst/>
            <a:ahLst/>
            <a:rect l="0" t="0" r="r" b="b"/>
            <a:pathLst>
              <a:path w="28" h="1377">
                <a:moveTo>
                  <a:pt x="0" y="0"/>
                </a:moveTo>
                <a:lnTo>
                  <a:pt x="28" y="0"/>
                </a:lnTo>
                <a:lnTo>
                  <a:pt x="28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94" name=""/>
          <p:cNvSpPr/>
          <p:nvPr/>
        </p:nvSpPr>
        <p:spPr>
          <a:xfrm>
            <a:off x="3705120" y="2800080"/>
            <a:ext cx="5810400" cy="10080"/>
          </a:xfrm>
          <a:custGeom>
            <a:avLst/>
            <a:gdLst/>
            <a:ahLst/>
            <a:rect l="0" t="0" r="r" b="b"/>
            <a:pathLst>
              <a:path w="16140" h="28">
                <a:moveTo>
                  <a:pt x="0" y="0"/>
                </a:moveTo>
                <a:lnTo>
                  <a:pt x="16140" y="0"/>
                </a:lnTo>
                <a:lnTo>
                  <a:pt x="1614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95" name=""/>
          <p:cNvSpPr/>
          <p:nvPr/>
        </p:nvSpPr>
        <p:spPr>
          <a:xfrm>
            <a:off x="9505800" y="2809800"/>
            <a:ext cx="9720" cy="495720"/>
          </a:xfrm>
          <a:custGeom>
            <a:avLst/>
            <a:gdLst/>
            <a:ahLst/>
            <a:rect l="0" t="0" r="r" b="b"/>
            <a:pathLst>
              <a:path w="27" h="1377">
                <a:moveTo>
                  <a:pt x="0" y="0"/>
                </a:moveTo>
                <a:lnTo>
                  <a:pt x="27" y="0"/>
                </a:lnTo>
                <a:lnTo>
                  <a:pt x="27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96" name=""/>
          <p:cNvSpPr/>
          <p:nvPr/>
        </p:nvSpPr>
        <p:spPr>
          <a:xfrm>
            <a:off x="9515160" y="2800080"/>
            <a:ext cx="2086560" cy="10080"/>
          </a:xfrm>
          <a:custGeom>
            <a:avLst/>
            <a:gdLst/>
            <a:ahLst/>
            <a:rect l="0" t="0" r="r" b="b"/>
            <a:pathLst>
              <a:path w="5796" h="28">
                <a:moveTo>
                  <a:pt x="0" y="0"/>
                </a:moveTo>
                <a:lnTo>
                  <a:pt x="5796" y="0"/>
                </a:lnTo>
                <a:lnTo>
                  <a:pt x="579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97" name=""/>
          <p:cNvSpPr/>
          <p:nvPr/>
        </p:nvSpPr>
        <p:spPr>
          <a:xfrm>
            <a:off x="11591640" y="2809800"/>
            <a:ext cx="10080" cy="495720"/>
          </a:xfrm>
          <a:custGeom>
            <a:avLst/>
            <a:gdLst/>
            <a:ahLst/>
            <a:rect l="0" t="0" r="r" b="b"/>
            <a:pathLst>
              <a:path w="28" h="1377">
                <a:moveTo>
                  <a:pt x="0" y="0"/>
                </a:moveTo>
                <a:lnTo>
                  <a:pt x="28" y="0"/>
                </a:lnTo>
                <a:lnTo>
                  <a:pt x="28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98" name=""/>
          <p:cNvSpPr/>
          <p:nvPr/>
        </p:nvSpPr>
        <p:spPr>
          <a:xfrm>
            <a:off x="590400" y="3305160"/>
            <a:ext cx="9720" cy="495360"/>
          </a:xfrm>
          <a:custGeom>
            <a:avLst/>
            <a:gdLst/>
            <a:ahLst/>
            <a:rect l="0" t="0" r="r" b="b"/>
            <a:pathLst>
              <a:path w="27" h="1376">
                <a:moveTo>
                  <a:pt x="0" y="0"/>
                </a:moveTo>
                <a:lnTo>
                  <a:pt x="27" y="0"/>
                </a:lnTo>
                <a:lnTo>
                  <a:pt x="27" y="1376"/>
                </a:lnTo>
                <a:lnTo>
                  <a:pt x="0" y="137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899" name=""/>
          <p:cNvSpPr/>
          <p:nvPr/>
        </p:nvSpPr>
        <p:spPr>
          <a:xfrm>
            <a:off x="590400" y="3295440"/>
            <a:ext cx="3115080" cy="10080"/>
          </a:xfrm>
          <a:custGeom>
            <a:avLst/>
            <a:gdLst/>
            <a:ahLst/>
            <a:rect l="0" t="0" r="r" b="b"/>
            <a:pathLst>
              <a:path w="8653" h="28">
                <a:moveTo>
                  <a:pt x="0" y="0"/>
                </a:moveTo>
                <a:lnTo>
                  <a:pt x="8653" y="0"/>
                </a:lnTo>
                <a:lnTo>
                  <a:pt x="865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00" name=""/>
          <p:cNvSpPr/>
          <p:nvPr/>
        </p:nvSpPr>
        <p:spPr>
          <a:xfrm>
            <a:off x="3695400" y="3305160"/>
            <a:ext cx="10080" cy="495360"/>
          </a:xfrm>
          <a:custGeom>
            <a:avLst/>
            <a:gdLst/>
            <a:ahLst/>
            <a:rect l="0" t="0" r="r" b="b"/>
            <a:pathLst>
              <a:path w="28" h="1376">
                <a:moveTo>
                  <a:pt x="0" y="0"/>
                </a:moveTo>
                <a:lnTo>
                  <a:pt x="28" y="0"/>
                </a:lnTo>
                <a:lnTo>
                  <a:pt x="28" y="1376"/>
                </a:lnTo>
                <a:lnTo>
                  <a:pt x="0" y="137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01" name=""/>
          <p:cNvSpPr/>
          <p:nvPr/>
        </p:nvSpPr>
        <p:spPr>
          <a:xfrm>
            <a:off x="3705120" y="3295440"/>
            <a:ext cx="5810400" cy="10080"/>
          </a:xfrm>
          <a:custGeom>
            <a:avLst/>
            <a:gdLst/>
            <a:ahLst/>
            <a:rect l="0" t="0" r="r" b="b"/>
            <a:pathLst>
              <a:path w="16140" h="28">
                <a:moveTo>
                  <a:pt x="0" y="0"/>
                </a:moveTo>
                <a:lnTo>
                  <a:pt x="16140" y="0"/>
                </a:lnTo>
                <a:lnTo>
                  <a:pt x="1614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02" name=""/>
          <p:cNvSpPr/>
          <p:nvPr/>
        </p:nvSpPr>
        <p:spPr>
          <a:xfrm>
            <a:off x="9505800" y="3305160"/>
            <a:ext cx="9720" cy="495360"/>
          </a:xfrm>
          <a:custGeom>
            <a:avLst/>
            <a:gdLst/>
            <a:ahLst/>
            <a:rect l="0" t="0" r="r" b="b"/>
            <a:pathLst>
              <a:path w="27" h="1376">
                <a:moveTo>
                  <a:pt x="0" y="0"/>
                </a:moveTo>
                <a:lnTo>
                  <a:pt x="27" y="0"/>
                </a:lnTo>
                <a:lnTo>
                  <a:pt x="27" y="1376"/>
                </a:lnTo>
                <a:lnTo>
                  <a:pt x="0" y="137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03" name=""/>
          <p:cNvSpPr/>
          <p:nvPr/>
        </p:nvSpPr>
        <p:spPr>
          <a:xfrm>
            <a:off x="9515160" y="3295440"/>
            <a:ext cx="2086560" cy="10080"/>
          </a:xfrm>
          <a:custGeom>
            <a:avLst/>
            <a:gdLst/>
            <a:ahLst/>
            <a:rect l="0" t="0" r="r" b="b"/>
            <a:pathLst>
              <a:path w="5796" h="28">
                <a:moveTo>
                  <a:pt x="0" y="0"/>
                </a:moveTo>
                <a:lnTo>
                  <a:pt x="5796" y="0"/>
                </a:lnTo>
                <a:lnTo>
                  <a:pt x="579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04" name=""/>
          <p:cNvSpPr/>
          <p:nvPr/>
        </p:nvSpPr>
        <p:spPr>
          <a:xfrm>
            <a:off x="11591640" y="3305160"/>
            <a:ext cx="10080" cy="495360"/>
          </a:xfrm>
          <a:custGeom>
            <a:avLst/>
            <a:gdLst/>
            <a:ahLst/>
            <a:rect l="0" t="0" r="r" b="b"/>
            <a:pathLst>
              <a:path w="28" h="1376">
                <a:moveTo>
                  <a:pt x="0" y="0"/>
                </a:moveTo>
                <a:lnTo>
                  <a:pt x="28" y="0"/>
                </a:lnTo>
                <a:lnTo>
                  <a:pt x="28" y="1376"/>
                </a:lnTo>
                <a:lnTo>
                  <a:pt x="0" y="137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05" name=""/>
          <p:cNvSpPr/>
          <p:nvPr/>
        </p:nvSpPr>
        <p:spPr>
          <a:xfrm>
            <a:off x="590400" y="3800160"/>
            <a:ext cx="9720" cy="495720"/>
          </a:xfrm>
          <a:custGeom>
            <a:avLst/>
            <a:gdLst/>
            <a:ahLst/>
            <a:rect l="0" t="0" r="r" b="b"/>
            <a:pathLst>
              <a:path w="27" h="1377">
                <a:moveTo>
                  <a:pt x="0" y="0"/>
                </a:moveTo>
                <a:lnTo>
                  <a:pt x="27" y="0"/>
                </a:lnTo>
                <a:lnTo>
                  <a:pt x="27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06" name=""/>
          <p:cNvSpPr/>
          <p:nvPr/>
        </p:nvSpPr>
        <p:spPr>
          <a:xfrm>
            <a:off x="590400" y="3790800"/>
            <a:ext cx="3115080" cy="9720"/>
          </a:xfrm>
          <a:custGeom>
            <a:avLst/>
            <a:gdLst/>
            <a:ahLst/>
            <a:rect l="0" t="0" r="r" b="b"/>
            <a:pathLst>
              <a:path w="8653" h="27">
                <a:moveTo>
                  <a:pt x="0" y="0"/>
                </a:moveTo>
                <a:lnTo>
                  <a:pt x="8653" y="0"/>
                </a:lnTo>
                <a:lnTo>
                  <a:pt x="865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07" name=""/>
          <p:cNvSpPr/>
          <p:nvPr/>
        </p:nvSpPr>
        <p:spPr>
          <a:xfrm>
            <a:off x="3695400" y="3800160"/>
            <a:ext cx="10080" cy="495720"/>
          </a:xfrm>
          <a:custGeom>
            <a:avLst/>
            <a:gdLst/>
            <a:ahLst/>
            <a:rect l="0" t="0" r="r" b="b"/>
            <a:pathLst>
              <a:path w="28" h="1377">
                <a:moveTo>
                  <a:pt x="0" y="0"/>
                </a:moveTo>
                <a:lnTo>
                  <a:pt x="28" y="0"/>
                </a:lnTo>
                <a:lnTo>
                  <a:pt x="28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08" name=""/>
          <p:cNvSpPr/>
          <p:nvPr/>
        </p:nvSpPr>
        <p:spPr>
          <a:xfrm>
            <a:off x="3705120" y="3790800"/>
            <a:ext cx="5810400" cy="9720"/>
          </a:xfrm>
          <a:custGeom>
            <a:avLst/>
            <a:gdLst/>
            <a:ahLst/>
            <a:rect l="0" t="0" r="r" b="b"/>
            <a:pathLst>
              <a:path w="16140" h="27">
                <a:moveTo>
                  <a:pt x="0" y="0"/>
                </a:moveTo>
                <a:lnTo>
                  <a:pt x="16140" y="0"/>
                </a:lnTo>
                <a:lnTo>
                  <a:pt x="1614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09" name=""/>
          <p:cNvSpPr/>
          <p:nvPr/>
        </p:nvSpPr>
        <p:spPr>
          <a:xfrm>
            <a:off x="9505800" y="3800160"/>
            <a:ext cx="9720" cy="495720"/>
          </a:xfrm>
          <a:custGeom>
            <a:avLst/>
            <a:gdLst/>
            <a:ahLst/>
            <a:rect l="0" t="0" r="r" b="b"/>
            <a:pathLst>
              <a:path w="27" h="1377">
                <a:moveTo>
                  <a:pt x="0" y="0"/>
                </a:moveTo>
                <a:lnTo>
                  <a:pt x="27" y="0"/>
                </a:lnTo>
                <a:lnTo>
                  <a:pt x="27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10" name=""/>
          <p:cNvSpPr/>
          <p:nvPr/>
        </p:nvSpPr>
        <p:spPr>
          <a:xfrm>
            <a:off x="9515160" y="3790800"/>
            <a:ext cx="2086560" cy="9720"/>
          </a:xfrm>
          <a:custGeom>
            <a:avLst/>
            <a:gdLst/>
            <a:ahLst/>
            <a:rect l="0" t="0" r="r" b="b"/>
            <a:pathLst>
              <a:path w="5796" h="27">
                <a:moveTo>
                  <a:pt x="0" y="0"/>
                </a:moveTo>
                <a:lnTo>
                  <a:pt x="5796" y="0"/>
                </a:lnTo>
                <a:lnTo>
                  <a:pt x="579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11" name=""/>
          <p:cNvSpPr/>
          <p:nvPr/>
        </p:nvSpPr>
        <p:spPr>
          <a:xfrm>
            <a:off x="11591640" y="3800160"/>
            <a:ext cx="10080" cy="495720"/>
          </a:xfrm>
          <a:custGeom>
            <a:avLst/>
            <a:gdLst/>
            <a:ahLst/>
            <a:rect l="0" t="0" r="r" b="b"/>
            <a:pathLst>
              <a:path w="28" h="1377">
                <a:moveTo>
                  <a:pt x="0" y="0"/>
                </a:moveTo>
                <a:lnTo>
                  <a:pt x="28" y="0"/>
                </a:lnTo>
                <a:lnTo>
                  <a:pt x="28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12" name=""/>
          <p:cNvSpPr/>
          <p:nvPr/>
        </p:nvSpPr>
        <p:spPr>
          <a:xfrm>
            <a:off x="590400" y="4295520"/>
            <a:ext cx="9720" cy="495720"/>
          </a:xfrm>
          <a:custGeom>
            <a:avLst/>
            <a:gdLst/>
            <a:ahLst/>
            <a:rect l="0" t="0" r="r" b="b"/>
            <a:pathLst>
              <a:path w="27" h="1377">
                <a:moveTo>
                  <a:pt x="0" y="0"/>
                </a:moveTo>
                <a:lnTo>
                  <a:pt x="27" y="0"/>
                </a:lnTo>
                <a:lnTo>
                  <a:pt x="27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13" name=""/>
          <p:cNvSpPr/>
          <p:nvPr/>
        </p:nvSpPr>
        <p:spPr>
          <a:xfrm>
            <a:off x="590400" y="4286160"/>
            <a:ext cx="3115080" cy="9720"/>
          </a:xfrm>
          <a:custGeom>
            <a:avLst/>
            <a:gdLst/>
            <a:ahLst/>
            <a:rect l="0" t="0" r="r" b="b"/>
            <a:pathLst>
              <a:path w="8653" h="27">
                <a:moveTo>
                  <a:pt x="0" y="0"/>
                </a:moveTo>
                <a:lnTo>
                  <a:pt x="8653" y="0"/>
                </a:lnTo>
                <a:lnTo>
                  <a:pt x="865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14" name=""/>
          <p:cNvSpPr/>
          <p:nvPr/>
        </p:nvSpPr>
        <p:spPr>
          <a:xfrm>
            <a:off x="3695400" y="4295520"/>
            <a:ext cx="10080" cy="495720"/>
          </a:xfrm>
          <a:custGeom>
            <a:avLst/>
            <a:gdLst/>
            <a:ahLst/>
            <a:rect l="0" t="0" r="r" b="b"/>
            <a:pathLst>
              <a:path w="28" h="1377">
                <a:moveTo>
                  <a:pt x="0" y="0"/>
                </a:moveTo>
                <a:lnTo>
                  <a:pt x="28" y="0"/>
                </a:lnTo>
                <a:lnTo>
                  <a:pt x="28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15" name=""/>
          <p:cNvSpPr/>
          <p:nvPr/>
        </p:nvSpPr>
        <p:spPr>
          <a:xfrm>
            <a:off x="3705120" y="4286160"/>
            <a:ext cx="5810400" cy="9720"/>
          </a:xfrm>
          <a:custGeom>
            <a:avLst/>
            <a:gdLst/>
            <a:ahLst/>
            <a:rect l="0" t="0" r="r" b="b"/>
            <a:pathLst>
              <a:path w="16140" h="27">
                <a:moveTo>
                  <a:pt x="0" y="0"/>
                </a:moveTo>
                <a:lnTo>
                  <a:pt x="16140" y="0"/>
                </a:lnTo>
                <a:lnTo>
                  <a:pt x="1614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16" name=""/>
          <p:cNvSpPr/>
          <p:nvPr/>
        </p:nvSpPr>
        <p:spPr>
          <a:xfrm>
            <a:off x="9505800" y="4295520"/>
            <a:ext cx="9720" cy="495720"/>
          </a:xfrm>
          <a:custGeom>
            <a:avLst/>
            <a:gdLst/>
            <a:ahLst/>
            <a:rect l="0" t="0" r="r" b="b"/>
            <a:pathLst>
              <a:path w="27" h="1377">
                <a:moveTo>
                  <a:pt x="0" y="0"/>
                </a:moveTo>
                <a:lnTo>
                  <a:pt x="27" y="0"/>
                </a:lnTo>
                <a:lnTo>
                  <a:pt x="27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17" name=""/>
          <p:cNvSpPr/>
          <p:nvPr/>
        </p:nvSpPr>
        <p:spPr>
          <a:xfrm>
            <a:off x="9515160" y="4286160"/>
            <a:ext cx="2086560" cy="9720"/>
          </a:xfrm>
          <a:custGeom>
            <a:avLst/>
            <a:gdLst/>
            <a:ahLst/>
            <a:rect l="0" t="0" r="r" b="b"/>
            <a:pathLst>
              <a:path w="5796" h="27">
                <a:moveTo>
                  <a:pt x="0" y="0"/>
                </a:moveTo>
                <a:lnTo>
                  <a:pt x="5796" y="0"/>
                </a:lnTo>
                <a:lnTo>
                  <a:pt x="579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18" name=""/>
          <p:cNvSpPr/>
          <p:nvPr/>
        </p:nvSpPr>
        <p:spPr>
          <a:xfrm>
            <a:off x="11591640" y="4295520"/>
            <a:ext cx="10080" cy="495720"/>
          </a:xfrm>
          <a:custGeom>
            <a:avLst/>
            <a:gdLst/>
            <a:ahLst/>
            <a:rect l="0" t="0" r="r" b="b"/>
            <a:pathLst>
              <a:path w="28" h="1377">
                <a:moveTo>
                  <a:pt x="0" y="0"/>
                </a:moveTo>
                <a:lnTo>
                  <a:pt x="28" y="0"/>
                </a:lnTo>
                <a:lnTo>
                  <a:pt x="28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19" name=""/>
          <p:cNvSpPr/>
          <p:nvPr/>
        </p:nvSpPr>
        <p:spPr>
          <a:xfrm>
            <a:off x="590400" y="4781520"/>
            <a:ext cx="3115080" cy="9720"/>
          </a:xfrm>
          <a:custGeom>
            <a:avLst/>
            <a:gdLst/>
            <a:ahLst/>
            <a:rect l="0" t="0" r="r" b="b"/>
            <a:pathLst>
              <a:path w="8653" h="27">
                <a:moveTo>
                  <a:pt x="0" y="0"/>
                </a:moveTo>
                <a:lnTo>
                  <a:pt x="8653" y="0"/>
                </a:lnTo>
                <a:lnTo>
                  <a:pt x="865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20" name=""/>
          <p:cNvSpPr/>
          <p:nvPr/>
        </p:nvSpPr>
        <p:spPr>
          <a:xfrm>
            <a:off x="3705120" y="4781520"/>
            <a:ext cx="5810400" cy="9720"/>
          </a:xfrm>
          <a:custGeom>
            <a:avLst/>
            <a:gdLst/>
            <a:ahLst/>
            <a:rect l="0" t="0" r="r" b="b"/>
            <a:pathLst>
              <a:path w="16140" h="27">
                <a:moveTo>
                  <a:pt x="0" y="0"/>
                </a:moveTo>
                <a:lnTo>
                  <a:pt x="16140" y="0"/>
                </a:lnTo>
                <a:lnTo>
                  <a:pt x="1614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21" name=""/>
          <p:cNvSpPr/>
          <p:nvPr/>
        </p:nvSpPr>
        <p:spPr>
          <a:xfrm>
            <a:off x="9515160" y="4781520"/>
            <a:ext cx="2086560" cy="9720"/>
          </a:xfrm>
          <a:custGeom>
            <a:avLst/>
            <a:gdLst/>
            <a:ahLst/>
            <a:rect l="0" t="0" r="r" b="b"/>
            <a:pathLst>
              <a:path w="5796" h="27">
                <a:moveTo>
                  <a:pt x="0" y="0"/>
                </a:moveTo>
                <a:lnTo>
                  <a:pt x="5796" y="0"/>
                </a:lnTo>
                <a:lnTo>
                  <a:pt x="579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22" name=""/>
          <p:cNvSpPr txBox="1"/>
          <p:nvPr/>
        </p:nvSpPr>
        <p:spPr>
          <a:xfrm>
            <a:off x="590400" y="1053000"/>
            <a:ext cx="7477254" cy="36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8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五つのテストで、生成コードを実行する</a:t>
            </a:r>
            <a:endParaRPr lang="en-US" sz="28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23" name=""/>
          <p:cNvSpPr txBox="1"/>
          <p:nvPr/>
        </p:nvSpPr>
        <p:spPr>
          <a:xfrm>
            <a:off x="714240" y="1949040"/>
            <a:ext cx="721188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6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テスト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24" name=""/>
          <p:cNvSpPr txBox="1"/>
          <p:nvPr/>
        </p:nvSpPr>
        <p:spPr>
          <a:xfrm>
            <a:off x="3815640" y="1949040"/>
            <a:ext cx="1441548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6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確かめること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25" name=""/>
          <p:cNvSpPr txBox="1"/>
          <p:nvPr/>
        </p:nvSpPr>
        <p:spPr>
          <a:xfrm>
            <a:off x="10429920" y="1949040"/>
            <a:ext cx="1201428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6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指示の件数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26" name=""/>
          <p:cNvSpPr txBox="1"/>
          <p:nvPr/>
        </p:nvSpPr>
        <p:spPr>
          <a:xfrm>
            <a:off x="714240" y="2444400"/>
            <a:ext cx="481068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通常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27" name=""/>
          <p:cNvSpPr txBox="1"/>
          <p:nvPr/>
        </p:nvSpPr>
        <p:spPr>
          <a:xfrm>
            <a:off x="3815640" y="2444400"/>
            <a:ext cx="3362508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未学習の操作の並びを扱えるか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28" name=""/>
          <p:cNvSpPr txBox="1"/>
          <p:nvPr/>
        </p:nvSpPr>
        <p:spPr>
          <a:xfrm>
            <a:off x="10737360" y="2444400"/>
            <a:ext cx="849114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24,040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29" name=""/>
          <p:cNvSpPr txBox="1"/>
          <p:nvPr/>
        </p:nvSpPr>
        <p:spPr>
          <a:xfrm>
            <a:off x="714240" y="2939760"/>
            <a:ext cx="721188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組合せ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30" name=""/>
          <p:cNvSpPr txBox="1"/>
          <p:nvPr/>
        </p:nvSpPr>
        <p:spPr>
          <a:xfrm>
            <a:off x="3815640" y="2939760"/>
            <a:ext cx="3842334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訓練から隔離した操作対を組めるか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31" name=""/>
          <p:cNvSpPr txBox="1"/>
          <p:nvPr/>
        </p:nvSpPr>
        <p:spPr>
          <a:xfrm>
            <a:off x="10738080" y="2939760"/>
            <a:ext cx="848286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13,400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32" name=""/>
          <p:cNvSpPr txBox="1"/>
          <p:nvPr/>
        </p:nvSpPr>
        <p:spPr>
          <a:xfrm>
            <a:off x="714240" y="3435120"/>
            <a:ext cx="1921788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日本語の言い換え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33" name=""/>
          <p:cNvSpPr txBox="1"/>
          <p:nvPr/>
        </p:nvSpPr>
        <p:spPr>
          <a:xfrm>
            <a:off x="3815640" y="3435120"/>
            <a:ext cx="3437856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未学習の</a:t>
            </a:r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30</a:t>
            </a:r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表現を理解できるか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34" name=""/>
          <p:cNvSpPr txBox="1"/>
          <p:nvPr/>
        </p:nvSpPr>
        <p:spPr>
          <a:xfrm>
            <a:off x="11202120" y="3435120"/>
            <a:ext cx="316296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30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35" name=""/>
          <p:cNvSpPr txBox="1"/>
          <p:nvPr/>
        </p:nvSpPr>
        <p:spPr>
          <a:xfrm>
            <a:off x="714240" y="3930480"/>
            <a:ext cx="1681668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同じ操作の反復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36" name=""/>
          <p:cNvSpPr txBox="1"/>
          <p:nvPr/>
        </p:nvSpPr>
        <p:spPr>
          <a:xfrm>
            <a:off x="3815640" y="3930480"/>
            <a:ext cx="3677976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同じ操作を</a:t>
            </a:r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2</a:t>
            </a:r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回・</a:t>
            </a:r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3</a:t>
            </a:r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回実行できるか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37" name=""/>
          <p:cNvSpPr txBox="1"/>
          <p:nvPr/>
        </p:nvSpPr>
        <p:spPr>
          <a:xfrm>
            <a:off x="10738080" y="3930480"/>
            <a:ext cx="848286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23,040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38" name=""/>
          <p:cNvSpPr txBox="1"/>
          <p:nvPr/>
        </p:nvSpPr>
        <p:spPr>
          <a:xfrm>
            <a:off x="714240" y="4425840"/>
            <a:ext cx="721188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境界値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39" name=""/>
          <p:cNvSpPr txBox="1"/>
          <p:nvPr/>
        </p:nvSpPr>
        <p:spPr>
          <a:xfrm>
            <a:off x="3815640" y="4425840"/>
            <a:ext cx="3362508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空リストなどでも正しく動くか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40" name=""/>
          <p:cNvSpPr txBox="1"/>
          <p:nvPr/>
        </p:nvSpPr>
        <p:spPr>
          <a:xfrm>
            <a:off x="10737360" y="4425840"/>
            <a:ext cx="849114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24,040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41" name=""/>
          <p:cNvSpPr txBox="1"/>
          <p:nvPr/>
        </p:nvSpPr>
        <p:spPr>
          <a:xfrm>
            <a:off x="590400" y="5038560"/>
            <a:ext cx="7468974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</a:t>
            </a:r>
            <a:r>
              <a:rPr lang="ja-JP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指示につきコードを</a:t>
            </a:r>
            <a:r>
              <a:rPr lang="en-US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</a:t>
            </a:r>
            <a:r>
              <a:rPr lang="ja-JP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候補生成し、全検査を通ったら合格。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42" name=""/>
          <p:cNvSpPr txBox="1"/>
          <p:nvPr/>
        </p:nvSpPr>
        <p:spPr>
          <a:xfrm>
            <a:off x="590400" y="5572080"/>
            <a:ext cx="7382862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通常と境界値では同じ指示を使い、検査する入力を変える。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43" name=""/>
          <p:cNvSpPr txBox="1"/>
          <p:nvPr/>
        </p:nvSpPr>
        <p:spPr>
          <a:xfrm>
            <a:off x="11705760" y="6466680"/>
            <a:ext cx="231012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Hiragino Sans"/>
                <a:ea typeface="Hiragino Sans"/>
              </a:rPr>
              <a:t>18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4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4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47" name=""/>
          <p:cNvSpPr txBox="1"/>
          <p:nvPr/>
        </p:nvSpPr>
        <p:spPr>
          <a:xfrm>
            <a:off x="590400" y="717480"/>
            <a:ext cx="5873004" cy="3434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27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1M</a:t>
            </a:r>
            <a:r>
              <a:rPr lang="ja-JP" sz="27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：</a:t>
            </a:r>
            <a:r>
              <a:rPr lang="en-US" sz="27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3 epoch</a:t>
            </a:r>
            <a:r>
              <a:rPr lang="ja-JP" sz="27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までの損失の推移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pic>
        <p:nvPicPr>
          <p:cNvPr id="948" name=""/>
          <p:cNvPicPr/>
          <p:nvPr/>
        </p:nvPicPr>
        <p:blipFill>
          <a:blip r:embed="rId1"/>
          <a:stretch/>
        </p:blipFill>
        <p:spPr>
          <a:xfrm>
            <a:off x="2828880" y="1790640"/>
            <a:ext cx="6533640" cy="3619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49" name=""/>
          <p:cNvSpPr txBox="1"/>
          <p:nvPr/>
        </p:nvSpPr>
        <p:spPr>
          <a:xfrm>
            <a:off x="590400" y="1378800"/>
            <a:ext cx="9315828" cy="219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729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3 epoch</a:t>
            </a:r>
            <a:r>
              <a:rPr lang="ja-JP" sz="1729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の学習。訓練損失は</a:t>
            </a:r>
            <a:r>
              <a:rPr lang="en-US" sz="1729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20 step</a:t>
            </a:r>
            <a:r>
              <a:rPr lang="ja-JP" sz="1729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ごと、検証損失は各</a:t>
            </a:r>
            <a:r>
              <a:rPr lang="en-US" sz="1729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epoch</a:t>
            </a:r>
            <a:r>
              <a:rPr lang="ja-JP" sz="1729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終了時の実測値。</a:t>
            </a:r>
            <a:endParaRPr lang="en-US" sz="1729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50" name=""/>
          <p:cNvSpPr txBox="1"/>
          <p:nvPr/>
        </p:nvSpPr>
        <p:spPr>
          <a:xfrm>
            <a:off x="590400" y="5579280"/>
            <a:ext cx="8325540" cy="219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729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val loss</a:t>
            </a:r>
            <a:r>
              <a:rPr lang="ja-JP" sz="1729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：</a:t>
            </a:r>
            <a:r>
              <a:rPr lang="en-US" sz="1729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1 epoch 0.8737 </a:t>
            </a:r>
            <a:r>
              <a:rPr lang="ja-JP" sz="1729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／ </a:t>
            </a:r>
            <a:r>
              <a:rPr lang="en-US" sz="1729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2 epoch 0.4691 </a:t>
            </a:r>
            <a:r>
              <a:rPr lang="ja-JP" sz="1729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／ </a:t>
            </a:r>
            <a:r>
              <a:rPr lang="en-US" sz="1729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3 epoch 0.4364</a:t>
            </a:r>
            <a:endParaRPr lang="en-US" sz="1729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51" name=""/>
          <p:cNvSpPr txBox="1"/>
          <p:nvPr/>
        </p:nvSpPr>
        <p:spPr>
          <a:xfrm>
            <a:off x="590400" y="5994000"/>
            <a:ext cx="6080418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430" b="0" u="none" strike="noStrike">
                <a:solidFill>
                  <a:srgbClr val="52606D"/>
                </a:solidFill>
                <a:effectLst/>
                <a:uFillTx/>
                <a:latin typeface="Hiragino Sans"/>
                <a:ea typeface="Hiragino Sans"/>
              </a:rPr>
              <a:t>20 step</a:t>
            </a:r>
            <a:r>
              <a:rPr lang="ja-JP" sz="1430" b="0" u="none" strike="noStrike">
                <a:solidFill>
                  <a:srgbClr val="52606D"/>
                </a:solidFill>
                <a:effectLst/>
                <a:uFillTx/>
                <a:latin typeface="Hiragino Sans"/>
                <a:ea typeface="Hiragino Sans"/>
              </a:rPr>
              <a:t>ごとの</a:t>
            </a:r>
            <a:r>
              <a:rPr lang="en-US" sz="1430" b="0" u="none" strike="noStrike">
                <a:solidFill>
                  <a:srgbClr val="52606D"/>
                </a:solidFill>
                <a:effectLst/>
                <a:uFillTx/>
                <a:latin typeface="Hiragino Sans"/>
                <a:ea typeface="Hiragino Sans"/>
              </a:rPr>
              <a:t>validation</a:t>
            </a:r>
            <a:r>
              <a:rPr lang="ja-JP" sz="1430" b="0" u="none" strike="noStrike">
                <a:solidFill>
                  <a:srgbClr val="52606D"/>
                </a:solidFill>
                <a:effectLst/>
                <a:uFillTx/>
                <a:latin typeface="Hiragino Sans"/>
                <a:ea typeface="Hiragino Sans"/>
              </a:rPr>
              <a:t>は未記録。図は保存済みの</a:t>
            </a:r>
            <a:r>
              <a:rPr lang="en-US" sz="1430" b="0" u="none" strike="noStrike">
                <a:solidFill>
                  <a:srgbClr val="52606D"/>
                </a:solidFill>
                <a:effectLst/>
                <a:uFillTx/>
                <a:latin typeface="Hiragino Sans"/>
                <a:ea typeface="Hiragino Sans"/>
              </a:rPr>
              <a:t>3</a:t>
            </a:r>
            <a:r>
              <a:rPr lang="ja-JP" sz="1430" b="0" u="none" strike="noStrike">
                <a:solidFill>
                  <a:srgbClr val="52606D"/>
                </a:solidFill>
                <a:effectLst/>
                <a:uFillTx/>
                <a:latin typeface="Hiragino Sans"/>
                <a:ea typeface="Hiragino Sans"/>
              </a:rPr>
              <a:t>点を表示。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52" name=""/>
          <p:cNvSpPr txBox="1"/>
          <p:nvPr/>
        </p:nvSpPr>
        <p:spPr>
          <a:xfrm>
            <a:off x="285840" y="239760"/>
            <a:ext cx="1616256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350" b="0" u="none" strike="noStrike">
                <a:solidFill>
                  <a:srgbClr val="666666"/>
                </a:solidFill>
                <a:effectLst/>
                <a:uFillTx/>
                <a:latin typeface="Hiragino Sans"/>
                <a:ea typeface="Hiragino Sans"/>
              </a:rPr>
              <a:t>5. </a:t>
            </a:r>
            <a:r>
              <a:rPr lang="ja-JP" sz="1350" b="0" u="none" strike="noStrike">
                <a:solidFill>
                  <a:srgbClr val="666666"/>
                </a:solidFill>
                <a:effectLst/>
                <a:uFillTx/>
                <a:latin typeface="Hiragino Sans"/>
                <a:ea typeface="Hiragino Sans"/>
              </a:rPr>
              <a:t>学習結果と課題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53" name=""/>
          <p:cNvSpPr txBox="1"/>
          <p:nvPr/>
        </p:nvSpPr>
        <p:spPr>
          <a:xfrm>
            <a:off x="11705760" y="6466680"/>
            <a:ext cx="231012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Hiragino Sans"/>
                <a:ea typeface="Hiragino Sans"/>
              </a:rPr>
              <a:t>19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5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5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57" name=""/>
          <p:cNvSpPr txBox="1"/>
          <p:nvPr/>
        </p:nvSpPr>
        <p:spPr>
          <a:xfrm>
            <a:off x="590400" y="717480"/>
            <a:ext cx="3021372" cy="3434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27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5M</a:t>
            </a:r>
            <a:r>
              <a:rPr lang="ja-JP" sz="27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：損失の推移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pic>
        <p:nvPicPr>
          <p:cNvPr id="958" name=""/>
          <p:cNvPicPr/>
          <p:nvPr/>
        </p:nvPicPr>
        <p:blipFill>
          <a:blip r:embed="rId1"/>
          <a:stretch/>
        </p:blipFill>
        <p:spPr>
          <a:xfrm>
            <a:off x="2324160" y="1790640"/>
            <a:ext cx="7543440" cy="3619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59" name=""/>
          <p:cNvSpPr txBox="1"/>
          <p:nvPr/>
        </p:nvSpPr>
        <p:spPr>
          <a:xfrm>
            <a:off x="590400" y="1378800"/>
            <a:ext cx="7331112" cy="219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729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 epoch</a:t>
            </a:r>
            <a:r>
              <a:rPr lang="ja-JP" sz="1729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の学習。訓練損失と、検証データで測った損失を示す。</a:t>
            </a:r>
            <a:endParaRPr lang="en-US" sz="1729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60" name=""/>
          <p:cNvSpPr txBox="1"/>
          <p:nvPr/>
        </p:nvSpPr>
        <p:spPr>
          <a:xfrm>
            <a:off x="590400" y="5579280"/>
            <a:ext cx="3755394" cy="219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729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学習終了時の </a:t>
            </a:r>
            <a:r>
              <a:rPr lang="en-US" sz="1729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val loss</a:t>
            </a:r>
            <a:r>
              <a:rPr lang="ja-JP" sz="1729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：</a:t>
            </a:r>
            <a:r>
              <a:rPr lang="en-US" sz="1729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0.4855</a:t>
            </a:r>
            <a:endParaRPr lang="en-US" sz="1729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61" name=""/>
          <p:cNvSpPr txBox="1"/>
          <p:nvPr/>
        </p:nvSpPr>
        <p:spPr>
          <a:xfrm>
            <a:off x="590400" y="5994000"/>
            <a:ext cx="5688774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430" b="0" u="none" strike="noStrike">
                <a:solidFill>
                  <a:srgbClr val="52606D"/>
                </a:solidFill>
                <a:effectLst/>
                <a:uFillTx/>
                <a:latin typeface="Hiragino Sans"/>
                <a:ea typeface="Hiragino Sans"/>
              </a:rPr>
              <a:t>val loss</a:t>
            </a:r>
            <a:r>
              <a:rPr lang="ja-JP" sz="1430" b="0" u="none" strike="noStrike">
                <a:solidFill>
                  <a:srgbClr val="52606D"/>
                </a:solidFill>
                <a:effectLst/>
                <a:uFillTx/>
                <a:latin typeface="Hiragino Sans"/>
                <a:ea typeface="Hiragino Sans"/>
              </a:rPr>
              <a:t>は終了時の</a:t>
            </a:r>
            <a:r>
              <a:rPr lang="en-US" sz="1430" b="0" u="none" strike="noStrike">
                <a:solidFill>
                  <a:srgbClr val="52606D"/>
                </a:solidFill>
                <a:effectLst/>
                <a:uFillTx/>
                <a:latin typeface="Hiragino Sans"/>
                <a:ea typeface="Hiragino Sans"/>
              </a:rPr>
              <a:t>1</a:t>
            </a:r>
            <a:r>
              <a:rPr lang="ja-JP" sz="1430" b="0" u="none" strike="noStrike">
                <a:solidFill>
                  <a:srgbClr val="52606D"/>
                </a:solidFill>
                <a:effectLst/>
                <a:uFillTx/>
                <a:latin typeface="Hiragino Sans"/>
                <a:ea typeface="Hiragino Sans"/>
              </a:rPr>
              <a:t>点。途中の検証値は保存されていない。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62" name=""/>
          <p:cNvSpPr txBox="1"/>
          <p:nvPr/>
        </p:nvSpPr>
        <p:spPr>
          <a:xfrm>
            <a:off x="285840" y="239760"/>
            <a:ext cx="1616256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350" b="0" u="none" strike="noStrike">
                <a:solidFill>
                  <a:srgbClr val="666666"/>
                </a:solidFill>
                <a:effectLst/>
                <a:uFillTx/>
                <a:latin typeface="Hiragino Sans"/>
                <a:ea typeface="Hiragino Sans"/>
              </a:rPr>
              <a:t>5. </a:t>
            </a:r>
            <a:r>
              <a:rPr lang="ja-JP" sz="1350" b="0" u="none" strike="noStrike">
                <a:solidFill>
                  <a:srgbClr val="666666"/>
                </a:solidFill>
                <a:effectLst/>
                <a:uFillTx/>
                <a:latin typeface="Hiragino Sans"/>
                <a:ea typeface="Hiragino Sans"/>
              </a:rPr>
              <a:t>学習結果と課題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63" name=""/>
          <p:cNvSpPr txBox="1"/>
          <p:nvPr/>
        </p:nvSpPr>
        <p:spPr>
          <a:xfrm>
            <a:off x="11705760" y="6466680"/>
            <a:ext cx="231012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Hiragino Sans"/>
                <a:ea typeface="Hiragino Sans"/>
              </a:rPr>
              <a:t>20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6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6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67" name=""/>
          <p:cNvSpPr txBox="1"/>
          <p:nvPr/>
        </p:nvSpPr>
        <p:spPr>
          <a:xfrm>
            <a:off x="590400" y="717480"/>
            <a:ext cx="3293370" cy="3434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27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15M</a:t>
            </a:r>
            <a:r>
              <a:rPr lang="ja-JP" sz="27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：損失の推移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pic>
        <p:nvPicPr>
          <p:cNvPr id="968" name=""/>
          <p:cNvPicPr/>
          <p:nvPr/>
        </p:nvPicPr>
        <p:blipFill>
          <a:blip r:embed="rId1"/>
          <a:stretch/>
        </p:blipFill>
        <p:spPr>
          <a:xfrm>
            <a:off x="2324160" y="1790640"/>
            <a:ext cx="7543440" cy="3619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69" name=""/>
          <p:cNvSpPr txBox="1"/>
          <p:nvPr/>
        </p:nvSpPr>
        <p:spPr>
          <a:xfrm>
            <a:off x="590400" y="1378800"/>
            <a:ext cx="7331112" cy="219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729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 epoch</a:t>
            </a:r>
            <a:r>
              <a:rPr lang="ja-JP" sz="1729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の学習。訓練損失と、検証データで測った損失を示す。</a:t>
            </a:r>
            <a:endParaRPr lang="en-US" sz="1729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70" name=""/>
          <p:cNvSpPr txBox="1"/>
          <p:nvPr/>
        </p:nvSpPr>
        <p:spPr>
          <a:xfrm>
            <a:off x="590400" y="5579280"/>
            <a:ext cx="3755394" cy="219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729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学習終了時の </a:t>
            </a:r>
            <a:r>
              <a:rPr lang="en-US" sz="1729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val loss</a:t>
            </a:r>
            <a:r>
              <a:rPr lang="ja-JP" sz="1729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：</a:t>
            </a:r>
            <a:r>
              <a:rPr lang="en-US" sz="1729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0.4106</a:t>
            </a:r>
            <a:endParaRPr lang="en-US" sz="1729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71" name=""/>
          <p:cNvSpPr txBox="1"/>
          <p:nvPr/>
        </p:nvSpPr>
        <p:spPr>
          <a:xfrm>
            <a:off x="590400" y="5994000"/>
            <a:ext cx="5688774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430" b="0" u="none" strike="noStrike">
                <a:solidFill>
                  <a:srgbClr val="52606D"/>
                </a:solidFill>
                <a:effectLst/>
                <a:uFillTx/>
                <a:latin typeface="Hiragino Sans"/>
                <a:ea typeface="Hiragino Sans"/>
              </a:rPr>
              <a:t>val loss</a:t>
            </a:r>
            <a:r>
              <a:rPr lang="ja-JP" sz="1430" b="0" u="none" strike="noStrike">
                <a:solidFill>
                  <a:srgbClr val="52606D"/>
                </a:solidFill>
                <a:effectLst/>
                <a:uFillTx/>
                <a:latin typeface="Hiragino Sans"/>
                <a:ea typeface="Hiragino Sans"/>
              </a:rPr>
              <a:t>は終了時の</a:t>
            </a:r>
            <a:r>
              <a:rPr lang="en-US" sz="1430" b="0" u="none" strike="noStrike">
                <a:solidFill>
                  <a:srgbClr val="52606D"/>
                </a:solidFill>
                <a:effectLst/>
                <a:uFillTx/>
                <a:latin typeface="Hiragino Sans"/>
                <a:ea typeface="Hiragino Sans"/>
              </a:rPr>
              <a:t>1</a:t>
            </a:r>
            <a:r>
              <a:rPr lang="ja-JP" sz="1430" b="0" u="none" strike="noStrike">
                <a:solidFill>
                  <a:srgbClr val="52606D"/>
                </a:solidFill>
                <a:effectLst/>
                <a:uFillTx/>
                <a:latin typeface="Hiragino Sans"/>
                <a:ea typeface="Hiragino Sans"/>
              </a:rPr>
              <a:t>点。途中の検証値は保存されていない。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72" name=""/>
          <p:cNvSpPr txBox="1"/>
          <p:nvPr/>
        </p:nvSpPr>
        <p:spPr>
          <a:xfrm>
            <a:off x="285840" y="239760"/>
            <a:ext cx="1616256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350" b="0" u="none" strike="noStrike">
                <a:solidFill>
                  <a:srgbClr val="666666"/>
                </a:solidFill>
                <a:effectLst/>
                <a:uFillTx/>
                <a:latin typeface="Hiragino Sans"/>
                <a:ea typeface="Hiragino Sans"/>
              </a:rPr>
              <a:t>5. </a:t>
            </a:r>
            <a:r>
              <a:rPr lang="ja-JP" sz="1350" b="0" u="none" strike="noStrike">
                <a:solidFill>
                  <a:srgbClr val="666666"/>
                </a:solidFill>
                <a:effectLst/>
                <a:uFillTx/>
                <a:latin typeface="Hiragino Sans"/>
                <a:ea typeface="Hiragino Sans"/>
              </a:rPr>
              <a:t>学習結果と課題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73" name=""/>
          <p:cNvSpPr txBox="1"/>
          <p:nvPr/>
        </p:nvSpPr>
        <p:spPr>
          <a:xfrm>
            <a:off x="11705760" y="6466680"/>
            <a:ext cx="231012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Hiragino Sans"/>
                <a:ea typeface="Hiragino Sans"/>
              </a:rPr>
              <a:t>21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7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7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77" name=""/>
          <p:cNvSpPr/>
          <p:nvPr/>
        </p:nvSpPr>
        <p:spPr>
          <a:xfrm>
            <a:off x="599760" y="2590560"/>
            <a:ext cx="3067560" cy="495720"/>
          </a:xfrm>
          <a:custGeom>
            <a:avLst/>
            <a:gdLst/>
            <a:ahLst/>
            <a:rect l="0" t="0" r="r" b="b"/>
            <a:pathLst>
              <a:path w="8521" h="1377">
                <a:moveTo>
                  <a:pt x="0" y="0"/>
                </a:moveTo>
                <a:lnTo>
                  <a:pt x="8521" y="0"/>
                </a:lnTo>
                <a:lnTo>
                  <a:pt x="8521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78" name=""/>
          <p:cNvSpPr/>
          <p:nvPr/>
        </p:nvSpPr>
        <p:spPr>
          <a:xfrm>
            <a:off x="3666960" y="2590560"/>
            <a:ext cx="4258080" cy="495720"/>
          </a:xfrm>
          <a:custGeom>
            <a:avLst/>
            <a:gdLst/>
            <a:ahLst/>
            <a:rect l="0" t="0" r="r" b="b"/>
            <a:pathLst>
              <a:path w="11828" h="1377">
                <a:moveTo>
                  <a:pt x="0" y="0"/>
                </a:moveTo>
                <a:lnTo>
                  <a:pt x="11828" y="0"/>
                </a:lnTo>
                <a:lnTo>
                  <a:pt x="11828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79" name=""/>
          <p:cNvSpPr/>
          <p:nvPr/>
        </p:nvSpPr>
        <p:spPr>
          <a:xfrm>
            <a:off x="7924680" y="2590560"/>
            <a:ext cx="3677040" cy="495720"/>
          </a:xfrm>
          <a:custGeom>
            <a:avLst/>
            <a:gdLst/>
            <a:ahLst/>
            <a:rect l="0" t="0" r="r" b="b"/>
            <a:pathLst>
              <a:path w="10214" h="1377">
                <a:moveTo>
                  <a:pt x="0" y="0"/>
                </a:moveTo>
                <a:lnTo>
                  <a:pt x="10214" y="0"/>
                </a:lnTo>
                <a:lnTo>
                  <a:pt x="10214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80" name=""/>
          <p:cNvSpPr/>
          <p:nvPr/>
        </p:nvSpPr>
        <p:spPr>
          <a:xfrm>
            <a:off x="599760" y="2590560"/>
            <a:ext cx="3067560" cy="495720"/>
          </a:xfrm>
          <a:custGeom>
            <a:avLst/>
            <a:gdLst/>
            <a:ahLst/>
            <a:rect l="0" t="0" r="r" b="b"/>
            <a:pathLst>
              <a:path w="8521" h="1377">
                <a:moveTo>
                  <a:pt x="0" y="0"/>
                </a:moveTo>
                <a:lnTo>
                  <a:pt x="8521" y="0"/>
                </a:lnTo>
                <a:lnTo>
                  <a:pt x="8521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81" name=""/>
          <p:cNvSpPr/>
          <p:nvPr/>
        </p:nvSpPr>
        <p:spPr>
          <a:xfrm>
            <a:off x="3666960" y="2590560"/>
            <a:ext cx="4258080" cy="495720"/>
          </a:xfrm>
          <a:custGeom>
            <a:avLst/>
            <a:gdLst/>
            <a:ahLst/>
            <a:rect l="0" t="0" r="r" b="b"/>
            <a:pathLst>
              <a:path w="11828" h="1377">
                <a:moveTo>
                  <a:pt x="0" y="0"/>
                </a:moveTo>
                <a:lnTo>
                  <a:pt x="11828" y="0"/>
                </a:lnTo>
                <a:lnTo>
                  <a:pt x="11828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82" name=""/>
          <p:cNvSpPr/>
          <p:nvPr/>
        </p:nvSpPr>
        <p:spPr>
          <a:xfrm>
            <a:off x="7924680" y="2590560"/>
            <a:ext cx="3677040" cy="495720"/>
          </a:xfrm>
          <a:custGeom>
            <a:avLst/>
            <a:gdLst/>
            <a:ahLst/>
            <a:rect l="0" t="0" r="r" b="b"/>
            <a:pathLst>
              <a:path w="10214" h="1377">
                <a:moveTo>
                  <a:pt x="0" y="0"/>
                </a:moveTo>
                <a:lnTo>
                  <a:pt x="10214" y="0"/>
                </a:lnTo>
                <a:lnTo>
                  <a:pt x="10214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83" name=""/>
          <p:cNvSpPr/>
          <p:nvPr/>
        </p:nvSpPr>
        <p:spPr>
          <a:xfrm>
            <a:off x="599760" y="3085920"/>
            <a:ext cx="3067560" cy="495720"/>
          </a:xfrm>
          <a:custGeom>
            <a:avLst/>
            <a:gdLst/>
            <a:ahLst/>
            <a:rect l="0" t="0" r="r" b="b"/>
            <a:pathLst>
              <a:path w="8521" h="1377">
                <a:moveTo>
                  <a:pt x="0" y="0"/>
                </a:moveTo>
                <a:lnTo>
                  <a:pt x="8521" y="0"/>
                </a:lnTo>
                <a:lnTo>
                  <a:pt x="8521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84" name=""/>
          <p:cNvSpPr/>
          <p:nvPr/>
        </p:nvSpPr>
        <p:spPr>
          <a:xfrm>
            <a:off x="3666960" y="3085920"/>
            <a:ext cx="4258080" cy="495720"/>
          </a:xfrm>
          <a:custGeom>
            <a:avLst/>
            <a:gdLst/>
            <a:ahLst/>
            <a:rect l="0" t="0" r="r" b="b"/>
            <a:pathLst>
              <a:path w="11828" h="1377">
                <a:moveTo>
                  <a:pt x="0" y="0"/>
                </a:moveTo>
                <a:lnTo>
                  <a:pt x="11828" y="0"/>
                </a:lnTo>
                <a:lnTo>
                  <a:pt x="11828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85" name=""/>
          <p:cNvSpPr/>
          <p:nvPr/>
        </p:nvSpPr>
        <p:spPr>
          <a:xfrm>
            <a:off x="7924680" y="3085920"/>
            <a:ext cx="3677040" cy="495720"/>
          </a:xfrm>
          <a:custGeom>
            <a:avLst/>
            <a:gdLst/>
            <a:ahLst/>
            <a:rect l="0" t="0" r="r" b="b"/>
            <a:pathLst>
              <a:path w="10214" h="1377">
                <a:moveTo>
                  <a:pt x="0" y="0"/>
                </a:moveTo>
                <a:lnTo>
                  <a:pt x="10214" y="0"/>
                </a:lnTo>
                <a:lnTo>
                  <a:pt x="10214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86" name=""/>
          <p:cNvSpPr/>
          <p:nvPr/>
        </p:nvSpPr>
        <p:spPr>
          <a:xfrm>
            <a:off x="599760" y="3581280"/>
            <a:ext cx="3067560" cy="495720"/>
          </a:xfrm>
          <a:custGeom>
            <a:avLst/>
            <a:gdLst/>
            <a:ahLst/>
            <a:rect l="0" t="0" r="r" b="b"/>
            <a:pathLst>
              <a:path w="8521" h="1377">
                <a:moveTo>
                  <a:pt x="0" y="0"/>
                </a:moveTo>
                <a:lnTo>
                  <a:pt x="8521" y="0"/>
                </a:lnTo>
                <a:lnTo>
                  <a:pt x="8521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87" name=""/>
          <p:cNvSpPr/>
          <p:nvPr/>
        </p:nvSpPr>
        <p:spPr>
          <a:xfrm>
            <a:off x="3666960" y="3581280"/>
            <a:ext cx="4258080" cy="495720"/>
          </a:xfrm>
          <a:custGeom>
            <a:avLst/>
            <a:gdLst/>
            <a:ahLst/>
            <a:rect l="0" t="0" r="r" b="b"/>
            <a:pathLst>
              <a:path w="11828" h="1377">
                <a:moveTo>
                  <a:pt x="0" y="0"/>
                </a:moveTo>
                <a:lnTo>
                  <a:pt x="11828" y="0"/>
                </a:lnTo>
                <a:lnTo>
                  <a:pt x="11828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88" name=""/>
          <p:cNvSpPr/>
          <p:nvPr/>
        </p:nvSpPr>
        <p:spPr>
          <a:xfrm>
            <a:off x="7924680" y="3581280"/>
            <a:ext cx="3677040" cy="495720"/>
          </a:xfrm>
          <a:custGeom>
            <a:avLst/>
            <a:gdLst/>
            <a:ahLst/>
            <a:rect l="0" t="0" r="r" b="b"/>
            <a:pathLst>
              <a:path w="10214" h="1377">
                <a:moveTo>
                  <a:pt x="0" y="0"/>
                </a:moveTo>
                <a:lnTo>
                  <a:pt x="10214" y="0"/>
                </a:lnTo>
                <a:lnTo>
                  <a:pt x="10214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89" name=""/>
          <p:cNvSpPr/>
          <p:nvPr/>
        </p:nvSpPr>
        <p:spPr>
          <a:xfrm>
            <a:off x="599760" y="4076640"/>
            <a:ext cx="3067560" cy="495360"/>
          </a:xfrm>
          <a:custGeom>
            <a:avLst/>
            <a:gdLst/>
            <a:ahLst/>
            <a:rect l="0" t="0" r="r" b="b"/>
            <a:pathLst>
              <a:path w="8521" h="1376">
                <a:moveTo>
                  <a:pt x="0" y="0"/>
                </a:moveTo>
                <a:lnTo>
                  <a:pt x="8521" y="0"/>
                </a:lnTo>
                <a:lnTo>
                  <a:pt x="8521" y="1376"/>
                </a:lnTo>
                <a:lnTo>
                  <a:pt x="0" y="137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90" name=""/>
          <p:cNvSpPr/>
          <p:nvPr/>
        </p:nvSpPr>
        <p:spPr>
          <a:xfrm>
            <a:off x="3666960" y="4076640"/>
            <a:ext cx="4258080" cy="495360"/>
          </a:xfrm>
          <a:custGeom>
            <a:avLst/>
            <a:gdLst/>
            <a:ahLst/>
            <a:rect l="0" t="0" r="r" b="b"/>
            <a:pathLst>
              <a:path w="11828" h="1376">
                <a:moveTo>
                  <a:pt x="0" y="0"/>
                </a:moveTo>
                <a:lnTo>
                  <a:pt x="11828" y="0"/>
                </a:lnTo>
                <a:lnTo>
                  <a:pt x="11828" y="1376"/>
                </a:lnTo>
                <a:lnTo>
                  <a:pt x="0" y="137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91" name=""/>
          <p:cNvSpPr/>
          <p:nvPr/>
        </p:nvSpPr>
        <p:spPr>
          <a:xfrm>
            <a:off x="7924680" y="4076640"/>
            <a:ext cx="3677040" cy="495360"/>
          </a:xfrm>
          <a:custGeom>
            <a:avLst/>
            <a:gdLst/>
            <a:ahLst/>
            <a:rect l="0" t="0" r="r" b="b"/>
            <a:pathLst>
              <a:path w="10214" h="1376">
                <a:moveTo>
                  <a:pt x="0" y="0"/>
                </a:moveTo>
                <a:lnTo>
                  <a:pt x="10214" y="0"/>
                </a:lnTo>
                <a:lnTo>
                  <a:pt x="10214" y="1376"/>
                </a:lnTo>
                <a:lnTo>
                  <a:pt x="0" y="137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92" name=""/>
          <p:cNvSpPr/>
          <p:nvPr/>
        </p:nvSpPr>
        <p:spPr>
          <a:xfrm>
            <a:off x="590400" y="2581200"/>
            <a:ext cx="9720" cy="505080"/>
          </a:xfrm>
          <a:custGeom>
            <a:avLst/>
            <a:gdLst/>
            <a:ahLst/>
            <a:rect l="0" t="0" r="r" b="b"/>
            <a:pathLst>
              <a:path w="27" h="1403">
                <a:moveTo>
                  <a:pt x="0" y="0"/>
                </a:moveTo>
                <a:lnTo>
                  <a:pt x="27" y="0"/>
                </a:lnTo>
                <a:lnTo>
                  <a:pt x="27" y="1403"/>
                </a:lnTo>
                <a:lnTo>
                  <a:pt x="0" y="140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93" name=""/>
          <p:cNvSpPr/>
          <p:nvPr/>
        </p:nvSpPr>
        <p:spPr>
          <a:xfrm>
            <a:off x="590400" y="2581200"/>
            <a:ext cx="3076920" cy="9720"/>
          </a:xfrm>
          <a:custGeom>
            <a:avLst/>
            <a:gdLst/>
            <a:ahLst/>
            <a:rect l="0" t="0" r="r" b="b"/>
            <a:pathLst>
              <a:path w="8547" h="27">
                <a:moveTo>
                  <a:pt x="0" y="0"/>
                </a:moveTo>
                <a:lnTo>
                  <a:pt x="8547" y="0"/>
                </a:lnTo>
                <a:lnTo>
                  <a:pt x="854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94" name=""/>
          <p:cNvSpPr/>
          <p:nvPr/>
        </p:nvSpPr>
        <p:spPr>
          <a:xfrm>
            <a:off x="3657240" y="2581200"/>
            <a:ext cx="10080" cy="505080"/>
          </a:xfrm>
          <a:custGeom>
            <a:avLst/>
            <a:gdLst/>
            <a:ahLst/>
            <a:rect l="0" t="0" r="r" b="b"/>
            <a:pathLst>
              <a:path w="28" h="1403">
                <a:moveTo>
                  <a:pt x="0" y="0"/>
                </a:moveTo>
                <a:lnTo>
                  <a:pt x="28" y="0"/>
                </a:lnTo>
                <a:lnTo>
                  <a:pt x="28" y="1403"/>
                </a:lnTo>
                <a:lnTo>
                  <a:pt x="0" y="140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95" name=""/>
          <p:cNvSpPr/>
          <p:nvPr/>
        </p:nvSpPr>
        <p:spPr>
          <a:xfrm>
            <a:off x="3666960" y="2581200"/>
            <a:ext cx="4258080" cy="9720"/>
          </a:xfrm>
          <a:custGeom>
            <a:avLst/>
            <a:gdLst/>
            <a:ahLst/>
            <a:rect l="0" t="0" r="r" b="b"/>
            <a:pathLst>
              <a:path w="11828" h="27">
                <a:moveTo>
                  <a:pt x="0" y="0"/>
                </a:moveTo>
                <a:lnTo>
                  <a:pt x="11828" y="0"/>
                </a:lnTo>
                <a:lnTo>
                  <a:pt x="1182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96" name=""/>
          <p:cNvSpPr/>
          <p:nvPr/>
        </p:nvSpPr>
        <p:spPr>
          <a:xfrm>
            <a:off x="7914960" y="2581200"/>
            <a:ext cx="10080" cy="505080"/>
          </a:xfrm>
          <a:custGeom>
            <a:avLst/>
            <a:gdLst/>
            <a:ahLst/>
            <a:rect l="0" t="0" r="r" b="b"/>
            <a:pathLst>
              <a:path w="28" h="1403">
                <a:moveTo>
                  <a:pt x="0" y="0"/>
                </a:moveTo>
                <a:lnTo>
                  <a:pt x="28" y="0"/>
                </a:lnTo>
                <a:lnTo>
                  <a:pt x="28" y="1403"/>
                </a:lnTo>
                <a:lnTo>
                  <a:pt x="0" y="140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97" name=""/>
          <p:cNvSpPr/>
          <p:nvPr/>
        </p:nvSpPr>
        <p:spPr>
          <a:xfrm>
            <a:off x="7924680" y="2581200"/>
            <a:ext cx="3677040" cy="9720"/>
          </a:xfrm>
          <a:custGeom>
            <a:avLst/>
            <a:gdLst/>
            <a:ahLst/>
            <a:rect l="0" t="0" r="r" b="b"/>
            <a:pathLst>
              <a:path w="10214" h="27">
                <a:moveTo>
                  <a:pt x="0" y="0"/>
                </a:moveTo>
                <a:lnTo>
                  <a:pt x="10214" y="0"/>
                </a:lnTo>
                <a:lnTo>
                  <a:pt x="1021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98" name=""/>
          <p:cNvSpPr/>
          <p:nvPr/>
        </p:nvSpPr>
        <p:spPr>
          <a:xfrm>
            <a:off x="11591640" y="2581200"/>
            <a:ext cx="10080" cy="505080"/>
          </a:xfrm>
          <a:custGeom>
            <a:avLst/>
            <a:gdLst/>
            <a:ahLst/>
            <a:rect l="0" t="0" r="r" b="b"/>
            <a:pathLst>
              <a:path w="28" h="1403">
                <a:moveTo>
                  <a:pt x="0" y="0"/>
                </a:moveTo>
                <a:lnTo>
                  <a:pt x="28" y="0"/>
                </a:lnTo>
                <a:lnTo>
                  <a:pt x="28" y="1403"/>
                </a:lnTo>
                <a:lnTo>
                  <a:pt x="0" y="140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999" name=""/>
          <p:cNvSpPr/>
          <p:nvPr/>
        </p:nvSpPr>
        <p:spPr>
          <a:xfrm>
            <a:off x="590400" y="3076560"/>
            <a:ext cx="3076920" cy="9720"/>
          </a:xfrm>
          <a:custGeom>
            <a:avLst/>
            <a:gdLst/>
            <a:ahLst/>
            <a:rect l="0" t="0" r="r" b="b"/>
            <a:pathLst>
              <a:path w="8547" h="27">
                <a:moveTo>
                  <a:pt x="0" y="0"/>
                </a:moveTo>
                <a:lnTo>
                  <a:pt x="8547" y="0"/>
                </a:lnTo>
                <a:lnTo>
                  <a:pt x="854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00" name=""/>
          <p:cNvSpPr/>
          <p:nvPr/>
        </p:nvSpPr>
        <p:spPr>
          <a:xfrm>
            <a:off x="3666960" y="3076560"/>
            <a:ext cx="4258080" cy="9720"/>
          </a:xfrm>
          <a:custGeom>
            <a:avLst/>
            <a:gdLst/>
            <a:ahLst/>
            <a:rect l="0" t="0" r="r" b="b"/>
            <a:pathLst>
              <a:path w="11828" h="27">
                <a:moveTo>
                  <a:pt x="0" y="0"/>
                </a:moveTo>
                <a:lnTo>
                  <a:pt x="11828" y="0"/>
                </a:lnTo>
                <a:lnTo>
                  <a:pt x="1182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01" name=""/>
          <p:cNvSpPr/>
          <p:nvPr/>
        </p:nvSpPr>
        <p:spPr>
          <a:xfrm>
            <a:off x="7924680" y="3076560"/>
            <a:ext cx="3677040" cy="9720"/>
          </a:xfrm>
          <a:custGeom>
            <a:avLst/>
            <a:gdLst/>
            <a:ahLst/>
            <a:rect l="0" t="0" r="r" b="b"/>
            <a:pathLst>
              <a:path w="10214" h="27">
                <a:moveTo>
                  <a:pt x="0" y="0"/>
                </a:moveTo>
                <a:lnTo>
                  <a:pt x="10214" y="0"/>
                </a:lnTo>
                <a:lnTo>
                  <a:pt x="1021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02" name=""/>
          <p:cNvSpPr/>
          <p:nvPr/>
        </p:nvSpPr>
        <p:spPr>
          <a:xfrm>
            <a:off x="590400" y="3085920"/>
            <a:ext cx="9720" cy="495720"/>
          </a:xfrm>
          <a:custGeom>
            <a:avLst/>
            <a:gdLst/>
            <a:ahLst/>
            <a:rect l="0" t="0" r="r" b="b"/>
            <a:pathLst>
              <a:path w="27" h="1377">
                <a:moveTo>
                  <a:pt x="0" y="0"/>
                </a:moveTo>
                <a:lnTo>
                  <a:pt x="27" y="0"/>
                </a:lnTo>
                <a:lnTo>
                  <a:pt x="27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03" name=""/>
          <p:cNvSpPr/>
          <p:nvPr/>
        </p:nvSpPr>
        <p:spPr>
          <a:xfrm>
            <a:off x="3657240" y="3085920"/>
            <a:ext cx="10080" cy="495720"/>
          </a:xfrm>
          <a:custGeom>
            <a:avLst/>
            <a:gdLst/>
            <a:ahLst/>
            <a:rect l="0" t="0" r="r" b="b"/>
            <a:pathLst>
              <a:path w="28" h="1377">
                <a:moveTo>
                  <a:pt x="0" y="0"/>
                </a:moveTo>
                <a:lnTo>
                  <a:pt x="28" y="0"/>
                </a:lnTo>
                <a:lnTo>
                  <a:pt x="28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04" name=""/>
          <p:cNvSpPr/>
          <p:nvPr/>
        </p:nvSpPr>
        <p:spPr>
          <a:xfrm>
            <a:off x="7914960" y="3085920"/>
            <a:ext cx="10080" cy="495720"/>
          </a:xfrm>
          <a:custGeom>
            <a:avLst/>
            <a:gdLst/>
            <a:ahLst/>
            <a:rect l="0" t="0" r="r" b="b"/>
            <a:pathLst>
              <a:path w="28" h="1377">
                <a:moveTo>
                  <a:pt x="0" y="0"/>
                </a:moveTo>
                <a:lnTo>
                  <a:pt x="28" y="0"/>
                </a:lnTo>
                <a:lnTo>
                  <a:pt x="28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05" name=""/>
          <p:cNvSpPr/>
          <p:nvPr/>
        </p:nvSpPr>
        <p:spPr>
          <a:xfrm>
            <a:off x="11591640" y="3085920"/>
            <a:ext cx="10080" cy="495720"/>
          </a:xfrm>
          <a:custGeom>
            <a:avLst/>
            <a:gdLst/>
            <a:ahLst/>
            <a:rect l="0" t="0" r="r" b="b"/>
            <a:pathLst>
              <a:path w="28" h="1377">
                <a:moveTo>
                  <a:pt x="0" y="0"/>
                </a:moveTo>
                <a:lnTo>
                  <a:pt x="28" y="0"/>
                </a:lnTo>
                <a:lnTo>
                  <a:pt x="28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06" name=""/>
          <p:cNvSpPr/>
          <p:nvPr/>
        </p:nvSpPr>
        <p:spPr>
          <a:xfrm>
            <a:off x="590400" y="3581280"/>
            <a:ext cx="9720" cy="495720"/>
          </a:xfrm>
          <a:custGeom>
            <a:avLst/>
            <a:gdLst/>
            <a:ahLst/>
            <a:rect l="0" t="0" r="r" b="b"/>
            <a:pathLst>
              <a:path w="27" h="1377">
                <a:moveTo>
                  <a:pt x="0" y="0"/>
                </a:moveTo>
                <a:lnTo>
                  <a:pt x="27" y="0"/>
                </a:lnTo>
                <a:lnTo>
                  <a:pt x="27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07" name=""/>
          <p:cNvSpPr/>
          <p:nvPr/>
        </p:nvSpPr>
        <p:spPr>
          <a:xfrm>
            <a:off x="590400" y="3571560"/>
            <a:ext cx="3076920" cy="10080"/>
          </a:xfrm>
          <a:custGeom>
            <a:avLst/>
            <a:gdLst/>
            <a:ahLst/>
            <a:rect l="0" t="0" r="r" b="b"/>
            <a:pathLst>
              <a:path w="8547" h="28">
                <a:moveTo>
                  <a:pt x="0" y="0"/>
                </a:moveTo>
                <a:lnTo>
                  <a:pt x="8547" y="0"/>
                </a:lnTo>
                <a:lnTo>
                  <a:pt x="854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08" name=""/>
          <p:cNvSpPr/>
          <p:nvPr/>
        </p:nvSpPr>
        <p:spPr>
          <a:xfrm>
            <a:off x="3657240" y="3581280"/>
            <a:ext cx="10080" cy="495720"/>
          </a:xfrm>
          <a:custGeom>
            <a:avLst/>
            <a:gdLst/>
            <a:ahLst/>
            <a:rect l="0" t="0" r="r" b="b"/>
            <a:pathLst>
              <a:path w="28" h="1377">
                <a:moveTo>
                  <a:pt x="0" y="0"/>
                </a:moveTo>
                <a:lnTo>
                  <a:pt x="28" y="0"/>
                </a:lnTo>
                <a:lnTo>
                  <a:pt x="28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09" name=""/>
          <p:cNvSpPr/>
          <p:nvPr/>
        </p:nvSpPr>
        <p:spPr>
          <a:xfrm>
            <a:off x="3666960" y="3571560"/>
            <a:ext cx="4258080" cy="10080"/>
          </a:xfrm>
          <a:custGeom>
            <a:avLst/>
            <a:gdLst/>
            <a:ahLst/>
            <a:rect l="0" t="0" r="r" b="b"/>
            <a:pathLst>
              <a:path w="11828" h="28">
                <a:moveTo>
                  <a:pt x="0" y="0"/>
                </a:moveTo>
                <a:lnTo>
                  <a:pt x="11828" y="0"/>
                </a:lnTo>
                <a:lnTo>
                  <a:pt x="1182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10" name=""/>
          <p:cNvSpPr/>
          <p:nvPr/>
        </p:nvSpPr>
        <p:spPr>
          <a:xfrm>
            <a:off x="7914960" y="3581280"/>
            <a:ext cx="10080" cy="495720"/>
          </a:xfrm>
          <a:custGeom>
            <a:avLst/>
            <a:gdLst/>
            <a:ahLst/>
            <a:rect l="0" t="0" r="r" b="b"/>
            <a:pathLst>
              <a:path w="28" h="1377">
                <a:moveTo>
                  <a:pt x="0" y="0"/>
                </a:moveTo>
                <a:lnTo>
                  <a:pt x="28" y="0"/>
                </a:lnTo>
                <a:lnTo>
                  <a:pt x="28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11" name=""/>
          <p:cNvSpPr/>
          <p:nvPr/>
        </p:nvSpPr>
        <p:spPr>
          <a:xfrm>
            <a:off x="7924680" y="3571560"/>
            <a:ext cx="3677040" cy="10080"/>
          </a:xfrm>
          <a:custGeom>
            <a:avLst/>
            <a:gdLst/>
            <a:ahLst/>
            <a:rect l="0" t="0" r="r" b="b"/>
            <a:pathLst>
              <a:path w="10214" h="28">
                <a:moveTo>
                  <a:pt x="0" y="0"/>
                </a:moveTo>
                <a:lnTo>
                  <a:pt x="10214" y="0"/>
                </a:lnTo>
                <a:lnTo>
                  <a:pt x="1021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12" name=""/>
          <p:cNvSpPr/>
          <p:nvPr/>
        </p:nvSpPr>
        <p:spPr>
          <a:xfrm>
            <a:off x="11591640" y="3581280"/>
            <a:ext cx="10080" cy="495720"/>
          </a:xfrm>
          <a:custGeom>
            <a:avLst/>
            <a:gdLst/>
            <a:ahLst/>
            <a:rect l="0" t="0" r="r" b="b"/>
            <a:pathLst>
              <a:path w="28" h="1377">
                <a:moveTo>
                  <a:pt x="0" y="0"/>
                </a:moveTo>
                <a:lnTo>
                  <a:pt x="28" y="0"/>
                </a:lnTo>
                <a:lnTo>
                  <a:pt x="28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13" name=""/>
          <p:cNvSpPr/>
          <p:nvPr/>
        </p:nvSpPr>
        <p:spPr>
          <a:xfrm>
            <a:off x="590400" y="4076640"/>
            <a:ext cx="9720" cy="495360"/>
          </a:xfrm>
          <a:custGeom>
            <a:avLst/>
            <a:gdLst/>
            <a:ahLst/>
            <a:rect l="0" t="0" r="r" b="b"/>
            <a:pathLst>
              <a:path w="27" h="1376">
                <a:moveTo>
                  <a:pt x="0" y="0"/>
                </a:moveTo>
                <a:lnTo>
                  <a:pt x="27" y="0"/>
                </a:lnTo>
                <a:lnTo>
                  <a:pt x="27" y="1376"/>
                </a:lnTo>
                <a:lnTo>
                  <a:pt x="0" y="137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14" name=""/>
          <p:cNvSpPr/>
          <p:nvPr/>
        </p:nvSpPr>
        <p:spPr>
          <a:xfrm>
            <a:off x="590400" y="4066920"/>
            <a:ext cx="3076920" cy="10080"/>
          </a:xfrm>
          <a:custGeom>
            <a:avLst/>
            <a:gdLst/>
            <a:ahLst/>
            <a:rect l="0" t="0" r="r" b="b"/>
            <a:pathLst>
              <a:path w="8547" h="28">
                <a:moveTo>
                  <a:pt x="0" y="0"/>
                </a:moveTo>
                <a:lnTo>
                  <a:pt x="8547" y="0"/>
                </a:lnTo>
                <a:lnTo>
                  <a:pt x="854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15" name=""/>
          <p:cNvSpPr/>
          <p:nvPr/>
        </p:nvSpPr>
        <p:spPr>
          <a:xfrm>
            <a:off x="3657240" y="4076640"/>
            <a:ext cx="10080" cy="495360"/>
          </a:xfrm>
          <a:custGeom>
            <a:avLst/>
            <a:gdLst/>
            <a:ahLst/>
            <a:rect l="0" t="0" r="r" b="b"/>
            <a:pathLst>
              <a:path w="28" h="1376">
                <a:moveTo>
                  <a:pt x="0" y="0"/>
                </a:moveTo>
                <a:lnTo>
                  <a:pt x="28" y="0"/>
                </a:lnTo>
                <a:lnTo>
                  <a:pt x="28" y="1376"/>
                </a:lnTo>
                <a:lnTo>
                  <a:pt x="0" y="137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16" name=""/>
          <p:cNvSpPr/>
          <p:nvPr/>
        </p:nvSpPr>
        <p:spPr>
          <a:xfrm>
            <a:off x="3666960" y="4066920"/>
            <a:ext cx="4258080" cy="10080"/>
          </a:xfrm>
          <a:custGeom>
            <a:avLst/>
            <a:gdLst/>
            <a:ahLst/>
            <a:rect l="0" t="0" r="r" b="b"/>
            <a:pathLst>
              <a:path w="11828" h="28">
                <a:moveTo>
                  <a:pt x="0" y="0"/>
                </a:moveTo>
                <a:lnTo>
                  <a:pt x="11828" y="0"/>
                </a:lnTo>
                <a:lnTo>
                  <a:pt x="1182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17" name=""/>
          <p:cNvSpPr/>
          <p:nvPr/>
        </p:nvSpPr>
        <p:spPr>
          <a:xfrm>
            <a:off x="7914960" y="4076640"/>
            <a:ext cx="10080" cy="495360"/>
          </a:xfrm>
          <a:custGeom>
            <a:avLst/>
            <a:gdLst/>
            <a:ahLst/>
            <a:rect l="0" t="0" r="r" b="b"/>
            <a:pathLst>
              <a:path w="28" h="1376">
                <a:moveTo>
                  <a:pt x="0" y="0"/>
                </a:moveTo>
                <a:lnTo>
                  <a:pt x="28" y="0"/>
                </a:lnTo>
                <a:lnTo>
                  <a:pt x="28" y="1376"/>
                </a:lnTo>
                <a:lnTo>
                  <a:pt x="0" y="137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18" name=""/>
          <p:cNvSpPr/>
          <p:nvPr/>
        </p:nvSpPr>
        <p:spPr>
          <a:xfrm>
            <a:off x="7924680" y="4066920"/>
            <a:ext cx="3677040" cy="10080"/>
          </a:xfrm>
          <a:custGeom>
            <a:avLst/>
            <a:gdLst/>
            <a:ahLst/>
            <a:rect l="0" t="0" r="r" b="b"/>
            <a:pathLst>
              <a:path w="10214" h="28">
                <a:moveTo>
                  <a:pt x="0" y="0"/>
                </a:moveTo>
                <a:lnTo>
                  <a:pt x="10214" y="0"/>
                </a:lnTo>
                <a:lnTo>
                  <a:pt x="1021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19" name=""/>
          <p:cNvSpPr/>
          <p:nvPr/>
        </p:nvSpPr>
        <p:spPr>
          <a:xfrm>
            <a:off x="11591640" y="4076640"/>
            <a:ext cx="10080" cy="495360"/>
          </a:xfrm>
          <a:custGeom>
            <a:avLst/>
            <a:gdLst/>
            <a:ahLst/>
            <a:rect l="0" t="0" r="r" b="b"/>
            <a:pathLst>
              <a:path w="28" h="1376">
                <a:moveTo>
                  <a:pt x="0" y="0"/>
                </a:moveTo>
                <a:lnTo>
                  <a:pt x="28" y="0"/>
                </a:lnTo>
                <a:lnTo>
                  <a:pt x="28" y="1376"/>
                </a:lnTo>
                <a:lnTo>
                  <a:pt x="0" y="137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20" name=""/>
          <p:cNvSpPr/>
          <p:nvPr/>
        </p:nvSpPr>
        <p:spPr>
          <a:xfrm>
            <a:off x="590400" y="4562280"/>
            <a:ext cx="3076920" cy="9720"/>
          </a:xfrm>
          <a:custGeom>
            <a:avLst/>
            <a:gdLst/>
            <a:ahLst/>
            <a:rect l="0" t="0" r="r" b="b"/>
            <a:pathLst>
              <a:path w="8547" h="27">
                <a:moveTo>
                  <a:pt x="0" y="0"/>
                </a:moveTo>
                <a:lnTo>
                  <a:pt x="8547" y="0"/>
                </a:lnTo>
                <a:lnTo>
                  <a:pt x="854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21" name=""/>
          <p:cNvSpPr/>
          <p:nvPr/>
        </p:nvSpPr>
        <p:spPr>
          <a:xfrm>
            <a:off x="3666960" y="4562280"/>
            <a:ext cx="4258080" cy="9720"/>
          </a:xfrm>
          <a:custGeom>
            <a:avLst/>
            <a:gdLst/>
            <a:ahLst/>
            <a:rect l="0" t="0" r="r" b="b"/>
            <a:pathLst>
              <a:path w="11828" h="27">
                <a:moveTo>
                  <a:pt x="0" y="0"/>
                </a:moveTo>
                <a:lnTo>
                  <a:pt x="11828" y="0"/>
                </a:lnTo>
                <a:lnTo>
                  <a:pt x="1182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22" name=""/>
          <p:cNvSpPr/>
          <p:nvPr/>
        </p:nvSpPr>
        <p:spPr>
          <a:xfrm>
            <a:off x="7924680" y="4562280"/>
            <a:ext cx="3677040" cy="9720"/>
          </a:xfrm>
          <a:custGeom>
            <a:avLst/>
            <a:gdLst/>
            <a:ahLst/>
            <a:rect l="0" t="0" r="r" b="b"/>
            <a:pathLst>
              <a:path w="10214" h="27">
                <a:moveTo>
                  <a:pt x="0" y="0"/>
                </a:moveTo>
                <a:lnTo>
                  <a:pt x="10214" y="0"/>
                </a:lnTo>
                <a:lnTo>
                  <a:pt x="1021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23" name=""/>
          <p:cNvSpPr txBox="1"/>
          <p:nvPr/>
        </p:nvSpPr>
        <p:spPr>
          <a:xfrm>
            <a:off x="590400" y="1272240"/>
            <a:ext cx="7573302" cy="36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28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1 epoch</a:t>
            </a:r>
            <a:r>
              <a:rPr lang="ja-JP" sz="28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の結果：モデル規模による違い</a:t>
            </a:r>
            <a:endParaRPr lang="en-US" sz="28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24" name=""/>
          <p:cNvSpPr txBox="1"/>
          <p:nvPr/>
        </p:nvSpPr>
        <p:spPr>
          <a:xfrm>
            <a:off x="590400" y="2095560"/>
            <a:ext cx="6433974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五つのテストを合計した参考値。分⺟は</a:t>
            </a:r>
            <a:r>
              <a:rPr lang="en-US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84,550</a:t>
            </a:r>
            <a:r>
              <a:rPr lang="ja-JP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件。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25" name=""/>
          <p:cNvSpPr txBox="1"/>
          <p:nvPr/>
        </p:nvSpPr>
        <p:spPr>
          <a:xfrm>
            <a:off x="714240" y="2720880"/>
            <a:ext cx="721188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6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モデル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26" name=""/>
          <p:cNvSpPr txBox="1"/>
          <p:nvPr/>
        </p:nvSpPr>
        <p:spPr>
          <a:xfrm>
            <a:off x="7175880" y="2720880"/>
            <a:ext cx="721188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6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合格数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27" name=""/>
          <p:cNvSpPr txBox="1"/>
          <p:nvPr/>
        </p:nvSpPr>
        <p:spPr>
          <a:xfrm>
            <a:off x="10848960" y="2720880"/>
            <a:ext cx="721188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6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合格率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28" name=""/>
          <p:cNvSpPr txBox="1"/>
          <p:nvPr/>
        </p:nvSpPr>
        <p:spPr>
          <a:xfrm>
            <a:off x="714240" y="3215880"/>
            <a:ext cx="385434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1M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29" name=""/>
          <p:cNvSpPr txBox="1"/>
          <p:nvPr/>
        </p:nvSpPr>
        <p:spPr>
          <a:xfrm>
            <a:off x="6993000" y="3215880"/>
            <a:ext cx="930672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1,467</a:t>
            </a:r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件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30" name=""/>
          <p:cNvSpPr txBox="1"/>
          <p:nvPr/>
        </p:nvSpPr>
        <p:spPr>
          <a:xfrm>
            <a:off x="10829160" y="3215880"/>
            <a:ext cx="743544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1.74%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31" name=""/>
          <p:cNvSpPr txBox="1"/>
          <p:nvPr/>
        </p:nvSpPr>
        <p:spPr>
          <a:xfrm>
            <a:off x="714240" y="3711240"/>
            <a:ext cx="385434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5M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32" name=""/>
          <p:cNvSpPr txBox="1"/>
          <p:nvPr/>
        </p:nvSpPr>
        <p:spPr>
          <a:xfrm>
            <a:off x="6856200" y="3711240"/>
            <a:ext cx="1087164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81,557</a:t>
            </a:r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件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33" name=""/>
          <p:cNvSpPr txBox="1"/>
          <p:nvPr/>
        </p:nvSpPr>
        <p:spPr>
          <a:xfrm>
            <a:off x="10691640" y="3711240"/>
            <a:ext cx="901278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96.46%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34" name=""/>
          <p:cNvSpPr txBox="1"/>
          <p:nvPr/>
        </p:nvSpPr>
        <p:spPr>
          <a:xfrm>
            <a:off x="714240" y="4206600"/>
            <a:ext cx="543168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15M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35" name=""/>
          <p:cNvSpPr txBox="1"/>
          <p:nvPr/>
        </p:nvSpPr>
        <p:spPr>
          <a:xfrm>
            <a:off x="6855480" y="4206600"/>
            <a:ext cx="1088406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84,180</a:t>
            </a:r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件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36" name=""/>
          <p:cNvSpPr txBox="1"/>
          <p:nvPr/>
        </p:nvSpPr>
        <p:spPr>
          <a:xfrm>
            <a:off x="10692360" y="4206600"/>
            <a:ext cx="90045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99.56%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37" name=""/>
          <p:cNvSpPr txBox="1"/>
          <p:nvPr/>
        </p:nvSpPr>
        <p:spPr>
          <a:xfrm>
            <a:off x="590400" y="4819680"/>
            <a:ext cx="7111692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7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今回の条件では、</a:t>
            </a:r>
            <a:r>
              <a:rPr lang="en-US" sz="187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5M</a:t>
            </a:r>
            <a:r>
              <a:rPr lang="ja-JP" sz="187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と</a:t>
            </a:r>
            <a:r>
              <a:rPr lang="en-US" sz="187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15M</a:t>
            </a:r>
            <a:r>
              <a:rPr lang="ja-JP" sz="187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は高い全体合格率を示した。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38" name=""/>
          <p:cNvSpPr txBox="1"/>
          <p:nvPr/>
        </p:nvSpPr>
        <p:spPr>
          <a:xfrm>
            <a:off x="590400" y="5353200"/>
            <a:ext cx="7656102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ただし、件数の少ない言い換えテストは全体値に表れにくい。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39" name=""/>
          <p:cNvSpPr txBox="1"/>
          <p:nvPr/>
        </p:nvSpPr>
        <p:spPr>
          <a:xfrm>
            <a:off x="11705760" y="6466680"/>
            <a:ext cx="231012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Hiragino Sans"/>
                <a:ea typeface="Hiragino Sans"/>
              </a:rPr>
              <a:t>22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4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4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43" name=""/>
          <p:cNvSpPr/>
          <p:nvPr/>
        </p:nvSpPr>
        <p:spPr>
          <a:xfrm>
            <a:off x="599760" y="2352600"/>
            <a:ext cx="4267800" cy="495720"/>
          </a:xfrm>
          <a:custGeom>
            <a:avLst/>
            <a:gdLst/>
            <a:ahLst/>
            <a:rect l="0" t="0" r="r" b="b"/>
            <a:pathLst>
              <a:path w="11855" h="1377">
                <a:moveTo>
                  <a:pt x="0" y="0"/>
                </a:moveTo>
                <a:lnTo>
                  <a:pt x="11855" y="0"/>
                </a:lnTo>
                <a:lnTo>
                  <a:pt x="11855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44" name=""/>
          <p:cNvSpPr/>
          <p:nvPr/>
        </p:nvSpPr>
        <p:spPr>
          <a:xfrm>
            <a:off x="4867200" y="2352600"/>
            <a:ext cx="4362840" cy="495720"/>
          </a:xfrm>
          <a:custGeom>
            <a:avLst/>
            <a:gdLst/>
            <a:ahLst/>
            <a:rect l="0" t="0" r="r" b="b"/>
            <a:pathLst>
              <a:path w="12119" h="1377">
                <a:moveTo>
                  <a:pt x="0" y="0"/>
                </a:moveTo>
                <a:lnTo>
                  <a:pt x="12119" y="0"/>
                </a:lnTo>
                <a:lnTo>
                  <a:pt x="12119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45" name=""/>
          <p:cNvSpPr/>
          <p:nvPr/>
        </p:nvSpPr>
        <p:spPr>
          <a:xfrm>
            <a:off x="9229680" y="2352600"/>
            <a:ext cx="2372040" cy="495720"/>
          </a:xfrm>
          <a:custGeom>
            <a:avLst/>
            <a:gdLst/>
            <a:ahLst/>
            <a:rect l="0" t="0" r="r" b="b"/>
            <a:pathLst>
              <a:path w="6589" h="1377">
                <a:moveTo>
                  <a:pt x="0" y="0"/>
                </a:moveTo>
                <a:lnTo>
                  <a:pt x="6589" y="0"/>
                </a:lnTo>
                <a:lnTo>
                  <a:pt x="6589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46" name=""/>
          <p:cNvSpPr/>
          <p:nvPr/>
        </p:nvSpPr>
        <p:spPr>
          <a:xfrm>
            <a:off x="599760" y="2352600"/>
            <a:ext cx="4267800" cy="495720"/>
          </a:xfrm>
          <a:custGeom>
            <a:avLst/>
            <a:gdLst/>
            <a:ahLst/>
            <a:rect l="0" t="0" r="r" b="b"/>
            <a:pathLst>
              <a:path w="11855" h="1377">
                <a:moveTo>
                  <a:pt x="0" y="0"/>
                </a:moveTo>
                <a:lnTo>
                  <a:pt x="11855" y="0"/>
                </a:lnTo>
                <a:lnTo>
                  <a:pt x="11855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47" name=""/>
          <p:cNvSpPr/>
          <p:nvPr/>
        </p:nvSpPr>
        <p:spPr>
          <a:xfrm>
            <a:off x="4867200" y="2352600"/>
            <a:ext cx="4362840" cy="495720"/>
          </a:xfrm>
          <a:custGeom>
            <a:avLst/>
            <a:gdLst/>
            <a:ahLst/>
            <a:rect l="0" t="0" r="r" b="b"/>
            <a:pathLst>
              <a:path w="12119" h="1377">
                <a:moveTo>
                  <a:pt x="0" y="0"/>
                </a:moveTo>
                <a:lnTo>
                  <a:pt x="12119" y="0"/>
                </a:lnTo>
                <a:lnTo>
                  <a:pt x="12119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48" name=""/>
          <p:cNvSpPr/>
          <p:nvPr/>
        </p:nvSpPr>
        <p:spPr>
          <a:xfrm>
            <a:off x="9229680" y="2352600"/>
            <a:ext cx="2372040" cy="495720"/>
          </a:xfrm>
          <a:custGeom>
            <a:avLst/>
            <a:gdLst/>
            <a:ahLst/>
            <a:rect l="0" t="0" r="r" b="b"/>
            <a:pathLst>
              <a:path w="6589" h="1377">
                <a:moveTo>
                  <a:pt x="0" y="0"/>
                </a:moveTo>
                <a:lnTo>
                  <a:pt x="6589" y="0"/>
                </a:lnTo>
                <a:lnTo>
                  <a:pt x="6589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49" name=""/>
          <p:cNvSpPr/>
          <p:nvPr/>
        </p:nvSpPr>
        <p:spPr>
          <a:xfrm>
            <a:off x="599760" y="2847960"/>
            <a:ext cx="4267800" cy="495360"/>
          </a:xfrm>
          <a:custGeom>
            <a:avLst/>
            <a:gdLst/>
            <a:ahLst/>
            <a:rect l="0" t="0" r="r" b="b"/>
            <a:pathLst>
              <a:path w="11855" h="1376">
                <a:moveTo>
                  <a:pt x="0" y="0"/>
                </a:moveTo>
                <a:lnTo>
                  <a:pt x="11855" y="0"/>
                </a:lnTo>
                <a:lnTo>
                  <a:pt x="11855" y="1376"/>
                </a:lnTo>
                <a:lnTo>
                  <a:pt x="0" y="137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50" name=""/>
          <p:cNvSpPr/>
          <p:nvPr/>
        </p:nvSpPr>
        <p:spPr>
          <a:xfrm>
            <a:off x="4867200" y="2847960"/>
            <a:ext cx="4362840" cy="495360"/>
          </a:xfrm>
          <a:custGeom>
            <a:avLst/>
            <a:gdLst/>
            <a:ahLst/>
            <a:rect l="0" t="0" r="r" b="b"/>
            <a:pathLst>
              <a:path w="12119" h="1376">
                <a:moveTo>
                  <a:pt x="0" y="0"/>
                </a:moveTo>
                <a:lnTo>
                  <a:pt x="12119" y="0"/>
                </a:lnTo>
                <a:lnTo>
                  <a:pt x="12119" y="1376"/>
                </a:lnTo>
                <a:lnTo>
                  <a:pt x="0" y="137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51" name=""/>
          <p:cNvSpPr/>
          <p:nvPr/>
        </p:nvSpPr>
        <p:spPr>
          <a:xfrm>
            <a:off x="9229680" y="2847960"/>
            <a:ext cx="2372040" cy="495360"/>
          </a:xfrm>
          <a:custGeom>
            <a:avLst/>
            <a:gdLst/>
            <a:ahLst/>
            <a:rect l="0" t="0" r="r" b="b"/>
            <a:pathLst>
              <a:path w="6589" h="1376">
                <a:moveTo>
                  <a:pt x="0" y="0"/>
                </a:moveTo>
                <a:lnTo>
                  <a:pt x="6589" y="0"/>
                </a:lnTo>
                <a:lnTo>
                  <a:pt x="6589" y="1376"/>
                </a:lnTo>
                <a:lnTo>
                  <a:pt x="0" y="137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52" name=""/>
          <p:cNvSpPr/>
          <p:nvPr/>
        </p:nvSpPr>
        <p:spPr>
          <a:xfrm>
            <a:off x="599760" y="3342960"/>
            <a:ext cx="4267800" cy="495720"/>
          </a:xfrm>
          <a:custGeom>
            <a:avLst/>
            <a:gdLst/>
            <a:ahLst/>
            <a:rect l="0" t="0" r="r" b="b"/>
            <a:pathLst>
              <a:path w="11855" h="1377">
                <a:moveTo>
                  <a:pt x="0" y="0"/>
                </a:moveTo>
                <a:lnTo>
                  <a:pt x="11855" y="0"/>
                </a:lnTo>
                <a:lnTo>
                  <a:pt x="11855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53" name=""/>
          <p:cNvSpPr/>
          <p:nvPr/>
        </p:nvSpPr>
        <p:spPr>
          <a:xfrm>
            <a:off x="4867200" y="3342960"/>
            <a:ext cx="4362840" cy="495720"/>
          </a:xfrm>
          <a:custGeom>
            <a:avLst/>
            <a:gdLst/>
            <a:ahLst/>
            <a:rect l="0" t="0" r="r" b="b"/>
            <a:pathLst>
              <a:path w="12119" h="1377">
                <a:moveTo>
                  <a:pt x="0" y="0"/>
                </a:moveTo>
                <a:lnTo>
                  <a:pt x="12119" y="0"/>
                </a:lnTo>
                <a:lnTo>
                  <a:pt x="12119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54" name=""/>
          <p:cNvSpPr/>
          <p:nvPr/>
        </p:nvSpPr>
        <p:spPr>
          <a:xfrm>
            <a:off x="9229680" y="3342960"/>
            <a:ext cx="2372040" cy="495720"/>
          </a:xfrm>
          <a:custGeom>
            <a:avLst/>
            <a:gdLst/>
            <a:ahLst/>
            <a:rect l="0" t="0" r="r" b="b"/>
            <a:pathLst>
              <a:path w="6589" h="1377">
                <a:moveTo>
                  <a:pt x="0" y="0"/>
                </a:moveTo>
                <a:lnTo>
                  <a:pt x="6589" y="0"/>
                </a:lnTo>
                <a:lnTo>
                  <a:pt x="6589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55" name=""/>
          <p:cNvSpPr/>
          <p:nvPr/>
        </p:nvSpPr>
        <p:spPr>
          <a:xfrm>
            <a:off x="599760" y="3838320"/>
            <a:ext cx="4267800" cy="495720"/>
          </a:xfrm>
          <a:custGeom>
            <a:avLst/>
            <a:gdLst/>
            <a:ahLst/>
            <a:rect l="0" t="0" r="r" b="b"/>
            <a:pathLst>
              <a:path w="11855" h="1377">
                <a:moveTo>
                  <a:pt x="0" y="0"/>
                </a:moveTo>
                <a:lnTo>
                  <a:pt x="11855" y="0"/>
                </a:lnTo>
                <a:lnTo>
                  <a:pt x="11855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56" name=""/>
          <p:cNvSpPr/>
          <p:nvPr/>
        </p:nvSpPr>
        <p:spPr>
          <a:xfrm>
            <a:off x="4867200" y="3838320"/>
            <a:ext cx="4362840" cy="495720"/>
          </a:xfrm>
          <a:custGeom>
            <a:avLst/>
            <a:gdLst/>
            <a:ahLst/>
            <a:rect l="0" t="0" r="r" b="b"/>
            <a:pathLst>
              <a:path w="12119" h="1377">
                <a:moveTo>
                  <a:pt x="0" y="0"/>
                </a:moveTo>
                <a:lnTo>
                  <a:pt x="12119" y="0"/>
                </a:lnTo>
                <a:lnTo>
                  <a:pt x="12119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57" name=""/>
          <p:cNvSpPr/>
          <p:nvPr/>
        </p:nvSpPr>
        <p:spPr>
          <a:xfrm>
            <a:off x="9229680" y="3838320"/>
            <a:ext cx="2372040" cy="495720"/>
          </a:xfrm>
          <a:custGeom>
            <a:avLst/>
            <a:gdLst/>
            <a:ahLst/>
            <a:rect l="0" t="0" r="r" b="b"/>
            <a:pathLst>
              <a:path w="6589" h="1377">
                <a:moveTo>
                  <a:pt x="0" y="0"/>
                </a:moveTo>
                <a:lnTo>
                  <a:pt x="6589" y="0"/>
                </a:lnTo>
                <a:lnTo>
                  <a:pt x="6589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58" name=""/>
          <p:cNvSpPr/>
          <p:nvPr/>
        </p:nvSpPr>
        <p:spPr>
          <a:xfrm>
            <a:off x="599760" y="4333680"/>
            <a:ext cx="4267800" cy="495720"/>
          </a:xfrm>
          <a:custGeom>
            <a:avLst/>
            <a:gdLst/>
            <a:ahLst/>
            <a:rect l="0" t="0" r="r" b="b"/>
            <a:pathLst>
              <a:path w="11855" h="1377">
                <a:moveTo>
                  <a:pt x="0" y="0"/>
                </a:moveTo>
                <a:lnTo>
                  <a:pt x="11855" y="0"/>
                </a:lnTo>
                <a:lnTo>
                  <a:pt x="11855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59" name=""/>
          <p:cNvSpPr/>
          <p:nvPr/>
        </p:nvSpPr>
        <p:spPr>
          <a:xfrm>
            <a:off x="4867200" y="4333680"/>
            <a:ext cx="4362840" cy="495720"/>
          </a:xfrm>
          <a:custGeom>
            <a:avLst/>
            <a:gdLst/>
            <a:ahLst/>
            <a:rect l="0" t="0" r="r" b="b"/>
            <a:pathLst>
              <a:path w="12119" h="1377">
                <a:moveTo>
                  <a:pt x="0" y="0"/>
                </a:moveTo>
                <a:lnTo>
                  <a:pt x="12119" y="0"/>
                </a:lnTo>
                <a:lnTo>
                  <a:pt x="12119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60" name=""/>
          <p:cNvSpPr/>
          <p:nvPr/>
        </p:nvSpPr>
        <p:spPr>
          <a:xfrm>
            <a:off x="9229680" y="4333680"/>
            <a:ext cx="2372040" cy="495720"/>
          </a:xfrm>
          <a:custGeom>
            <a:avLst/>
            <a:gdLst/>
            <a:ahLst/>
            <a:rect l="0" t="0" r="r" b="b"/>
            <a:pathLst>
              <a:path w="6589" h="1377">
                <a:moveTo>
                  <a:pt x="0" y="0"/>
                </a:moveTo>
                <a:lnTo>
                  <a:pt x="6589" y="0"/>
                </a:lnTo>
                <a:lnTo>
                  <a:pt x="6589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61" name=""/>
          <p:cNvSpPr/>
          <p:nvPr/>
        </p:nvSpPr>
        <p:spPr>
          <a:xfrm>
            <a:off x="599760" y="4829040"/>
            <a:ext cx="4267800" cy="495720"/>
          </a:xfrm>
          <a:custGeom>
            <a:avLst/>
            <a:gdLst/>
            <a:ahLst/>
            <a:rect l="0" t="0" r="r" b="b"/>
            <a:pathLst>
              <a:path w="11855" h="1377">
                <a:moveTo>
                  <a:pt x="0" y="0"/>
                </a:moveTo>
                <a:lnTo>
                  <a:pt x="11855" y="0"/>
                </a:lnTo>
                <a:lnTo>
                  <a:pt x="11855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62" name=""/>
          <p:cNvSpPr/>
          <p:nvPr/>
        </p:nvSpPr>
        <p:spPr>
          <a:xfrm>
            <a:off x="4867200" y="4829040"/>
            <a:ext cx="4362840" cy="495720"/>
          </a:xfrm>
          <a:custGeom>
            <a:avLst/>
            <a:gdLst/>
            <a:ahLst/>
            <a:rect l="0" t="0" r="r" b="b"/>
            <a:pathLst>
              <a:path w="12119" h="1377">
                <a:moveTo>
                  <a:pt x="0" y="0"/>
                </a:moveTo>
                <a:lnTo>
                  <a:pt x="12119" y="0"/>
                </a:lnTo>
                <a:lnTo>
                  <a:pt x="12119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63" name=""/>
          <p:cNvSpPr/>
          <p:nvPr/>
        </p:nvSpPr>
        <p:spPr>
          <a:xfrm>
            <a:off x="9229680" y="4829040"/>
            <a:ext cx="2372040" cy="495720"/>
          </a:xfrm>
          <a:custGeom>
            <a:avLst/>
            <a:gdLst/>
            <a:ahLst/>
            <a:rect l="0" t="0" r="r" b="b"/>
            <a:pathLst>
              <a:path w="6589" h="1377">
                <a:moveTo>
                  <a:pt x="0" y="0"/>
                </a:moveTo>
                <a:lnTo>
                  <a:pt x="6589" y="0"/>
                </a:lnTo>
                <a:lnTo>
                  <a:pt x="6589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64" name=""/>
          <p:cNvSpPr/>
          <p:nvPr/>
        </p:nvSpPr>
        <p:spPr>
          <a:xfrm>
            <a:off x="590400" y="2352600"/>
            <a:ext cx="9720" cy="505080"/>
          </a:xfrm>
          <a:custGeom>
            <a:avLst/>
            <a:gdLst/>
            <a:ahLst/>
            <a:rect l="0" t="0" r="r" b="b"/>
            <a:pathLst>
              <a:path w="27" h="1403">
                <a:moveTo>
                  <a:pt x="0" y="0"/>
                </a:moveTo>
                <a:lnTo>
                  <a:pt x="27" y="0"/>
                </a:lnTo>
                <a:lnTo>
                  <a:pt x="27" y="1403"/>
                </a:lnTo>
                <a:lnTo>
                  <a:pt x="0" y="140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65" name=""/>
          <p:cNvSpPr/>
          <p:nvPr/>
        </p:nvSpPr>
        <p:spPr>
          <a:xfrm>
            <a:off x="590400" y="2352600"/>
            <a:ext cx="4277160" cy="9720"/>
          </a:xfrm>
          <a:custGeom>
            <a:avLst/>
            <a:gdLst/>
            <a:ahLst/>
            <a:rect l="0" t="0" r="r" b="b"/>
            <a:pathLst>
              <a:path w="11881" h="27">
                <a:moveTo>
                  <a:pt x="0" y="0"/>
                </a:moveTo>
                <a:lnTo>
                  <a:pt x="11881" y="0"/>
                </a:lnTo>
                <a:lnTo>
                  <a:pt x="1188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66" name=""/>
          <p:cNvSpPr/>
          <p:nvPr/>
        </p:nvSpPr>
        <p:spPr>
          <a:xfrm>
            <a:off x="4857480" y="2352600"/>
            <a:ext cx="10080" cy="505080"/>
          </a:xfrm>
          <a:custGeom>
            <a:avLst/>
            <a:gdLst/>
            <a:ahLst/>
            <a:rect l="0" t="0" r="r" b="b"/>
            <a:pathLst>
              <a:path w="28" h="1403">
                <a:moveTo>
                  <a:pt x="0" y="0"/>
                </a:moveTo>
                <a:lnTo>
                  <a:pt x="28" y="0"/>
                </a:lnTo>
                <a:lnTo>
                  <a:pt x="28" y="1403"/>
                </a:lnTo>
                <a:lnTo>
                  <a:pt x="0" y="140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67" name=""/>
          <p:cNvSpPr/>
          <p:nvPr/>
        </p:nvSpPr>
        <p:spPr>
          <a:xfrm>
            <a:off x="4867200" y="2352600"/>
            <a:ext cx="4362840" cy="9720"/>
          </a:xfrm>
          <a:custGeom>
            <a:avLst/>
            <a:gdLst/>
            <a:ahLst/>
            <a:rect l="0" t="0" r="r" b="b"/>
            <a:pathLst>
              <a:path w="12119" h="27">
                <a:moveTo>
                  <a:pt x="0" y="0"/>
                </a:moveTo>
                <a:lnTo>
                  <a:pt x="12119" y="0"/>
                </a:lnTo>
                <a:lnTo>
                  <a:pt x="1211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68" name=""/>
          <p:cNvSpPr/>
          <p:nvPr/>
        </p:nvSpPr>
        <p:spPr>
          <a:xfrm>
            <a:off x="9219960" y="2352600"/>
            <a:ext cx="10080" cy="505080"/>
          </a:xfrm>
          <a:custGeom>
            <a:avLst/>
            <a:gdLst/>
            <a:ahLst/>
            <a:rect l="0" t="0" r="r" b="b"/>
            <a:pathLst>
              <a:path w="28" h="1403">
                <a:moveTo>
                  <a:pt x="0" y="0"/>
                </a:moveTo>
                <a:lnTo>
                  <a:pt x="28" y="0"/>
                </a:lnTo>
                <a:lnTo>
                  <a:pt x="28" y="1403"/>
                </a:lnTo>
                <a:lnTo>
                  <a:pt x="0" y="140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69" name=""/>
          <p:cNvSpPr/>
          <p:nvPr/>
        </p:nvSpPr>
        <p:spPr>
          <a:xfrm>
            <a:off x="9229680" y="2352600"/>
            <a:ext cx="2372040" cy="9720"/>
          </a:xfrm>
          <a:custGeom>
            <a:avLst/>
            <a:gdLst/>
            <a:ahLst/>
            <a:rect l="0" t="0" r="r" b="b"/>
            <a:pathLst>
              <a:path w="6589" h="27">
                <a:moveTo>
                  <a:pt x="0" y="0"/>
                </a:moveTo>
                <a:lnTo>
                  <a:pt x="6589" y="0"/>
                </a:lnTo>
                <a:lnTo>
                  <a:pt x="658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70" name=""/>
          <p:cNvSpPr/>
          <p:nvPr/>
        </p:nvSpPr>
        <p:spPr>
          <a:xfrm>
            <a:off x="11591640" y="2352600"/>
            <a:ext cx="10080" cy="505080"/>
          </a:xfrm>
          <a:custGeom>
            <a:avLst/>
            <a:gdLst/>
            <a:ahLst/>
            <a:rect l="0" t="0" r="r" b="b"/>
            <a:pathLst>
              <a:path w="28" h="1403">
                <a:moveTo>
                  <a:pt x="0" y="0"/>
                </a:moveTo>
                <a:lnTo>
                  <a:pt x="28" y="0"/>
                </a:lnTo>
                <a:lnTo>
                  <a:pt x="28" y="1403"/>
                </a:lnTo>
                <a:lnTo>
                  <a:pt x="0" y="140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71" name=""/>
          <p:cNvSpPr/>
          <p:nvPr/>
        </p:nvSpPr>
        <p:spPr>
          <a:xfrm>
            <a:off x="590400" y="2847960"/>
            <a:ext cx="4277160" cy="9720"/>
          </a:xfrm>
          <a:custGeom>
            <a:avLst/>
            <a:gdLst/>
            <a:ahLst/>
            <a:rect l="0" t="0" r="r" b="b"/>
            <a:pathLst>
              <a:path w="11881" h="27">
                <a:moveTo>
                  <a:pt x="0" y="0"/>
                </a:moveTo>
                <a:lnTo>
                  <a:pt x="11881" y="0"/>
                </a:lnTo>
                <a:lnTo>
                  <a:pt x="1188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72" name=""/>
          <p:cNvSpPr/>
          <p:nvPr/>
        </p:nvSpPr>
        <p:spPr>
          <a:xfrm>
            <a:off x="4867200" y="2847960"/>
            <a:ext cx="4362840" cy="9720"/>
          </a:xfrm>
          <a:custGeom>
            <a:avLst/>
            <a:gdLst/>
            <a:ahLst/>
            <a:rect l="0" t="0" r="r" b="b"/>
            <a:pathLst>
              <a:path w="12119" h="27">
                <a:moveTo>
                  <a:pt x="0" y="0"/>
                </a:moveTo>
                <a:lnTo>
                  <a:pt x="12119" y="0"/>
                </a:lnTo>
                <a:lnTo>
                  <a:pt x="1211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73" name=""/>
          <p:cNvSpPr/>
          <p:nvPr/>
        </p:nvSpPr>
        <p:spPr>
          <a:xfrm>
            <a:off x="9229680" y="2847960"/>
            <a:ext cx="2372040" cy="9720"/>
          </a:xfrm>
          <a:custGeom>
            <a:avLst/>
            <a:gdLst/>
            <a:ahLst/>
            <a:rect l="0" t="0" r="r" b="b"/>
            <a:pathLst>
              <a:path w="6589" h="27">
                <a:moveTo>
                  <a:pt x="0" y="0"/>
                </a:moveTo>
                <a:lnTo>
                  <a:pt x="6589" y="0"/>
                </a:lnTo>
                <a:lnTo>
                  <a:pt x="658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74" name=""/>
          <p:cNvSpPr/>
          <p:nvPr/>
        </p:nvSpPr>
        <p:spPr>
          <a:xfrm>
            <a:off x="590400" y="2857320"/>
            <a:ext cx="9720" cy="495720"/>
          </a:xfrm>
          <a:custGeom>
            <a:avLst/>
            <a:gdLst/>
            <a:ahLst/>
            <a:rect l="0" t="0" r="r" b="b"/>
            <a:pathLst>
              <a:path w="27" h="1377">
                <a:moveTo>
                  <a:pt x="0" y="0"/>
                </a:moveTo>
                <a:lnTo>
                  <a:pt x="27" y="0"/>
                </a:lnTo>
                <a:lnTo>
                  <a:pt x="27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75" name=""/>
          <p:cNvSpPr/>
          <p:nvPr/>
        </p:nvSpPr>
        <p:spPr>
          <a:xfrm>
            <a:off x="4857480" y="2857320"/>
            <a:ext cx="10080" cy="495720"/>
          </a:xfrm>
          <a:custGeom>
            <a:avLst/>
            <a:gdLst/>
            <a:ahLst/>
            <a:rect l="0" t="0" r="r" b="b"/>
            <a:pathLst>
              <a:path w="28" h="1377">
                <a:moveTo>
                  <a:pt x="0" y="0"/>
                </a:moveTo>
                <a:lnTo>
                  <a:pt x="28" y="0"/>
                </a:lnTo>
                <a:lnTo>
                  <a:pt x="28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76" name=""/>
          <p:cNvSpPr/>
          <p:nvPr/>
        </p:nvSpPr>
        <p:spPr>
          <a:xfrm>
            <a:off x="9219960" y="2857320"/>
            <a:ext cx="10080" cy="495720"/>
          </a:xfrm>
          <a:custGeom>
            <a:avLst/>
            <a:gdLst/>
            <a:ahLst/>
            <a:rect l="0" t="0" r="r" b="b"/>
            <a:pathLst>
              <a:path w="28" h="1377">
                <a:moveTo>
                  <a:pt x="0" y="0"/>
                </a:moveTo>
                <a:lnTo>
                  <a:pt x="28" y="0"/>
                </a:lnTo>
                <a:lnTo>
                  <a:pt x="28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77" name=""/>
          <p:cNvSpPr/>
          <p:nvPr/>
        </p:nvSpPr>
        <p:spPr>
          <a:xfrm>
            <a:off x="11591640" y="2857320"/>
            <a:ext cx="10080" cy="495720"/>
          </a:xfrm>
          <a:custGeom>
            <a:avLst/>
            <a:gdLst/>
            <a:ahLst/>
            <a:rect l="0" t="0" r="r" b="b"/>
            <a:pathLst>
              <a:path w="28" h="1377">
                <a:moveTo>
                  <a:pt x="0" y="0"/>
                </a:moveTo>
                <a:lnTo>
                  <a:pt x="28" y="0"/>
                </a:lnTo>
                <a:lnTo>
                  <a:pt x="28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78" name=""/>
          <p:cNvSpPr/>
          <p:nvPr/>
        </p:nvSpPr>
        <p:spPr>
          <a:xfrm>
            <a:off x="590400" y="3352680"/>
            <a:ext cx="9720" cy="495720"/>
          </a:xfrm>
          <a:custGeom>
            <a:avLst/>
            <a:gdLst/>
            <a:ahLst/>
            <a:rect l="0" t="0" r="r" b="b"/>
            <a:pathLst>
              <a:path w="27" h="1377">
                <a:moveTo>
                  <a:pt x="0" y="0"/>
                </a:moveTo>
                <a:lnTo>
                  <a:pt x="27" y="0"/>
                </a:lnTo>
                <a:lnTo>
                  <a:pt x="27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79" name=""/>
          <p:cNvSpPr/>
          <p:nvPr/>
        </p:nvSpPr>
        <p:spPr>
          <a:xfrm>
            <a:off x="590400" y="3342960"/>
            <a:ext cx="4277160" cy="10080"/>
          </a:xfrm>
          <a:custGeom>
            <a:avLst/>
            <a:gdLst/>
            <a:ahLst/>
            <a:rect l="0" t="0" r="r" b="b"/>
            <a:pathLst>
              <a:path w="11881" h="28">
                <a:moveTo>
                  <a:pt x="0" y="0"/>
                </a:moveTo>
                <a:lnTo>
                  <a:pt x="11881" y="0"/>
                </a:lnTo>
                <a:lnTo>
                  <a:pt x="1188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80" name=""/>
          <p:cNvSpPr/>
          <p:nvPr/>
        </p:nvSpPr>
        <p:spPr>
          <a:xfrm>
            <a:off x="4857480" y="3352680"/>
            <a:ext cx="10080" cy="495720"/>
          </a:xfrm>
          <a:custGeom>
            <a:avLst/>
            <a:gdLst/>
            <a:ahLst/>
            <a:rect l="0" t="0" r="r" b="b"/>
            <a:pathLst>
              <a:path w="28" h="1377">
                <a:moveTo>
                  <a:pt x="0" y="0"/>
                </a:moveTo>
                <a:lnTo>
                  <a:pt x="28" y="0"/>
                </a:lnTo>
                <a:lnTo>
                  <a:pt x="28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81" name=""/>
          <p:cNvSpPr/>
          <p:nvPr/>
        </p:nvSpPr>
        <p:spPr>
          <a:xfrm>
            <a:off x="4867200" y="3342960"/>
            <a:ext cx="4362840" cy="10080"/>
          </a:xfrm>
          <a:custGeom>
            <a:avLst/>
            <a:gdLst/>
            <a:ahLst/>
            <a:rect l="0" t="0" r="r" b="b"/>
            <a:pathLst>
              <a:path w="12119" h="28">
                <a:moveTo>
                  <a:pt x="0" y="0"/>
                </a:moveTo>
                <a:lnTo>
                  <a:pt x="12119" y="0"/>
                </a:lnTo>
                <a:lnTo>
                  <a:pt x="1211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82" name=""/>
          <p:cNvSpPr/>
          <p:nvPr/>
        </p:nvSpPr>
        <p:spPr>
          <a:xfrm>
            <a:off x="9219960" y="3352680"/>
            <a:ext cx="10080" cy="495720"/>
          </a:xfrm>
          <a:custGeom>
            <a:avLst/>
            <a:gdLst/>
            <a:ahLst/>
            <a:rect l="0" t="0" r="r" b="b"/>
            <a:pathLst>
              <a:path w="28" h="1377">
                <a:moveTo>
                  <a:pt x="0" y="0"/>
                </a:moveTo>
                <a:lnTo>
                  <a:pt x="28" y="0"/>
                </a:lnTo>
                <a:lnTo>
                  <a:pt x="28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83" name=""/>
          <p:cNvSpPr/>
          <p:nvPr/>
        </p:nvSpPr>
        <p:spPr>
          <a:xfrm>
            <a:off x="9229680" y="3342960"/>
            <a:ext cx="2372040" cy="10080"/>
          </a:xfrm>
          <a:custGeom>
            <a:avLst/>
            <a:gdLst/>
            <a:ahLst/>
            <a:rect l="0" t="0" r="r" b="b"/>
            <a:pathLst>
              <a:path w="6589" h="28">
                <a:moveTo>
                  <a:pt x="0" y="0"/>
                </a:moveTo>
                <a:lnTo>
                  <a:pt x="6589" y="0"/>
                </a:lnTo>
                <a:lnTo>
                  <a:pt x="658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84" name=""/>
          <p:cNvSpPr/>
          <p:nvPr/>
        </p:nvSpPr>
        <p:spPr>
          <a:xfrm>
            <a:off x="11591640" y="3352680"/>
            <a:ext cx="10080" cy="495720"/>
          </a:xfrm>
          <a:custGeom>
            <a:avLst/>
            <a:gdLst/>
            <a:ahLst/>
            <a:rect l="0" t="0" r="r" b="b"/>
            <a:pathLst>
              <a:path w="28" h="1377">
                <a:moveTo>
                  <a:pt x="0" y="0"/>
                </a:moveTo>
                <a:lnTo>
                  <a:pt x="28" y="0"/>
                </a:lnTo>
                <a:lnTo>
                  <a:pt x="28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85" name=""/>
          <p:cNvSpPr/>
          <p:nvPr/>
        </p:nvSpPr>
        <p:spPr>
          <a:xfrm>
            <a:off x="590400" y="3848040"/>
            <a:ext cx="9720" cy="495360"/>
          </a:xfrm>
          <a:custGeom>
            <a:avLst/>
            <a:gdLst/>
            <a:ahLst/>
            <a:rect l="0" t="0" r="r" b="b"/>
            <a:pathLst>
              <a:path w="27" h="1376">
                <a:moveTo>
                  <a:pt x="0" y="0"/>
                </a:moveTo>
                <a:lnTo>
                  <a:pt x="27" y="0"/>
                </a:lnTo>
                <a:lnTo>
                  <a:pt x="27" y="1376"/>
                </a:lnTo>
                <a:lnTo>
                  <a:pt x="0" y="137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86" name=""/>
          <p:cNvSpPr/>
          <p:nvPr/>
        </p:nvSpPr>
        <p:spPr>
          <a:xfrm>
            <a:off x="590400" y="3838320"/>
            <a:ext cx="4277160" cy="10080"/>
          </a:xfrm>
          <a:custGeom>
            <a:avLst/>
            <a:gdLst/>
            <a:ahLst/>
            <a:rect l="0" t="0" r="r" b="b"/>
            <a:pathLst>
              <a:path w="11881" h="28">
                <a:moveTo>
                  <a:pt x="0" y="0"/>
                </a:moveTo>
                <a:lnTo>
                  <a:pt x="11881" y="0"/>
                </a:lnTo>
                <a:lnTo>
                  <a:pt x="1188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87" name=""/>
          <p:cNvSpPr/>
          <p:nvPr/>
        </p:nvSpPr>
        <p:spPr>
          <a:xfrm>
            <a:off x="4857480" y="3848040"/>
            <a:ext cx="10080" cy="495360"/>
          </a:xfrm>
          <a:custGeom>
            <a:avLst/>
            <a:gdLst/>
            <a:ahLst/>
            <a:rect l="0" t="0" r="r" b="b"/>
            <a:pathLst>
              <a:path w="28" h="1376">
                <a:moveTo>
                  <a:pt x="0" y="0"/>
                </a:moveTo>
                <a:lnTo>
                  <a:pt x="28" y="0"/>
                </a:lnTo>
                <a:lnTo>
                  <a:pt x="28" y="1376"/>
                </a:lnTo>
                <a:lnTo>
                  <a:pt x="0" y="137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88" name=""/>
          <p:cNvSpPr/>
          <p:nvPr/>
        </p:nvSpPr>
        <p:spPr>
          <a:xfrm>
            <a:off x="4867200" y="3838320"/>
            <a:ext cx="4362840" cy="10080"/>
          </a:xfrm>
          <a:custGeom>
            <a:avLst/>
            <a:gdLst/>
            <a:ahLst/>
            <a:rect l="0" t="0" r="r" b="b"/>
            <a:pathLst>
              <a:path w="12119" h="28">
                <a:moveTo>
                  <a:pt x="0" y="0"/>
                </a:moveTo>
                <a:lnTo>
                  <a:pt x="12119" y="0"/>
                </a:lnTo>
                <a:lnTo>
                  <a:pt x="1211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89" name=""/>
          <p:cNvSpPr/>
          <p:nvPr/>
        </p:nvSpPr>
        <p:spPr>
          <a:xfrm>
            <a:off x="9219960" y="3848040"/>
            <a:ext cx="10080" cy="495360"/>
          </a:xfrm>
          <a:custGeom>
            <a:avLst/>
            <a:gdLst/>
            <a:ahLst/>
            <a:rect l="0" t="0" r="r" b="b"/>
            <a:pathLst>
              <a:path w="28" h="1376">
                <a:moveTo>
                  <a:pt x="0" y="0"/>
                </a:moveTo>
                <a:lnTo>
                  <a:pt x="28" y="0"/>
                </a:lnTo>
                <a:lnTo>
                  <a:pt x="28" y="1376"/>
                </a:lnTo>
                <a:lnTo>
                  <a:pt x="0" y="137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90" name=""/>
          <p:cNvSpPr/>
          <p:nvPr/>
        </p:nvSpPr>
        <p:spPr>
          <a:xfrm>
            <a:off x="9229680" y="3838320"/>
            <a:ext cx="2372040" cy="10080"/>
          </a:xfrm>
          <a:custGeom>
            <a:avLst/>
            <a:gdLst/>
            <a:ahLst/>
            <a:rect l="0" t="0" r="r" b="b"/>
            <a:pathLst>
              <a:path w="6589" h="28">
                <a:moveTo>
                  <a:pt x="0" y="0"/>
                </a:moveTo>
                <a:lnTo>
                  <a:pt x="6589" y="0"/>
                </a:lnTo>
                <a:lnTo>
                  <a:pt x="658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91" name=""/>
          <p:cNvSpPr/>
          <p:nvPr/>
        </p:nvSpPr>
        <p:spPr>
          <a:xfrm>
            <a:off x="11591640" y="3848040"/>
            <a:ext cx="10080" cy="495360"/>
          </a:xfrm>
          <a:custGeom>
            <a:avLst/>
            <a:gdLst/>
            <a:ahLst/>
            <a:rect l="0" t="0" r="r" b="b"/>
            <a:pathLst>
              <a:path w="28" h="1376">
                <a:moveTo>
                  <a:pt x="0" y="0"/>
                </a:moveTo>
                <a:lnTo>
                  <a:pt x="28" y="0"/>
                </a:lnTo>
                <a:lnTo>
                  <a:pt x="28" y="1376"/>
                </a:lnTo>
                <a:lnTo>
                  <a:pt x="0" y="137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92" name=""/>
          <p:cNvSpPr/>
          <p:nvPr/>
        </p:nvSpPr>
        <p:spPr>
          <a:xfrm>
            <a:off x="590400" y="4343040"/>
            <a:ext cx="9720" cy="495720"/>
          </a:xfrm>
          <a:custGeom>
            <a:avLst/>
            <a:gdLst/>
            <a:ahLst/>
            <a:rect l="0" t="0" r="r" b="b"/>
            <a:pathLst>
              <a:path w="27" h="1377">
                <a:moveTo>
                  <a:pt x="0" y="0"/>
                </a:moveTo>
                <a:lnTo>
                  <a:pt x="27" y="0"/>
                </a:lnTo>
                <a:lnTo>
                  <a:pt x="27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93" name=""/>
          <p:cNvSpPr/>
          <p:nvPr/>
        </p:nvSpPr>
        <p:spPr>
          <a:xfrm>
            <a:off x="590400" y="4333680"/>
            <a:ext cx="4277160" cy="9720"/>
          </a:xfrm>
          <a:custGeom>
            <a:avLst/>
            <a:gdLst/>
            <a:ahLst/>
            <a:rect l="0" t="0" r="r" b="b"/>
            <a:pathLst>
              <a:path w="11881" h="27">
                <a:moveTo>
                  <a:pt x="0" y="0"/>
                </a:moveTo>
                <a:lnTo>
                  <a:pt x="11881" y="0"/>
                </a:lnTo>
                <a:lnTo>
                  <a:pt x="1188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94" name=""/>
          <p:cNvSpPr/>
          <p:nvPr/>
        </p:nvSpPr>
        <p:spPr>
          <a:xfrm>
            <a:off x="4857480" y="4343040"/>
            <a:ext cx="10080" cy="495720"/>
          </a:xfrm>
          <a:custGeom>
            <a:avLst/>
            <a:gdLst/>
            <a:ahLst/>
            <a:rect l="0" t="0" r="r" b="b"/>
            <a:pathLst>
              <a:path w="28" h="1377">
                <a:moveTo>
                  <a:pt x="0" y="0"/>
                </a:moveTo>
                <a:lnTo>
                  <a:pt x="28" y="0"/>
                </a:lnTo>
                <a:lnTo>
                  <a:pt x="28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95" name=""/>
          <p:cNvSpPr/>
          <p:nvPr/>
        </p:nvSpPr>
        <p:spPr>
          <a:xfrm>
            <a:off x="4867200" y="4333680"/>
            <a:ext cx="4362840" cy="9720"/>
          </a:xfrm>
          <a:custGeom>
            <a:avLst/>
            <a:gdLst/>
            <a:ahLst/>
            <a:rect l="0" t="0" r="r" b="b"/>
            <a:pathLst>
              <a:path w="12119" h="27">
                <a:moveTo>
                  <a:pt x="0" y="0"/>
                </a:moveTo>
                <a:lnTo>
                  <a:pt x="12119" y="0"/>
                </a:lnTo>
                <a:lnTo>
                  <a:pt x="1211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96" name=""/>
          <p:cNvSpPr/>
          <p:nvPr/>
        </p:nvSpPr>
        <p:spPr>
          <a:xfrm>
            <a:off x="9219960" y="4343040"/>
            <a:ext cx="10080" cy="495720"/>
          </a:xfrm>
          <a:custGeom>
            <a:avLst/>
            <a:gdLst/>
            <a:ahLst/>
            <a:rect l="0" t="0" r="r" b="b"/>
            <a:pathLst>
              <a:path w="28" h="1377">
                <a:moveTo>
                  <a:pt x="0" y="0"/>
                </a:moveTo>
                <a:lnTo>
                  <a:pt x="28" y="0"/>
                </a:lnTo>
                <a:lnTo>
                  <a:pt x="28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97" name=""/>
          <p:cNvSpPr/>
          <p:nvPr/>
        </p:nvSpPr>
        <p:spPr>
          <a:xfrm>
            <a:off x="9229680" y="4333680"/>
            <a:ext cx="2372040" cy="9720"/>
          </a:xfrm>
          <a:custGeom>
            <a:avLst/>
            <a:gdLst/>
            <a:ahLst/>
            <a:rect l="0" t="0" r="r" b="b"/>
            <a:pathLst>
              <a:path w="6589" h="27">
                <a:moveTo>
                  <a:pt x="0" y="0"/>
                </a:moveTo>
                <a:lnTo>
                  <a:pt x="6589" y="0"/>
                </a:lnTo>
                <a:lnTo>
                  <a:pt x="658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98" name=""/>
          <p:cNvSpPr/>
          <p:nvPr/>
        </p:nvSpPr>
        <p:spPr>
          <a:xfrm>
            <a:off x="11591640" y="4343040"/>
            <a:ext cx="10080" cy="495720"/>
          </a:xfrm>
          <a:custGeom>
            <a:avLst/>
            <a:gdLst/>
            <a:ahLst/>
            <a:rect l="0" t="0" r="r" b="b"/>
            <a:pathLst>
              <a:path w="28" h="1377">
                <a:moveTo>
                  <a:pt x="0" y="0"/>
                </a:moveTo>
                <a:lnTo>
                  <a:pt x="28" y="0"/>
                </a:lnTo>
                <a:lnTo>
                  <a:pt x="28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099" name=""/>
          <p:cNvSpPr/>
          <p:nvPr/>
        </p:nvSpPr>
        <p:spPr>
          <a:xfrm>
            <a:off x="590400" y="4838400"/>
            <a:ext cx="9720" cy="495720"/>
          </a:xfrm>
          <a:custGeom>
            <a:avLst/>
            <a:gdLst/>
            <a:ahLst/>
            <a:rect l="0" t="0" r="r" b="b"/>
            <a:pathLst>
              <a:path w="27" h="1377">
                <a:moveTo>
                  <a:pt x="0" y="0"/>
                </a:moveTo>
                <a:lnTo>
                  <a:pt x="27" y="0"/>
                </a:lnTo>
                <a:lnTo>
                  <a:pt x="27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00" name=""/>
          <p:cNvSpPr/>
          <p:nvPr/>
        </p:nvSpPr>
        <p:spPr>
          <a:xfrm>
            <a:off x="590400" y="4829040"/>
            <a:ext cx="4277160" cy="9720"/>
          </a:xfrm>
          <a:custGeom>
            <a:avLst/>
            <a:gdLst/>
            <a:ahLst/>
            <a:rect l="0" t="0" r="r" b="b"/>
            <a:pathLst>
              <a:path w="11881" h="27">
                <a:moveTo>
                  <a:pt x="0" y="0"/>
                </a:moveTo>
                <a:lnTo>
                  <a:pt x="11881" y="0"/>
                </a:lnTo>
                <a:lnTo>
                  <a:pt x="1188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01" name=""/>
          <p:cNvSpPr/>
          <p:nvPr/>
        </p:nvSpPr>
        <p:spPr>
          <a:xfrm>
            <a:off x="4857480" y="4838400"/>
            <a:ext cx="10080" cy="495720"/>
          </a:xfrm>
          <a:custGeom>
            <a:avLst/>
            <a:gdLst/>
            <a:ahLst/>
            <a:rect l="0" t="0" r="r" b="b"/>
            <a:pathLst>
              <a:path w="28" h="1377">
                <a:moveTo>
                  <a:pt x="0" y="0"/>
                </a:moveTo>
                <a:lnTo>
                  <a:pt x="28" y="0"/>
                </a:lnTo>
                <a:lnTo>
                  <a:pt x="28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02" name=""/>
          <p:cNvSpPr/>
          <p:nvPr/>
        </p:nvSpPr>
        <p:spPr>
          <a:xfrm>
            <a:off x="4867200" y="4829040"/>
            <a:ext cx="4362840" cy="9720"/>
          </a:xfrm>
          <a:custGeom>
            <a:avLst/>
            <a:gdLst/>
            <a:ahLst/>
            <a:rect l="0" t="0" r="r" b="b"/>
            <a:pathLst>
              <a:path w="12119" h="27">
                <a:moveTo>
                  <a:pt x="0" y="0"/>
                </a:moveTo>
                <a:lnTo>
                  <a:pt x="12119" y="0"/>
                </a:lnTo>
                <a:lnTo>
                  <a:pt x="1211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03" name=""/>
          <p:cNvSpPr/>
          <p:nvPr/>
        </p:nvSpPr>
        <p:spPr>
          <a:xfrm>
            <a:off x="9219960" y="4838400"/>
            <a:ext cx="10080" cy="495720"/>
          </a:xfrm>
          <a:custGeom>
            <a:avLst/>
            <a:gdLst/>
            <a:ahLst/>
            <a:rect l="0" t="0" r="r" b="b"/>
            <a:pathLst>
              <a:path w="28" h="1377">
                <a:moveTo>
                  <a:pt x="0" y="0"/>
                </a:moveTo>
                <a:lnTo>
                  <a:pt x="28" y="0"/>
                </a:lnTo>
                <a:lnTo>
                  <a:pt x="28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04" name=""/>
          <p:cNvSpPr/>
          <p:nvPr/>
        </p:nvSpPr>
        <p:spPr>
          <a:xfrm>
            <a:off x="9229680" y="4829040"/>
            <a:ext cx="2372040" cy="9720"/>
          </a:xfrm>
          <a:custGeom>
            <a:avLst/>
            <a:gdLst/>
            <a:ahLst/>
            <a:rect l="0" t="0" r="r" b="b"/>
            <a:pathLst>
              <a:path w="6589" h="27">
                <a:moveTo>
                  <a:pt x="0" y="0"/>
                </a:moveTo>
                <a:lnTo>
                  <a:pt x="6589" y="0"/>
                </a:lnTo>
                <a:lnTo>
                  <a:pt x="658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05" name=""/>
          <p:cNvSpPr/>
          <p:nvPr/>
        </p:nvSpPr>
        <p:spPr>
          <a:xfrm>
            <a:off x="11591640" y="4838400"/>
            <a:ext cx="10080" cy="495720"/>
          </a:xfrm>
          <a:custGeom>
            <a:avLst/>
            <a:gdLst/>
            <a:ahLst/>
            <a:rect l="0" t="0" r="r" b="b"/>
            <a:pathLst>
              <a:path w="28" h="1377">
                <a:moveTo>
                  <a:pt x="0" y="0"/>
                </a:moveTo>
                <a:lnTo>
                  <a:pt x="28" y="0"/>
                </a:lnTo>
                <a:lnTo>
                  <a:pt x="28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06" name=""/>
          <p:cNvSpPr/>
          <p:nvPr/>
        </p:nvSpPr>
        <p:spPr>
          <a:xfrm>
            <a:off x="590400" y="5324400"/>
            <a:ext cx="4277160" cy="9720"/>
          </a:xfrm>
          <a:custGeom>
            <a:avLst/>
            <a:gdLst/>
            <a:ahLst/>
            <a:rect l="0" t="0" r="r" b="b"/>
            <a:pathLst>
              <a:path w="11881" h="27">
                <a:moveTo>
                  <a:pt x="0" y="0"/>
                </a:moveTo>
                <a:lnTo>
                  <a:pt x="11881" y="0"/>
                </a:lnTo>
                <a:lnTo>
                  <a:pt x="1188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07" name=""/>
          <p:cNvSpPr/>
          <p:nvPr/>
        </p:nvSpPr>
        <p:spPr>
          <a:xfrm>
            <a:off x="4867200" y="5324400"/>
            <a:ext cx="4362840" cy="9720"/>
          </a:xfrm>
          <a:custGeom>
            <a:avLst/>
            <a:gdLst/>
            <a:ahLst/>
            <a:rect l="0" t="0" r="r" b="b"/>
            <a:pathLst>
              <a:path w="12119" h="27">
                <a:moveTo>
                  <a:pt x="0" y="0"/>
                </a:moveTo>
                <a:lnTo>
                  <a:pt x="12119" y="0"/>
                </a:lnTo>
                <a:lnTo>
                  <a:pt x="1211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08" name=""/>
          <p:cNvSpPr/>
          <p:nvPr/>
        </p:nvSpPr>
        <p:spPr>
          <a:xfrm>
            <a:off x="9229680" y="5324400"/>
            <a:ext cx="2372040" cy="9720"/>
          </a:xfrm>
          <a:custGeom>
            <a:avLst/>
            <a:gdLst/>
            <a:ahLst/>
            <a:rect l="0" t="0" r="r" b="b"/>
            <a:pathLst>
              <a:path w="6589" h="27">
                <a:moveTo>
                  <a:pt x="0" y="0"/>
                </a:moveTo>
                <a:lnTo>
                  <a:pt x="6589" y="0"/>
                </a:lnTo>
                <a:lnTo>
                  <a:pt x="658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09" name=""/>
          <p:cNvSpPr txBox="1"/>
          <p:nvPr/>
        </p:nvSpPr>
        <p:spPr>
          <a:xfrm>
            <a:off x="590400" y="1043640"/>
            <a:ext cx="7062012" cy="36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8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全体が高精度でも、言い換えには弱い</a:t>
            </a:r>
            <a:endParaRPr lang="en-US" sz="28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10" name=""/>
          <p:cNvSpPr txBox="1"/>
          <p:nvPr/>
        </p:nvSpPr>
        <p:spPr>
          <a:xfrm>
            <a:off x="590400" y="1857240"/>
            <a:ext cx="5005260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15M</a:t>
            </a:r>
            <a:r>
              <a:rPr lang="ja-JP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モデル・</a:t>
            </a:r>
            <a:r>
              <a:rPr lang="en-US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 epoch</a:t>
            </a:r>
            <a:r>
              <a:rPr lang="ja-JP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のテスト別結果。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11" name=""/>
          <p:cNvSpPr txBox="1"/>
          <p:nvPr/>
        </p:nvSpPr>
        <p:spPr>
          <a:xfrm>
            <a:off x="714240" y="2492280"/>
            <a:ext cx="721188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6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テスト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12" name=""/>
          <p:cNvSpPr txBox="1"/>
          <p:nvPr/>
        </p:nvSpPr>
        <p:spPr>
          <a:xfrm>
            <a:off x="8480160" y="2492280"/>
            <a:ext cx="721188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6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合格数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13" name=""/>
          <p:cNvSpPr txBox="1"/>
          <p:nvPr/>
        </p:nvSpPr>
        <p:spPr>
          <a:xfrm>
            <a:off x="10848960" y="2492280"/>
            <a:ext cx="721188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6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合格率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14" name=""/>
          <p:cNvSpPr txBox="1"/>
          <p:nvPr/>
        </p:nvSpPr>
        <p:spPr>
          <a:xfrm>
            <a:off x="714240" y="2987280"/>
            <a:ext cx="481068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通常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15" name=""/>
          <p:cNvSpPr txBox="1"/>
          <p:nvPr/>
        </p:nvSpPr>
        <p:spPr>
          <a:xfrm>
            <a:off x="7390080" y="2987280"/>
            <a:ext cx="1970226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24,003 / 24,040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16" name=""/>
          <p:cNvSpPr txBox="1"/>
          <p:nvPr/>
        </p:nvSpPr>
        <p:spPr>
          <a:xfrm>
            <a:off x="10692360" y="2987280"/>
            <a:ext cx="90045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99.85%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17" name=""/>
          <p:cNvSpPr txBox="1"/>
          <p:nvPr/>
        </p:nvSpPr>
        <p:spPr>
          <a:xfrm>
            <a:off x="714240" y="3482640"/>
            <a:ext cx="721188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組合せ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18" name=""/>
          <p:cNvSpPr txBox="1"/>
          <p:nvPr/>
        </p:nvSpPr>
        <p:spPr>
          <a:xfrm>
            <a:off x="7391520" y="3482640"/>
            <a:ext cx="1968156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13,188 / 13,400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19" name=""/>
          <p:cNvSpPr txBox="1"/>
          <p:nvPr/>
        </p:nvSpPr>
        <p:spPr>
          <a:xfrm>
            <a:off x="10691640" y="3482640"/>
            <a:ext cx="901278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98.42%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20" name=""/>
          <p:cNvSpPr txBox="1"/>
          <p:nvPr/>
        </p:nvSpPr>
        <p:spPr>
          <a:xfrm>
            <a:off x="714240" y="3978000"/>
            <a:ext cx="1921788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日本語の言い換え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21" name=""/>
          <p:cNvSpPr txBox="1"/>
          <p:nvPr/>
        </p:nvSpPr>
        <p:spPr>
          <a:xfrm>
            <a:off x="8285760" y="3978000"/>
            <a:ext cx="94392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6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15 / 30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22" name=""/>
          <p:cNvSpPr txBox="1"/>
          <p:nvPr/>
        </p:nvSpPr>
        <p:spPr>
          <a:xfrm>
            <a:off x="10653480" y="3978000"/>
            <a:ext cx="944748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6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50.00%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23" name=""/>
          <p:cNvSpPr txBox="1"/>
          <p:nvPr/>
        </p:nvSpPr>
        <p:spPr>
          <a:xfrm>
            <a:off x="714240" y="4473360"/>
            <a:ext cx="1681668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同じ操作の反復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24" name=""/>
          <p:cNvSpPr txBox="1"/>
          <p:nvPr/>
        </p:nvSpPr>
        <p:spPr>
          <a:xfrm>
            <a:off x="7391520" y="4473360"/>
            <a:ext cx="1968156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22,971 / 23,040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25" name=""/>
          <p:cNvSpPr txBox="1"/>
          <p:nvPr/>
        </p:nvSpPr>
        <p:spPr>
          <a:xfrm>
            <a:off x="10692360" y="4473360"/>
            <a:ext cx="90045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99.70%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26" name=""/>
          <p:cNvSpPr txBox="1"/>
          <p:nvPr/>
        </p:nvSpPr>
        <p:spPr>
          <a:xfrm>
            <a:off x="714240" y="4968720"/>
            <a:ext cx="721188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境界値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27" name=""/>
          <p:cNvSpPr txBox="1"/>
          <p:nvPr/>
        </p:nvSpPr>
        <p:spPr>
          <a:xfrm>
            <a:off x="7390080" y="4968720"/>
            <a:ext cx="1970226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24,003 / 24,040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28" name=""/>
          <p:cNvSpPr txBox="1"/>
          <p:nvPr/>
        </p:nvSpPr>
        <p:spPr>
          <a:xfrm>
            <a:off x="10692360" y="4968720"/>
            <a:ext cx="90045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99.85%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29" name=""/>
          <p:cNvSpPr txBox="1"/>
          <p:nvPr/>
        </p:nvSpPr>
        <p:spPr>
          <a:xfrm>
            <a:off x="590400" y="5581800"/>
            <a:ext cx="7364232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7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全体の</a:t>
            </a:r>
            <a:r>
              <a:rPr lang="en-US" sz="187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99.56%</a:t>
            </a:r>
            <a:r>
              <a:rPr lang="ja-JP" sz="187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だけでは、日本語表現への弱さが見えない。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30" name=""/>
          <p:cNvSpPr txBox="1"/>
          <p:nvPr/>
        </p:nvSpPr>
        <p:spPr>
          <a:xfrm>
            <a:off x="11705760" y="6466680"/>
            <a:ext cx="231012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Hiragino Sans"/>
                <a:ea typeface="Hiragino Sans"/>
              </a:rPr>
              <a:t>23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3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3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34" name=""/>
          <p:cNvSpPr/>
          <p:nvPr/>
        </p:nvSpPr>
        <p:spPr>
          <a:xfrm>
            <a:off x="599760" y="3428640"/>
            <a:ext cx="5829840" cy="467280"/>
          </a:xfrm>
          <a:custGeom>
            <a:avLst/>
            <a:gdLst/>
            <a:ahLst/>
            <a:rect l="0" t="0" r="r" b="b"/>
            <a:pathLst>
              <a:path w="16194" h="1298">
                <a:moveTo>
                  <a:pt x="0" y="0"/>
                </a:moveTo>
                <a:lnTo>
                  <a:pt x="16194" y="0"/>
                </a:lnTo>
                <a:lnTo>
                  <a:pt x="16194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35" name=""/>
          <p:cNvSpPr/>
          <p:nvPr/>
        </p:nvSpPr>
        <p:spPr>
          <a:xfrm>
            <a:off x="6429240" y="3428640"/>
            <a:ext cx="1619640" cy="467280"/>
          </a:xfrm>
          <a:custGeom>
            <a:avLst/>
            <a:gdLst/>
            <a:ahLst/>
            <a:rect l="0" t="0" r="r" b="b"/>
            <a:pathLst>
              <a:path w="4499" h="1298">
                <a:moveTo>
                  <a:pt x="0" y="0"/>
                </a:moveTo>
                <a:lnTo>
                  <a:pt x="4499" y="0"/>
                </a:lnTo>
                <a:lnTo>
                  <a:pt x="4499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36" name=""/>
          <p:cNvSpPr/>
          <p:nvPr/>
        </p:nvSpPr>
        <p:spPr>
          <a:xfrm>
            <a:off x="8048520" y="3428640"/>
            <a:ext cx="3553200" cy="467280"/>
          </a:xfrm>
          <a:custGeom>
            <a:avLst/>
            <a:gdLst/>
            <a:ahLst/>
            <a:rect l="0" t="0" r="r" b="b"/>
            <a:pathLst>
              <a:path w="9870" h="1298">
                <a:moveTo>
                  <a:pt x="0" y="0"/>
                </a:moveTo>
                <a:lnTo>
                  <a:pt x="9870" y="0"/>
                </a:lnTo>
                <a:lnTo>
                  <a:pt x="9870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37" name=""/>
          <p:cNvSpPr/>
          <p:nvPr/>
        </p:nvSpPr>
        <p:spPr>
          <a:xfrm>
            <a:off x="599760" y="3428640"/>
            <a:ext cx="5829840" cy="467280"/>
          </a:xfrm>
          <a:custGeom>
            <a:avLst/>
            <a:gdLst/>
            <a:ahLst/>
            <a:rect l="0" t="0" r="r" b="b"/>
            <a:pathLst>
              <a:path w="16194" h="1298">
                <a:moveTo>
                  <a:pt x="0" y="0"/>
                </a:moveTo>
                <a:lnTo>
                  <a:pt x="16194" y="0"/>
                </a:lnTo>
                <a:lnTo>
                  <a:pt x="16194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38" name=""/>
          <p:cNvSpPr/>
          <p:nvPr/>
        </p:nvSpPr>
        <p:spPr>
          <a:xfrm>
            <a:off x="6429240" y="3428640"/>
            <a:ext cx="1619640" cy="467280"/>
          </a:xfrm>
          <a:custGeom>
            <a:avLst/>
            <a:gdLst/>
            <a:ahLst/>
            <a:rect l="0" t="0" r="r" b="b"/>
            <a:pathLst>
              <a:path w="4499" h="1298">
                <a:moveTo>
                  <a:pt x="0" y="0"/>
                </a:moveTo>
                <a:lnTo>
                  <a:pt x="4499" y="0"/>
                </a:lnTo>
                <a:lnTo>
                  <a:pt x="4499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39" name=""/>
          <p:cNvSpPr/>
          <p:nvPr/>
        </p:nvSpPr>
        <p:spPr>
          <a:xfrm>
            <a:off x="8048520" y="3428640"/>
            <a:ext cx="3553200" cy="467280"/>
          </a:xfrm>
          <a:custGeom>
            <a:avLst/>
            <a:gdLst/>
            <a:ahLst/>
            <a:rect l="0" t="0" r="r" b="b"/>
            <a:pathLst>
              <a:path w="9870" h="1298">
                <a:moveTo>
                  <a:pt x="0" y="0"/>
                </a:moveTo>
                <a:lnTo>
                  <a:pt x="9870" y="0"/>
                </a:lnTo>
                <a:lnTo>
                  <a:pt x="9870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40" name=""/>
          <p:cNvSpPr/>
          <p:nvPr/>
        </p:nvSpPr>
        <p:spPr>
          <a:xfrm>
            <a:off x="599760" y="3895560"/>
            <a:ext cx="5829840" cy="466920"/>
          </a:xfrm>
          <a:custGeom>
            <a:avLst/>
            <a:gdLst/>
            <a:ahLst/>
            <a:rect l="0" t="0" r="r" b="b"/>
            <a:pathLst>
              <a:path w="16194" h="1297">
                <a:moveTo>
                  <a:pt x="0" y="0"/>
                </a:moveTo>
                <a:lnTo>
                  <a:pt x="16194" y="0"/>
                </a:lnTo>
                <a:lnTo>
                  <a:pt x="16194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41" name=""/>
          <p:cNvSpPr/>
          <p:nvPr/>
        </p:nvSpPr>
        <p:spPr>
          <a:xfrm>
            <a:off x="6429240" y="3895560"/>
            <a:ext cx="1619640" cy="466920"/>
          </a:xfrm>
          <a:custGeom>
            <a:avLst/>
            <a:gdLst/>
            <a:ahLst/>
            <a:rect l="0" t="0" r="r" b="b"/>
            <a:pathLst>
              <a:path w="4499" h="1297">
                <a:moveTo>
                  <a:pt x="0" y="0"/>
                </a:moveTo>
                <a:lnTo>
                  <a:pt x="4499" y="0"/>
                </a:lnTo>
                <a:lnTo>
                  <a:pt x="4499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42" name=""/>
          <p:cNvSpPr/>
          <p:nvPr/>
        </p:nvSpPr>
        <p:spPr>
          <a:xfrm>
            <a:off x="8048520" y="3895560"/>
            <a:ext cx="3553200" cy="466920"/>
          </a:xfrm>
          <a:custGeom>
            <a:avLst/>
            <a:gdLst/>
            <a:ahLst/>
            <a:rect l="0" t="0" r="r" b="b"/>
            <a:pathLst>
              <a:path w="9870" h="1297">
                <a:moveTo>
                  <a:pt x="0" y="0"/>
                </a:moveTo>
                <a:lnTo>
                  <a:pt x="9870" y="0"/>
                </a:lnTo>
                <a:lnTo>
                  <a:pt x="9870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43" name=""/>
          <p:cNvSpPr/>
          <p:nvPr/>
        </p:nvSpPr>
        <p:spPr>
          <a:xfrm>
            <a:off x="590400" y="3428640"/>
            <a:ext cx="9720" cy="476640"/>
          </a:xfrm>
          <a:custGeom>
            <a:avLst/>
            <a:gdLst/>
            <a:ahLst/>
            <a:rect l="0" t="0" r="r" b="b"/>
            <a:pathLst>
              <a:path w="27" h="1324">
                <a:moveTo>
                  <a:pt x="0" y="0"/>
                </a:moveTo>
                <a:lnTo>
                  <a:pt x="27" y="0"/>
                </a:lnTo>
                <a:lnTo>
                  <a:pt x="27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44" name=""/>
          <p:cNvSpPr/>
          <p:nvPr/>
        </p:nvSpPr>
        <p:spPr>
          <a:xfrm>
            <a:off x="590400" y="3428640"/>
            <a:ext cx="5839200" cy="10080"/>
          </a:xfrm>
          <a:custGeom>
            <a:avLst/>
            <a:gdLst/>
            <a:ahLst/>
            <a:rect l="0" t="0" r="r" b="b"/>
            <a:pathLst>
              <a:path w="16220" h="28">
                <a:moveTo>
                  <a:pt x="0" y="0"/>
                </a:moveTo>
                <a:lnTo>
                  <a:pt x="16220" y="0"/>
                </a:lnTo>
                <a:lnTo>
                  <a:pt x="1622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45" name=""/>
          <p:cNvSpPr/>
          <p:nvPr/>
        </p:nvSpPr>
        <p:spPr>
          <a:xfrm>
            <a:off x="6419520" y="3428640"/>
            <a:ext cx="10080" cy="476640"/>
          </a:xfrm>
          <a:custGeom>
            <a:avLst/>
            <a:gdLst/>
            <a:ahLst/>
            <a:rect l="0" t="0" r="r" b="b"/>
            <a:pathLst>
              <a:path w="28" h="1324">
                <a:moveTo>
                  <a:pt x="0" y="0"/>
                </a:moveTo>
                <a:lnTo>
                  <a:pt x="28" y="0"/>
                </a:lnTo>
                <a:lnTo>
                  <a:pt x="28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46" name=""/>
          <p:cNvSpPr/>
          <p:nvPr/>
        </p:nvSpPr>
        <p:spPr>
          <a:xfrm>
            <a:off x="6429240" y="3428640"/>
            <a:ext cx="1619640" cy="10080"/>
          </a:xfrm>
          <a:custGeom>
            <a:avLst/>
            <a:gdLst/>
            <a:ahLst/>
            <a:rect l="0" t="0" r="r" b="b"/>
            <a:pathLst>
              <a:path w="4499" h="28">
                <a:moveTo>
                  <a:pt x="0" y="0"/>
                </a:moveTo>
                <a:lnTo>
                  <a:pt x="4499" y="0"/>
                </a:lnTo>
                <a:lnTo>
                  <a:pt x="449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47" name=""/>
          <p:cNvSpPr/>
          <p:nvPr/>
        </p:nvSpPr>
        <p:spPr>
          <a:xfrm>
            <a:off x="8038800" y="3428640"/>
            <a:ext cx="10080" cy="476640"/>
          </a:xfrm>
          <a:custGeom>
            <a:avLst/>
            <a:gdLst/>
            <a:ahLst/>
            <a:rect l="0" t="0" r="r" b="b"/>
            <a:pathLst>
              <a:path w="28" h="1324">
                <a:moveTo>
                  <a:pt x="0" y="0"/>
                </a:moveTo>
                <a:lnTo>
                  <a:pt x="28" y="0"/>
                </a:lnTo>
                <a:lnTo>
                  <a:pt x="28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48" name=""/>
          <p:cNvSpPr/>
          <p:nvPr/>
        </p:nvSpPr>
        <p:spPr>
          <a:xfrm>
            <a:off x="8048520" y="3428640"/>
            <a:ext cx="3553200" cy="10080"/>
          </a:xfrm>
          <a:custGeom>
            <a:avLst/>
            <a:gdLst/>
            <a:ahLst/>
            <a:rect l="0" t="0" r="r" b="b"/>
            <a:pathLst>
              <a:path w="9870" h="28">
                <a:moveTo>
                  <a:pt x="0" y="0"/>
                </a:moveTo>
                <a:lnTo>
                  <a:pt x="9870" y="0"/>
                </a:lnTo>
                <a:lnTo>
                  <a:pt x="987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49" name=""/>
          <p:cNvSpPr/>
          <p:nvPr/>
        </p:nvSpPr>
        <p:spPr>
          <a:xfrm>
            <a:off x="11591640" y="3428640"/>
            <a:ext cx="10080" cy="476640"/>
          </a:xfrm>
          <a:custGeom>
            <a:avLst/>
            <a:gdLst/>
            <a:ahLst/>
            <a:rect l="0" t="0" r="r" b="b"/>
            <a:pathLst>
              <a:path w="28" h="1324">
                <a:moveTo>
                  <a:pt x="0" y="0"/>
                </a:moveTo>
                <a:lnTo>
                  <a:pt x="28" y="0"/>
                </a:lnTo>
                <a:lnTo>
                  <a:pt x="28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50" name=""/>
          <p:cNvSpPr/>
          <p:nvPr/>
        </p:nvSpPr>
        <p:spPr>
          <a:xfrm>
            <a:off x="590400" y="3895560"/>
            <a:ext cx="5839200" cy="9720"/>
          </a:xfrm>
          <a:custGeom>
            <a:avLst/>
            <a:gdLst/>
            <a:ahLst/>
            <a:rect l="0" t="0" r="r" b="b"/>
            <a:pathLst>
              <a:path w="16220" h="27">
                <a:moveTo>
                  <a:pt x="0" y="0"/>
                </a:moveTo>
                <a:lnTo>
                  <a:pt x="16220" y="0"/>
                </a:lnTo>
                <a:lnTo>
                  <a:pt x="1622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51" name=""/>
          <p:cNvSpPr/>
          <p:nvPr/>
        </p:nvSpPr>
        <p:spPr>
          <a:xfrm>
            <a:off x="6429240" y="3895560"/>
            <a:ext cx="1619640" cy="9720"/>
          </a:xfrm>
          <a:custGeom>
            <a:avLst/>
            <a:gdLst/>
            <a:ahLst/>
            <a:rect l="0" t="0" r="r" b="b"/>
            <a:pathLst>
              <a:path w="4499" h="27">
                <a:moveTo>
                  <a:pt x="0" y="0"/>
                </a:moveTo>
                <a:lnTo>
                  <a:pt x="4499" y="0"/>
                </a:lnTo>
                <a:lnTo>
                  <a:pt x="449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52" name=""/>
          <p:cNvSpPr/>
          <p:nvPr/>
        </p:nvSpPr>
        <p:spPr>
          <a:xfrm>
            <a:off x="8048520" y="3895560"/>
            <a:ext cx="3553200" cy="9720"/>
          </a:xfrm>
          <a:custGeom>
            <a:avLst/>
            <a:gdLst/>
            <a:ahLst/>
            <a:rect l="0" t="0" r="r" b="b"/>
            <a:pathLst>
              <a:path w="9870" h="27">
                <a:moveTo>
                  <a:pt x="0" y="0"/>
                </a:moveTo>
                <a:lnTo>
                  <a:pt x="9870" y="0"/>
                </a:lnTo>
                <a:lnTo>
                  <a:pt x="987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53" name=""/>
          <p:cNvSpPr/>
          <p:nvPr/>
        </p:nvSpPr>
        <p:spPr>
          <a:xfrm>
            <a:off x="590400" y="3904920"/>
            <a:ext cx="9720" cy="467280"/>
          </a:xfrm>
          <a:custGeom>
            <a:avLst/>
            <a:gdLst/>
            <a:ahLst/>
            <a:rect l="0" t="0" r="r" b="b"/>
            <a:pathLst>
              <a:path w="27" h="1298">
                <a:moveTo>
                  <a:pt x="0" y="0"/>
                </a:moveTo>
                <a:lnTo>
                  <a:pt x="27" y="0"/>
                </a:lnTo>
                <a:lnTo>
                  <a:pt x="27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54" name=""/>
          <p:cNvSpPr/>
          <p:nvPr/>
        </p:nvSpPr>
        <p:spPr>
          <a:xfrm>
            <a:off x="6419520" y="3904920"/>
            <a:ext cx="10080" cy="467280"/>
          </a:xfrm>
          <a:custGeom>
            <a:avLst/>
            <a:gdLst/>
            <a:ahLst/>
            <a:rect l="0" t="0" r="r" b="b"/>
            <a:pathLst>
              <a:path w="28" h="1298">
                <a:moveTo>
                  <a:pt x="0" y="0"/>
                </a:moveTo>
                <a:lnTo>
                  <a:pt x="28" y="0"/>
                </a:lnTo>
                <a:lnTo>
                  <a:pt x="28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55" name=""/>
          <p:cNvSpPr/>
          <p:nvPr/>
        </p:nvSpPr>
        <p:spPr>
          <a:xfrm>
            <a:off x="8038800" y="3904920"/>
            <a:ext cx="10080" cy="467280"/>
          </a:xfrm>
          <a:custGeom>
            <a:avLst/>
            <a:gdLst/>
            <a:ahLst/>
            <a:rect l="0" t="0" r="r" b="b"/>
            <a:pathLst>
              <a:path w="28" h="1298">
                <a:moveTo>
                  <a:pt x="0" y="0"/>
                </a:moveTo>
                <a:lnTo>
                  <a:pt x="28" y="0"/>
                </a:lnTo>
                <a:lnTo>
                  <a:pt x="28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56" name=""/>
          <p:cNvSpPr/>
          <p:nvPr/>
        </p:nvSpPr>
        <p:spPr>
          <a:xfrm>
            <a:off x="11591640" y="3904920"/>
            <a:ext cx="10080" cy="467280"/>
          </a:xfrm>
          <a:custGeom>
            <a:avLst/>
            <a:gdLst/>
            <a:ahLst/>
            <a:rect l="0" t="0" r="r" b="b"/>
            <a:pathLst>
              <a:path w="28" h="1298">
                <a:moveTo>
                  <a:pt x="0" y="0"/>
                </a:moveTo>
                <a:lnTo>
                  <a:pt x="28" y="0"/>
                </a:lnTo>
                <a:lnTo>
                  <a:pt x="28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57" name=""/>
          <p:cNvSpPr/>
          <p:nvPr/>
        </p:nvSpPr>
        <p:spPr>
          <a:xfrm>
            <a:off x="590400" y="4362120"/>
            <a:ext cx="5839200" cy="10080"/>
          </a:xfrm>
          <a:custGeom>
            <a:avLst/>
            <a:gdLst/>
            <a:ahLst/>
            <a:rect l="0" t="0" r="r" b="b"/>
            <a:pathLst>
              <a:path w="16220" h="28">
                <a:moveTo>
                  <a:pt x="0" y="0"/>
                </a:moveTo>
                <a:lnTo>
                  <a:pt x="16220" y="0"/>
                </a:lnTo>
                <a:lnTo>
                  <a:pt x="1622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58" name=""/>
          <p:cNvSpPr/>
          <p:nvPr/>
        </p:nvSpPr>
        <p:spPr>
          <a:xfrm>
            <a:off x="6429240" y="4362120"/>
            <a:ext cx="1619640" cy="10080"/>
          </a:xfrm>
          <a:custGeom>
            <a:avLst/>
            <a:gdLst/>
            <a:ahLst/>
            <a:rect l="0" t="0" r="r" b="b"/>
            <a:pathLst>
              <a:path w="4499" h="28">
                <a:moveTo>
                  <a:pt x="0" y="0"/>
                </a:moveTo>
                <a:lnTo>
                  <a:pt x="4499" y="0"/>
                </a:lnTo>
                <a:lnTo>
                  <a:pt x="449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59" name=""/>
          <p:cNvSpPr/>
          <p:nvPr/>
        </p:nvSpPr>
        <p:spPr>
          <a:xfrm>
            <a:off x="8048520" y="4362120"/>
            <a:ext cx="3553200" cy="10080"/>
          </a:xfrm>
          <a:custGeom>
            <a:avLst/>
            <a:gdLst/>
            <a:ahLst/>
            <a:rect l="0" t="0" r="r" b="b"/>
            <a:pathLst>
              <a:path w="9870" h="28">
                <a:moveTo>
                  <a:pt x="0" y="0"/>
                </a:moveTo>
                <a:lnTo>
                  <a:pt x="9870" y="0"/>
                </a:lnTo>
                <a:lnTo>
                  <a:pt x="987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60" name=""/>
          <p:cNvSpPr txBox="1"/>
          <p:nvPr/>
        </p:nvSpPr>
        <p:spPr>
          <a:xfrm>
            <a:off x="590400" y="1586520"/>
            <a:ext cx="8308152" cy="36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8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先行研究：日本語の書き方で正解率が変わる</a:t>
            </a:r>
            <a:endParaRPr lang="en-US" sz="28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61" name=""/>
          <p:cNvSpPr txBox="1"/>
          <p:nvPr/>
        </p:nvSpPr>
        <p:spPr>
          <a:xfrm>
            <a:off x="590400" y="2409840"/>
            <a:ext cx="9836640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Gan and Mori</a:t>
            </a:r>
            <a:r>
              <a:rPr lang="ja-JP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（</a:t>
            </a:r>
            <a:r>
              <a:rPr lang="en-US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2023</a:t>
            </a:r>
            <a:r>
              <a:rPr lang="ja-JP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）は、意味や指示が近い</a:t>
            </a:r>
            <a:r>
              <a:rPr lang="en-US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5</a:t>
            </a:r>
            <a:r>
              <a:rPr lang="ja-JP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種類のプロンプトを比較した。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62" name=""/>
          <p:cNvSpPr txBox="1"/>
          <p:nvPr/>
        </p:nvSpPr>
        <p:spPr>
          <a:xfrm>
            <a:off x="590400" y="2933640"/>
            <a:ext cx="6562728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7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プロンプト</a:t>
            </a:r>
            <a:r>
              <a:rPr lang="ja-JP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は、モデルに渡す指示文や質問文のこと。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63" name=""/>
          <p:cNvSpPr txBox="1"/>
          <p:nvPr/>
        </p:nvSpPr>
        <p:spPr>
          <a:xfrm>
            <a:off x="723960" y="3551760"/>
            <a:ext cx="1578168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日本語の課題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64" name=""/>
          <p:cNvSpPr txBox="1"/>
          <p:nvPr/>
        </p:nvSpPr>
        <p:spPr>
          <a:xfrm>
            <a:off x="6554880" y="3551760"/>
            <a:ext cx="789498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モデル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65" name=""/>
          <p:cNvSpPr txBox="1"/>
          <p:nvPr/>
        </p:nvSpPr>
        <p:spPr>
          <a:xfrm>
            <a:off x="8176680" y="3551760"/>
            <a:ext cx="1578168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正解率の範囲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66" name=""/>
          <p:cNvSpPr txBox="1"/>
          <p:nvPr/>
        </p:nvSpPr>
        <p:spPr>
          <a:xfrm>
            <a:off x="723960" y="4018320"/>
            <a:ext cx="3625812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2</a:t>
            </a:r>
            <a:r>
              <a:rPr lang="ja-JP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文の意味関係を分類する</a:t>
            </a:r>
            <a:r>
              <a:rPr lang="en-US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JNLI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67" name=""/>
          <p:cNvSpPr txBox="1"/>
          <p:nvPr/>
        </p:nvSpPr>
        <p:spPr>
          <a:xfrm>
            <a:off x="6554880" y="4018320"/>
            <a:ext cx="81144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GPT-4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68" name=""/>
          <p:cNvSpPr txBox="1"/>
          <p:nvPr/>
        </p:nvSpPr>
        <p:spPr>
          <a:xfrm>
            <a:off x="8176680" y="4018320"/>
            <a:ext cx="2091114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8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25.44</a:t>
            </a:r>
            <a:r>
              <a:rPr lang="ja-JP" sz="18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〜</a:t>
            </a:r>
            <a:r>
              <a:rPr lang="en-US" sz="18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49.21%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69" name=""/>
          <p:cNvSpPr txBox="1"/>
          <p:nvPr/>
        </p:nvSpPr>
        <p:spPr>
          <a:xfrm>
            <a:off x="590400" y="4619520"/>
            <a:ext cx="8202996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意味が近くても、書き方によって性能が大きく変わる場合がある。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70" name=""/>
          <p:cNvSpPr txBox="1"/>
          <p:nvPr/>
        </p:nvSpPr>
        <p:spPr>
          <a:xfrm>
            <a:off x="590400" y="5126040"/>
            <a:ext cx="4172292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3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出典：</a:t>
            </a:r>
            <a:r>
              <a:rPr lang="en-US" sz="1350" b="0" u="none" strike="noStrike">
                <a:solidFill>
                  <a:srgbClr val="2877AA"/>
                </a:solidFill>
                <a:effectLst/>
                <a:uFillTx/>
                <a:latin typeface="Hiragino Sans"/>
                <a:ea typeface="Hiragino Sans"/>
              </a:rPr>
              <a:t>Gan and Mori, PACLIC 2023, Table 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71" name=""/>
          <p:cNvSpPr txBox="1"/>
          <p:nvPr/>
        </p:nvSpPr>
        <p:spPr>
          <a:xfrm>
            <a:off x="11705400" y="6466680"/>
            <a:ext cx="2318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Hiragino Sans"/>
                <a:ea typeface="Hiragino Sans"/>
              </a:rPr>
              <a:t>24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7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7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75" name=""/>
          <p:cNvSpPr/>
          <p:nvPr/>
        </p:nvSpPr>
        <p:spPr>
          <a:xfrm>
            <a:off x="599760" y="2666880"/>
            <a:ext cx="4839120" cy="466920"/>
          </a:xfrm>
          <a:custGeom>
            <a:avLst/>
            <a:gdLst/>
            <a:ahLst/>
            <a:rect l="0" t="0" r="r" b="b"/>
            <a:pathLst>
              <a:path w="13442" h="1297">
                <a:moveTo>
                  <a:pt x="0" y="0"/>
                </a:moveTo>
                <a:lnTo>
                  <a:pt x="13442" y="0"/>
                </a:lnTo>
                <a:lnTo>
                  <a:pt x="13442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76" name=""/>
          <p:cNvSpPr/>
          <p:nvPr/>
        </p:nvSpPr>
        <p:spPr>
          <a:xfrm>
            <a:off x="5438520" y="2666880"/>
            <a:ext cx="6163200" cy="466920"/>
          </a:xfrm>
          <a:custGeom>
            <a:avLst/>
            <a:gdLst/>
            <a:ahLst/>
            <a:rect l="0" t="0" r="r" b="b"/>
            <a:pathLst>
              <a:path w="17120" h="1297">
                <a:moveTo>
                  <a:pt x="0" y="0"/>
                </a:moveTo>
                <a:lnTo>
                  <a:pt x="17120" y="0"/>
                </a:lnTo>
                <a:lnTo>
                  <a:pt x="17120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77" name=""/>
          <p:cNvSpPr/>
          <p:nvPr/>
        </p:nvSpPr>
        <p:spPr>
          <a:xfrm>
            <a:off x="599760" y="2666880"/>
            <a:ext cx="4839120" cy="466920"/>
          </a:xfrm>
          <a:custGeom>
            <a:avLst/>
            <a:gdLst/>
            <a:ahLst/>
            <a:rect l="0" t="0" r="r" b="b"/>
            <a:pathLst>
              <a:path w="13442" h="1297">
                <a:moveTo>
                  <a:pt x="0" y="0"/>
                </a:moveTo>
                <a:lnTo>
                  <a:pt x="13442" y="0"/>
                </a:lnTo>
                <a:lnTo>
                  <a:pt x="13442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78" name=""/>
          <p:cNvSpPr/>
          <p:nvPr/>
        </p:nvSpPr>
        <p:spPr>
          <a:xfrm>
            <a:off x="5438520" y="2666880"/>
            <a:ext cx="6163200" cy="466920"/>
          </a:xfrm>
          <a:custGeom>
            <a:avLst/>
            <a:gdLst/>
            <a:ahLst/>
            <a:rect l="0" t="0" r="r" b="b"/>
            <a:pathLst>
              <a:path w="17120" h="1297">
                <a:moveTo>
                  <a:pt x="0" y="0"/>
                </a:moveTo>
                <a:lnTo>
                  <a:pt x="17120" y="0"/>
                </a:lnTo>
                <a:lnTo>
                  <a:pt x="17120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79" name=""/>
          <p:cNvSpPr/>
          <p:nvPr/>
        </p:nvSpPr>
        <p:spPr>
          <a:xfrm>
            <a:off x="599760" y="3133440"/>
            <a:ext cx="4839120" cy="467280"/>
          </a:xfrm>
          <a:custGeom>
            <a:avLst/>
            <a:gdLst/>
            <a:ahLst/>
            <a:rect l="0" t="0" r="r" b="b"/>
            <a:pathLst>
              <a:path w="13442" h="1298">
                <a:moveTo>
                  <a:pt x="0" y="0"/>
                </a:moveTo>
                <a:lnTo>
                  <a:pt x="13442" y="0"/>
                </a:lnTo>
                <a:lnTo>
                  <a:pt x="13442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80" name=""/>
          <p:cNvSpPr/>
          <p:nvPr/>
        </p:nvSpPr>
        <p:spPr>
          <a:xfrm>
            <a:off x="5438520" y="3133440"/>
            <a:ext cx="6163200" cy="467280"/>
          </a:xfrm>
          <a:custGeom>
            <a:avLst/>
            <a:gdLst/>
            <a:ahLst/>
            <a:rect l="0" t="0" r="r" b="b"/>
            <a:pathLst>
              <a:path w="17120" h="1298">
                <a:moveTo>
                  <a:pt x="0" y="0"/>
                </a:moveTo>
                <a:lnTo>
                  <a:pt x="17120" y="0"/>
                </a:lnTo>
                <a:lnTo>
                  <a:pt x="17120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81" name=""/>
          <p:cNvSpPr/>
          <p:nvPr/>
        </p:nvSpPr>
        <p:spPr>
          <a:xfrm>
            <a:off x="599760" y="3600360"/>
            <a:ext cx="4839120" cy="466920"/>
          </a:xfrm>
          <a:custGeom>
            <a:avLst/>
            <a:gdLst/>
            <a:ahLst/>
            <a:rect l="0" t="0" r="r" b="b"/>
            <a:pathLst>
              <a:path w="13442" h="1297">
                <a:moveTo>
                  <a:pt x="0" y="0"/>
                </a:moveTo>
                <a:lnTo>
                  <a:pt x="13442" y="0"/>
                </a:lnTo>
                <a:lnTo>
                  <a:pt x="13442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82" name=""/>
          <p:cNvSpPr/>
          <p:nvPr/>
        </p:nvSpPr>
        <p:spPr>
          <a:xfrm>
            <a:off x="5438520" y="3600360"/>
            <a:ext cx="6163200" cy="466920"/>
          </a:xfrm>
          <a:custGeom>
            <a:avLst/>
            <a:gdLst/>
            <a:ahLst/>
            <a:rect l="0" t="0" r="r" b="b"/>
            <a:pathLst>
              <a:path w="17120" h="1297">
                <a:moveTo>
                  <a:pt x="0" y="0"/>
                </a:moveTo>
                <a:lnTo>
                  <a:pt x="17120" y="0"/>
                </a:lnTo>
                <a:lnTo>
                  <a:pt x="17120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83" name=""/>
          <p:cNvSpPr/>
          <p:nvPr/>
        </p:nvSpPr>
        <p:spPr>
          <a:xfrm>
            <a:off x="590400" y="2666880"/>
            <a:ext cx="9720" cy="476640"/>
          </a:xfrm>
          <a:custGeom>
            <a:avLst/>
            <a:gdLst/>
            <a:ahLst/>
            <a:rect l="0" t="0" r="r" b="b"/>
            <a:pathLst>
              <a:path w="27" h="1324">
                <a:moveTo>
                  <a:pt x="0" y="0"/>
                </a:moveTo>
                <a:lnTo>
                  <a:pt x="27" y="0"/>
                </a:lnTo>
                <a:lnTo>
                  <a:pt x="27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84" name=""/>
          <p:cNvSpPr/>
          <p:nvPr/>
        </p:nvSpPr>
        <p:spPr>
          <a:xfrm>
            <a:off x="590400" y="2666880"/>
            <a:ext cx="4858200" cy="9720"/>
          </a:xfrm>
          <a:custGeom>
            <a:avLst/>
            <a:gdLst/>
            <a:ahLst/>
            <a:rect l="0" t="0" r="r" b="b"/>
            <a:pathLst>
              <a:path w="13495" h="27">
                <a:moveTo>
                  <a:pt x="0" y="0"/>
                </a:moveTo>
                <a:lnTo>
                  <a:pt x="13495" y="0"/>
                </a:lnTo>
                <a:lnTo>
                  <a:pt x="134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85" name=""/>
          <p:cNvSpPr/>
          <p:nvPr/>
        </p:nvSpPr>
        <p:spPr>
          <a:xfrm>
            <a:off x="5438520" y="2666880"/>
            <a:ext cx="10080" cy="476640"/>
          </a:xfrm>
          <a:custGeom>
            <a:avLst/>
            <a:gdLst/>
            <a:ahLst/>
            <a:rect l="0" t="0" r="r" b="b"/>
            <a:pathLst>
              <a:path w="28" h="1324">
                <a:moveTo>
                  <a:pt x="0" y="0"/>
                </a:moveTo>
                <a:lnTo>
                  <a:pt x="28" y="0"/>
                </a:lnTo>
                <a:lnTo>
                  <a:pt x="28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86" name=""/>
          <p:cNvSpPr/>
          <p:nvPr/>
        </p:nvSpPr>
        <p:spPr>
          <a:xfrm>
            <a:off x="5448240" y="2666880"/>
            <a:ext cx="6153480" cy="9720"/>
          </a:xfrm>
          <a:custGeom>
            <a:avLst/>
            <a:gdLst/>
            <a:ahLst/>
            <a:rect l="0" t="0" r="r" b="b"/>
            <a:pathLst>
              <a:path w="17093" h="27">
                <a:moveTo>
                  <a:pt x="0" y="0"/>
                </a:moveTo>
                <a:lnTo>
                  <a:pt x="17093" y="0"/>
                </a:lnTo>
                <a:lnTo>
                  <a:pt x="1709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87" name=""/>
          <p:cNvSpPr/>
          <p:nvPr/>
        </p:nvSpPr>
        <p:spPr>
          <a:xfrm>
            <a:off x="11591640" y="2666880"/>
            <a:ext cx="10080" cy="476640"/>
          </a:xfrm>
          <a:custGeom>
            <a:avLst/>
            <a:gdLst/>
            <a:ahLst/>
            <a:rect l="0" t="0" r="r" b="b"/>
            <a:pathLst>
              <a:path w="28" h="1324">
                <a:moveTo>
                  <a:pt x="0" y="0"/>
                </a:moveTo>
                <a:lnTo>
                  <a:pt x="28" y="0"/>
                </a:lnTo>
                <a:lnTo>
                  <a:pt x="28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88" name=""/>
          <p:cNvSpPr/>
          <p:nvPr/>
        </p:nvSpPr>
        <p:spPr>
          <a:xfrm>
            <a:off x="590400" y="3133440"/>
            <a:ext cx="4858200" cy="10080"/>
          </a:xfrm>
          <a:custGeom>
            <a:avLst/>
            <a:gdLst/>
            <a:ahLst/>
            <a:rect l="0" t="0" r="r" b="b"/>
            <a:pathLst>
              <a:path w="13495" h="28">
                <a:moveTo>
                  <a:pt x="0" y="0"/>
                </a:moveTo>
                <a:lnTo>
                  <a:pt x="13495" y="0"/>
                </a:lnTo>
                <a:lnTo>
                  <a:pt x="1349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89" name=""/>
          <p:cNvSpPr/>
          <p:nvPr/>
        </p:nvSpPr>
        <p:spPr>
          <a:xfrm>
            <a:off x="5448240" y="3133440"/>
            <a:ext cx="6153480" cy="10080"/>
          </a:xfrm>
          <a:custGeom>
            <a:avLst/>
            <a:gdLst/>
            <a:ahLst/>
            <a:rect l="0" t="0" r="r" b="b"/>
            <a:pathLst>
              <a:path w="17093" h="28">
                <a:moveTo>
                  <a:pt x="0" y="0"/>
                </a:moveTo>
                <a:lnTo>
                  <a:pt x="17093" y="0"/>
                </a:lnTo>
                <a:lnTo>
                  <a:pt x="1709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90" name=""/>
          <p:cNvSpPr/>
          <p:nvPr/>
        </p:nvSpPr>
        <p:spPr>
          <a:xfrm>
            <a:off x="590400" y="3143160"/>
            <a:ext cx="9720" cy="466920"/>
          </a:xfrm>
          <a:custGeom>
            <a:avLst/>
            <a:gdLst/>
            <a:ahLst/>
            <a:rect l="0" t="0" r="r" b="b"/>
            <a:pathLst>
              <a:path w="27" h="1297">
                <a:moveTo>
                  <a:pt x="0" y="0"/>
                </a:moveTo>
                <a:lnTo>
                  <a:pt x="27" y="0"/>
                </a:lnTo>
                <a:lnTo>
                  <a:pt x="27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91" name=""/>
          <p:cNvSpPr/>
          <p:nvPr/>
        </p:nvSpPr>
        <p:spPr>
          <a:xfrm>
            <a:off x="5438520" y="3143160"/>
            <a:ext cx="10080" cy="466920"/>
          </a:xfrm>
          <a:custGeom>
            <a:avLst/>
            <a:gdLst/>
            <a:ahLst/>
            <a:rect l="0" t="0" r="r" b="b"/>
            <a:pathLst>
              <a:path w="28" h="1297">
                <a:moveTo>
                  <a:pt x="0" y="0"/>
                </a:moveTo>
                <a:lnTo>
                  <a:pt x="28" y="0"/>
                </a:lnTo>
                <a:lnTo>
                  <a:pt x="28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92" name=""/>
          <p:cNvSpPr/>
          <p:nvPr/>
        </p:nvSpPr>
        <p:spPr>
          <a:xfrm>
            <a:off x="11591640" y="3143160"/>
            <a:ext cx="10080" cy="466920"/>
          </a:xfrm>
          <a:custGeom>
            <a:avLst/>
            <a:gdLst/>
            <a:ahLst/>
            <a:rect l="0" t="0" r="r" b="b"/>
            <a:pathLst>
              <a:path w="28" h="1297">
                <a:moveTo>
                  <a:pt x="0" y="0"/>
                </a:moveTo>
                <a:lnTo>
                  <a:pt x="28" y="0"/>
                </a:lnTo>
                <a:lnTo>
                  <a:pt x="28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93" name=""/>
          <p:cNvSpPr/>
          <p:nvPr/>
        </p:nvSpPr>
        <p:spPr>
          <a:xfrm>
            <a:off x="590400" y="3609720"/>
            <a:ext cx="9720" cy="467280"/>
          </a:xfrm>
          <a:custGeom>
            <a:avLst/>
            <a:gdLst/>
            <a:ahLst/>
            <a:rect l="0" t="0" r="r" b="b"/>
            <a:pathLst>
              <a:path w="27" h="1298">
                <a:moveTo>
                  <a:pt x="0" y="0"/>
                </a:moveTo>
                <a:lnTo>
                  <a:pt x="27" y="0"/>
                </a:lnTo>
                <a:lnTo>
                  <a:pt x="27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94" name=""/>
          <p:cNvSpPr/>
          <p:nvPr/>
        </p:nvSpPr>
        <p:spPr>
          <a:xfrm>
            <a:off x="590400" y="3600360"/>
            <a:ext cx="4858200" cy="9720"/>
          </a:xfrm>
          <a:custGeom>
            <a:avLst/>
            <a:gdLst/>
            <a:ahLst/>
            <a:rect l="0" t="0" r="r" b="b"/>
            <a:pathLst>
              <a:path w="13495" h="27">
                <a:moveTo>
                  <a:pt x="0" y="0"/>
                </a:moveTo>
                <a:lnTo>
                  <a:pt x="13495" y="0"/>
                </a:lnTo>
                <a:lnTo>
                  <a:pt x="134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95" name=""/>
          <p:cNvSpPr/>
          <p:nvPr/>
        </p:nvSpPr>
        <p:spPr>
          <a:xfrm>
            <a:off x="5438520" y="3609720"/>
            <a:ext cx="10080" cy="467280"/>
          </a:xfrm>
          <a:custGeom>
            <a:avLst/>
            <a:gdLst/>
            <a:ahLst/>
            <a:rect l="0" t="0" r="r" b="b"/>
            <a:pathLst>
              <a:path w="28" h="1298">
                <a:moveTo>
                  <a:pt x="0" y="0"/>
                </a:moveTo>
                <a:lnTo>
                  <a:pt x="28" y="0"/>
                </a:lnTo>
                <a:lnTo>
                  <a:pt x="28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96" name=""/>
          <p:cNvSpPr/>
          <p:nvPr/>
        </p:nvSpPr>
        <p:spPr>
          <a:xfrm>
            <a:off x="5448240" y="3600360"/>
            <a:ext cx="6153480" cy="9720"/>
          </a:xfrm>
          <a:custGeom>
            <a:avLst/>
            <a:gdLst/>
            <a:ahLst/>
            <a:rect l="0" t="0" r="r" b="b"/>
            <a:pathLst>
              <a:path w="17093" h="27">
                <a:moveTo>
                  <a:pt x="0" y="0"/>
                </a:moveTo>
                <a:lnTo>
                  <a:pt x="17093" y="0"/>
                </a:lnTo>
                <a:lnTo>
                  <a:pt x="1709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97" name=""/>
          <p:cNvSpPr/>
          <p:nvPr/>
        </p:nvSpPr>
        <p:spPr>
          <a:xfrm>
            <a:off x="11591640" y="3609720"/>
            <a:ext cx="10080" cy="467280"/>
          </a:xfrm>
          <a:custGeom>
            <a:avLst/>
            <a:gdLst/>
            <a:ahLst/>
            <a:rect l="0" t="0" r="r" b="b"/>
            <a:pathLst>
              <a:path w="28" h="1298">
                <a:moveTo>
                  <a:pt x="0" y="0"/>
                </a:moveTo>
                <a:lnTo>
                  <a:pt x="28" y="0"/>
                </a:lnTo>
                <a:lnTo>
                  <a:pt x="28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98" name=""/>
          <p:cNvSpPr/>
          <p:nvPr/>
        </p:nvSpPr>
        <p:spPr>
          <a:xfrm>
            <a:off x="590400" y="4066920"/>
            <a:ext cx="4858200" cy="10080"/>
          </a:xfrm>
          <a:custGeom>
            <a:avLst/>
            <a:gdLst/>
            <a:ahLst/>
            <a:rect l="0" t="0" r="r" b="b"/>
            <a:pathLst>
              <a:path w="13495" h="28">
                <a:moveTo>
                  <a:pt x="0" y="0"/>
                </a:moveTo>
                <a:lnTo>
                  <a:pt x="13495" y="0"/>
                </a:lnTo>
                <a:lnTo>
                  <a:pt x="1349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199" name=""/>
          <p:cNvSpPr/>
          <p:nvPr/>
        </p:nvSpPr>
        <p:spPr>
          <a:xfrm>
            <a:off x="5448240" y="4066920"/>
            <a:ext cx="6153480" cy="10080"/>
          </a:xfrm>
          <a:custGeom>
            <a:avLst/>
            <a:gdLst/>
            <a:ahLst/>
            <a:rect l="0" t="0" r="r" b="b"/>
            <a:pathLst>
              <a:path w="17093" h="28">
                <a:moveTo>
                  <a:pt x="0" y="0"/>
                </a:moveTo>
                <a:lnTo>
                  <a:pt x="17093" y="0"/>
                </a:lnTo>
                <a:lnTo>
                  <a:pt x="1709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00" name=""/>
          <p:cNvSpPr txBox="1"/>
          <p:nvPr/>
        </p:nvSpPr>
        <p:spPr>
          <a:xfrm>
            <a:off x="590400" y="1348200"/>
            <a:ext cx="7892910" cy="36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8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先行研究：言い換えで回答の傾向も変わる</a:t>
            </a:r>
            <a:endParaRPr lang="en-US" sz="28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01" name=""/>
          <p:cNvSpPr txBox="1"/>
          <p:nvPr/>
        </p:nvSpPr>
        <p:spPr>
          <a:xfrm>
            <a:off x="590400" y="2171520"/>
            <a:ext cx="10206756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Takayama et al.</a:t>
            </a:r>
            <a:r>
              <a:rPr lang="ja-JP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（</a:t>
            </a:r>
            <a:r>
              <a:rPr lang="en-US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2026</a:t>
            </a:r>
            <a:r>
              <a:rPr lang="ja-JP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）は、日本語を含む「はい／いいえ」の質問を評価した。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02" name=""/>
          <p:cNvSpPr txBox="1"/>
          <p:nvPr/>
        </p:nvSpPr>
        <p:spPr>
          <a:xfrm>
            <a:off x="723960" y="2789640"/>
            <a:ext cx="1578168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表現の変え方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03" name=""/>
          <p:cNvSpPr txBox="1"/>
          <p:nvPr/>
        </p:nvSpPr>
        <p:spPr>
          <a:xfrm>
            <a:off x="5571000" y="2789640"/>
            <a:ext cx="1841058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日本語での観察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04" name=""/>
          <p:cNvSpPr txBox="1"/>
          <p:nvPr/>
        </p:nvSpPr>
        <p:spPr>
          <a:xfrm>
            <a:off x="723960" y="3256560"/>
            <a:ext cx="3681288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同意を求める「〜ですよね？」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05" name=""/>
          <p:cNvSpPr txBox="1"/>
          <p:nvPr/>
        </p:nvSpPr>
        <p:spPr>
          <a:xfrm>
            <a:off x="5571000" y="3256560"/>
            <a:ext cx="3944178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道徳判断で「はい」が増える傾向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06" name=""/>
          <p:cNvSpPr txBox="1"/>
          <p:nvPr/>
        </p:nvSpPr>
        <p:spPr>
          <a:xfrm>
            <a:off x="723960" y="3723120"/>
            <a:ext cx="2366838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反対語への置き換え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07" name=""/>
          <p:cNvSpPr txBox="1"/>
          <p:nvPr/>
        </p:nvSpPr>
        <p:spPr>
          <a:xfrm>
            <a:off x="5571000" y="3723120"/>
            <a:ext cx="4732848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答えの反転を考慮しても、一貫性が低下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08" name=""/>
          <p:cNvSpPr txBox="1"/>
          <p:nvPr/>
        </p:nvSpPr>
        <p:spPr>
          <a:xfrm>
            <a:off x="590400" y="4324320"/>
            <a:ext cx="6015834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7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同じ判断を求めても、表現によって答えが動く。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09" name=""/>
          <p:cNvSpPr txBox="1"/>
          <p:nvPr/>
        </p:nvSpPr>
        <p:spPr>
          <a:xfrm>
            <a:off x="590400" y="4848120"/>
            <a:ext cx="7109208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モデルの評価には、複数の言い回しを含める必要がある。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10" name=""/>
          <p:cNvSpPr txBox="1"/>
          <p:nvPr/>
        </p:nvSpPr>
        <p:spPr>
          <a:xfrm>
            <a:off x="590400" y="5364000"/>
            <a:ext cx="4165254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3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出典：</a:t>
            </a:r>
            <a:r>
              <a:rPr lang="en-US" sz="1350" b="0" u="none" strike="noStrike">
                <a:solidFill>
                  <a:srgbClr val="2877AA"/>
                </a:solidFill>
                <a:effectLst/>
                <a:uFillTx/>
                <a:latin typeface="Hiragino Sans"/>
                <a:ea typeface="Hiragino Sans"/>
              </a:rPr>
              <a:t>Takayama et al., LREC 2026, Table 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11" name=""/>
          <p:cNvSpPr txBox="1"/>
          <p:nvPr/>
        </p:nvSpPr>
        <p:spPr>
          <a:xfrm>
            <a:off x="11705760" y="6466680"/>
            <a:ext cx="231012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Hiragino Sans"/>
                <a:ea typeface="Hiragino Sans"/>
              </a:rPr>
              <a:t>25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1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1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15" name=""/>
          <p:cNvSpPr/>
          <p:nvPr/>
        </p:nvSpPr>
        <p:spPr>
          <a:xfrm>
            <a:off x="599760" y="2571480"/>
            <a:ext cx="1229040" cy="467280"/>
          </a:xfrm>
          <a:custGeom>
            <a:avLst/>
            <a:gdLst/>
            <a:ahLst/>
            <a:rect l="0" t="0" r="r" b="b"/>
            <a:pathLst>
              <a:path w="3414" h="1298">
                <a:moveTo>
                  <a:pt x="0" y="0"/>
                </a:moveTo>
                <a:lnTo>
                  <a:pt x="3414" y="0"/>
                </a:lnTo>
                <a:lnTo>
                  <a:pt x="3414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16" name=""/>
          <p:cNvSpPr/>
          <p:nvPr/>
        </p:nvSpPr>
        <p:spPr>
          <a:xfrm>
            <a:off x="1828440" y="2571480"/>
            <a:ext cx="9773280" cy="467280"/>
          </a:xfrm>
          <a:custGeom>
            <a:avLst/>
            <a:gdLst/>
            <a:ahLst/>
            <a:rect l="0" t="0" r="r" b="b"/>
            <a:pathLst>
              <a:path w="27148" h="1298">
                <a:moveTo>
                  <a:pt x="0" y="0"/>
                </a:moveTo>
                <a:lnTo>
                  <a:pt x="27148" y="0"/>
                </a:lnTo>
                <a:lnTo>
                  <a:pt x="27148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17" name=""/>
          <p:cNvSpPr/>
          <p:nvPr/>
        </p:nvSpPr>
        <p:spPr>
          <a:xfrm>
            <a:off x="599760" y="2571480"/>
            <a:ext cx="1229040" cy="467280"/>
          </a:xfrm>
          <a:custGeom>
            <a:avLst/>
            <a:gdLst/>
            <a:ahLst/>
            <a:rect l="0" t="0" r="r" b="b"/>
            <a:pathLst>
              <a:path w="3414" h="1298">
                <a:moveTo>
                  <a:pt x="0" y="0"/>
                </a:moveTo>
                <a:lnTo>
                  <a:pt x="3414" y="0"/>
                </a:lnTo>
                <a:lnTo>
                  <a:pt x="3414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18" name=""/>
          <p:cNvSpPr/>
          <p:nvPr/>
        </p:nvSpPr>
        <p:spPr>
          <a:xfrm>
            <a:off x="1828440" y="2571480"/>
            <a:ext cx="9773280" cy="467280"/>
          </a:xfrm>
          <a:custGeom>
            <a:avLst/>
            <a:gdLst/>
            <a:ahLst/>
            <a:rect l="0" t="0" r="r" b="b"/>
            <a:pathLst>
              <a:path w="27148" h="1298">
                <a:moveTo>
                  <a:pt x="0" y="0"/>
                </a:moveTo>
                <a:lnTo>
                  <a:pt x="27148" y="0"/>
                </a:lnTo>
                <a:lnTo>
                  <a:pt x="27148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19" name=""/>
          <p:cNvSpPr/>
          <p:nvPr/>
        </p:nvSpPr>
        <p:spPr>
          <a:xfrm>
            <a:off x="599760" y="3038400"/>
            <a:ext cx="1229040" cy="466920"/>
          </a:xfrm>
          <a:custGeom>
            <a:avLst/>
            <a:gdLst/>
            <a:ahLst/>
            <a:rect l="0" t="0" r="r" b="b"/>
            <a:pathLst>
              <a:path w="3414" h="1297">
                <a:moveTo>
                  <a:pt x="0" y="0"/>
                </a:moveTo>
                <a:lnTo>
                  <a:pt x="3414" y="0"/>
                </a:lnTo>
                <a:lnTo>
                  <a:pt x="3414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20" name=""/>
          <p:cNvSpPr/>
          <p:nvPr/>
        </p:nvSpPr>
        <p:spPr>
          <a:xfrm>
            <a:off x="1828440" y="3038400"/>
            <a:ext cx="9773280" cy="466920"/>
          </a:xfrm>
          <a:custGeom>
            <a:avLst/>
            <a:gdLst/>
            <a:ahLst/>
            <a:rect l="0" t="0" r="r" b="b"/>
            <a:pathLst>
              <a:path w="27148" h="1297">
                <a:moveTo>
                  <a:pt x="0" y="0"/>
                </a:moveTo>
                <a:lnTo>
                  <a:pt x="27148" y="0"/>
                </a:lnTo>
                <a:lnTo>
                  <a:pt x="27148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21" name=""/>
          <p:cNvSpPr/>
          <p:nvPr/>
        </p:nvSpPr>
        <p:spPr>
          <a:xfrm>
            <a:off x="599760" y="3504960"/>
            <a:ext cx="1229040" cy="467280"/>
          </a:xfrm>
          <a:custGeom>
            <a:avLst/>
            <a:gdLst/>
            <a:ahLst/>
            <a:rect l="0" t="0" r="r" b="b"/>
            <a:pathLst>
              <a:path w="3414" h="1298">
                <a:moveTo>
                  <a:pt x="0" y="0"/>
                </a:moveTo>
                <a:lnTo>
                  <a:pt x="3414" y="0"/>
                </a:lnTo>
                <a:lnTo>
                  <a:pt x="3414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22" name=""/>
          <p:cNvSpPr/>
          <p:nvPr/>
        </p:nvSpPr>
        <p:spPr>
          <a:xfrm>
            <a:off x="1828440" y="3504960"/>
            <a:ext cx="9773280" cy="467280"/>
          </a:xfrm>
          <a:custGeom>
            <a:avLst/>
            <a:gdLst/>
            <a:ahLst/>
            <a:rect l="0" t="0" r="r" b="b"/>
            <a:pathLst>
              <a:path w="27148" h="1298">
                <a:moveTo>
                  <a:pt x="0" y="0"/>
                </a:moveTo>
                <a:lnTo>
                  <a:pt x="27148" y="0"/>
                </a:lnTo>
                <a:lnTo>
                  <a:pt x="27148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23" name=""/>
          <p:cNvSpPr/>
          <p:nvPr/>
        </p:nvSpPr>
        <p:spPr>
          <a:xfrm>
            <a:off x="590400" y="2571480"/>
            <a:ext cx="9720" cy="476640"/>
          </a:xfrm>
          <a:custGeom>
            <a:avLst/>
            <a:gdLst/>
            <a:ahLst/>
            <a:rect l="0" t="0" r="r" b="b"/>
            <a:pathLst>
              <a:path w="27" h="1324">
                <a:moveTo>
                  <a:pt x="0" y="0"/>
                </a:moveTo>
                <a:lnTo>
                  <a:pt x="27" y="0"/>
                </a:lnTo>
                <a:lnTo>
                  <a:pt x="27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24" name=""/>
          <p:cNvSpPr/>
          <p:nvPr/>
        </p:nvSpPr>
        <p:spPr>
          <a:xfrm>
            <a:off x="590400" y="2571480"/>
            <a:ext cx="1238400" cy="10080"/>
          </a:xfrm>
          <a:custGeom>
            <a:avLst/>
            <a:gdLst/>
            <a:ahLst/>
            <a:rect l="0" t="0" r="r" b="b"/>
            <a:pathLst>
              <a:path w="3440" h="28">
                <a:moveTo>
                  <a:pt x="0" y="0"/>
                </a:moveTo>
                <a:lnTo>
                  <a:pt x="3440" y="0"/>
                </a:lnTo>
                <a:lnTo>
                  <a:pt x="344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25" name=""/>
          <p:cNvSpPr/>
          <p:nvPr/>
        </p:nvSpPr>
        <p:spPr>
          <a:xfrm>
            <a:off x="1819080" y="2571480"/>
            <a:ext cx="9720" cy="476640"/>
          </a:xfrm>
          <a:custGeom>
            <a:avLst/>
            <a:gdLst/>
            <a:ahLst/>
            <a:rect l="0" t="0" r="r" b="b"/>
            <a:pathLst>
              <a:path w="27" h="1324">
                <a:moveTo>
                  <a:pt x="0" y="0"/>
                </a:moveTo>
                <a:lnTo>
                  <a:pt x="27" y="0"/>
                </a:lnTo>
                <a:lnTo>
                  <a:pt x="27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26" name=""/>
          <p:cNvSpPr/>
          <p:nvPr/>
        </p:nvSpPr>
        <p:spPr>
          <a:xfrm>
            <a:off x="1828440" y="2571480"/>
            <a:ext cx="9773280" cy="10080"/>
          </a:xfrm>
          <a:custGeom>
            <a:avLst/>
            <a:gdLst/>
            <a:ahLst/>
            <a:rect l="0" t="0" r="r" b="b"/>
            <a:pathLst>
              <a:path w="27148" h="28">
                <a:moveTo>
                  <a:pt x="0" y="0"/>
                </a:moveTo>
                <a:lnTo>
                  <a:pt x="27148" y="0"/>
                </a:lnTo>
                <a:lnTo>
                  <a:pt x="2714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27" name=""/>
          <p:cNvSpPr/>
          <p:nvPr/>
        </p:nvSpPr>
        <p:spPr>
          <a:xfrm>
            <a:off x="11591640" y="2571480"/>
            <a:ext cx="10080" cy="476640"/>
          </a:xfrm>
          <a:custGeom>
            <a:avLst/>
            <a:gdLst/>
            <a:ahLst/>
            <a:rect l="0" t="0" r="r" b="b"/>
            <a:pathLst>
              <a:path w="28" h="1324">
                <a:moveTo>
                  <a:pt x="0" y="0"/>
                </a:moveTo>
                <a:lnTo>
                  <a:pt x="28" y="0"/>
                </a:lnTo>
                <a:lnTo>
                  <a:pt x="28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28" name=""/>
          <p:cNvSpPr/>
          <p:nvPr/>
        </p:nvSpPr>
        <p:spPr>
          <a:xfrm>
            <a:off x="590400" y="3038400"/>
            <a:ext cx="1238400" cy="9720"/>
          </a:xfrm>
          <a:custGeom>
            <a:avLst/>
            <a:gdLst/>
            <a:ahLst/>
            <a:rect l="0" t="0" r="r" b="b"/>
            <a:pathLst>
              <a:path w="3440" h="27">
                <a:moveTo>
                  <a:pt x="0" y="0"/>
                </a:moveTo>
                <a:lnTo>
                  <a:pt x="3440" y="0"/>
                </a:lnTo>
                <a:lnTo>
                  <a:pt x="344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29" name=""/>
          <p:cNvSpPr/>
          <p:nvPr/>
        </p:nvSpPr>
        <p:spPr>
          <a:xfrm>
            <a:off x="1828440" y="3038400"/>
            <a:ext cx="9773280" cy="9720"/>
          </a:xfrm>
          <a:custGeom>
            <a:avLst/>
            <a:gdLst/>
            <a:ahLst/>
            <a:rect l="0" t="0" r="r" b="b"/>
            <a:pathLst>
              <a:path w="27148" h="27">
                <a:moveTo>
                  <a:pt x="0" y="0"/>
                </a:moveTo>
                <a:lnTo>
                  <a:pt x="27148" y="0"/>
                </a:lnTo>
                <a:lnTo>
                  <a:pt x="2714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30" name=""/>
          <p:cNvSpPr/>
          <p:nvPr/>
        </p:nvSpPr>
        <p:spPr>
          <a:xfrm>
            <a:off x="590400" y="3047760"/>
            <a:ext cx="9720" cy="467280"/>
          </a:xfrm>
          <a:custGeom>
            <a:avLst/>
            <a:gdLst/>
            <a:ahLst/>
            <a:rect l="0" t="0" r="r" b="b"/>
            <a:pathLst>
              <a:path w="27" h="1298">
                <a:moveTo>
                  <a:pt x="0" y="0"/>
                </a:moveTo>
                <a:lnTo>
                  <a:pt x="27" y="0"/>
                </a:lnTo>
                <a:lnTo>
                  <a:pt x="27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31" name=""/>
          <p:cNvSpPr/>
          <p:nvPr/>
        </p:nvSpPr>
        <p:spPr>
          <a:xfrm>
            <a:off x="1819080" y="3047760"/>
            <a:ext cx="9720" cy="467280"/>
          </a:xfrm>
          <a:custGeom>
            <a:avLst/>
            <a:gdLst/>
            <a:ahLst/>
            <a:rect l="0" t="0" r="r" b="b"/>
            <a:pathLst>
              <a:path w="27" h="1298">
                <a:moveTo>
                  <a:pt x="0" y="0"/>
                </a:moveTo>
                <a:lnTo>
                  <a:pt x="27" y="0"/>
                </a:lnTo>
                <a:lnTo>
                  <a:pt x="27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32" name=""/>
          <p:cNvSpPr/>
          <p:nvPr/>
        </p:nvSpPr>
        <p:spPr>
          <a:xfrm>
            <a:off x="11591640" y="3047760"/>
            <a:ext cx="10080" cy="467280"/>
          </a:xfrm>
          <a:custGeom>
            <a:avLst/>
            <a:gdLst/>
            <a:ahLst/>
            <a:rect l="0" t="0" r="r" b="b"/>
            <a:pathLst>
              <a:path w="28" h="1298">
                <a:moveTo>
                  <a:pt x="0" y="0"/>
                </a:moveTo>
                <a:lnTo>
                  <a:pt x="28" y="0"/>
                </a:lnTo>
                <a:lnTo>
                  <a:pt x="28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33" name=""/>
          <p:cNvSpPr/>
          <p:nvPr/>
        </p:nvSpPr>
        <p:spPr>
          <a:xfrm>
            <a:off x="590400" y="3514680"/>
            <a:ext cx="9720" cy="466920"/>
          </a:xfrm>
          <a:custGeom>
            <a:avLst/>
            <a:gdLst/>
            <a:ahLst/>
            <a:rect l="0" t="0" r="r" b="b"/>
            <a:pathLst>
              <a:path w="27" h="1297">
                <a:moveTo>
                  <a:pt x="0" y="0"/>
                </a:moveTo>
                <a:lnTo>
                  <a:pt x="27" y="0"/>
                </a:lnTo>
                <a:lnTo>
                  <a:pt x="27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34" name=""/>
          <p:cNvSpPr/>
          <p:nvPr/>
        </p:nvSpPr>
        <p:spPr>
          <a:xfrm>
            <a:off x="590400" y="3504960"/>
            <a:ext cx="1238400" cy="10440"/>
          </a:xfrm>
          <a:custGeom>
            <a:avLst/>
            <a:gdLst/>
            <a:ahLst/>
            <a:rect l="0" t="0" r="r" b="b"/>
            <a:pathLst>
              <a:path w="3440" h="29">
                <a:moveTo>
                  <a:pt x="0" y="0"/>
                </a:moveTo>
                <a:lnTo>
                  <a:pt x="3440" y="0"/>
                </a:lnTo>
                <a:lnTo>
                  <a:pt x="3440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35" name=""/>
          <p:cNvSpPr/>
          <p:nvPr/>
        </p:nvSpPr>
        <p:spPr>
          <a:xfrm>
            <a:off x="1819080" y="3514680"/>
            <a:ext cx="9720" cy="466920"/>
          </a:xfrm>
          <a:custGeom>
            <a:avLst/>
            <a:gdLst/>
            <a:ahLst/>
            <a:rect l="0" t="0" r="r" b="b"/>
            <a:pathLst>
              <a:path w="27" h="1297">
                <a:moveTo>
                  <a:pt x="0" y="0"/>
                </a:moveTo>
                <a:lnTo>
                  <a:pt x="27" y="0"/>
                </a:lnTo>
                <a:lnTo>
                  <a:pt x="27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36" name=""/>
          <p:cNvSpPr/>
          <p:nvPr/>
        </p:nvSpPr>
        <p:spPr>
          <a:xfrm>
            <a:off x="1828440" y="3504960"/>
            <a:ext cx="9773280" cy="10440"/>
          </a:xfrm>
          <a:custGeom>
            <a:avLst/>
            <a:gdLst/>
            <a:ahLst/>
            <a:rect l="0" t="0" r="r" b="b"/>
            <a:pathLst>
              <a:path w="27148" h="29">
                <a:moveTo>
                  <a:pt x="0" y="0"/>
                </a:moveTo>
                <a:lnTo>
                  <a:pt x="27148" y="0"/>
                </a:lnTo>
                <a:lnTo>
                  <a:pt x="27148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37" name=""/>
          <p:cNvSpPr/>
          <p:nvPr/>
        </p:nvSpPr>
        <p:spPr>
          <a:xfrm>
            <a:off x="11591640" y="3514680"/>
            <a:ext cx="10080" cy="466920"/>
          </a:xfrm>
          <a:custGeom>
            <a:avLst/>
            <a:gdLst/>
            <a:ahLst/>
            <a:rect l="0" t="0" r="r" b="b"/>
            <a:pathLst>
              <a:path w="28" h="1297">
                <a:moveTo>
                  <a:pt x="0" y="0"/>
                </a:moveTo>
                <a:lnTo>
                  <a:pt x="28" y="0"/>
                </a:lnTo>
                <a:lnTo>
                  <a:pt x="28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38" name=""/>
          <p:cNvSpPr/>
          <p:nvPr/>
        </p:nvSpPr>
        <p:spPr>
          <a:xfrm>
            <a:off x="590400" y="3971880"/>
            <a:ext cx="1238400" cy="9720"/>
          </a:xfrm>
          <a:custGeom>
            <a:avLst/>
            <a:gdLst/>
            <a:ahLst/>
            <a:rect l="0" t="0" r="r" b="b"/>
            <a:pathLst>
              <a:path w="3440" h="27">
                <a:moveTo>
                  <a:pt x="0" y="0"/>
                </a:moveTo>
                <a:lnTo>
                  <a:pt x="3440" y="0"/>
                </a:lnTo>
                <a:lnTo>
                  <a:pt x="344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39" name=""/>
          <p:cNvSpPr/>
          <p:nvPr/>
        </p:nvSpPr>
        <p:spPr>
          <a:xfrm>
            <a:off x="1828440" y="3971880"/>
            <a:ext cx="9773280" cy="9720"/>
          </a:xfrm>
          <a:custGeom>
            <a:avLst/>
            <a:gdLst/>
            <a:ahLst/>
            <a:rect l="0" t="0" r="r" b="b"/>
            <a:pathLst>
              <a:path w="27148" h="27">
                <a:moveTo>
                  <a:pt x="0" y="0"/>
                </a:moveTo>
                <a:lnTo>
                  <a:pt x="27148" y="0"/>
                </a:lnTo>
                <a:lnTo>
                  <a:pt x="2714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40" name=""/>
          <p:cNvSpPr txBox="1"/>
          <p:nvPr/>
        </p:nvSpPr>
        <p:spPr>
          <a:xfrm>
            <a:off x="590400" y="1805400"/>
            <a:ext cx="7892910" cy="36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8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今回は、指示の冒頭だけを変えて比較する</a:t>
            </a:r>
            <a:endParaRPr lang="en-US" sz="28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41" name=""/>
          <p:cNvSpPr txBox="1"/>
          <p:nvPr/>
        </p:nvSpPr>
        <p:spPr>
          <a:xfrm>
            <a:off x="723960" y="2694600"/>
            <a:ext cx="526608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条件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42" name=""/>
          <p:cNvSpPr txBox="1"/>
          <p:nvPr/>
        </p:nvSpPr>
        <p:spPr>
          <a:xfrm>
            <a:off x="1954080" y="2694600"/>
            <a:ext cx="2103948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モデルに渡す指示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43" name=""/>
          <p:cNvSpPr txBox="1"/>
          <p:nvPr/>
        </p:nvSpPr>
        <p:spPr>
          <a:xfrm>
            <a:off x="723960" y="3161160"/>
            <a:ext cx="789498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変更前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44" name=""/>
          <p:cNvSpPr txBox="1"/>
          <p:nvPr/>
        </p:nvSpPr>
        <p:spPr>
          <a:xfrm>
            <a:off x="1954080" y="3161160"/>
            <a:ext cx="7581582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整数リスト</a:t>
            </a:r>
            <a:r>
              <a:rPr lang="en-US" sz="18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xs</a:t>
            </a:r>
            <a:r>
              <a:rPr lang="ja-JP" sz="18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から偶数だけを残す</a:t>
            </a:r>
            <a:r>
              <a:rPr lang="en-US" sz="18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solve</a:t>
            </a:r>
            <a:r>
              <a:rPr lang="ja-JP" sz="18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関数を書いてください。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45" name=""/>
          <p:cNvSpPr txBox="1"/>
          <p:nvPr/>
        </p:nvSpPr>
        <p:spPr>
          <a:xfrm>
            <a:off x="723960" y="3627720"/>
            <a:ext cx="789498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変更後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46" name=""/>
          <p:cNvSpPr txBox="1"/>
          <p:nvPr/>
        </p:nvSpPr>
        <p:spPr>
          <a:xfrm>
            <a:off x="1954080" y="3627720"/>
            <a:ext cx="8370252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整数リスト</a:t>
            </a:r>
            <a:r>
              <a:rPr lang="en-US" sz="18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xs</a:t>
            </a:r>
            <a:r>
              <a:rPr lang="ja-JP" sz="18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に対して、偶数だけを残す</a:t>
            </a:r>
            <a:r>
              <a:rPr lang="en-US" sz="18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solve</a:t>
            </a:r>
            <a:r>
              <a:rPr lang="ja-JP" sz="18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関数を書いてください。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47" name=""/>
          <p:cNvSpPr txBox="1"/>
          <p:nvPr/>
        </p:nvSpPr>
        <p:spPr>
          <a:xfrm>
            <a:off x="590400" y="4231440"/>
            <a:ext cx="8406684" cy="258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02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後半の操作の指示をそろえ、冒頭だけが異なる</a:t>
            </a:r>
            <a:r>
              <a:rPr lang="en-US" sz="20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14</a:t>
            </a:r>
            <a:r>
              <a:rPr lang="ja-JP" sz="20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操作</a:t>
            </a:r>
            <a:r>
              <a:rPr lang="ja-JP" sz="202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を比較。</a:t>
            </a:r>
            <a:endParaRPr lang="en-US" sz="202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48" name=""/>
          <p:cNvSpPr txBox="1"/>
          <p:nvPr/>
        </p:nvSpPr>
        <p:spPr>
          <a:xfrm>
            <a:off x="590400" y="4783680"/>
            <a:ext cx="8886510" cy="258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02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同じモデルを使い、追加学習せず、同じ入力でコードを検査する。</a:t>
            </a:r>
            <a:endParaRPr lang="en-US" sz="202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49" name=""/>
          <p:cNvSpPr txBox="1"/>
          <p:nvPr/>
        </p:nvSpPr>
        <p:spPr>
          <a:xfrm>
            <a:off x="11705760" y="6466680"/>
            <a:ext cx="231012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Hiragino Sans"/>
                <a:ea typeface="Hiragino Sans"/>
              </a:rPr>
              <a:t>26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5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5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53" name=""/>
          <p:cNvSpPr/>
          <p:nvPr/>
        </p:nvSpPr>
        <p:spPr>
          <a:xfrm>
            <a:off x="599760" y="2838240"/>
            <a:ext cx="3582000" cy="486000"/>
          </a:xfrm>
          <a:custGeom>
            <a:avLst/>
            <a:gdLst/>
            <a:ahLst/>
            <a:rect l="0" t="0" r="r" b="b"/>
            <a:pathLst>
              <a:path w="9950" h="1350">
                <a:moveTo>
                  <a:pt x="0" y="0"/>
                </a:moveTo>
                <a:lnTo>
                  <a:pt x="9950" y="0"/>
                </a:lnTo>
                <a:lnTo>
                  <a:pt x="9950" y="1350"/>
                </a:lnTo>
                <a:lnTo>
                  <a:pt x="0" y="13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54" name=""/>
          <p:cNvSpPr/>
          <p:nvPr/>
        </p:nvSpPr>
        <p:spPr>
          <a:xfrm>
            <a:off x="4181400" y="2838240"/>
            <a:ext cx="4658040" cy="486000"/>
          </a:xfrm>
          <a:custGeom>
            <a:avLst/>
            <a:gdLst/>
            <a:ahLst/>
            <a:rect l="0" t="0" r="r" b="b"/>
            <a:pathLst>
              <a:path w="12939" h="1350">
                <a:moveTo>
                  <a:pt x="0" y="0"/>
                </a:moveTo>
                <a:lnTo>
                  <a:pt x="12939" y="0"/>
                </a:lnTo>
                <a:lnTo>
                  <a:pt x="12939" y="1350"/>
                </a:lnTo>
                <a:lnTo>
                  <a:pt x="0" y="13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55" name=""/>
          <p:cNvSpPr/>
          <p:nvPr/>
        </p:nvSpPr>
        <p:spPr>
          <a:xfrm>
            <a:off x="8839080" y="2838240"/>
            <a:ext cx="2762640" cy="486000"/>
          </a:xfrm>
          <a:custGeom>
            <a:avLst/>
            <a:gdLst/>
            <a:ahLst/>
            <a:rect l="0" t="0" r="r" b="b"/>
            <a:pathLst>
              <a:path w="7674" h="1350">
                <a:moveTo>
                  <a:pt x="0" y="0"/>
                </a:moveTo>
                <a:lnTo>
                  <a:pt x="7674" y="0"/>
                </a:lnTo>
                <a:lnTo>
                  <a:pt x="7674" y="1350"/>
                </a:lnTo>
                <a:lnTo>
                  <a:pt x="0" y="13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56" name=""/>
          <p:cNvSpPr/>
          <p:nvPr/>
        </p:nvSpPr>
        <p:spPr>
          <a:xfrm>
            <a:off x="599760" y="2838240"/>
            <a:ext cx="3582000" cy="486000"/>
          </a:xfrm>
          <a:custGeom>
            <a:avLst/>
            <a:gdLst/>
            <a:ahLst/>
            <a:rect l="0" t="0" r="r" b="b"/>
            <a:pathLst>
              <a:path w="9950" h="1350">
                <a:moveTo>
                  <a:pt x="0" y="0"/>
                </a:moveTo>
                <a:lnTo>
                  <a:pt x="9950" y="0"/>
                </a:lnTo>
                <a:lnTo>
                  <a:pt x="9950" y="1350"/>
                </a:lnTo>
                <a:lnTo>
                  <a:pt x="0" y="1350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57" name=""/>
          <p:cNvSpPr/>
          <p:nvPr/>
        </p:nvSpPr>
        <p:spPr>
          <a:xfrm>
            <a:off x="4181400" y="2838240"/>
            <a:ext cx="4658040" cy="486000"/>
          </a:xfrm>
          <a:custGeom>
            <a:avLst/>
            <a:gdLst/>
            <a:ahLst/>
            <a:rect l="0" t="0" r="r" b="b"/>
            <a:pathLst>
              <a:path w="12939" h="1350">
                <a:moveTo>
                  <a:pt x="0" y="0"/>
                </a:moveTo>
                <a:lnTo>
                  <a:pt x="12939" y="0"/>
                </a:lnTo>
                <a:lnTo>
                  <a:pt x="12939" y="1350"/>
                </a:lnTo>
                <a:lnTo>
                  <a:pt x="0" y="1350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58" name=""/>
          <p:cNvSpPr/>
          <p:nvPr/>
        </p:nvSpPr>
        <p:spPr>
          <a:xfrm>
            <a:off x="8839080" y="2838240"/>
            <a:ext cx="2762640" cy="486000"/>
          </a:xfrm>
          <a:custGeom>
            <a:avLst/>
            <a:gdLst/>
            <a:ahLst/>
            <a:rect l="0" t="0" r="r" b="b"/>
            <a:pathLst>
              <a:path w="7674" h="1350">
                <a:moveTo>
                  <a:pt x="0" y="0"/>
                </a:moveTo>
                <a:lnTo>
                  <a:pt x="7674" y="0"/>
                </a:lnTo>
                <a:lnTo>
                  <a:pt x="7674" y="1350"/>
                </a:lnTo>
                <a:lnTo>
                  <a:pt x="0" y="1350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59" name=""/>
          <p:cNvSpPr/>
          <p:nvPr/>
        </p:nvSpPr>
        <p:spPr>
          <a:xfrm>
            <a:off x="599760" y="3323880"/>
            <a:ext cx="3582000" cy="476640"/>
          </a:xfrm>
          <a:custGeom>
            <a:avLst/>
            <a:gdLst/>
            <a:ahLst/>
            <a:rect l="0" t="0" r="r" b="b"/>
            <a:pathLst>
              <a:path w="9950" h="1324">
                <a:moveTo>
                  <a:pt x="0" y="0"/>
                </a:moveTo>
                <a:lnTo>
                  <a:pt x="9950" y="0"/>
                </a:lnTo>
                <a:lnTo>
                  <a:pt x="9950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60" name=""/>
          <p:cNvSpPr/>
          <p:nvPr/>
        </p:nvSpPr>
        <p:spPr>
          <a:xfrm>
            <a:off x="4181400" y="3323880"/>
            <a:ext cx="4658040" cy="476640"/>
          </a:xfrm>
          <a:custGeom>
            <a:avLst/>
            <a:gdLst/>
            <a:ahLst/>
            <a:rect l="0" t="0" r="r" b="b"/>
            <a:pathLst>
              <a:path w="12939" h="1324">
                <a:moveTo>
                  <a:pt x="0" y="0"/>
                </a:moveTo>
                <a:lnTo>
                  <a:pt x="12939" y="0"/>
                </a:lnTo>
                <a:lnTo>
                  <a:pt x="12939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61" name=""/>
          <p:cNvSpPr/>
          <p:nvPr/>
        </p:nvSpPr>
        <p:spPr>
          <a:xfrm>
            <a:off x="8839080" y="3323880"/>
            <a:ext cx="2762640" cy="476640"/>
          </a:xfrm>
          <a:custGeom>
            <a:avLst/>
            <a:gdLst/>
            <a:ahLst/>
            <a:rect l="0" t="0" r="r" b="b"/>
            <a:pathLst>
              <a:path w="7674" h="1324">
                <a:moveTo>
                  <a:pt x="0" y="0"/>
                </a:moveTo>
                <a:lnTo>
                  <a:pt x="7674" y="0"/>
                </a:lnTo>
                <a:lnTo>
                  <a:pt x="7674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62" name=""/>
          <p:cNvSpPr/>
          <p:nvPr/>
        </p:nvSpPr>
        <p:spPr>
          <a:xfrm>
            <a:off x="599760" y="3800160"/>
            <a:ext cx="3582000" cy="486360"/>
          </a:xfrm>
          <a:custGeom>
            <a:avLst/>
            <a:gdLst/>
            <a:ahLst/>
            <a:rect l="0" t="0" r="r" b="b"/>
            <a:pathLst>
              <a:path w="9950" h="1351">
                <a:moveTo>
                  <a:pt x="0" y="0"/>
                </a:moveTo>
                <a:lnTo>
                  <a:pt x="9950" y="0"/>
                </a:lnTo>
                <a:lnTo>
                  <a:pt x="9950" y="1351"/>
                </a:lnTo>
                <a:lnTo>
                  <a:pt x="0" y="1351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63" name=""/>
          <p:cNvSpPr/>
          <p:nvPr/>
        </p:nvSpPr>
        <p:spPr>
          <a:xfrm>
            <a:off x="4181400" y="3800160"/>
            <a:ext cx="4658040" cy="486360"/>
          </a:xfrm>
          <a:custGeom>
            <a:avLst/>
            <a:gdLst/>
            <a:ahLst/>
            <a:rect l="0" t="0" r="r" b="b"/>
            <a:pathLst>
              <a:path w="12939" h="1351">
                <a:moveTo>
                  <a:pt x="0" y="0"/>
                </a:moveTo>
                <a:lnTo>
                  <a:pt x="12939" y="0"/>
                </a:lnTo>
                <a:lnTo>
                  <a:pt x="12939" y="1351"/>
                </a:lnTo>
                <a:lnTo>
                  <a:pt x="0" y="1351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64" name=""/>
          <p:cNvSpPr/>
          <p:nvPr/>
        </p:nvSpPr>
        <p:spPr>
          <a:xfrm>
            <a:off x="8839080" y="3800160"/>
            <a:ext cx="2762640" cy="486360"/>
          </a:xfrm>
          <a:custGeom>
            <a:avLst/>
            <a:gdLst/>
            <a:ahLst/>
            <a:rect l="0" t="0" r="r" b="b"/>
            <a:pathLst>
              <a:path w="7674" h="1351">
                <a:moveTo>
                  <a:pt x="0" y="0"/>
                </a:moveTo>
                <a:lnTo>
                  <a:pt x="7674" y="0"/>
                </a:lnTo>
                <a:lnTo>
                  <a:pt x="7674" y="1351"/>
                </a:lnTo>
                <a:lnTo>
                  <a:pt x="0" y="1351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65" name=""/>
          <p:cNvSpPr/>
          <p:nvPr/>
        </p:nvSpPr>
        <p:spPr>
          <a:xfrm>
            <a:off x="590400" y="2838240"/>
            <a:ext cx="9720" cy="486000"/>
          </a:xfrm>
          <a:custGeom>
            <a:avLst/>
            <a:gdLst/>
            <a:ahLst/>
            <a:rect l="0" t="0" r="r" b="b"/>
            <a:pathLst>
              <a:path w="27" h="1350">
                <a:moveTo>
                  <a:pt x="0" y="0"/>
                </a:moveTo>
                <a:lnTo>
                  <a:pt x="27" y="0"/>
                </a:lnTo>
                <a:lnTo>
                  <a:pt x="27" y="1350"/>
                </a:lnTo>
                <a:lnTo>
                  <a:pt x="0" y="135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66" name=""/>
          <p:cNvSpPr/>
          <p:nvPr/>
        </p:nvSpPr>
        <p:spPr>
          <a:xfrm>
            <a:off x="590400" y="2838240"/>
            <a:ext cx="3591360" cy="10080"/>
          </a:xfrm>
          <a:custGeom>
            <a:avLst/>
            <a:gdLst/>
            <a:ahLst/>
            <a:rect l="0" t="0" r="r" b="b"/>
            <a:pathLst>
              <a:path w="9976" h="28">
                <a:moveTo>
                  <a:pt x="0" y="0"/>
                </a:moveTo>
                <a:lnTo>
                  <a:pt x="9976" y="0"/>
                </a:lnTo>
                <a:lnTo>
                  <a:pt x="997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67" name=""/>
          <p:cNvSpPr/>
          <p:nvPr/>
        </p:nvSpPr>
        <p:spPr>
          <a:xfrm>
            <a:off x="4171680" y="2838240"/>
            <a:ext cx="10080" cy="486000"/>
          </a:xfrm>
          <a:custGeom>
            <a:avLst/>
            <a:gdLst/>
            <a:ahLst/>
            <a:rect l="0" t="0" r="r" b="b"/>
            <a:pathLst>
              <a:path w="28" h="1350">
                <a:moveTo>
                  <a:pt x="0" y="0"/>
                </a:moveTo>
                <a:lnTo>
                  <a:pt x="28" y="0"/>
                </a:lnTo>
                <a:lnTo>
                  <a:pt x="28" y="1350"/>
                </a:lnTo>
                <a:lnTo>
                  <a:pt x="0" y="135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68" name=""/>
          <p:cNvSpPr/>
          <p:nvPr/>
        </p:nvSpPr>
        <p:spPr>
          <a:xfrm>
            <a:off x="4181400" y="2838240"/>
            <a:ext cx="4667400" cy="10080"/>
          </a:xfrm>
          <a:custGeom>
            <a:avLst/>
            <a:gdLst/>
            <a:ahLst/>
            <a:rect l="0" t="0" r="r" b="b"/>
            <a:pathLst>
              <a:path w="12965" h="28">
                <a:moveTo>
                  <a:pt x="0" y="0"/>
                </a:moveTo>
                <a:lnTo>
                  <a:pt x="12965" y="0"/>
                </a:lnTo>
                <a:lnTo>
                  <a:pt x="1296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69" name=""/>
          <p:cNvSpPr/>
          <p:nvPr/>
        </p:nvSpPr>
        <p:spPr>
          <a:xfrm>
            <a:off x="8839080" y="2838240"/>
            <a:ext cx="9720" cy="486000"/>
          </a:xfrm>
          <a:custGeom>
            <a:avLst/>
            <a:gdLst/>
            <a:ahLst/>
            <a:rect l="0" t="0" r="r" b="b"/>
            <a:pathLst>
              <a:path w="27" h="1350">
                <a:moveTo>
                  <a:pt x="0" y="0"/>
                </a:moveTo>
                <a:lnTo>
                  <a:pt x="27" y="0"/>
                </a:lnTo>
                <a:lnTo>
                  <a:pt x="27" y="1350"/>
                </a:lnTo>
                <a:lnTo>
                  <a:pt x="0" y="135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70" name=""/>
          <p:cNvSpPr/>
          <p:nvPr/>
        </p:nvSpPr>
        <p:spPr>
          <a:xfrm>
            <a:off x="8848440" y="2838240"/>
            <a:ext cx="2753280" cy="10080"/>
          </a:xfrm>
          <a:custGeom>
            <a:avLst/>
            <a:gdLst/>
            <a:ahLst/>
            <a:rect l="0" t="0" r="r" b="b"/>
            <a:pathLst>
              <a:path w="7648" h="28">
                <a:moveTo>
                  <a:pt x="0" y="0"/>
                </a:moveTo>
                <a:lnTo>
                  <a:pt x="7648" y="0"/>
                </a:lnTo>
                <a:lnTo>
                  <a:pt x="764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71" name=""/>
          <p:cNvSpPr/>
          <p:nvPr/>
        </p:nvSpPr>
        <p:spPr>
          <a:xfrm>
            <a:off x="11591640" y="2838240"/>
            <a:ext cx="10080" cy="486000"/>
          </a:xfrm>
          <a:custGeom>
            <a:avLst/>
            <a:gdLst/>
            <a:ahLst/>
            <a:rect l="0" t="0" r="r" b="b"/>
            <a:pathLst>
              <a:path w="28" h="1350">
                <a:moveTo>
                  <a:pt x="0" y="0"/>
                </a:moveTo>
                <a:lnTo>
                  <a:pt x="28" y="0"/>
                </a:lnTo>
                <a:lnTo>
                  <a:pt x="28" y="1350"/>
                </a:lnTo>
                <a:lnTo>
                  <a:pt x="0" y="135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72" name=""/>
          <p:cNvSpPr/>
          <p:nvPr/>
        </p:nvSpPr>
        <p:spPr>
          <a:xfrm>
            <a:off x="590400" y="3314520"/>
            <a:ext cx="3591360" cy="9720"/>
          </a:xfrm>
          <a:custGeom>
            <a:avLst/>
            <a:gdLst/>
            <a:ahLst/>
            <a:rect l="0" t="0" r="r" b="b"/>
            <a:pathLst>
              <a:path w="9976" h="27">
                <a:moveTo>
                  <a:pt x="0" y="0"/>
                </a:moveTo>
                <a:lnTo>
                  <a:pt x="9976" y="0"/>
                </a:lnTo>
                <a:lnTo>
                  <a:pt x="997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73" name=""/>
          <p:cNvSpPr/>
          <p:nvPr/>
        </p:nvSpPr>
        <p:spPr>
          <a:xfrm>
            <a:off x="4181400" y="3314520"/>
            <a:ext cx="4667400" cy="9720"/>
          </a:xfrm>
          <a:custGeom>
            <a:avLst/>
            <a:gdLst/>
            <a:ahLst/>
            <a:rect l="0" t="0" r="r" b="b"/>
            <a:pathLst>
              <a:path w="12965" h="27">
                <a:moveTo>
                  <a:pt x="0" y="0"/>
                </a:moveTo>
                <a:lnTo>
                  <a:pt x="12965" y="0"/>
                </a:lnTo>
                <a:lnTo>
                  <a:pt x="1296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74" name=""/>
          <p:cNvSpPr/>
          <p:nvPr/>
        </p:nvSpPr>
        <p:spPr>
          <a:xfrm>
            <a:off x="8848440" y="3314520"/>
            <a:ext cx="2753280" cy="9720"/>
          </a:xfrm>
          <a:custGeom>
            <a:avLst/>
            <a:gdLst/>
            <a:ahLst/>
            <a:rect l="0" t="0" r="r" b="b"/>
            <a:pathLst>
              <a:path w="7648" h="27">
                <a:moveTo>
                  <a:pt x="0" y="0"/>
                </a:moveTo>
                <a:lnTo>
                  <a:pt x="7648" y="0"/>
                </a:lnTo>
                <a:lnTo>
                  <a:pt x="764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75" name=""/>
          <p:cNvSpPr/>
          <p:nvPr/>
        </p:nvSpPr>
        <p:spPr>
          <a:xfrm>
            <a:off x="590400" y="3323880"/>
            <a:ext cx="9720" cy="486360"/>
          </a:xfrm>
          <a:custGeom>
            <a:avLst/>
            <a:gdLst/>
            <a:ahLst/>
            <a:rect l="0" t="0" r="r" b="b"/>
            <a:pathLst>
              <a:path w="27" h="1351">
                <a:moveTo>
                  <a:pt x="0" y="0"/>
                </a:moveTo>
                <a:lnTo>
                  <a:pt x="27" y="0"/>
                </a:lnTo>
                <a:lnTo>
                  <a:pt x="27" y="1351"/>
                </a:lnTo>
                <a:lnTo>
                  <a:pt x="0" y="135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76" name=""/>
          <p:cNvSpPr/>
          <p:nvPr/>
        </p:nvSpPr>
        <p:spPr>
          <a:xfrm>
            <a:off x="4171680" y="3323880"/>
            <a:ext cx="10080" cy="486360"/>
          </a:xfrm>
          <a:custGeom>
            <a:avLst/>
            <a:gdLst/>
            <a:ahLst/>
            <a:rect l="0" t="0" r="r" b="b"/>
            <a:pathLst>
              <a:path w="28" h="1351">
                <a:moveTo>
                  <a:pt x="0" y="0"/>
                </a:moveTo>
                <a:lnTo>
                  <a:pt x="28" y="0"/>
                </a:lnTo>
                <a:lnTo>
                  <a:pt x="28" y="1351"/>
                </a:lnTo>
                <a:lnTo>
                  <a:pt x="0" y="135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77" name=""/>
          <p:cNvSpPr/>
          <p:nvPr/>
        </p:nvSpPr>
        <p:spPr>
          <a:xfrm>
            <a:off x="8839080" y="3323880"/>
            <a:ext cx="9720" cy="486360"/>
          </a:xfrm>
          <a:custGeom>
            <a:avLst/>
            <a:gdLst/>
            <a:ahLst/>
            <a:rect l="0" t="0" r="r" b="b"/>
            <a:pathLst>
              <a:path w="27" h="1351">
                <a:moveTo>
                  <a:pt x="0" y="0"/>
                </a:moveTo>
                <a:lnTo>
                  <a:pt x="27" y="0"/>
                </a:lnTo>
                <a:lnTo>
                  <a:pt x="27" y="1351"/>
                </a:lnTo>
                <a:lnTo>
                  <a:pt x="0" y="135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78" name=""/>
          <p:cNvSpPr/>
          <p:nvPr/>
        </p:nvSpPr>
        <p:spPr>
          <a:xfrm>
            <a:off x="11591640" y="3323880"/>
            <a:ext cx="10080" cy="486360"/>
          </a:xfrm>
          <a:custGeom>
            <a:avLst/>
            <a:gdLst/>
            <a:ahLst/>
            <a:rect l="0" t="0" r="r" b="b"/>
            <a:pathLst>
              <a:path w="28" h="1351">
                <a:moveTo>
                  <a:pt x="0" y="0"/>
                </a:moveTo>
                <a:lnTo>
                  <a:pt x="28" y="0"/>
                </a:lnTo>
                <a:lnTo>
                  <a:pt x="28" y="1351"/>
                </a:lnTo>
                <a:lnTo>
                  <a:pt x="0" y="135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79" name=""/>
          <p:cNvSpPr/>
          <p:nvPr/>
        </p:nvSpPr>
        <p:spPr>
          <a:xfrm>
            <a:off x="590400" y="3809880"/>
            <a:ext cx="9720" cy="476640"/>
          </a:xfrm>
          <a:custGeom>
            <a:avLst/>
            <a:gdLst/>
            <a:ahLst/>
            <a:rect l="0" t="0" r="r" b="b"/>
            <a:pathLst>
              <a:path w="27" h="1324">
                <a:moveTo>
                  <a:pt x="0" y="0"/>
                </a:moveTo>
                <a:lnTo>
                  <a:pt x="27" y="0"/>
                </a:lnTo>
                <a:lnTo>
                  <a:pt x="27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80" name=""/>
          <p:cNvSpPr/>
          <p:nvPr/>
        </p:nvSpPr>
        <p:spPr>
          <a:xfrm>
            <a:off x="590400" y="3800160"/>
            <a:ext cx="3591360" cy="10080"/>
          </a:xfrm>
          <a:custGeom>
            <a:avLst/>
            <a:gdLst/>
            <a:ahLst/>
            <a:rect l="0" t="0" r="r" b="b"/>
            <a:pathLst>
              <a:path w="9976" h="28">
                <a:moveTo>
                  <a:pt x="0" y="0"/>
                </a:moveTo>
                <a:lnTo>
                  <a:pt x="9976" y="0"/>
                </a:lnTo>
                <a:lnTo>
                  <a:pt x="997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81" name=""/>
          <p:cNvSpPr/>
          <p:nvPr/>
        </p:nvSpPr>
        <p:spPr>
          <a:xfrm>
            <a:off x="4171680" y="3809880"/>
            <a:ext cx="10080" cy="476640"/>
          </a:xfrm>
          <a:custGeom>
            <a:avLst/>
            <a:gdLst/>
            <a:ahLst/>
            <a:rect l="0" t="0" r="r" b="b"/>
            <a:pathLst>
              <a:path w="28" h="1324">
                <a:moveTo>
                  <a:pt x="0" y="0"/>
                </a:moveTo>
                <a:lnTo>
                  <a:pt x="28" y="0"/>
                </a:lnTo>
                <a:lnTo>
                  <a:pt x="28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82" name=""/>
          <p:cNvSpPr/>
          <p:nvPr/>
        </p:nvSpPr>
        <p:spPr>
          <a:xfrm>
            <a:off x="4181400" y="3800160"/>
            <a:ext cx="4667400" cy="10080"/>
          </a:xfrm>
          <a:custGeom>
            <a:avLst/>
            <a:gdLst/>
            <a:ahLst/>
            <a:rect l="0" t="0" r="r" b="b"/>
            <a:pathLst>
              <a:path w="12965" h="28">
                <a:moveTo>
                  <a:pt x="0" y="0"/>
                </a:moveTo>
                <a:lnTo>
                  <a:pt x="12965" y="0"/>
                </a:lnTo>
                <a:lnTo>
                  <a:pt x="1296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83" name=""/>
          <p:cNvSpPr/>
          <p:nvPr/>
        </p:nvSpPr>
        <p:spPr>
          <a:xfrm>
            <a:off x="8839080" y="3809880"/>
            <a:ext cx="9720" cy="476640"/>
          </a:xfrm>
          <a:custGeom>
            <a:avLst/>
            <a:gdLst/>
            <a:ahLst/>
            <a:rect l="0" t="0" r="r" b="b"/>
            <a:pathLst>
              <a:path w="27" h="1324">
                <a:moveTo>
                  <a:pt x="0" y="0"/>
                </a:moveTo>
                <a:lnTo>
                  <a:pt x="27" y="0"/>
                </a:lnTo>
                <a:lnTo>
                  <a:pt x="27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84" name=""/>
          <p:cNvSpPr/>
          <p:nvPr/>
        </p:nvSpPr>
        <p:spPr>
          <a:xfrm>
            <a:off x="8848440" y="3800160"/>
            <a:ext cx="2753280" cy="10080"/>
          </a:xfrm>
          <a:custGeom>
            <a:avLst/>
            <a:gdLst/>
            <a:ahLst/>
            <a:rect l="0" t="0" r="r" b="b"/>
            <a:pathLst>
              <a:path w="7648" h="28">
                <a:moveTo>
                  <a:pt x="0" y="0"/>
                </a:moveTo>
                <a:lnTo>
                  <a:pt x="7648" y="0"/>
                </a:lnTo>
                <a:lnTo>
                  <a:pt x="764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85" name=""/>
          <p:cNvSpPr/>
          <p:nvPr/>
        </p:nvSpPr>
        <p:spPr>
          <a:xfrm>
            <a:off x="11591640" y="3809880"/>
            <a:ext cx="10080" cy="476640"/>
          </a:xfrm>
          <a:custGeom>
            <a:avLst/>
            <a:gdLst/>
            <a:ahLst/>
            <a:rect l="0" t="0" r="r" b="b"/>
            <a:pathLst>
              <a:path w="28" h="1324">
                <a:moveTo>
                  <a:pt x="0" y="0"/>
                </a:moveTo>
                <a:lnTo>
                  <a:pt x="28" y="0"/>
                </a:lnTo>
                <a:lnTo>
                  <a:pt x="28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86" name=""/>
          <p:cNvSpPr/>
          <p:nvPr/>
        </p:nvSpPr>
        <p:spPr>
          <a:xfrm>
            <a:off x="590400" y="4276440"/>
            <a:ext cx="3591360" cy="10080"/>
          </a:xfrm>
          <a:custGeom>
            <a:avLst/>
            <a:gdLst/>
            <a:ahLst/>
            <a:rect l="0" t="0" r="r" b="b"/>
            <a:pathLst>
              <a:path w="9976" h="28">
                <a:moveTo>
                  <a:pt x="0" y="0"/>
                </a:moveTo>
                <a:lnTo>
                  <a:pt x="9976" y="0"/>
                </a:lnTo>
                <a:lnTo>
                  <a:pt x="997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87" name=""/>
          <p:cNvSpPr/>
          <p:nvPr/>
        </p:nvSpPr>
        <p:spPr>
          <a:xfrm>
            <a:off x="4181400" y="4276440"/>
            <a:ext cx="4667400" cy="10080"/>
          </a:xfrm>
          <a:custGeom>
            <a:avLst/>
            <a:gdLst/>
            <a:ahLst/>
            <a:rect l="0" t="0" r="r" b="b"/>
            <a:pathLst>
              <a:path w="12965" h="28">
                <a:moveTo>
                  <a:pt x="0" y="0"/>
                </a:moveTo>
                <a:lnTo>
                  <a:pt x="12965" y="0"/>
                </a:lnTo>
                <a:lnTo>
                  <a:pt x="1296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88" name=""/>
          <p:cNvSpPr/>
          <p:nvPr/>
        </p:nvSpPr>
        <p:spPr>
          <a:xfrm>
            <a:off x="8848440" y="4276440"/>
            <a:ext cx="2753280" cy="10080"/>
          </a:xfrm>
          <a:custGeom>
            <a:avLst/>
            <a:gdLst/>
            <a:ahLst/>
            <a:rect l="0" t="0" r="r" b="b"/>
            <a:pathLst>
              <a:path w="7648" h="28">
                <a:moveTo>
                  <a:pt x="0" y="0"/>
                </a:moveTo>
                <a:lnTo>
                  <a:pt x="7648" y="0"/>
                </a:lnTo>
                <a:lnTo>
                  <a:pt x="764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89" name=""/>
          <p:cNvSpPr txBox="1"/>
          <p:nvPr/>
        </p:nvSpPr>
        <p:spPr>
          <a:xfrm>
            <a:off x="590400" y="1500840"/>
            <a:ext cx="8196372" cy="36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28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5M</a:t>
            </a:r>
            <a:r>
              <a:rPr lang="ja-JP" sz="28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モデルでは、</a:t>
            </a:r>
            <a:r>
              <a:rPr lang="en-US" sz="28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12</a:t>
            </a:r>
            <a:r>
              <a:rPr lang="ja-JP" sz="28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件の合格が</a:t>
            </a:r>
            <a:r>
              <a:rPr lang="en-US" sz="28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1</a:t>
            </a:r>
            <a:r>
              <a:rPr lang="ja-JP" sz="28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件に減った</a:t>
            </a:r>
            <a:endParaRPr lang="en-US" sz="28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90" name=""/>
          <p:cNvSpPr txBox="1"/>
          <p:nvPr/>
        </p:nvSpPr>
        <p:spPr>
          <a:xfrm>
            <a:off x="590400" y="2316960"/>
            <a:ext cx="6004656" cy="258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20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5M</a:t>
            </a:r>
            <a:r>
              <a:rPr lang="ja-JP" sz="20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・</a:t>
            </a:r>
            <a:r>
              <a:rPr lang="en-US" sz="20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1 epoch</a:t>
            </a:r>
            <a:r>
              <a:rPr lang="ja-JP" sz="20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。比較した</a:t>
            </a:r>
            <a:r>
              <a:rPr lang="en-US" sz="20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14</a:t>
            </a:r>
            <a:r>
              <a:rPr lang="ja-JP" sz="20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操作の合格数。</a:t>
            </a:r>
            <a:endParaRPr lang="en-US" sz="202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91" name=""/>
          <p:cNvSpPr txBox="1"/>
          <p:nvPr/>
        </p:nvSpPr>
        <p:spPr>
          <a:xfrm>
            <a:off x="723960" y="2962440"/>
            <a:ext cx="1367856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7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指示の冒頭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92" name=""/>
          <p:cNvSpPr txBox="1"/>
          <p:nvPr/>
        </p:nvSpPr>
        <p:spPr>
          <a:xfrm>
            <a:off x="4307400" y="2962440"/>
            <a:ext cx="1914750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7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合格数を表す図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93" name=""/>
          <p:cNvSpPr txBox="1"/>
          <p:nvPr/>
        </p:nvSpPr>
        <p:spPr>
          <a:xfrm>
            <a:off x="8968680" y="2962440"/>
            <a:ext cx="1914750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7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合格数・合格率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94" name=""/>
          <p:cNvSpPr txBox="1"/>
          <p:nvPr/>
        </p:nvSpPr>
        <p:spPr>
          <a:xfrm>
            <a:off x="723960" y="3438360"/>
            <a:ext cx="2208276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整数リスト</a:t>
            </a:r>
            <a:r>
              <a:rPr lang="en-US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xs</a:t>
            </a:r>
            <a:r>
              <a:rPr lang="ja-JP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から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95" name=""/>
          <p:cNvSpPr txBox="1"/>
          <p:nvPr/>
        </p:nvSpPr>
        <p:spPr>
          <a:xfrm>
            <a:off x="4307400" y="3438360"/>
            <a:ext cx="3828672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■■■■■■■■■■■■□□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96" name=""/>
          <p:cNvSpPr txBox="1"/>
          <p:nvPr/>
        </p:nvSpPr>
        <p:spPr>
          <a:xfrm>
            <a:off x="8968680" y="3438360"/>
            <a:ext cx="2233944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87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12 / 14</a:t>
            </a:r>
            <a:r>
              <a:rPr lang="ja-JP" sz="187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・</a:t>
            </a:r>
            <a:r>
              <a:rPr lang="en-US" sz="187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85.7%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97" name=""/>
          <p:cNvSpPr txBox="1"/>
          <p:nvPr/>
        </p:nvSpPr>
        <p:spPr>
          <a:xfrm>
            <a:off x="723960" y="3924360"/>
            <a:ext cx="3028410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整数リスト</a:t>
            </a:r>
            <a:r>
              <a:rPr lang="en-US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xs</a:t>
            </a:r>
            <a:r>
              <a:rPr lang="ja-JP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に対して、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98" name=""/>
          <p:cNvSpPr txBox="1"/>
          <p:nvPr/>
        </p:nvSpPr>
        <p:spPr>
          <a:xfrm>
            <a:off x="4307400" y="3924360"/>
            <a:ext cx="3828672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■□□□□□□□□□□□□□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299" name=""/>
          <p:cNvSpPr txBox="1"/>
          <p:nvPr/>
        </p:nvSpPr>
        <p:spPr>
          <a:xfrm>
            <a:off x="8968680" y="3924360"/>
            <a:ext cx="1856790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87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1 / 14</a:t>
            </a:r>
            <a:r>
              <a:rPr lang="ja-JP" sz="187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・</a:t>
            </a:r>
            <a:r>
              <a:rPr lang="en-US" sz="187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7.1%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00" name=""/>
          <p:cNvSpPr txBox="1"/>
          <p:nvPr/>
        </p:nvSpPr>
        <p:spPr>
          <a:xfrm>
            <a:off x="590400" y="4536360"/>
            <a:ext cx="7794792" cy="258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202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■は合格</a:t>
            </a:r>
            <a:r>
              <a:rPr lang="en-US" sz="202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</a:t>
            </a:r>
            <a:r>
              <a:rPr lang="ja-JP" sz="202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件、□は不合格</a:t>
            </a:r>
            <a:r>
              <a:rPr lang="en-US" sz="202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</a:t>
            </a:r>
            <a:r>
              <a:rPr lang="ja-JP" sz="202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件。左から合格数を並べた図。</a:t>
            </a:r>
            <a:endParaRPr lang="en-US" sz="202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01" name=""/>
          <p:cNvSpPr txBox="1"/>
          <p:nvPr/>
        </p:nvSpPr>
        <p:spPr>
          <a:xfrm>
            <a:off x="590400" y="5098320"/>
            <a:ext cx="7998066" cy="258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0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冒頭を変えただけで、ほとんど正しく生成できなくなった。</a:t>
            </a:r>
            <a:endParaRPr lang="en-US" sz="202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02" name=""/>
          <p:cNvSpPr txBox="1"/>
          <p:nvPr/>
        </p:nvSpPr>
        <p:spPr>
          <a:xfrm>
            <a:off x="11705760" y="6466680"/>
            <a:ext cx="231012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Hiragino Sans"/>
                <a:ea typeface="Hiragino Sans"/>
              </a:rPr>
              <a:t>27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0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0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06" name=""/>
          <p:cNvSpPr/>
          <p:nvPr/>
        </p:nvSpPr>
        <p:spPr>
          <a:xfrm>
            <a:off x="599760" y="2904840"/>
            <a:ext cx="1800720" cy="467280"/>
          </a:xfrm>
          <a:custGeom>
            <a:avLst/>
            <a:gdLst/>
            <a:ahLst/>
            <a:rect l="0" t="0" r="r" b="b"/>
            <a:pathLst>
              <a:path w="5002" h="1298">
                <a:moveTo>
                  <a:pt x="0" y="0"/>
                </a:moveTo>
                <a:lnTo>
                  <a:pt x="5002" y="0"/>
                </a:lnTo>
                <a:lnTo>
                  <a:pt x="5002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07" name=""/>
          <p:cNvSpPr/>
          <p:nvPr/>
        </p:nvSpPr>
        <p:spPr>
          <a:xfrm>
            <a:off x="2400120" y="2904840"/>
            <a:ext cx="3667320" cy="467280"/>
          </a:xfrm>
          <a:custGeom>
            <a:avLst/>
            <a:gdLst/>
            <a:ahLst/>
            <a:rect l="0" t="0" r="r" b="b"/>
            <a:pathLst>
              <a:path w="10187" h="1298">
                <a:moveTo>
                  <a:pt x="0" y="0"/>
                </a:moveTo>
                <a:lnTo>
                  <a:pt x="10187" y="0"/>
                </a:lnTo>
                <a:lnTo>
                  <a:pt x="10187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08" name=""/>
          <p:cNvSpPr/>
          <p:nvPr/>
        </p:nvSpPr>
        <p:spPr>
          <a:xfrm>
            <a:off x="6067080" y="2904840"/>
            <a:ext cx="5534640" cy="467280"/>
          </a:xfrm>
          <a:custGeom>
            <a:avLst/>
            <a:gdLst/>
            <a:ahLst/>
            <a:rect l="0" t="0" r="r" b="b"/>
            <a:pathLst>
              <a:path w="15374" h="1298">
                <a:moveTo>
                  <a:pt x="0" y="0"/>
                </a:moveTo>
                <a:lnTo>
                  <a:pt x="15374" y="0"/>
                </a:lnTo>
                <a:lnTo>
                  <a:pt x="15374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09" name=""/>
          <p:cNvSpPr/>
          <p:nvPr/>
        </p:nvSpPr>
        <p:spPr>
          <a:xfrm>
            <a:off x="599760" y="2904840"/>
            <a:ext cx="1800720" cy="467280"/>
          </a:xfrm>
          <a:custGeom>
            <a:avLst/>
            <a:gdLst/>
            <a:ahLst/>
            <a:rect l="0" t="0" r="r" b="b"/>
            <a:pathLst>
              <a:path w="5002" h="1298">
                <a:moveTo>
                  <a:pt x="0" y="0"/>
                </a:moveTo>
                <a:lnTo>
                  <a:pt x="5002" y="0"/>
                </a:lnTo>
                <a:lnTo>
                  <a:pt x="5002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10" name=""/>
          <p:cNvSpPr/>
          <p:nvPr/>
        </p:nvSpPr>
        <p:spPr>
          <a:xfrm>
            <a:off x="2400120" y="2904840"/>
            <a:ext cx="3667320" cy="467280"/>
          </a:xfrm>
          <a:custGeom>
            <a:avLst/>
            <a:gdLst/>
            <a:ahLst/>
            <a:rect l="0" t="0" r="r" b="b"/>
            <a:pathLst>
              <a:path w="10187" h="1298">
                <a:moveTo>
                  <a:pt x="0" y="0"/>
                </a:moveTo>
                <a:lnTo>
                  <a:pt x="10187" y="0"/>
                </a:lnTo>
                <a:lnTo>
                  <a:pt x="10187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11" name=""/>
          <p:cNvSpPr/>
          <p:nvPr/>
        </p:nvSpPr>
        <p:spPr>
          <a:xfrm>
            <a:off x="6067080" y="2904840"/>
            <a:ext cx="5534640" cy="467280"/>
          </a:xfrm>
          <a:custGeom>
            <a:avLst/>
            <a:gdLst/>
            <a:ahLst/>
            <a:rect l="0" t="0" r="r" b="b"/>
            <a:pathLst>
              <a:path w="15374" h="1298">
                <a:moveTo>
                  <a:pt x="0" y="0"/>
                </a:moveTo>
                <a:lnTo>
                  <a:pt x="15374" y="0"/>
                </a:lnTo>
                <a:lnTo>
                  <a:pt x="15374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12" name=""/>
          <p:cNvSpPr/>
          <p:nvPr/>
        </p:nvSpPr>
        <p:spPr>
          <a:xfrm>
            <a:off x="599760" y="3371760"/>
            <a:ext cx="1800720" cy="466920"/>
          </a:xfrm>
          <a:custGeom>
            <a:avLst/>
            <a:gdLst/>
            <a:ahLst/>
            <a:rect l="0" t="0" r="r" b="b"/>
            <a:pathLst>
              <a:path w="5002" h="1297">
                <a:moveTo>
                  <a:pt x="0" y="0"/>
                </a:moveTo>
                <a:lnTo>
                  <a:pt x="5002" y="0"/>
                </a:lnTo>
                <a:lnTo>
                  <a:pt x="5002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13" name=""/>
          <p:cNvSpPr/>
          <p:nvPr/>
        </p:nvSpPr>
        <p:spPr>
          <a:xfrm>
            <a:off x="2400120" y="3371760"/>
            <a:ext cx="3667320" cy="466920"/>
          </a:xfrm>
          <a:custGeom>
            <a:avLst/>
            <a:gdLst/>
            <a:ahLst/>
            <a:rect l="0" t="0" r="r" b="b"/>
            <a:pathLst>
              <a:path w="10187" h="1297">
                <a:moveTo>
                  <a:pt x="0" y="0"/>
                </a:moveTo>
                <a:lnTo>
                  <a:pt x="10187" y="0"/>
                </a:lnTo>
                <a:lnTo>
                  <a:pt x="10187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14" name=""/>
          <p:cNvSpPr/>
          <p:nvPr/>
        </p:nvSpPr>
        <p:spPr>
          <a:xfrm>
            <a:off x="6067080" y="3371760"/>
            <a:ext cx="5534640" cy="466920"/>
          </a:xfrm>
          <a:custGeom>
            <a:avLst/>
            <a:gdLst/>
            <a:ahLst/>
            <a:rect l="0" t="0" r="r" b="b"/>
            <a:pathLst>
              <a:path w="15374" h="1297">
                <a:moveTo>
                  <a:pt x="0" y="0"/>
                </a:moveTo>
                <a:lnTo>
                  <a:pt x="15374" y="0"/>
                </a:lnTo>
                <a:lnTo>
                  <a:pt x="15374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15" name=""/>
          <p:cNvSpPr/>
          <p:nvPr/>
        </p:nvSpPr>
        <p:spPr>
          <a:xfrm>
            <a:off x="599760" y="3838320"/>
            <a:ext cx="1800720" cy="467280"/>
          </a:xfrm>
          <a:custGeom>
            <a:avLst/>
            <a:gdLst/>
            <a:ahLst/>
            <a:rect l="0" t="0" r="r" b="b"/>
            <a:pathLst>
              <a:path w="5002" h="1298">
                <a:moveTo>
                  <a:pt x="0" y="0"/>
                </a:moveTo>
                <a:lnTo>
                  <a:pt x="5002" y="0"/>
                </a:lnTo>
                <a:lnTo>
                  <a:pt x="5002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16" name=""/>
          <p:cNvSpPr/>
          <p:nvPr/>
        </p:nvSpPr>
        <p:spPr>
          <a:xfrm>
            <a:off x="2400120" y="3838320"/>
            <a:ext cx="3667320" cy="467280"/>
          </a:xfrm>
          <a:custGeom>
            <a:avLst/>
            <a:gdLst/>
            <a:ahLst/>
            <a:rect l="0" t="0" r="r" b="b"/>
            <a:pathLst>
              <a:path w="10187" h="1298">
                <a:moveTo>
                  <a:pt x="0" y="0"/>
                </a:moveTo>
                <a:lnTo>
                  <a:pt x="10187" y="0"/>
                </a:lnTo>
                <a:lnTo>
                  <a:pt x="10187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17" name=""/>
          <p:cNvSpPr/>
          <p:nvPr/>
        </p:nvSpPr>
        <p:spPr>
          <a:xfrm>
            <a:off x="6067080" y="3838320"/>
            <a:ext cx="5534640" cy="467280"/>
          </a:xfrm>
          <a:custGeom>
            <a:avLst/>
            <a:gdLst/>
            <a:ahLst/>
            <a:rect l="0" t="0" r="r" b="b"/>
            <a:pathLst>
              <a:path w="15374" h="1298">
                <a:moveTo>
                  <a:pt x="0" y="0"/>
                </a:moveTo>
                <a:lnTo>
                  <a:pt x="15374" y="0"/>
                </a:lnTo>
                <a:lnTo>
                  <a:pt x="15374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18" name=""/>
          <p:cNvSpPr/>
          <p:nvPr/>
        </p:nvSpPr>
        <p:spPr>
          <a:xfrm>
            <a:off x="599760" y="4305240"/>
            <a:ext cx="1800720" cy="466920"/>
          </a:xfrm>
          <a:custGeom>
            <a:avLst/>
            <a:gdLst/>
            <a:ahLst/>
            <a:rect l="0" t="0" r="r" b="b"/>
            <a:pathLst>
              <a:path w="5002" h="1297">
                <a:moveTo>
                  <a:pt x="0" y="0"/>
                </a:moveTo>
                <a:lnTo>
                  <a:pt x="5002" y="0"/>
                </a:lnTo>
                <a:lnTo>
                  <a:pt x="5002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19" name=""/>
          <p:cNvSpPr/>
          <p:nvPr/>
        </p:nvSpPr>
        <p:spPr>
          <a:xfrm>
            <a:off x="2400120" y="4305240"/>
            <a:ext cx="3667320" cy="466920"/>
          </a:xfrm>
          <a:custGeom>
            <a:avLst/>
            <a:gdLst/>
            <a:ahLst/>
            <a:rect l="0" t="0" r="r" b="b"/>
            <a:pathLst>
              <a:path w="10187" h="1297">
                <a:moveTo>
                  <a:pt x="0" y="0"/>
                </a:moveTo>
                <a:lnTo>
                  <a:pt x="10187" y="0"/>
                </a:lnTo>
                <a:lnTo>
                  <a:pt x="10187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20" name=""/>
          <p:cNvSpPr/>
          <p:nvPr/>
        </p:nvSpPr>
        <p:spPr>
          <a:xfrm>
            <a:off x="6067080" y="4305240"/>
            <a:ext cx="5534640" cy="466920"/>
          </a:xfrm>
          <a:custGeom>
            <a:avLst/>
            <a:gdLst/>
            <a:ahLst/>
            <a:rect l="0" t="0" r="r" b="b"/>
            <a:pathLst>
              <a:path w="15374" h="1297">
                <a:moveTo>
                  <a:pt x="0" y="0"/>
                </a:moveTo>
                <a:lnTo>
                  <a:pt x="15374" y="0"/>
                </a:lnTo>
                <a:lnTo>
                  <a:pt x="15374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21" name=""/>
          <p:cNvSpPr/>
          <p:nvPr/>
        </p:nvSpPr>
        <p:spPr>
          <a:xfrm>
            <a:off x="590400" y="2904840"/>
            <a:ext cx="9720" cy="476640"/>
          </a:xfrm>
          <a:custGeom>
            <a:avLst/>
            <a:gdLst/>
            <a:ahLst/>
            <a:rect l="0" t="0" r="r" b="b"/>
            <a:pathLst>
              <a:path w="27" h="1324">
                <a:moveTo>
                  <a:pt x="0" y="0"/>
                </a:moveTo>
                <a:lnTo>
                  <a:pt x="27" y="0"/>
                </a:lnTo>
                <a:lnTo>
                  <a:pt x="27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22" name=""/>
          <p:cNvSpPr/>
          <p:nvPr/>
        </p:nvSpPr>
        <p:spPr>
          <a:xfrm>
            <a:off x="590400" y="2904840"/>
            <a:ext cx="1810080" cy="10080"/>
          </a:xfrm>
          <a:custGeom>
            <a:avLst/>
            <a:gdLst/>
            <a:ahLst/>
            <a:rect l="0" t="0" r="r" b="b"/>
            <a:pathLst>
              <a:path w="5028" h="28">
                <a:moveTo>
                  <a:pt x="0" y="0"/>
                </a:moveTo>
                <a:lnTo>
                  <a:pt x="5028" y="0"/>
                </a:lnTo>
                <a:lnTo>
                  <a:pt x="502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23" name=""/>
          <p:cNvSpPr/>
          <p:nvPr/>
        </p:nvSpPr>
        <p:spPr>
          <a:xfrm>
            <a:off x="2390760" y="2904840"/>
            <a:ext cx="9720" cy="476640"/>
          </a:xfrm>
          <a:custGeom>
            <a:avLst/>
            <a:gdLst/>
            <a:ahLst/>
            <a:rect l="0" t="0" r="r" b="b"/>
            <a:pathLst>
              <a:path w="27" h="1324">
                <a:moveTo>
                  <a:pt x="0" y="0"/>
                </a:moveTo>
                <a:lnTo>
                  <a:pt x="27" y="0"/>
                </a:lnTo>
                <a:lnTo>
                  <a:pt x="27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24" name=""/>
          <p:cNvSpPr/>
          <p:nvPr/>
        </p:nvSpPr>
        <p:spPr>
          <a:xfrm>
            <a:off x="2400120" y="2904840"/>
            <a:ext cx="3677040" cy="10080"/>
          </a:xfrm>
          <a:custGeom>
            <a:avLst/>
            <a:gdLst/>
            <a:ahLst/>
            <a:rect l="0" t="0" r="r" b="b"/>
            <a:pathLst>
              <a:path w="10214" h="28">
                <a:moveTo>
                  <a:pt x="0" y="0"/>
                </a:moveTo>
                <a:lnTo>
                  <a:pt x="10214" y="0"/>
                </a:lnTo>
                <a:lnTo>
                  <a:pt x="1021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25" name=""/>
          <p:cNvSpPr/>
          <p:nvPr/>
        </p:nvSpPr>
        <p:spPr>
          <a:xfrm>
            <a:off x="6067080" y="2904840"/>
            <a:ext cx="10080" cy="476640"/>
          </a:xfrm>
          <a:custGeom>
            <a:avLst/>
            <a:gdLst/>
            <a:ahLst/>
            <a:rect l="0" t="0" r="r" b="b"/>
            <a:pathLst>
              <a:path w="28" h="1324">
                <a:moveTo>
                  <a:pt x="0" y="0"/>
                </a:moveTo>
                <a:lnTo>
                  <a:pt x="28" y="0"/>
                </a:lnTo>
                <a:lnTo>
                  <a:pt x="28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26" name=""/>
          <p:cNvSpPr/>
          <p:nvPr/>
        </p:nvSpPr>
        <p:spPr>
          <a:xfrm>
            <a:off x="6076800" y="2904840"/>
            <a:ext cx="5524920" cy="10080"/>
          </a:xfrm>
          <a:custGeom>
            <a:avLst/>
            <a:gdLst/>
            <a:ahLst/>
            <a:rect l="0" t="0" r="r" b="b"/>
            <a:pathLst>
              <a:path w="15347" h="28">
                <a:moveTo>
                  <a:pt x="0" y="0"/>
                </a:moveTo>
                <a:lnTo>
                  <a:pt x="15347" y="0"/>
                </a:lnTo>
                <a:lnTo>
                  <a:pt x="1534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27" name=""/>
          <p:cNvSpPr/>
          <p:nvPr/>
        </p:nvSpPr>
        <p:spPr>
          <a:xfrm>
            <a:off x="11591640" y="2904840"/>
            <a:ext cx="10080" cy="476640"/>
          </a:xfrm>
          <a:custGeom>
            <a:avLst/>
            <a:gdLst/>
            <a:ahLst/>
            <a:rect l="0" t="0" r="r" b="b"/>
            <a:pathLst>
              <a:path w="28" h="1324">
                <a:moveTo>
                  <a:pt x="0" y="0"/>
                </a:moveTo>
                <a:lnTo>
                  <a:pt x="28" y="0"/>
                </a:lnTo>
                <a:lnTo>
                  <a:pt x="28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28" name=""/>
          <p:cNvSpPr/>
          <p:nvPr/>
        </p:nvSpPr>
        <p:spPr>
          <a:xfrm>
            <a:off x="590400" y="3371760"/>
            <a:ext cx="1810080" cy="9720"/>
          </a:xfrm>
          <a:custGeom>
            <a:avLst/>
            <a:gdLst/>
            <a:ahLst/>
            <a:rect l="0" t="0" r="r" b="b"/>
            <a:pathLst>
              <a:path w="5028" h="27">
                <a:moveTo>
                  <a:pt x="0" y="0"/>
                </a:moveTo>
                <a:lnTo>
                  <a:pt x="5028" y="0"/>
                </a:lnTo>
                <a:lnTo>
                  <a:pt x="502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29" name=""/>
          <p:cNvSpPr/>
          <p:nvPr/>
        </p:nvSpPr>
        <p:spPr>
          <a:xfrm>
            <a:off x="2400120" y="3371760"/>
            <a:ext cx="3677040" cy="9720"/>
          </a:xfrm>
          <a:custGeom>
            <a:avLst/>
            <a:gdLst/>
            <a:ahLst/>
            <a:rect l="0" t="0" r="r" b="b"/>
            <a:pathLst>
              <a:path w="10214" h="27">
                <a:moveTo>
                  <a:pt x="0" y="0"/>
                </a:moveTo>
                <a:lnTo>
                  <a:pt x="10214" y="0"/>
                </a:lnTo>
                <a:lnTo>
                  <a:pt x="1021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30" name=""/>
          <p:cNvSpPr/>
          <p:nvPr/>
        </p:nvSpPr>
        <p:spPr>
          <a:xfrm>
            <a:off x="6076800" y="3371760"/>
            <a:ext cx="5524920" cy="9720"/>
          </a:xfrm>
          <a:custGeom>
            <a:avLst/>
            <a:gdLst/>
            <a:ahLst/>
            <a:rect l="0" t="0" r="r" b="b"/>
            <a:pathLst>
              <a:path w="15347" h="27">
                <a:moveTo>
                  <a:pt x="0" y="0"/>
                </a:moveTo>
                <a:lnTo>
                  <a:pt x="15347" y="0"/>
                </a:lnTo>
                <a:lnTo>
                  <a:pt x="1534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31" name=""/>
          <p:cNvSpPr/>
          <p:nvPr/>
        </p:nvSpPr>
        <p:spPr>
          <a:xfrm>
            <a:off x="590400" y="3381120"/>
            <a:ext cx="9720" cy="467280"/>
          </a:xfrm>
          <a:custGeom>
            <a:avLst/>
            <a:gdLst/>
            <a:ahLst/>
            <a:rect l="0" t="0" r="r" b="b"/>
            <a:pathLst>
              <a:path w="27" h="1298">
                <a:moveTo>
                  <a:pt x="0" y="0"/>
                </a:moveTo>
                <a:lnTo>
                  <a:pt x="27" y="0"/>
                </a:lnTo>
                <a:lnTo>
                  <a:pt x="27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32" name=""/>
          <p:cNvSpPr/>
          <p:nvPr/>
        </p:nvSpPr>
        <p:spPr>
          <a:xfrm>
            <a:off x="2390760" y="3381120"/>
            <a:ext cx="9720" cy="467280"/>
          </a:xfrm>
          <a:custGeom>
            <a:avLst/>
            <a:gdLst/>
            <a:ahLst/>
            <a:rect l="0" t="0" r="r" b="b"/>
            <a:pathLst>
              <a:path w="27" h="1298">
                <a:moveTo>
                  <a:pt x="0" y="0"/>
                </a:moveTo>
                <a:lnTo>
                  <a:pt x="27" y="0"/>
                </a:lnTo>
                <a:lnTo>
                  <a:pt x="27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33" name=""/>
          <p:cNvSpPr/>
          <p:nvPr/>
        </p:nvSpPr>
        <p:spPr>
          <a:xfrm>
            <a:off x="6067080" y="3381120"/>
            <a:ext cx="10080" cy="467280"/>
          </a:xfrm>
          <a:custGeom>
            <a:avLst/>
            <a:gdLst/>
            <a:ahLst/>
            <a:rect l="0" t="0" r="r" b="b"/>
            <a:pathLst>
              <a:path w="28" h="1298">
                <a:moveTo>
                  <a:pt x="0" y="0"/>
                </a:moveTo>
                <a:lnTo>
                  <a:pt x="28" y="0"/>
                </a:lnTo>
                <a:lnTo>
                  <a:pt x="28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34" name=""/>
          <p:cNvSpPr/>
          <p:nvPr/>
        </p:nvSpPr>
        <p:spPr>
          <a:xfrm>
            <a:off x="11591640" y="3381120"/>
            <a:ext cx="10080" cy="467280"/>
          </a:xfrm>
          <a:custGeom>
            <a:avLst/>
            <a:gdLst/>
            <a:ahLst/>
            <a:rect l="0" t="0" r="r" b="b"/>
            <a:pathLst>
              <a:path w="28" h="1298">
                <a:moveTo>
                  <a:pt x="0" y="0"/>
                </a:moveTo>
                <a:lnTo>
                  <a:pt x="28" y="0"/>
                </a:lnTo>
                <a:lnTo>
                  <a:pt x="28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35" name=""/>
          <p:cNvSpPr/>
          <p:nvPr/>
        </p:nvSpPr>
        <p:spPr>
          <a:xfrm>
            <a:off x="590400" y="3848040"/>
            <a:ext cx="9720" cy="466920"/>
          </a:xfrm>
          <a:custGeom>
            <a:avLst/>
            <a:gdLst/>
            <a:ahLst/>
            <a:rect l="0" t="0" r="r" b="b"/>
            <a:pathLst>
              <a:path w="27" h="1297">
                <a:moveTo>
                  <a:pt x="0" y="0"/>
                </a:moveTo>
                <a:lnTo>
                  <a:pt x="27" y="0"/>
                </a:lnTo>
                <a:lnTo>
                  <a:pt x="27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36" name=""/>
          <p:cNvSpPr/>
          <p:nvPr/>
        </p:nvSpPr>
        <p:spPr>
          <a:xfrm>
            <a:off x="590400" y="3838320"/>
            <a:ext cx="1810080" cy="10080"/>
          </a:xfrm>
          <a:custGeom>
            <a:avLst/>
            <a:gdLst/>
            <a:ahLst/>
            <a:rect l="0" t="0" r="r" b="b"/>
            <a:pathLst>
              <a:path w="5028" h="28">
                <a:moveTo>
                  <a:pt x="0" y="0"/>
                </a:moveTo>
                <a:lnTo>
                  <a:pt x="5028" y="0"/>
                </a:lnTo>
                <a:lnTo>
                  <a:pt x="502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37" name=""/>
          <p:cNvSpPr/>
          <p:nvPr/>
        </p:nvSpPr>
        <p:spPr>
          <a:xfrm>
            <a:off x="2390760" y="3848040"/>
            <a:ext cx="9720" cy="466920"/>
          </a:xfrm>
          <a:custGeom>
            <a:avLst/>
            <a:gdLst/>
            <a:ahLst/>
            <a:rect l="0" t="0" r="r" b="b"/>
            <a:pathLst>
              <a:path w="27" h="1297">
                <a:moveTo>
                  <a:pt x="0" y="0"/>
                </a:moveTo>
                <a:lnTo>
                  <a:pt x="27" y="0"/>
                </a:lnTo>
                <a:lnTo>
                  <a:pt x="27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38" name=""/>
          <p:cNvSpPr/>
          <p:nvPr/>
        </p:nvSpPr>
        <p:spPr>
          <a:xfrm>
            <a:off x="2400120" y="3838320"/>
            <a:ext cx="3677040" cy="10080"/>
          </a:xfrm>
          <a:custGeom>
            <a:avLst/>
            <a:gdLst/>
            <a:ahLst/>
            <a:rect l="0" t="0" r="r" b="b"/>
            <a:pathLst>
              <a:path w="10214" h="28">
                <a:moveTo>
                  <a:pt x="0" y="0"/>
                </a:moveTo>
                <a:lnTo>
                  <a:pt x="10214" y="0"/>
                </a:lnTo>
                <a:lnTo>
                  <a:pt x="1021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39" name=""/>
          <p:cNvSpPr/>
          <p:nvPr/>
        </p:nvSpPr>
        <p:spPr>
          <a:xfrm>
            <a:off x="6067080" y="3848040"/>
            <a:ext cx="10080" cy="466920"/>
          </a:xfrm>
          <a:custGeom>
            <a:avLst/>
            <a:gdLst/>
            <a:ahLst/>
            <a:rect l="0" t="0" r="r" b="b"/>
            <a:pathLst>
              <a:path w="28" h="1297">
                <a:moveTo>
                  <a:pt x="0" y="0"/>
                </a:moveTo>
                <a:lnTo>
                  <a:pt x="28" y="0"/>
                </a:lnTo>
                <a:lnTo>
                  <a:pt x="28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40" name=""/>
          <p:cNvSpPr/>
          <p:nvPr/>
        </p:nvSpPr>
        <p:spPr>
          <a:xfrm>
            <a:off x="6076800" y="3838320"/>
            <a:ext cx="5524920" cy="10080"/>
          </a:xfrm>
          <a:custGeom>
            <a:avLst/>
            <a:gdLst/>
            <a:ahLst/>
            <a:rect l="0" t="0" r="r" b="b"/>
            <a:pathLst>
              <a:path w="15347" h="28">
                <a:moveTo>
                  <a:pt x="0" y="0"/>
                </a:moveTo>
                <a:lnTo>
                  <a:pt x="15347" y="0"/>
                </a:lnTo>
                <a:lnTo>
                  <a:pt x="1534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41" name=""/>
          <p:cNvSpPr/>
          <p:nvPr/>
        </p:nvSpPr>
        <p:spPr>
          <a:xfrm>
            <a:off x="11591640" y="3848040"/>
            <a:ext cx="10080" cy="466920"/>
          </a:xfrm>
          <a:custGeom>
            <a:avLst/>
            <a:gdLst/>
            <a:ahLst/>
            <a:rect l="0" t="0" r="r" b="b"/>
            <a:pathLst>
              <a:path w="28" h="1297">
                <a:moveTo>
                  <a:pt x="0" y="0"/>
                </a:moveTo>
                <a:lnTo>
                  <a:pt x="28" y="0"/>
                </a:lnTo>
                <a:lnTo>
                  <a:pt x="28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42" name=""/>
          <p:cNvSpPr/>
          <p:nvPr/>
        </p:nvSpPr>
        <p:spPr>
          <a:xfrm>
            <a:off x="590400" y="4314600"/>
            <a:ext cx="9720" cy="467280"/>
          </a:xfrm>
          <a:custGeom>
            <a:avLst/>
            <a:gdLst/>
            <a:ahLst/>
            <a:rect l="0" t="0" r="r" b="b"/>
            <a:pathLst>
              <a:path w="27" h="1298">
                <a:moveTo>
                  <a:pt x="0" y="0"/>
                </a:moveTo>
                <a:lnTo>
                  <a:pt x="27" y="0"/>
                </a:lnTo>
                <a:lnTo>
                  <a:pt x="27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43" name=""/>
          <p:cNvSpPr/>
          <p:nvPr/>
        </p:nvSpPr>
        <p:spPr>
          <a:xfrm>
            <a:off x="590400" y="4305240"/>
            <a:ext cx="1810080" cy="9720"/>
          </a:xfrm>
          <a:custGeom>
            <a:avLst/>
            <a:gdLst/>
            <a:ahLst/>
            <a:rect l="0" t="0" r="r" b="b"/>
            <a:pathLst>
              <a:path w="5028" h="27">
                <a:moveTo>
                  <a:pt x="0" y="0"/>
                </a:moveTo>
                <a:lnTo>
                  <a:pt x="5028" y="0"/>
                </a:lnTo>
                <a:lnTo>
                  <a:pt x="502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44" name=""/>
          <p:cNvSpPr/>
          <p:nvPr/>
        </p:nvSpPr>
        <p:spPr>
          <a:xfrm>
            <a:off x="2390760" y="4314600"/>
            <a:ext cx="9720" cy="467280"/>
          </a:xfrm>
          <a:custGeom>
            <a:avLst/>
            <a:gdLst/>
            <a:ahLst/>
            <a:rect l="0" t="0" r="r" b="b"/>
            <a:pathLst>
              <a:path w="27" h="1298">
                <a:moveTo>
                  <a:pt x="0" y="0"/>
                </a:moveTo>
                <a:lnTo>
                  <a:pt x="27" y="0"/>
                </a:lnTo>
                <a:lnTo>
                  <a:pt x="27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45" name=""/>
          <p:cNvSpPr/>
          <p:nvPr/>
        </p:nvSpPr>
        <p:spPr>
          <a:xfrm>
            <a:off x="2400120" y="4305240"/>
            <a:ext cx="3677040" cy="9720"/>
          </a:xfrm>
          <a:custGeom>
            <a:avLst/>
            <a:gdLst/>
            <a:ahLst/>
            <a:rect l="0" t="0" r="r" b="b"/>
            <a:pathLst>
              <a:path w="10214" h="27">
                <a:moveTo>
                  <a:pt x="0" y="0"/>
                </a:moveTo>
                <a:lnTo>
                  <a:pt x="10214" y="0"/>
                </a:lnTo>
                <a:lnTo>
                  <a:pt x="1021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46" name=""/>
          <p:cNvSpPr/>
          <p:nvPr/>
        </p:nvSpPr>
        <p:spPr>
          <a:xfrm>
            <a:off x="6067080" y="4314600"/>
            <a:ext cx="10080" cy="467280"/>
          </a:xfrm>
          <a:custGeom>
            <a:avLst/>
            <a:gdLst/>
            <a:ahLst/>
            <a:rect l="0" t="0" r="r" b="b"/>
            <a:pathLst>
              <a:path w="28" h="1298">
                <a:moveTo>
                  <a:pt x="0" y="0"/>
                </a:moveTo>
                <a:lnTo>
                  <a:pt x="28" y="0"/>
                </a:lnTo>
                <a:lnTo>
                  <a:pt x="28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47" name=""/>
          <p:cNvSpPr/>
          <p:nvPr/>
        </p:nvSpPr>
        <p:spPr>
          <a:xfrm>
            <a:off x="6076800" y="4305240"/>
            <a:ext cx="5524920" cy="9720"/>
          </a:xfrm>
          <a:custGeom>
            <a:avLst/>
            <a:gdLst/>
            <a:ahLst/>
            <a:rect l="0" t="0" r="r" b="b"/>
            <a:pathLst>
              <a:path w="15347" h="27">
                <a:moveTo>
                  <a:pt x="0" y="0"/>
                </a:moveTo>
                <a:lnTo>
                  <a:pt x="15347" y="0"/>
                </a:lnTo>
                <a:lnTo>
                  <a:pt x="1534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48" name=""/>
          <p:cNvSpPr/>
          <p:nvPr/>
        </p:nvSpPr>
        <p:spPr>
          <a:xfrm>
            <a:off x="11591640" y="4314600"/>
            <a:ext cx="10080" cy="467280"/>
          </a:xfrm>
          <a:custGeom>
            <a:avLst/>
            <a:gdLst/>
            <a:ahLst/>
            <a:rect l="0" t="0" r="r" b="b"/>
            <a:pathLst>
              <a:path w="28" h="1298">
                <a:moveTo>
                  <a:pt x="0" y="0"/>
                </a:moveTo>
                <a:lnTo>
                  <a:pt x="28" y="0"/>
                </a:lnTo>
                <a:lnTo>
                  <a:pt x="28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49" name=""/>
          <p:cNvSpPr/>
          <p:nvPr/>
        </p:nvSpPr>
        <p:spPr>
          <a:xfrm>
            <a:off x="590400" y="4771800"/>
            <a:ext cx="1810080" cy="10080"/>
          </a:xfrm>
          <a:custGeom>
            <a:avLst/>
            <a:gdLst/>
            <a:ahLst/>
            <a:rect l="0" t="0" r="r" b="b"/>
            <a:pathLst>
              <a:path w="5028" h="28">
                <a:moveTo>
                  <a:pt x="0" y="0"/>
                </a:moveTo>
                <a:lnTo>
                  <a:pt x="5028" y="0"/>
                </a:lnTo>
                <a:lnTo>
                  <a:pt x="502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50" name=""/>
          <p:cNvSpPr/>
          <p:nvPr/>
        </p:nvSpPr>
        <p:spPr>
          <a:xfrm>
            <a:off x="2400120" y="4771800"/>
            <a:ext cx="3677040" cy="10080"/>
          </a:xfrm>
          <a:custGeom>
            <a:avLst/>
            <a:gdLst/>
            <a:ahLst/>
            <a:rect l="0" t="0" r="r" b="b"/>
            <a:pathLst>
              <a:path w="10214" h="28">
                <a:moveTo>
                  <a:pt x="0" y="0"/>
                </a:moveTo>
                <a:lnTo>
                  <a:pt x="10214" y="0"/>
                </a:lnTo>
                <a:lnTo>
                  <a:pt x="1021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51" name=""/>
          <p:cNvSpPr/>
          <p:nvPr/>
        </p:nvSpPr>
        <p:spPr>
          <a:xfrm>
            <a:off x="6076800" y="4771800"/>
            <a:ext cx="5524920" cy="10080"/>
          </a:xfrm>
          <a:custGeom>
            <a:avLst/>
            <a:gdLst/>
            <a:ahLst/>
            <a:rect l="0" t="0" r="r" b="b"/>
            <a:pathLst>
              <a:path w="15347" h="28">
                <a:moveTo>
                  <a:pt x="0" y="0"/>
                </a:moveTo>
                <a:lnTo>
                  <a:pt x="15347" y="0"/>
                </a:lnTo>
                <a:lnTo>
                  <a:pt x="1534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52" name=""/>
          <p:cNvSpPr txBox="1"/>
          <p:nvPr/>
        </p:nvSpPr>
        <p:spPr>
          <a:xfrm>
            <a:off x="590400" y="1567440"/>
            <a:ext cx="7892910" cy="36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8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失敗例：偶数を残す指示を別の処理にした</a:t>
            </a:r>
            <a:endParaRPr lang="en-US" sz="28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53" name=""/>
          <p:cNvSpPr txBox="1"/>
          <p:nvPr/>
        </p:nvSpPr>
        <p:spPr>
          <a:xfrm>
            <a:off x="590400" y="2383560"/>
            <a:ext cx="11411100" cy="258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02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変更後の指示：</a:t>
            </a:r>
            <a:r>
              <a:rPr lang="ja-JP" sz="20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整数リスト</a:t>
            </a:r>
            <a:r>
              <a:rPr lang="en-US" sz="20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xs</a:t>
            </a:r>
            <a:r>
              <a:rPr lang="ja-JP" sz="20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に対して、偶数だけを残す</a:t>
            </a:r>
            <a:r>
              <a:rPr lang="en-US" sz="20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solve</a:t>
            </a:r>
            <a:r>
              <a:rPr lang="ja-JP" sz="20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関数を書いてください。</a:t>
            </a:r>
            <a:endParaRPr lang="en-US" sz="202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54" name=""/>
          <p:cNvSpPr txBox="1"/>
          <p:nvPr/>
        </p:nvSpPr>
        <p:spPr>
          <a:xfrm>
            <a:off x="2528280" y="3027960"/>
            <a:ext cx="2103948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指示どおりの処理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55" name=""/>
          <p:cNvSpPr txBox="1"/>
          <p:nvPr/>
        </p:nvSpPr>
        <p:spPr>
          <a:xfrm>
            <a:off x="6197040" y="3027960"/>
            <a:ext cx="2629728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変更後に生成した処理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56" name=""/>
          <p:cNvSpPr txBox="1"/>
          <p:nvPr/>
        </p:nvSpPr>
        <p:spPr>
          <a:xfrm>
            <a:off x="723960" y="3494520"/>
            <a:ext cx="526608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操作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57" name=""/>
          <p:cNvSpPr txBox="1"/>
          <p:nvPr/>
        </p:nvSpPr>
        <p:spPr>
          <a:xfrm>
            <a:off x="2528280" y="3494520"/>
            <a:ext cx="1841058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偶数だけを残す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58" name=""/>
          <p:cNvSpPr txBox="1"/>
          <p:nvPr/>
        </p:nvSpPr>
        <p:spPr>
          <a:xfrm>
            <a:off x="6197040" y="3494520"/>
            <a:ext cx="3832398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順序を反転し、</a:t>
            </a:r>
            <a:r>
              <a:rPr lang="en-US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k</a:t>
            </a:r>
            <a:r>
              <a:rPr lang="ja-JP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以上の値を残す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59" name=""/>
          <p:cNvSpPr/>
          <p:nvPr/>
        </p:nvSpPr>
        <p:spPr>
          <a:xfrm>
            <a:off x="2523960" y="3933720"/>
            <a:ext cx="1133640" cy="314640"/>
          </a:xfrm>
          <a:custGeom>
            <a:avLst/>
            <a:gdLst/>
            <a:ahLst/>
            <a:rect l="0" t="0" r="r" b="b"/>
            <a:pathLst>
              <a:path w="3149" h="874">
                <a:moveTo>
                  <a:pt x="0" y="714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7"/>
                  <a:pt x="8" y="107"/>
                  <a:pt x="12" y="98"/>
                </a:cubicBezTo>
                <a:cubicBezTo>
                  <a:pt x="16" y="88"/>
                  <a:pt x="21" y="79"/>
                  <a:pt x="27" y="70"/>
                </a:cubicBezTo>
                <a:cubicBezTo>
                  <a:pt x="33" y="62"/>
                  <a:pt x="39" y="54"/>
                  <a:pt x="46" y="46"/>
                </a:cubicBezTo>
                <a:cubicBezTo>
                  <a:pt x="54" y="39"/>
                  <a:pt x="62" y="32"/>
                  <a:pt x="71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2991" y="0"/>
                </a:lnTo>
                <a:cubicBezTo>
                  <a:pt x="3001" y="0"/>
                  <a:pt x="3011" y="1"/>
                  <a:pt x="3022" y="3"/>
                </a:cubicBezTo>
                <a:cubicBezTo>
                  <a:pt x="3032" y="5"/>
                  <a:pt x="3042" y="8"/>
                  <a:pt x="3052" y="12"/>
                </a:cubicBezTo>
                <a:cubicBezTo>
                  <a:pt x="3061" y="16"/>
                  <a:pt x="3070" y="21"/>
                  <a:pt x="3079" y="27"/>
                </a:cubicBezTo>
                <a:cubicBezTo>
                  <a:pt x="3088" y="32"/>
                  <a:pt x="3096" y="39"/>
                  <a:pt x="3103" y="46"/>
                </a:cubicBezTo>
                <a:cubicBezTo>
                  <a:pt x="3110" y="54"/>
                  <a:pt x="3117" y="62"/>
                  <a:pt x="3123" y="70"/>
                </a:cubicBezTo>
                <a:cubicBezTo>
                  <a:pt x="3129" y="79"/>
                  <a:pt x="3133" y="88"/>
                  <a:pt x="3137" y="98"/>
                </a:cubicBezTo>
                <a:cubicBezTo>
                  <a:pt x="3141" y="107"/>
                  <a:pt x="3144" y="117"/>
                  <a:pt x="3146" y="128"/>
                </a:cubicBezTo>
                <a:cubicBezTo>
                  <a:pt x="3148" y="138"/>
                  <a:pt x="3149" y="148"/>
                  <a:pt x="3149" y="159"/>
                </a:cubicBezTo>
                <a:lnTo>
                  <a:pt x="3149" y="714"/>
                </a:lnTo>
                <a:cubicBezTo>
                  <a:pt x="3149" y="725"/>
                  <a:pt x="3148" y="735"/>
                  <a:pt x="3146" y="745"/>
                </a:cubicBezTo>
                <a:cubicBezTo>
                  <a:pt x="3144" y="755"/>
                  <a:pt x="3141" y="765"/>
                  <a:pt x="3137" y="775"/>
                </a:cubicBezTo>
                <a:cubicBezTo>
                  <a:pt x="3133" y="785"/>
                  <a:pt x="3129" y="794"/>
                  <a:pt x="3123" y="802"/>
                </a:cubicBezTo>
                <a:cubicBezTo>
                  <a:pt x="3117" y="811"/>
                  <a:pt x="3110" y="819"/>
                  <a:pt x="3103" y="826"/>
                </a:cubicBezTo>
                <a:cubicBezTo>
                  <a:pt x="3096" y="834"/>
                  <a:pt x="3088" y="840"/>
                  <a:pt x="3079" y="846"/>
                </a:cubicBezTo>
                <a:cubicBezTo>
                  <a:pt x="3070" y="852"/>
                  <a:pt x="3061" y="857"/>
                  <a:pt x="3051" y="862"/>
                </a:cubicBezTo>
                <a:cubicBezTo>
                  <a:pt x="3042" y="866"/>
                  <a:pt x="3032" y="869"/>
                  <a:pt x="3022" y="871"/>
                </a:cubicBezTo>
                <a:cubicBezTo>
                  <a:pt x="3011" y="873"/>
                  <a:pt x="3001" y="874"/>
                  <a:pt x="2991" y="874"/>
                </a:cubicBezTo>
                <a:lnTo>
                  <a:pt x="159" y="874"/>
                </a:lnTo>
                <a:cubicBezTo>
                  <a:pt x="148" y="874"/>
                  <a:pt x="138" y="873"/>
                  <a:pt x="128" y="871"/>
                </a:cubicBezTo>
                <a:cubicBezTo>
                  <a:pt x="118" y="869"/>
                  <a:pt x="108" y="866"/>
                  <a:pt x="98" y="862"/>
                </a:cubicBezTo>
                <a:cubicBezTo>
                  <a:pt x="88" y="857"/>
                  <a:pt x="79" y="852"/>
                  <a:pt x="71" y="846"/>
                </a:cubicBezTo>
                <a:cubicBezTo>
                  <a:pt x="62" y="840"/>
                  <a:pt x="54" y="834"/>
                  <a:pt x="46" y="826"/>
                </a:cubicBezTo>
                <a:cubicBezTo>
                  <a:pt x="39" y="819"/>
                  <a:pt x="33" y="811"/>
                  <a:pt x="27" y="802"/>
                </a:cubicBezTo>
                <a:cubicBezTo>
                  <a:pt x="21" y="794"/>
                  <a:pt x="16" y="785"/>
                  <a:pt x="12" y="775"/>
                </a:cubicBezTo>
                <a:cubicBezTo>
                  <a:pt x="8" y="765"/>
                  <a:pt x="5" y="755"/>
                  <a:pt x="3" y="745"/>
                </a:cubicBezTo>
                <a:cubicBezTo>
                  <a:pt x="1" y="735"/>
                  <a:pt x="0" y="725"/>
                  <a:pt x="0" y="714"/>
                </a:cubicBezTo>
                <a:close/>
              </a:path>
            </a:pathLst>
          </a:custGeom>
          <a:solidFill>
            <a:srgbClr val="EEF3F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60" name=""/>
          <p:cNvSpPr txBox="1"/>
          <p:nvPr/>
        </p:nvSpPr>
        <p:spPr>
          <a:xfrm>
            <a:off x="723960" y="3961080"/>
            <a:ext cx="1052388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検査入力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61" name=""/>
          <p:cNvSpPr txBox="1"/>
          <p:nvPr/>
        </p:nvSpPr>
        <p:spPr>
          <a:xfrm>
            <a:off x="2608560" y="3978000"/>
            <a:ext cx="1114902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80" b="0" u="none" strike="noStrike">
                <a:solidFill>
                  <a:srgbClr val="17212B"/>
                </a:solidFill>
                <a:effectLst/>
                <a:uFillTx/>
                <a:latin typeface="Menlo"/>
                <a:ea typeface="Menlo"/>
              </a:rPr>
              <a:t>xs = [0]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62" name=""/>
          <p:cNvSpPr/>
          <p:nvPr/>
        </p:nvSpPr>
        <p:spPr>
          <a:xfrm>
            <a:off x="3885840" y="3933720"/>
            <a:ext cx="772200" cy="314640"/>
          </a:xfrm>
          <a:custGeom>
            <a:avLst/>
            <a:gdLst/>
            <a:ahLst/>
            <a:rect l="0" t="0" r="r" b="b"/>
            <a:pathLst>
              <a:path w="2145" h="874">
                <a:moveTo>
                  <a:pt x="0" y="714"/>
                </a:moveTo>
                <a:lnTo>
                  <a:pt x="0" y="159"/>
                </a:lnTo>
                <a:cubicBezTo>
                  <a:pt x="0" y="148"/>
                  <a:pt x="2" y="138"/>
                  <a:pt x="4" y="128"/>
                </a:cubicBezTo>
                <a:cubicBezTo>
                  <a:pt x="6" y="117"/>
                  <a:pt x="9" y="107"/>
                  <a:pt x="13" y="98"/>
                </a:cubicBezTo>
                <a:cubicBezTo>
                  <a:pt x="17" y="88"/>
                  <a:pt x="21" y="79"/>
                  <a:pt x="27" y="70"/>
                </a:cubicBezTo>
                <a:cubicBezTo>
                  <a:pt x="33" y="62"/>
                  <a:pt x="40" y="54"/>
                  <a:pt x="47" y="46"/>
                </a:cubicBezTo>
                <a:cubicBezTo>
                  <a:pt x="54" y="39"/>
                  <a:pt x="62" y="32"/>
                  <a:pt x="71" y="27"/>
                </a:cubicBezTo>
                <a:cubicBezTo>
                  <a:pt x="80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9" y="1"/>
                  <a:pt x="149" y="0"/>
                  <a:pt x="159" y="0"/>
                </a:cubicBezTo>
                <a:lnTo>
                  <a:pt x="1986" y="0"/>
                </a:lnTo>
                <a:cubicBezTo>
                  <a:pt x="1996" y="0"/>
                  <a:pt x="2007" y="1"/>
                  <a:pt x="2017" y="3"/>
                </a:cubicBezTo>
                <a:cubicBezTo>
                  <a:pt x="2027" y="5"/>
                  <a:pt x="2037" y="8"/>
                  <a:pt x="2047" y="12"/>
                </a:cubicBezTo>
                <a:cubicBezTo>
                  <a:pt x="2056" y="16"/>
                  <a:pt x="2065" y="21"/>
                  <a:pt x="2074" y="27"/>
                </a:cubicBezTo>
                <a:cubicBezTo>
                  <a:pt x="2083" y="32"/>
                  <a:pt x="2091" y="39"/>
                  <a:pt x="2098" y="46"/>
                </a:cubicBezTo>
                <a:cubicBezTo>
                  <a:pt x="2105" y="54"/>
                  <a:pt x="2112" y="62"/>
                  <a:pt x="2118" y="70"/>
                </a:cubicBezTo>
                <a:cubicBezTo>
                  <a:pt x="2124" y="79"/>
                  <a:pt x="2129" y="88"/>
                  <a:pt x="2133" y="98"/>
                </a:cubicBezTo>
                <a:cubicBezTo>
                  <a:pt x="2137" y="107"/>
                  <a:pt x="2140" y="117"/>
                  <a:pt x="2142" y="128"/>
                </a:cubicBezTo>
                <a:cubicBezTo>
                  <a:pt x="2144" y="138"/>
                  <a:pt x="2145" y="148"/>
                  <a:pt x="2145" y="159"/>
                </a:cubicBezTo>
                <a:lnTo>
                  <a:pt x="2145" y="714"/>
                </a:lnTo>
                <a:cubicBezTo>
                  <a:pt x="2145" y="725"/>
                  <a:pt x="2144" y="735"/>
                  <a:pt x="2142" y="745"/>
                </a:cubicBezTo>
                <a:cubicBezTo>
                  <a:pt x="2140" y="755"/>
                  <a:pt x="2137" y="765"/>
                  <a:pt x="2133" y="775"/>
                </a:cubicBezTo>
                <a:cubicBezTo>
                  <a:pt x="2129" y="785"/>
                  <a:pt x="2124" y="794"/>
                  <a:pt x="2118" y="802"/>
                </a:cubicBezTo>
                <a:cubicBezTo>
                  <a:pt x="2112" y="811"/>
                  <a:pt x="2105" y="819"/>
                  <a:pt x="2098" y="826"/>
                </a:cubicBezTo>
                <a:cubicBezTo>
                  <a:pt x="2091" y="834"/>
                  <a:pt x="2083" y="840"/>
                  <a:pt x="2074" y="846"/>
                </a:cubicBezTo>
                <a:cubicBezTo>
                  <a:pt x="2065" y="852"/>
                  <a:pt x="2056" y="857"/>
                  <a:pt x="2047" y="862"/>
                </a:cubicBezTo>
                <a:cubicBezTo>
                  <a:pt x="2037" y="866"/>
                  <a:pt x="2027" y="869"/>
                  <a:pt x="2017" y="871"/>
                </a:cubicBezTo>
                <a:cubicBezTo>
                  <a:pt x="2007" y="873"/>
                  <a:pt x="1996" y="874"/>
                  <a:pt x="1986" y="874"/>
                </a:cubicBezTo>
                <a:lnTo>
                  <a:pt x="159" y="874"/>
                </a:lnTo>
                <a:cubicBezTo>
                  <a:pt x="149" y="874"/>
                  <a:pt x="139" y="873"/>
                  <a:pt x="128" y="871"/>
                </a:cubicBezTo>
                <a:cubicBezTo>
                  <a:pt x="118" y="869"/>
                  <a:pt x="108" y="866"/>
                  <a:pt x="98" y="862"/>
                </a:cubicBezTo>
                <a:cubicBezTo>
                  <a:pt x="89" y="857"/>
                  <a:pt x="80" y="852"/>
                  <a:pt x="71" y="846"/>
                </a:cubicBezTo>
                <a:cubicBezTo>
                  <a:pt x="62" y="840"/>
                  <a:pt x="54" y="834"/>
                  <a:pt x="47" y="826"/>
                </a:cubicBezTo>
                <a:cubicBezTo>
                  <a:pt x="40" y="819"/>
                  <a:pt x="33" y="811"/>
                  <a:pt x="27" y="802"/>
                </a:cubicBezTo>
                <a:cubicBezTo>
                  <a:pt x="21" y="794"/>
                  <a:pt x="17" y="785"/>
                  <a:pt x="13" y="775"/>
                </a:cubicBezTo>
                <a:cubicBezTo>
                  <a:pt x="9" y="765"/>
                  <a:pt x="6" y="755"/>
                  <a:pt x="4" y="745"/>
                </a:cubicBezTo>
                <a:cubicBezTo>
                  <a:pt x="2" y="735"/>
                  <a:pt x="0" y="725"/>
                  <a:pt x="0" y="714"/>
                </a:cubicBezTo>
                <a:close/>
              </a:path>
            </a:pathLst>
          </a:custGeom>
          <a:solidFill>
            <a:srgbClr val="EEF3F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63" name=""/>
          <p:cNvSpPr txBox="1"/>
          <p:nvPr/>
        </p:nvSpPr>
        <p:spPr>
          <a:xfrm>
            <a:off x="3657960" y="3961080"/>
            <a:ext cx="263718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、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64" name=""/>
          <p:cNvSpPr txBox="1"/>
          <p:nvPr/>
        </p:nvSpPr>
        <p:spPr>
          <a:xfrm>
            <a:off x="3966840" y="3978000"/>
            <a:ext cx="697176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80" b="0" u="none" strike="noStrike">
                <a:solidFill>
                  <a:srgbClr val="17212B"/>
                </a:solidFill>
                <a:effectLst/>
                <a:uFillTx/>
                <a:latin typeface="Menlo"/>
                <a:ea typeface="Menlo"/>
              </a:rPr>
              <a:t>k = 1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65" name=""/>
          <p:cNvSpPr txBox="1"/>
          <p:nvPr/>
        </p:nvSpPr>
        <p:spPr>
          <a:xfrm>
            <a:off x="6197040" y="3961080"/>
            <a:ext cx="1052388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同じ入力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66" name=""/>
          <p:cNvSpPr/>
          <p:nvPr/>
        </p:nvSpPr>
        <p:spPr>
          <a:xfrm>
            <a:off x="2523960" y="4400280"/>
            <a:ext cx="524160" cy="314640"/>
          </a:xfrm>
          <a:custGeom>
            <a:avLst/>
            <a:gdLst/>
            <a:ahLst/>
            <a:rect l="0" t="0" r="r" b="b"/>
            <a:pathLst>
              <a:path w="1456" h="874">
                <a:moveTo>
                  <a:pt x="0" y="716"/>
                </a:moveTo>
                <a:lnTo>
                  <a:pt x="0" y="159"/>
                </a:lnTo>
                <a:cubicBezTo>
                  <a:pt x="0" y="149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9"/>
                  <a:pt x="21" y="79"/>
                  <a:pt x="27" y="71"/>
                </a:cubicBezTo>
                <a:cubicBezTo>
                  <a:pt x="33" y="62"/>
                  <a:pt x="39" y="54"/>
                  <a:pt x="46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1297" y="0"/>
                </a:lnTo>
                <a:cubicBezTo>
                  <a:pt x="1308" y="0"/>
                  <a:pt x="1318" y="1"/>
                  <a:pt x="1328" y="3"/>
                </a:cubicBezTo>
                <a:cubicBezTo>
                  <a:pt x="1339" y="5"/>
                  <a:pt x="1349" y="8"/>
                  <a:pt x="1358" y="12"/>
                </a:cubicBezTo>
                <a:cubicBezTo>
                  <a:pt x="1368" y="16"/>
                  <a:pt x="1377" y="21"/>
                  <a:pt x="1386" y="27"/>
                </a:cubicBezTo>
                <a:cubicBezTo>
                  <a:pt x="1394" y="33"/>
                  <a:pt x="1402" y="39"/>
                  <a:pt x="1410" y="47"/>
                </a:cubicBezTo>
                <a:cubicBezTo>
                  <a:pt x="1417" y="54"/>
                  <a:pt x="1424" y="62"/>
                  <a:pt x="1429" y="71"/>
                </a:cubicBezTo>
                <a:cubicBezTo>
                  <a:pt x="1435" y="79"/>
                  <a:pt x="1440" y="89"/>
                  <a:pt x="1444" y="98"/>
                </a:cubicBezTo>
                <a:cubicBezTo>
                  <a:pt x="1448" y="108"/>
                  <a:pt x="1451" y="118"/>
                  <a:pt x="1453" y="128"/>
                </a:cubicBezTo>
                <a:cubicBezTo>
                  <a:pt x="1455" y="138"/>
                  <a:pt x="1456" y="149"/>
                  <a:pt x="1456" y="159"/>
                </a:cubicBezTo>
                <a:lnTo>
                  <a:pt x="1456" y="716"/>
                </a:lnTo>
                <a:cubicBezTo>
                  <a:pt x="1456" y="726"/>
                  <a:pt x="1455" y="736"/>
                  <a:pt x="1453" y="747"/>
                </a:cubicBezTo>
                <a:cubicBezTo>
                  <a:pt x="1451" y="757"/>
                  <a:pt x="1448" y="767"/>
                  <a:pt x="1444" y="776"/>
                </a:cubicBezTo>
                <a:cubicBezTo>
                  <a:pt x="1440" y="786"/>
                  <a:pt x="1435" y="795"/>
                  <a:pt x="1429" y="804"/>
                </a:cubicBezTo>
                <a:cubicBezTo>
                  <a:pt x="1424" y="812"/>
                  <a:pt x="1417" y="821"/>
                  <a:pt x="1410" y="828"/>
                </a:cubicBezTo>
                <a:cubicBezTo>
                  <a:pt x="1402" y="835"/>
                  <a:pt x="1394" y="842"/>
                  <a:pt x="1386" y="848"/>
                </a:cubicBezTo>
                <a:cubicBezTo>
                  <a:pt x="1377" y="853"/>
                  <a:pt x="1368" y="858"/>
                  <a:pt x="1358" y="862"/>
                </a:cubicBezTo>
                <a:cubicBezTo>
                  <a:pt x="1349" y="866"/>
                  <a:pt x="1339" y="869"/>
                  <a:pt x="1328" y="871"/>
                </a:cubicBezTo>
                <a:cubicBezTo>
                  <a:pt x="1318" y="873"/>
                  <a:pt x="1308" y="874"/>
                  <a:pt x="1297" y="874"/>
                </a:cubicBezTo>
                <a:lnTo>
                  <a:pt x="159" y="874"/>
                </a:lnTo>
                <a:cubicBezTo>
                  <a:pt x="148" y="874"/>
                  <a:pt x="138" y="873"/>
                  <a:pt x="128" y="871"/>
                </a:cubicBezTo>
                <a:cubicBezTo>
                  <a:pt x="118" y="869"/>
                  <a:pt x="108" y="866"/>
                  <a:pt x="98" y="862"/>
                </a:cubicBezTo>
                <a:cubicBezTo>
                  <a:pt x="88" y="858"/>
                  <a:pt x="79" y="853"/>
                  <a:pt x="71" y="848"/>
                </a:cubicBezTo>
                <a:cubicBezTo>
                  <a:pt x="62" y="842"/>
                  <a:pt x="54" y="835"/>
                  <a:pt x="46" y="828"/>
                </a:cubicBezTo>
                <a:cubicBezTo>
                  <a:pt x="39" y="821"/>
                  <a:pt x="33" y="812"/>
                  <a:pt x="27" y="804"/>
                </a:cubicBezTo>
                <a:cubicBezTo>
                  <a:pt x="21" y="795"/>
                  <a:pt x="16" y="786"/>
                  <a:pt x="12" y="776"/>
                </a:cubicBezTo>
                <a:cubicBezTo>
                  <a:pt x="8" y="767"/>
                  <a:pt x="5" y="757"/>
                  <a:pt x="3" y="747"/>
                </a:cubicBezTo>
                <a:cubicBezTo>
                  <a:pt x="1" y="736"/>
                  <a:pt x="0" y="726"/>
                  <a:pt x="0" y="716"/>
                </a:cubicBezTo>
                <a:close/>
              </a:path>
            </a:pathLst>
          </a:custGeom>
          <a:solidFill>
            <a:srgbClr val="EEF3F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67" name=""/>
          <p:cNvSpPr txBox="1"/>
          <p:nvPr/>
        </p:nvSpPr>
        <p:spPr>
          <a:xfrm>
            <a:off x="723960" y="4428000"/>
            <a:ext cx="526608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出力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68" name=""/>
          <p:cNvSpPr/>
          <p:nvPr/>
        </p:nvSpPr>
        <p:spPr>
          <a:xfrm>
            <a:off x="6200640" y="4400280"/>
            <a:ext cx="400320" cy="314640"/>
          </a:xfrm>
          <a:custGeom>
            <a:avLst/>
            <a:gdLst/>
            <a:ahLst/>
            <a:rect l="0" t="0" r="r" b="b"/>
            <a:pathLst>
              <a:path w="1112" h="874">
                <a:moveTo>
                  <a:pt x="0" y="716"/>
                </a:moveTo>
                <a:lnTo>
                  <a:pt x="0" y="159"/>
                </a:lnTo>
                <a:cubicBezTo>
                  <a:pt x="0" y="149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9"/>
                  <a:pt x="21" y="79"/>
                  <a:pt x="27" y="71"/>
                </a:cubicBezTo>
                <a:cubicBezTo>
                  <a:pt x="32" y="62"/>
                  <a:pt x="39" y="54"/>
                  <a:pt x="46" y="47"/>
                </a:cubicBezTo>
                <a:cubicBezTo>
                  <a:pt x="54" y="39"/>
                  <a:pt x="62" y="33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8" y="8"/>
                  <a:pt x="117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952" y="0"/>
                </a:lnTo>
                <a:cubicBezTo>
                  <a:pt x="963" y="0"/>
                  <a:pt x="973" y="1"/>
                  <a:pt x="983" y="3"/>
                </a:cubicBezTo>
                <a:cubicBezTo>
                  <a:pt x="994" y="5"/>
                  <a:pt x="1003" y="8"/>
                  <a:pt x="1013" y="12"/>
                </a:cubicBezTo>
                <a:cubicBezTo>
                  <a:pt x="1023" y="16"/>
                  <a:pt x="1032" y="21"/>
                  <a:pt x="1041" y="27"/>
                </a:cubicBezTo>
                <a:cubicBezTo>
                  <a:pt x="1049" y="33"/>
                  <a:pt x="1057" y="39"/>
                  <a:pt x="1065" y="47"/>
                </a:cubicBezTo>
                <a:cubicBezTo>
                  <a:pt x="1072" y="54"/>
                  <a:pt x="1079" y="62"/>
                  <a:pt x="1084" y="71"/>
                </a:cubicBezTo>
                <a:cubicBezTo>
                  <a:pt x="1090" y="79"/>
                  <a:pt x="1095" y="89"/>
                  <a:pt x="1099" y="98"/>
                </a:cubicBezTo>
                <a:cubicBezTo>
                  <a:pt x="1103" y="108"/>
                  <a:pt x="1106" y="118"/>
                  <a:pt x="1109" y="128"/>
                </a:cubicBezTo>
                <a:cubicBezTo>
                  <a:pt x="1111" y="138"/>
                  <a:pt x="1112" y="149"/>
                  <a:pt x="1112" y="159"/>
                </a:cubicBezTo>
                <a:lnTo>
                  <a:pt x="1112" y="716"/>
                </a:lnTo>
                <a:cubicBezTo>
                  <a:pt x="1112" y="726"/>
                  <a:pt x="1111" y="736"/>
                  <a:pt x="1109" y="747"/>
                </a:cubicBezTo>
                <a:cubicBezTo>
                  <a:pt x="1106" y="757"/>
                  <a:pt x="1103" y="767"/>
                  <a:pt x="1099" y="776"/>
                </a:cubicBezTo>
                <a:cubicBezTo>
                  <a:pt x="1095" y="786"/>
                  <a:pt x="1090" y="795"/>
                  <a:pt x="1084" y="804"/>
                </a:cubicBezTo>
                <a:cubicBezTo>
                  <a:pt x="1079" y="812"/>
                  <a:pt x="1072" y="821"/>
                  <a:pt x="1065" y="828"/>
                </a:cubicBezTo>
                <a:cubicBezTo>
                  <a:pt x="1057" y="835"/>
                  <a:pt x="1049" y="842"/>
                  <a:pt x="1041" y="848"/>
                </a:cubicBezTo>
                <a:cubicBezTo>
                  <a:pt x="1032" y="853"/>
                  <a:pt x="1023" y="858"/>
                  <a:pt x="1013" y="862"/>
                </a:cubicBezTo>
                <a:cubicBezTo>
                  <a:pt x="1003" y="866"/>
                  <a:pt x="994" y="869"/>
                  <a:pt x="983" y="871"/>
                </a:cubicBezTo>
                <a:cubicBezTo>
                  <a:pt x="973" y="873"/>
                  <a:pt x="963" y="874"/>
                  <a:pt x="952" y="874"/>
                </a:cubicBezTo>
                <a:lnTo>
                  <a:pt x="159" y="874"/>
                </a:lnTo>
                <a:cubicBezTo>
                  <a:pt x="148" y="874"/>
                  <a:pt x="138" y="873"/>
                  <a:pt x="128" y="871"/>
                </a:cubicBezTo>
                <a:cubicBezTo>
                  <a:pt x="117" y="869"/>
                  <a:pt x="108" y="866"/>
                  <a:pt x="98" y="862"/>
                </a:cubicBezTo>
                <a:cubicBezTo>
                  <a:pt x="88" y="858"/>
                  <a:pt x="79" y="853"/>
                  <a:pt x="70" y="848"/>
                </a:cubicBezTo>
                <a:cubicBezTo>
                  <a:pt x="62" y="842"/>
                  <a:pt x="54" y="835"/>
                  <a:pt x="46" y="828"/>
                </a:cubicBezTo>
                <a:cubicBezTo>
                  <a:pt x="39" y="821"/>
                  <a:pt x="32" y="812"/>
                  <a:pt x="27" y="804"/>
                </a:cubicBezTo>
                <a:cubicBezTo>
                  <a:pt x="21" y="795"/>
                  <a:pt x="16" y="786"/>
                  <a:pt x="12" y="776"/>
                </a:cubicBezTo>
                <a:cubicBezTo>
                  <a:pt x="8" y="767"/>
                  <a:pt x="5" y="757"/>
                  <a:pt x="3" y="747"/>
                </a:cubicBezTo>
                <a:cubicBezTo>
                  <a:pt x="1" y="736"/>
                  <a:pt x="0" y="726"/>
                  <a:pt x="0" y="716"/>
                </a:cubicBezTo>
                <a:close/>
              </a:path>
            </a:pathLst>
          </a:custGeom>
          <a:solidFill>
            <a:srgbClr val="EEF3F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69" name=""/>
          <p:cNvSpPr txBox="1"/>
          <p:nvPr/>
        </p:nvSpPr>
        <p:spPr>
          <a:xfrm>
            <a:off x="2608560" y="4444560"/>
            <a:ext cx="418554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80" b="1" u="none" strike="noStrike">
                <a:solidFill>
                  <a:srgbClr val="245F8B"/>
                </a:solidFill>
                <a:effectLst/>
                <a:uFillTx/>
                <a:latin typeface="Menlo"/>
                <a:ea typeface="Menlo"/>
              </a:rPr>
              <a:t>[0]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70" name=""/>
          <p:cNvSpPr txBox="1"/>
          <p:nvPr/>
        </p:nvSpPr>
        <p:spPr>
          <a:xfrm>
            <a:off x="6277320" y="4444560"/>
            <a:ext cx="27945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80" b="1" u="none" strike="noStrike">
                <a:solidFill>
                  <a:srgbClr val="245F8B"/>
                </a:solidFill>
                <a:effectLst/>
                <a:uFillTx/>
                <a:latin typeface="Menlo"/>
                <a:ea typeface="Menlo"/>
              </a:rPr>
              <a:t>[]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71" name=""/>
          <p:cNvSpPr txBox="1"/>
          <p:nvPr/>
        </p:nvSpPr>
        <p:spPr>
          <a:xfrm>
            <a:off x="590400" y="5031360"/>
            <a:ext cx="6220764" cy="258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02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構文は正しかったが、</a:t>
            </a:r>
            <a:r>
              <a:rPr lang="ja-JP" sz="20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処理の意味が変わった。</a:t>
            </a:r>
            <a:endParaRPr lang="en-US" sz="202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72" name=""/>
          <p:cNvSpPr txBox="1"/>
          <p:nvPr/>
        </p:nvSpPr>
        <p:spPr>
          <a:xfrm>
            <a:off x="11705760" y="6466680"/>
            <a:ext cx="231012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Hiragino Sans"/>
                <a:ea typeface="Hiragino Sans"/>
              </a:rPr>
              <a:t>28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7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7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76" name=""/>
          <p:cNvSpPr/>
          <p:nvPr/>
        </p:nvSpPr>
        <p:spPr>
          <a:xfrm>
            <a:off x="599760" y="3143160"/>
            <a:ext cx="2353320" cy="466920"/>
          </a:xfrm>
          <a:custGeom>
            <a:avLst/>
            <a:gdLst/>
            <a:ahLst/>
            <a:rect l="0" t="0" r="r" b="b"/>
            <a:pathLst>
              <a:path w="6537" h="1297">
                <a:moveTo>
                  <a:pt x="0" y="0"/>
                </a:moveTo>
                <a:lnTo>
                  <a:pt x="6537" y="0"/>
                </a:lnTo>
                <a:lnTo>
                  <a:pt x="6537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77" name=""/>
          <p:cNvSpPr/>
          <p:nvPr/>
        </p:nvSpPr>
        <p:spPr>
          <a:xfrm>
            <a:off x="2952720" y="3143160"/>
            <a:ext cx="3629160" cy="466920"/>
          </a:xfrm>
          <a:custGeom>
            <a:avLst/>
            <a:gdLst/>
            <a:ahLst/>
            <a:rect l="0" t="0" r="r" b="b"/>
            <a:pathLst>
              <a:path w="10081" h="1297">
                <a:moveTo>
                  <a:pt x="0" y="0"/>
                </a:moveTo>
                <a:lnTo>
                  <a:pt x="10081" y="0"/>
                </a:lnTo>
                <a:lnTo>
                  <a:pt x="10081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78" name=""/>
          <p:cNvSpPr/>
          <p:nvPr/>
        </p:nvSpPr>
        <p:spPr>
          <a:xfrm>
            <a:off x="6581520" y="3143160"/>
            <a:ext cx="5020200" cy="466920"/>
          </a:xfrm>
          <a:custGeom>
            <a:avLst/>
            <a:gdLst/>
            <a:ahLst/>
            <a:rect l="0" t="0" r="r" b="b"/>
            <a:pathLst>
              <a:path w="13945" h="1297">
                <a:moveTo>
                  <a:pt x="0" y="0"/>
                </a:moveTo>
                <a:lnTo>
                  <a:pt x="13945" y="0"/>
                </a:lnTo>
                <a:lnTo>
                  <a:pt x="13945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79" name=""/>
          <p:cNvSpPr/>
          <p:nvPr/>
        </p:nvSpPr>
        <p:spPr>
          <a:xfrm>
            <a:off x="599760" y="3143160"/>
            <a:ext cx="2353320" cy="466920"/>
          </a:xfrm>
          <a:custGeom>
            <a:avLst/>
            <a:gdLst/>
            <a:ahLst/>
            <a:rect l="0" t="0" r="r" b="b"/>
            <a:pathLst>
              <a:path w="6537" h="1297">
                <a:moveTo>
                  <a:pt x="0" y="0"/>
                </a:moveTo>
                <a:lnTo>
                  <a:pt x="6537" y="0"/>
                </a:lnTo>
                <a:lnTo>
                  <a:pt x="6537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80" name=""/>
          <p:cNvSpPr/>
          <p:nvPr/>
        </p:nvSpPr>
        <p:spPr>
          <a:xfrm>
            <a:off x="2952720" y="3143160"/>
            <a:ext cx="3629160" cy="466920"/>
          </a:xfrm>
          <a:custGeom>
            <a:avLst/>
            <a:gdLst/>
            <a:ahLst/>
            <a:rect l="0" t="0" r="r" b="b"/>
            <a:pathLst>
              <a:path w="10081" h="1297">
                <a:moveTo>
                  <a:pt x="0" y="0"/>
                </a:moveTo>
                <a:lnTo>
                  <a:pt x="10081" y="0"/>
                </a:lnTo>
                <a:lnTo>
                  <a:pt x="10081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81" name=""/>
          <p:cNvSpPr/>
          <p:nvPr/>
        </p:nvSpPr>
        <p:spPr>
          <a:xfrm>
            <a:off x="6581520" y="3143160"/>
            <a:ext cx="5020200" cy="466920"/>
          </a:xfrm>
          <a:custGeom>
            <a:avLst/>
            <a:gdLst/>
            <a:ahLst/>
            <a:rect l="0" t="0" r="r" b="b"/>
            <a:pathLst>
              <a:path w="13945" h="1297">
                <a:moveTo>
                  <a:pt x="0" y="0"/>
                </a:moveTo>
                <a:lnTo>
                  <a:pt x="13945" y="0"/>
                </a:lnTo>
                <a:lnTo>
                  <a:pt x="13945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82" name=""/>
          <p:cNvSpPr/>
          <p:nvPr/>
        </p:nvSpPr>
        <p:spPr>
          <a:xfrm>
            <a:off x="599760" y="3609720"/>
            <a:ext cx="2353320" cy="467280"/>
          </a:xfrm>
          <a:custGeom>
            <a:avLst/>
            <a:gdLst/>
            <a:ahLst/>
            <a:rect l="0" t="0" r="r" b="b"/>
            <a:pathLst>
              <a:path w="6537" h="1298">
                <a:moveTo>
                  <a:pt x="0" y="0"/>
                </a:moveTo>
                <a:lnTo>
                  <a:pt x="6537" y="0"/>
                </a:lnTo>
                <a:lnTo>
                  <a:pt x="6537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83" name=""/>
          <p:cNvSpPr/>
          <p:nvPr/>
        </p:nvSpPr>
        <p:spPr>
          <a:xfrm>
            <a:off x="2952720" y="3609720"/>
            <a:ext cx="3629160" cy="467280"/>
          </a:xfrm>
          <a:custGeom>
            <a:avLst/>
            <a:gdLst/>
            <a:ahLst/>
            <a:rect l="0" t="0" r="r" b="b"/>
            <a:pathLst>
              <a:path w="10081" h="1298">
                <a:moveTo>
                  <a:pt x="0" y="0"/>
                </a:moveTo>
                <a:lnTo>
                  <a:pt x="10081" y="0"/>
                </a:lnTo>
                <a:lnTo>
                  <a:pt x="10081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84" name=""/>
          <p:cNvSpPr/>
          <p:nvPr/>
        </p:nvSpPr>
        <p:spPr>
          <a:xfrm>
            <a:off x="6581520" y="3609720"/>
            <a:ext cx="5020200" cy="467280"/>
          </a:xfrm>
          <a:custGeom>
            <a:avLst/>
            <a:gdLst/>
            <a:ahLst/>
            <a:rect l="0" t="0" r="r" b="b"/>
            <a:pathLst>
              <a:path w="13945" h="1298">
                <a:moveTo>
                  <a:pt x="0" y="0"/>
                </a:moveTo>
                <a:lnTo>
                  <a:pt x="13945" y="0"/>
                </a:lnTo>
                <a:lnTo>
                  <a:pt x="13945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85" name=""/>
          <p:cNvSpPr/>
          <p:nvPr/>
        </p:nvSpPr>
        <p:spPr>
          <a:xfrm>
            <a:off x="599760" y="4076640"/>
            <a:ext cx="2353320" cy="466920"/>
          </a:xfrm>
          <a:custGeom>
            <a:avLst/>
            <a:gdLst/>
            <a:ahLst/>
            <a:rect l="0" t="0" r="r" b="b"/>
            <a:pathLst>
              <a:path w="6537" h="1297">
                <a:moveTo>
                  <a:pt x="0" y="0"/>
                </a:moveTo>
                <a:lnTo>
                  <a:pt x="6537" y="0"/>
                </a:lnTo>
                <a:lnTo>
                  <a:pt x="6537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86" name=""/>
          <p:cNvSpPr/>
          <p:nvPr/>
        </p:nvSpPr>
        <p:spPr>
          <a:xfrm>
            <a:off x="2952720" y="4076640"/>
            <a:ext cx="3629160" cy="466920"/>
          </a:xfrm>
          <a:custGeom>
            <a:avLst/>
            <a:gdLst/>
            <a:ahLst/>
            <a:rect l="0" t="0" r="r" b="b"/>
            <a:pathLst>
              <a:path w="10081" h="1297">
                <a:moveTo>
                  <a:pt x="0" y="0"/>
                </a:moveTo>
                <a:lnTo>
                  <a:pt x="10081" y="0"/>
                </a:lnTo>
                <a:lnTo>
                  <a:pt x="10081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87" name=""/>
          <p:cNvSpPr/>
          <p:nvPr/>
        </p:nvSpPr>
        <p:spPr>
          <a:xfrm>
            <a:off x="6581520" y="4076640"/>
            <a:ext cx="5020200" cy="466920"/>
          </a:xfrm>
          <a:custGeom>
            <a:avLst/>
            <a:gdLst/>
            <a:ahLst/>
            <a:rect l="0" t="0" r="r" b="b"/>
            <a:pathLst>
              <a:path w="13945" h="1297">
                <a:moveTo>
                  <a:pt x="0" y="0"/>
                </a:moveTo>
                <a:lnTo>
                  <a:pt x="13945" y="0"/>
                </a:lnTo>
                <a:lnTo>
                  <a:pt x="13945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88" name=""/>
          <p:cNvSpPr/>
          <p:nvPr/>
        </p:nvSpPr>
        <p:spPr>
          <a:xfrm>
            <a:off x="590400" y="3133440"/>
            <a:ext cx="9720" cy="476640"/>
          </a:xfrm>
          <a:custGeom>
            <a:avLst/>
            <a:gdLst/>
            <a:ahLst/>
            <a:rect l="0" t="0" r="r" b="b"/>
            <a:pathLst>
              <a:path w="27" h="1324">
                <a:moveTo>
                  <a:pt x="0" y="0"/>
                </a:moveTo>
                <a:lnTo>
                  <a:pt x="27" y="0"/>
                </a:lnTo>
                <a:lnTo>
                  <a:pt x="27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89" name=""/>
          <p:cNvSpPr/>
          <p:nvPr/>
        </p:nvSpPr>
        <p:spPr>
          <a:xfrm>
            <a:off x="590400" y="3133440"/>
            <a:ext cx="2362680" cy="10080"/>
          </a:xfrm>
          <a:custGeom>
            <a:avLst/>
            <a:gdLst/>
            <a:ahLst/>
            <a:rect l="0" t="0" r="r" b="b"/>
            <a:pathLst>
              <a:path w="6563" h="28">
                <a:moveTo>
                  <a:pt x="0" y="0"/>
                </a:moveTo>
                <a:lnTo>
                  <a:pt x="6563" y="0"/>
                </a:lnTo>
                <a:lnTo>
                  <a:pt x="656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90" name=""/>
          <p:cNvSpPr/>
          <p:nvPr/>
        </p:nvSpPr>
        <p:spPr>
          <a:xfrm>
            <a:off x="2943000" y="3133440"/>
            <a:ext cx="10080" cy="476640"/>
          </a:xfrm>
          <a:custGeom>
            <a:avLst/>
            <a:gdLst/>
            <a:ahLst/>
            <a:rect l="0" t="0" r="r" b="b"/>
            <a:pathLst>
              <a:path w="28" h="1324">
                <a:moveTo>
                  <a:pt x="0" y="0"/>
                </a:moveTo>
                <a:lnTo>
                  <a:pt x="28" y="0"/>
                </a:lnTo>
                <a:lnTo>
                  <a:pt x="28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91" name=""/>
          <p:cNvSpPr/>
          <p:nvPr/>
        </p:nvSpPr>
        <p:spPr>
          <a:xfrm>
            <a:off x="2952720" y="3133440"/>
            <a:ext cx="3629160" cy="10080"/>
          </a:xfrm>
          <a:custGeom>
            <a:avLst/>
            <a:gdLst/>
            <a:ahLst/>
            <a:rect l="0" t="0" r="r" b="b"/>
            <a:pathLst>
              <a:path w="10081" h="28">
                <a:moveTo>
                  <a:pt x="0" y="0"/>
                </a:moveTo>
                <a:lnTo>
                  <a:pt x="10081" y="0"/>
                </a:lnTo>
                <a:lnTo>
                  <a:pt x="1008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92" name=""/>
          <p:cNvSpPr/>
          <p:nvPr/>
        </p:nvSpPr>
        <p:spPr>
          <a:xfrm>
            <a:off x="6572160" y="3133440"/>
            <a:ext cx="9720" cy="476640"/>
          </a:xfrm>
          <a:custGeom>
            <a:avLst/>
            <a:gdLst/>
            <a:ahLst/>
            <a:rect l="0" t="0" r="r" b="b"/>
            <a:pathLst>
              <a:path w="27" h="1324">
                <a:moveTo>
                  <a:pt x="0" y="0"/>
                </a:moveTo>
                <a:lnTo>
                  <a:pt x="27" y="0"/>
                </a:lnTo>
                <a:lnTo>
                  <a:pt x="27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93" name=""/>
          <p:cNvSpPr/>
          <p:nvPr/>
        </p:nvSpPr>
        <p:spPr>
          <a:xfrm>
            <a:off x="6581520" y="3133440"/>
            <a:ext cx="5020200" cy="10080"/>
          </a:xfrm>
          <a:custGeom>
            <a:avLst/>
            <a:gdLst/>
            <a:ahLst/>
            <a:rect l="0" t="0" r="r" b="b"/>
            <a:pathLst>
              <a:path w="13945" h="28">
                <a:moveTo>
                  <a:pt x="0" y="0"/>
                </a:moveTo>
                <a:lnTo>
                  <a:pt x="13945" y="0"/>
                </a:lnTo>
                <a:lnTo>
                  <a:pt x="1394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94" name=""/>
          <p:cNvSpPr/>
          <p:nvPr/>
        </p:nvSpPr>
        <p:spPr>
          <a:xfrm>
            <a:off x="11591640" y="3133440"/>
            <a:ext cx="10080" cy="476640"/>
          </a:xfrm>
          <a:custGeom>
            <a:avLst/>
            <a:gdLst/>
            <a:ahLst/>
            <a:rect l="0" t="0" r="r" b="b"/>
            <a:pathLst>
              <a:path w="28" h="1324">
                <a:moveTo>
                  <a:pt x="0" y="0"/>
                </a:moveTo>
                <a:lnTo>
                  <a:pt x="28" y="0"/>
                </a:lnTo>
                <a:lnTo>
                  <a:pt x="28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95" name=""/>
          <p:cNvSpPr/>
          <p:nvPr/>
        </p:nvSpPr>
        <p:spPr>
          <a:xfrm>
            <a:off x="590400" y="3600360"/>
            <a:ext cx="2362680" cy="9720"/>
          </a:xfrm>
          <a:custGeom>
            <a:avLst/>
            <a:gdLst/>
            <a:ahLst/>
            <a:rect l="0" t="0" r="r" b="b"/>
            <a:pathLst>
              <a:path w="6563" h="27">
                <a:moveTo>
                  <a:pt x="0" y="0"/>
                </a:moveTo>
                <a:lnTo>
                  <a:pt x="6563" y="0"/>
                </a:lnTo>
                <a:lnTo>
                  <a:pt x="656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96" name=""/>
          <p:cNvSpPr/>
          <p:nvPr/>
        </p:nvSpPr>
        <p:spPr>
          <a:xfrm>
            <a:off x="2952720" y="3600360"/>
            <a:ext cx="3629160" cy="9720"/>
          </a:xfrm>
          <a:custGeom>
            <a:avLst/>
            <a:gdLst/>
            <a:ahLst/>
            <a:rect l="0" t="0" r="r" b="b"/>
            <a:pathLst>
              <a:path w="10081" h="27">
                <a:moveTo>
                  <a:pt x="0" y="0"/>
                </a:moveTo>
                <a:lnTo>
                  <a:pt x="10081" y="0"/>
                </a:lnTo>
                <a:lnTo>
                  <a:pt x="1008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97" name=""/>
          <p:cNvSpPr/>
          <p:nvPr/>
        </p:nvSpPr>
        <p:spPr>
          <a:xfrm>
            <a:off x="6581520" y="3600360"/>
            <a:ext cx="5020200" cy="9720"/>
          </a:xfrm>
          <a:custGeom>
            <a:avLst/>
            <a:gdLst/>
            <a:ahLst/>
            <a:rect l="0" t="0" r="r" b="b"/>
            <a:pathLst>
              <a:path w="13945" h="27">
                <a:moveTo>
                  <a:pt x="0" y="0"/>
                </a:moveTo>
                <a:lnTo>
                  <a:pt x="13945" y="0"/>
                </a:lnTo>
                <a:lnTo>
                  <a:pt x="1394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98" name=""/>
          <p:cNvSpPr/>
          <p:nvPr/>
        </p:nvSpPr>
        <p:spPr>
          <a:xfrm>
            <a:off x="590400" y="3609720"/>
            <a:ext cx="9720" cy="467280"/>
          </a:xfrm>
          <a:custGeom>
            <a:avLst/>
            <a:gdLst/>
            <a:ahLst/>
            <a:rect l="0" t="0" r="r" b="b"/>
            <a:pathLst>
              <a:path w="27" h="1298">
                <a:moveTo>
                  <a:pt x="0" y="0"/>
                </a:moveTo>
                <a:lnTo>
                  <a:pt x="27" y="0"/>
                </a:lnTo>
                <a:lnTo>
                  <a:pt x="27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399" name=""/>
          <p:cNvSpPr/>
          <p:nvPr/>
        </p:nvSpPr>
        <p:spPr>
          <a:xfrm>
            <a:off x="2943000" y="3609720"/>
            <a:ext cx="10080" cy="467280"/>
          </a:xfrm>
          <a:custGeom>
            <a:avLst/>
            <a:gdLst/>
            <a:ahLst/>
            <a:rect l="0" t="0" r="r" b="b"/>
            <a:pathLst>
              <a:path w="28" h="1298">
                <a:moveTo>
                  <a:pt x="0" y="0"/>
                </a:moveTo>
                <a:lnTo>
                  <a:pt x="28" y="0"/>
                </a:lnTo>
                <a:lnTo>
                  <a:pt x="28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00" name=""/>
          <p:cNvSpPr/>
          <p:nvPr/>
        </p:nvSpPr>
        <p:spPr>
          <a:xfrm>
            <a:off x="6572160" y="3609720"/>
            <a:ext cx="9720" cy="467280"/>
          </a:xfrm>
          <a:custGeom>
            <a:avLst/>
            <a:gdLst/>
            <a:ahLst/>
            <a:rect l="0" t="0" r="r" b="b"/>
            <a:pathLst>
              <a:path w="27" h="1298">
                <a:moveTo>
                  <a:pt x="0" y="0"/>
                </a:moveTo>
                <a:lnTo>
                  <a:pt x="27" y="0"/>
                </a:lnTo>
                <a:lnTo>
                  <a:pt x="27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01" name=""/>
          <p:cNvSpPr/>
          <p:nvPr/>
        </p:nvSpPr>
        <p:spPr>
          <a:xfrm>
            <a:off x="11591640" y="3609720"/>
            <a:ext cx="10080" cy="467280"/>
          </a:xfrm>
          <a:custGeom>
            <a:avLst/>
            <a:gdLst/>
            <a:ahLst/>
            <a:rect l="0" t="0" r="r" b="b"/>
            <a:pathLst>
              <a:path w="28" h="1298">
                <a:moveTo>
                  <a:pt x="0" y="0"/>
                </a:moveTo>
                <a:lnTo>
                  <a:pt x="28" y="0"/>
                </a:lnTo>
                <a:lnTo>
                  <a:pt x="28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02" name=""/>
          <p:cNvSpPr/>
          <p:nvPr/>
        </p:nvSpPr>
        <p:spPr>
          <a:xfrm>
            <a:off x="590400" y="4076640"/>
            <a:ext cx="9720" cy="466920"/>
          </a:xfrm>
          <a:custGeom>
            <a:avLst/>
            <a:gdLst/>
            <a:ahLst/>
            <a:rect l="0" t="0" r="r" b="b"/>
            <a:pathLst>
              <a:path w="27" h="1297">
                <a:moveTo>
                  <a:pt x="0" y="0"/>
                </a:moveTo>
                <a:lnTo>
                  <a:pt x="27" y="0"/>
                </a:lnTo>
                <a:lnTo>
                  <a:pt x="27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03" name=""/>
          <p:cNvSpPr/>
          <p:nvPr/>
        </p:nvSpPr>
        <p:spPr>
          <a:xfrm>
            <a:off x="590400" y="4066920"/>
            <a:ext cx="2362680" cy="10080"/>
          </a:xfrm>
          <a:custGeom>
            <a:avLst/>
            <a:gdLst/>
            <a:ahLst/>
            <a:rect l="0" t="0" r="r" b="b"/>
            <a:pathLst>
              <a:path w="6563" h="28">
                <a:moveTo>
                  <a:pt x="0" y="0"/>
                </a:moveTo>
                <a:lnTo>
                  <a:pt x="6563" y="0"/>
                </a:lnTo>
                <a:lnTo>
                  <a:pt x="656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04" name=""/>
          <p:cNvSpPr/>
          <p:nvPr/>
        </p:nvSpPr>
        <p:spPr>
          <a:xfrm>
            <a:off x="2943000" y="4076640"/>
            <a:ext cx="10080" cy="466920"/>
          </a:xfrm>
          <a:custGeom>
            <a:avLst/>
            <a:gdLst/>
            <a:ahLst/>
            <a:rect l="0" t="0" r="r" b="b"/>
            <a:pathLst>
              <a:path w="28" h="1297">
                <a:moveTo>
                  <a:pt x="0" y="0"/>
                </a:moveTo>
                <a:lnTo>
                  <a:pt x="28" y="0"/>
                </a:lnTo>
                <a:lnTo>
                  <a:pt x="28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05" name=""/>
          <p:cNvSpPr/>
          <p:nvPr/>
        </p:nvSpPr>
        <p:spPr>
          <a:xfrm>
            <a:off x="2952720" y="4066920"/>
            <a:ext cx="3629160" cy="10080"/>
          </a:xfrm>
          <a:custGeom>
            <a:avLst/>
            <a:gdLst/>
            <a:ahLst/>
            <a:rect l="0" t="0" r="r" b="b"/>
            <a:pathLst>
              <a:path w="10081" h="28">
                <a:moveTo>
                  <a:pt x="0" y="0"/>
                </a:moveTo>
                <a:lnTo>
                  <a:pt x="10081" y="0"/>
                </a:lnTo>
                <a:lnTo>
                  <a:pt x="1008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06" name=""/>
          <p:cNvSpPr/>
          <p:nvPr/>
        </p:nvSpPr>
        <p:spPr>
          <a:xfrm>
            <a:off x="6572160" y="4076640"/>
            <a:ext cx="9720" cy="466920"/>
          </a:xfrm>
          <a:custGeom>
            <a:avLst/>
            <a:gdLst/>
            <a:ahLst/>
            <a:rect l="0" t="0" r="r" b="b"/>
            <a:pathLst>
              <a:path w="27" h="1297">
                <a:moveTo>
                  <a:pt x="0" y="0"/>
                </a:moveTo>
                <a:lnTo>
                  <a:pt x="27" y="0"/>
                </a:lnTo>
                <a:lnTo>
                  <a:pt x="27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07" name=""/>
          <p:cNvSpPr/>
          <p:nvPr/>
        </p:nvSpPr>
        <p:spPr>
          <a:xfrm>
            <a:off x="6581520" y="4066920"/>
            <a:ext cx="5020200" cy="10080"/>
          </a:xfrm>
          <a:custGeom>
            <a:avLst/>
            <a:gdLst/>
            <a:ahLst/>
            <a:rect l="0" t="0" r="r" b="b"/>
            <a:pathLst>
              <a:path w="13945" h="28">
                <a:moveTo>
                  <a:pt x="0" y="0"/>
                </a:moveTo>
                <a:lnTo>
                  <a:pt x="13945" y="0"/>
                </a:lnTo>
                <a:lnTo>
                  <a:pt x="1394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08" name=""/>
          <p:cNvSpPr/>
          <p:nvPr/>
        </p:nvSpPr>
        <p:spPr>
          <a:xfrm>
            <a:off x="11591640" y="4076640"/>
            <a:ext cx="10080" cy="466920"/>
          </a:xfrm>
          <a:custGeom>
            <a:avLst/>
            <a:gdLst/>
            <a:ahLst/>
            <a:rect l="0" t="0" r="r" b="b"/>
            <a:pathLst>
              <a:path w="28" h="1297">
                <a:moveTo>
                  <a:pt x="0" y="0"/>
                </a:moveTo>
                <a:lnTo>
                  <a:pt x="28" y="0"/>
                </a:lnTo>
                <a:lnTo>
                  <a:pt x="28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09" name=""/>
          <p:cNvSpPr/>
          <p:nvPr/>
        </p:nvSpPr>
        <p:spPr>
          <a:xfrm>
            <a:off x="590400" y="4533840"/>
            <a:ext cx="2362680" cy="9720"/>
          </a:xfrm>
          <a:custGeom>
            <a:avLst/>
            <a:gdLst/>
            <a:ahLst/>
            <a:rect l="0" t="0" r="r" b="b"/>
            <a:pathLst>
              <a:path w="6563" h="27">
                <a:moveTo>
                  <a:pt x="0" y="0"/>
                </a:moveTo>
                <a:lnTo>
                  <a:pt x="6563" y="0"/>
                </a:lnTo>
                <a:lnTo>
                  <a:pt x="656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10" name=""/>
          <p:cNvSpPr/>
          <p:nvPr/>
        </p:nvSpPr>
        <p:spPr>
          <a:xfrm>
            <a:off x="2952720" y="4533840"/>
            <a:ext cx="3629160" cy="9720"/>
          </a:xfrm>
          <a:custGeom>
            <a:avLst/>
            <a:gdLst/>
            <a:ahLst/>
            <a:rect l="0" t="0" r="r" b="b"/>
            <a:pathLst>
              <a:path w="10081" h="27">
                <a:moveTo>
                  <a:pt x="0" y="0"/>
                </a:moveTo>
                <a:lnTo>
                  <a:pt x="10081" y="0"/>
                </a:lnTo>
                <a:lnTo>
                  <a:pt x="1008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11" name=""/>
          <p:cNvSpPr/>
          <p:nvPr/>
        </p:nvSpPr>
        <p:spPr>
          <a:xfrm>
            <a:off x="6581520" y="4533840"/>
            <a:ext cx="5020200" cy="9720"/>
          </a:xfrm>
          <a:custGeom>
            <a:avLst/>
            <a:gdLst/>
            <a:ahLst/>
            <a:rect l="0" t="0" r="r" b="b"/>
            <a:pathLst>
              <a:path w="13945" h="27">
                <a:moveTo>
                  <a:pt x="0" y="0"/>
                </a:moveTo>
                <a:lnTo>
                  <a:pt x="13945" y="0"/>
                </a:lnTo>
                <a:lnTo>
                  <a:pt x="1394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12" name=""/>
          <p:cNvSpPr txBox="1"/>
          <p:nvPr/>
        </p:nvSpPr>
        <p:spPr>
          <a:xfrm>
            <a:off x="590400" y="1796040"/>
            <a:ext cx="7062012" cy="36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8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表現への強さは、モデルによって違う</a:t>
            </a:r>
            <a:endParaRPr lang="en-US" sz="28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13" name=""/>
          <p:cNvSpPr txBox="1"/>
          <p:nvPr/>
        </p:nvSpPr>
        <p:spPr>
          <a:xfrm>
            <a:off x="590400" y="2621520"/>
            <a:ext cx="7216848" cy="258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02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すべて</a:t>
            </a:r>
            <a:r>
              <a:rPr lang="en-US" sz="202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 epoch</a:t>
            </a:r>
            <a:r>
              <a:rPr lang="ja-JP" sz="202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。冒頭だけを変えた</a:t>
            </a:r>
            <a:r>
              <a:rPr lang="en-US" sz="202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14</a:t>
            </a:r>
            <a:r>
              <a:rPr lang="ja-JP" sz="202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操作の合格数。</a:t>
            </a:r>
            <a:endParaRPr lang="en-US" sz="202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14" name=""/>
          <p:cNvSpPr txBox="1"/>
          <p:nvPr/>
        </p:nvSpPr>
        <p:spPr>
          <a:xfrm>
            <a:off x="723960" y="3256560"/>
            <a:ext cx="789498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モデル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15" name=""/>
          <p:cNvSpPr txBox="1"/>
          <p:nvPr/>
        </p:nvSpPr>
        <p:spPr>
          <a:xfrm>
            <a:off x="5273280" y="3256560"/>
            <a:ext cx="135585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「</a:t>
            </a:r>
            <a:r>
              <a:rPr lang="en-US" sz="18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xs</a:t>
            </a:r>
            <a:r>
              <a:rPr lang="ja-JP" sz="18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から」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16" name=""/>
          <p:cNvSpPr txBox="1"/>
          <p:nvPr/>
        </p:nvSpPr>
        <p:spPr>
          <a:xfrm>
            <a:off x="9741240" y="3256560"/>
            <a:ext cx="214452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「</a:t>
            </a:r>
            <a:r>
              <a:rPr lang="en-US" sz="18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xs</a:t>
            </a:r>
            <a:r>
              <a:rPr lang="ja-JP" sz="18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に対して、」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17" name=""/>
          <p:cNvSpPr txBox="1"/>
          <p:nvPr/>
        </p:nvSpPr>
        <p:spPr>
          <a:xfrm>
            <a:off x="723960" y="3723120"/>
            <a:ext cx="421866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5M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18" name=""/>
          <p:cNvSpPr txBox="1"/>
          <p:nvPr/>
        </p:nvSpPr>
        <p:spPr>
          <a:xfrm>
            <a:off x="5553720" y="3723120"/>
            <a:ext cx="1033344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8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12 / 14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19" name=""/>
          <p:cNvSpPr txBox="1"/>
          <p:nvPr/>
        </p:nvSpPr>
        <p:spPr>
          <a:xfrm>
            <a:off x="10728000" y="3723120"/>
            <a:ext cx="851598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8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1 / 14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20" name=""/>
          <p:cNvSpPr txBox="1"/>
          <p:nvPr/>
        </p:nvSpPr>
        <p:spPr>
          <a:xfrm>
            <a:off x="723960" y="4189680"/>
            <a:ext cx="594504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15M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21" name=""/>
          <p:cNvSpPr txBox="1"/>
          <p:nvPr/>
        </p:nvSpPr>
        <p:spPr>
          <a:xfrm>
            <a:off x="5589360" y="4189680"/>
            <a:ext cx="992358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12 / 14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22" name=""/>
          <p:cNvSpPr txBox="1"/>
          <p:nvPr/>
        </p:nvSpPr>
        <p:spPr>
          <a:xfrm>
            <a:off x="10605960" y="4189680"/>
            <a:ext cx="992358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12 / 14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23" name=""/>
          <p:cNvSpPr txBox="1"/>
          <p:nvPr/>
        </p:nvSpPr>
        <p:spPr>
          <a:xfrm>
            <a:off x="590400" y="4793400"/>
            <a:ext cx="8792532" cy="258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20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15M</a:t>
            </a:r>
            <a:r>
              <a:rPr lang="ja-JP" sz="20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では合格数を保った。</a:t>
            </a:r>
            <a:r>
              <a:rPr lang="en-US" sz="202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 すべてが同様に崩れるわけではない。</a:t>
            </a:r>
            <a:endParaRPr lang="en-US" sz="202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24" name=""/>
          <p:cNvSpPr txBox="1"/>
          <p:nvPr/>
        </p:nvSpPr>
        <p:spPr>
          <a:xfrm>
            <a:off x="11705760" y="6466680"/>
            <a:ext cx="231012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Hiragino Sans"/>
                <a:ea typeface="Hiragino Sans"/>
              </a:rPr>
              <a:t>29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2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2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28" name=""/>
          <p:cNvSpPr/>
          <p:nvPr/>
        </p:nvSpPr>
        <p:spPr>
          <a:xfrm>
            <a:off x="599760" y="2628720"/>
            <a:ext cx="8744400" cy="466920"/>
          </a:xfrm>
          <a:custGeom>
            <a:avLst/>
            <a:gdLst/>
            <a:ahLst/>
            <a:rect l="0" t="0" r="r" b="b"/>
            <a:pathLst>
              <a:path w="24290" h="1297">
                <a:moveTo>
                  <a:pt x="0" y="0"/>
                </a:moveTo>
                <a:lnTo>
                  <a:pt x="24290" y="0"/>
                </a:lnTo>
                <a:lnTo>
                  <a:pt x="24290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29" name=""/>
          <p:cNvSpPr/>
          <p:nvPr/>
        </p:nvSpPr>
        <p:spPr>
          <a:xfrm>
            <a:off x="9343800" y="2628720"/>
            <a:ext cx="2257920" cy="466920"/>
          </a:xfrm>
          <a:custGeom>
            <a:avLst/>
            <a:gdLst/>
            <a:ahLst/>
            <a:rect l="0" t="0" r="r" b="b"/>
            <a:pathLst>
              <a:path w="6272" h="1297">
                <a:moveTo>
                  <a:pt x="0" y="0"/>
                </a:moveTo>
                <a:lnTo>
                  <a:pt x="6272" y="0"/>
                </a:lnTo>
                <a:lnTo>
                  <a:pt x="6272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30" name=""/>
          <p:cNvSpPr/>
          <p:nvPr/>
        </p:nvSpPr>
        <p:spPr>
          <a:xfrm>
            <a:off x="599760" y="2628720"/>
            <a:ext cx="8744400" cy="466920"/>
          </a:xfrm>
          <a:custGeom>
            <a:avLst/>
            <a:gdLst/>
            <a:ahLst/>
            <a:rect l="0" t="0" r="r" b="b"/>
            <a:pathLst>
              <a:path w="24290" h="1297">
                <a:moveTo>
                  <a:pt x="0" y="0"/>
                </a:moveTo>
                <a:lnTo>
                  <a:pt x="24290" y="0"/>
                </a:lnTo>
                <a:lnTo>
                  <a:pt x="24290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31" name=""/>
          <p:cNvSpPr/>
          <p:nvPr/>
        </p:nvSpPr>
        <p:spPr>
          <a:xfrm>
            <a:off x="9343800" y="2628720"/>
            <a:ext cx="2257920" cy="466920"/>
          </a:xfrm>
          <a:custGeom>
            <a:avLst/>
            <a:gdLst/>
            <a:ahLst/>
            <a:rect l="0" t="0" r="r" b="b"/>
            <a:pathLst>
              <a:path w="6272" h="1297">
                <a:moveTo>
                  <a:pt x="0" y="0"/>
                </a:moveTo>
                <a:lnTo>
                  <a:pt x="6272" y="0"/>
                </a:lnTo>
                <a:lnTo>
                  <a:pt x="6272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32" name=""/>
          <p:cNvSpPr/>
          <p:nvPr/>
        </p:nvSpPr>
        <p:spPr>
          <a:xfrm>
            <a:off x="599760" y="3095280"/>
            <a:ext cx="8744400" cy="467280"/>
          </a:xfrm>
          <a:custGeom>
            <a:avLst/>
            <a:gdLst/>
            <a:ahLst/>
            <a:rect l="0" t="0" r="r" b="b"/>
            <a:pathLst>
              <a:path w="24290" h="1298">
                <a:moveTo>
                  <a:pt x="0" y="0"/>
                </a:moveTo>
                <a:lnTo>
                  <a:pt x="24290" y="0"/>
                </a:lnTo>
                <a:lnTo>
                  <a:pt x="24290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33" name=""/>
          <p:cNvSpPr/>
          <p:nvPr/>
        </p:nvSpPr>
        <p:spPr>
          <a:xfrm>
            <a:off x="9343800" y="3095280"/>
            <a:ext cx="2257920" cy="467280"/>
          </a:xfrm>
          <a:custGeom>
            <a:avLst/>
            <a:gdLst/>
            <a:ahLst/>
            <a:rect l="0" t="0" r="r" b="b"/>
            <a:pathLst>
              <a:path w="6272" h="1298">
                <a:moveTo>
                  <a:pt x="0" y="0"/>
                </a:moveTo>
                <a:lnTo>
                  <a:pt x="6272" y="0"/>
                </a:lnTo>
                <a:lnTo>
                  <a:pt x="6272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34" name=""/>
          <p:cNvSpPr/>
          <p:nvPr/>
        </p:nvSpPr>
        <p:spPr>
          <a:xfrm>
            <a:off x="599760" y="3562200"/>
            <a:ext cx="8744400" cy="466920"/>
          </a:xfrm>
          <a:custGeom>
            <a:avLst/>
            <a:gdLst/>
            <a:ahLst/>
            <a:rect l="0" t="0" r="r" b="b"/>
            <a:pathLst>
              <a:path w="24290" h="1297">
                <a:moveTo>
                  <a:pt x="0" y="0"/>
                </a:moveTo>
                <a:lnTo>
                  <a:pt x="24290" y="0"/>
                </a:lnTo>
                <a:lnTo>
                  <a:pt x="24290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35" name=""/>
          <p:cNvSpPr/>
          <p:nvPr/>
        </p:nvSpPr>
        <p:spPr>
          <a:xfrm>
            <a:off x="9343800" y="3562200"/>
            <a:ext cx="2257920" cy="466920"/>
          </a:xfrm>
          <a:custGeom>
            <a:avLst/>
            <a:gdLst/>
            <a:ahLst/>
            <a:rect l="0" t="0" r="r" b="b"/>
            <a:pathLst>
              <a:path w="6272" h="1297">
                <a:moveTo>
                  <a:pt x="0" y="0"/>
                </a:moveTo>
                <a:lnTo>
                  <a:pt x="6272" y="0"/>
                </a:lnTo>
                <a:lnTo>
                  <a:pt x="6272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36" name=""/>
          <p:cNvSpPr/>
          <p:nvPr/>
        </p:nvSpPr>
        <p:spPr>
          <a:xfrm>
            <a:off x="599760" y="4028760"/>
            <a:ext cx="8744400" cy="467280"/>
          </a:xfrm>
          <a:custGeom>
            <a:avLst/>
            <a:gdLst/>
            <a:ahLst/>
            <a:rect l="0" t="0" r="r" b="b"/>
            <a:pathLst>
              <a:path w="24290" h="1298">
                <a:moveTo>
                  <a:pt x="0" y="0"/>
                </a:moveTo>
                <a:lnTo>
                  <a:pt x="24290" y="0"/>
                </a:lnTo>
                <a:lnTo>
                  <a:pt x="24290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37" name=""/>
          <p:cNvSpPr/>
          <p:nvPr/>
        </p:nvSpPr>
        <p:spPr>
          <a:xfrm>
            <a:off x="9343800" y="4028760"/>
            <a:ext cx="2257920" cy="467280"/>
          </a:xfrm>
          <a:custGeom>
            <a:avLst/>
            <a:gdLst/>
            <a:ahLst/>
            <a:rect l="0" t="0" r="r" b="b"/>
            <a:pathLst>
              <a:path w="6272" h="1298">
                <a:moveTo>
                  <a:pt x="0" y="0"/>
                </a:moveTo>
                <a:lnTo>
                  <a:pt x="6272" y="0"/>
                </a:lnTo>
                <a:lnTo>
                  <a:pt x="6272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38" name=""/>
          <p:cNvSpPr/>
          <p:nvPr/>
        </p:nvSpPr>
        <p:spPr>
          <a:xfrm>
            <a:off x="590400" y="2628720"/>
            <a:ext cx="9720" cy="476640"/>
          </a:xfrm>
          <a:custGeom>
            <a:avLst/>
            <a:gdLst/>
            <a:ahLst/>
            <a:rect l="0" t="0" r="r" b="b"/>
            <a:pathLst>
              <a:path w="27" h="1324">
                <a:moveTo>
                  <a:pt x="0" y="0"/>
                </a:moveTo>
                <a:lnTo>
                  <a:pt x="27" y="0"/>
                </a:lnTo>
                <a:lnTo>
                  <a:pt x="27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39" name=""/>
          <p:cNvSpPr/>
          <p:nvPr/>
        </p:nvSpPr>
        <p:spPr>
          <a:xfrm>
            <a:off x="590400" y="2628720"/>
            <a:ext cx="8753760" cy="9720"/>
          </a:xfrm>
          <a:custGeom>
            <a:avLst/>
            <a:gdLst/>
            <a:ahLst/>
            <a:rect l="0" t="0" r="r" b="b"/>
            <a:pathLst>
              <a:path w="24316" h="27">
                <a:moveTo>
                  <a:pt x="0" y="0"/>
                </a:moveTo>
                <a:lnTo>
                  <a:pt x="24316" y="0"/>
                </a:lnTo>
                <a:lnTo>
                  <a:pt x="2431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40" name=""/>
          <p:cNvSpPr/>
          <p:nvPr/>
        </p:nvSpPr>
        <p:spPr>
          <a:xfrm>
            <a:off x="9334440" y="2628720"/>
            <a:ext cx="9720" cy="476640"/>
          </a:xfrm>
          <a:custGeom>
            <a:avLst/>
            <a:gdLst/>
            <a:ahLst/>
            <a:rect l="0" t="0" r="r" b="b"/>
            <a:pathLst>
              <a:path w="27" h="1324">
                <a:moveTo>
                  <a:pt x="0" y="0"/>
                </a:moveTo>
                <a:lnTo>
                  <a:pt x="27" y="0"/>
                </a:lnTo>
                <a:lnTo>
                  <a:pt x="27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41" name=""/>
          <p:cNvSpPr/>
          <p:nvPr/>
        </p:nvSpPr>
        <p:spPr>
          <a:xfrm>
            <a:off x="9343800" y="2628720"/>
            <a:ext cx="2257920" cy="9720"/>
          </a:xfrm>
          <a:custGeom>
            <a:avLst/>
            <a:gdLst/>
            <a:ahLst/>
            <a:rect l="0" t="0" r="r" b="b"/>
            <a:pathLst>
              <a:path w="6272" h="27">
                <a:moveTo>
                  <a:pt x="0" y="0"/>
                </a:moveTo>
                <a:lnTo>
                  <a:pt x="6272" y="0"/>
                </a:lnTo>
                <a:lnTo>
                  <a:pt x="627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42" name=""/>
          <p:cNvSpPr/>
          <p:nvPr/>
        </p:nvSpPr>
        <p:spPr>
          <a:xfrm>
            <a:off x="11591640" y="2628720"/>
            <a:ext cx="10080" cy="476640"/>
          </a:xfrm>
          <a:custGeom>
            <a:avLst/>
            <a:gdLst/>
            <a:ahLst/>
            <a:rect l="0" t="0" r="r" b="b"/>
            <a:pathLst>
              <a:path w="28" h="1324">
                <a:moveTo>
                  <a:pt x="0" y="0"/>
                </a:moveTo>
                <a:lnTo>
                  <a:pt x="28" y="0"/>
                </a:lnTo>
                <a:lnTo>
                  <a:pt x="28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43" name=""/>
          <p:cNvSpPr/>
          <p:nvPr/>
        </p:nvSpPr>
        <p:spPr>
          <a:xfrm>
            <a:off x="590400" y="3095280"/>
            <a:ext cx="8753760" cy="10080"/>
          </a:xfrm>
          <a:custGeom>
            <a:avLst/>
            <a:gdLst/>
            <a:ahLst/>
            <a:rect l="0" t="0" r="r" b="b"/>
            <a:pathLst>
              <a:path w="24316" h="28">
                <a:moveTo>
                  <a:pt x="0" y="0"/>
                </a:moveTo>
                <a:lnTo>
                  <a:pt x="24316" y="0"/>
                </a:lnTo>
                <a:lnTo>
                  <a:pt x="2431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44" name=""/>
          <p:cNvSpPr/>
          <p:nvPr/>
        </p:nvSpPr>
        <p:spPr>
          <a:xfrm>
            <a:off x="9343800" y="3095280"/>
            <a:ext cx="2257920" cy="10080"/>
          </a:xfrm>
          <a:custGeom>
            <a:avLst/>
            <a:gdLst/>
            <a:ahLst/>
            <a:rect l="0" t="0" r="r" b="b"/>
            <a:pathLst>
              <a:path w="6272" h="28">
                <a:moveTo>
                  <a:pt x="0" y="0"/>
                </a:moveTo>
                <a:lnTo>
                  <a:pt x="6272" y="0"/>
                </a:lnTo>
                <a:lnTo>
                  <a:pt x="627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45" name=""/>
          <p:cNvSpPr/>
          <p:nvPr/>
        </p:nvSpPr>
        <p:spPr>
          <a:xfrm>
            <a:off x="590400" y="3105000"/>
            <a:ext cx="9720" cy="466920"/>
          </a:xfrm>
          <a:custGeom>
            <a:avLst/>
            <a:gdLst/>
            <a:ahLst/>
            <a:rect l="0" t="0" r="r" b="b"/>
            <a:pathLst>
              <a:path w="27" h="1297">
                <a:moveTo>
                  <a:pt x="0" y="0"/>
                </a:moveTo>
                <a:lnTo>
                  <a:pt x="27" y="0"/>
                </a:lnTo>
                <a:lnTo>
                  <a:pt x="27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46" name=""/>
          <p:cNvSpPr/>
          <p:nvPr/>
        </p:nvSpPr>
        <p:spPr>
          <a:xfrm>
            <a:off x="9334440" y="3105000"/>
            <a:ext cx="9720" cy="466920"/>
          </a:xfrm>
          <a:custGeom>
            <a:avLst/>
            <a:gdLst/>
            <a:ahLst/>
            <a:rect l="0" t="0" r="r" b="b"/>
            <a:pathLst>
              <a:path w="27" h="1297">
                <a:moveTo>
                  <a:pt x="0" y="0"/>
                </a:moveTo>
                <a:lnTo>
                  <a:pt x="27" y="0"/>
                </a:lnTo>
                <a:lnTo>
                  <a:pt x="27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47" name=""/>
          <p:cNvSpPr/>
          <p:nvPr/>
        </p:nvSpPr>
        <p:spPr>
          <a:xfrm>
            <a:off x="11591640" y="3105000"/>
            <a:ext cx="10080" cy="466920"/>
          </a:xfrm>
          <a:custGeom>
            <a:avLst/>
            <a:gdLst/>
            <a:ahLst/>
            <a:rect l="0" t="0" r="r" b="b"/>
            <a:pathLst>
              <a:path w="28" h="1297">
                <a:moveTo>
                  <a:pt x="0" y="0"/>
                </a:moveTo>
                <a:lnTo>
                  <a:pt x="28" y="0"/>
                </a:lnTo>
                <a:lnTo>
                  <a:pt x="28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48" name=""/>
          <p:cNvSpPr/>
          <p:nvPr/>
        </p:nvSpPr>
        <p:spPr>
          <a:xfrm>
            <a:off x="590400" y="3571560"/>
            <a:ext cx="9720" cy="467280"/>
          </a:xfrm>
          <a:custGeom>
            <a:avLst/>
            <a:gdLst/>
            <a:ahLst/>
            <a:rect l="0" t="0" r="r" b="b"/>
            <a:pathLst>
              <a:path w="27" h="1298">
                <a:moveTo>
                  <a:pt x="0" y="0"/>
                </a:moveTo>
                <a:lnTo>
                  <a:pt x="27" y="0"/>
                </a:lnTo>
                <a:lnTo>
                  <a:pt x="27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49" name=""/>
          <p:cNvSpPr/>
          <p:nvPr/>
        </p:nvSpPr>
        <p:spPr>
          <a:xfrm>
            <a:off x="590400" y="3562200"/>
            <a:ext cx="8753760" cy="9720"/>
          </a:xfrm>
          <a:custGeom>
            <a:avLst/>
            <a:gdLst/>
            <a:ahLst/>
            <a:rect l="0" t="0" r="r" b="b"/>
            <a:pathLst>
              <a:path w="24316" h="27">
                <a:moveTo>
                  <a:pt x="0" y="0"/>
                </a:moveTo>
                <a:lnTo>
                  <a:pt x="24316" y="0"/>
                </a:lnTo>
                <a:lnTo>
                  <a:pt x="2431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50" name=""/>
          <p:cNvSpPr/>
          <p:nvPr/>
        </p:nvSpPr>
        <p:spPr>
          <a:xfrm>
            <a:off x="9334440" y="3571560"/>
            <a:ext cx="9720" cy="467280"/>
          </a:xfrm>
          <a:custGeom>
            <a:avLst/>
            <a:gdLst/>
            <a:ahLst/>
            <a:rect l="0" t="0" r="r" b="b"/>
            <a:pathLst>
              <a:path w="27" h="1298">
                <a:moveTo>
                  <a:pt x="0" y="0"/>
                </a:moveTo>
                <a:lnTo>
                  <a:pt x="27" y="0"/>
                </a:lnTo>
                <a:lnTo>
                  <a:pt x="27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51" name=""/>
          <p:cNvSpPr/>
          <p:nvPr/>
        </p:nvSpPr>
        <p:spPr>
          <a:xfrm>
            <a:off x="9343800" y="3562200"/>
            <a:ext cx="2257920" cy="9720"/>
          </a:xfrm>
          <a:custGeom>
            <a:avLst/>
            <a:gdLst/>
            <a:ahLst/>
            <a:rect l="0" t="0" r="r" b="b"/>
            <a:pathLst>
              <a:path w="6272" h="27">
                <a:moveTo>
                  <a:pt x="0" y="0"/>
                </a:moveTo>
                <a:lnTo>
                  <a:pt x="6272" y="0"/>
                </a:lnTo>
                <a:lnTo>
                  <a:pt x="627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52" name=""/>
          <p:cNvSpPr/>
          <p:nvPr/>
        </p:nvSpPr>
        <p:spPr>
          <a:xfrm>
            <a:off x="11591640" y="3571560"/>
            <a:ext cx="10080" cy="467280"/>
          </a:xfrm>
          <a:custGeom>
            <a:avLst/>
            <a:gdLst/>
            <a:ahLst/>
            <a:rect l="0" t="0" r="r" b="b"/>
            <a:pathLst>
              <a:path w="28" h="1298">
                <a:moveTo>
                  <a:pt x="0" y="0"/>
                </a:moveTo>
                <a:lnTo>
                  <a:pt x="28" y="0"/>
                </a:lnTo>
                <a:lnTo>
                  <a:pt x="28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53" name=""/>
          <p:cNvSpPr/>
          <p:nvPr/>
        </p:nvSpPr>
        <p:spPr>
          <a:xfrm>
            <a:off x="590400" y="4038480"/>
            <a:ext cx="9720" cy="466920"/>
          </a:xfrm>
          <a:custGeom>
            <a:avLst/>
            <a:gdLst/>
            <a:ahLst/>
            <a:rect l="0" t="0" r="r" b="b"/>
            <a:pathLst>
              <a:path w="27" h="1297">
                <a:moveTo>
                  <a:pt x="0" y="0"/>
                </a:moveTo>
                <a:lnTo>
                  <a:pt x="27" y="0"/>
                </a:lnTo>
                <a:lnTo>
                  <a:pt x="27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54" name=""/>
          <p:cNvSpPr/>
          <p:nvPr/>
        </p:nvSpPr>
        <p:spPr>
          <a:xfrm>
            <a:off x="590400" y="4028760"/>
            <a:ext cx="8753760" cy="10080"/>
          </a:xfrm>
          <a:custGeom>
            <a:avLst/>
            <a:gdLst/>
            <a:ahLst/>
            <a:rect l="0" t="0" r="r" b="b"/>
            <a:pathLst>
              <a:path w="24316" h="28">
                <a:moveTo>
                  <a:pt x="0" y="0"/>
                </a:moveTo>
                <a:lnTo>
                  <a:pt x="24316" y="0"/>
                </a:lnTo>
                <a:lnTo>
                  <a:pt x="2431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55" name=""/>
          <p:cNvSpPr/>
          <p:nvPr/>
        </p:nvSpPr>
        <p:spPr>
          <a:xfrm>
            <a:off x="9334440" y="4038480"/>
            <a:ext cx="9720" cy="466920"/>
          </a:xfrm>
          <a:custGeom>
            <a:avLst/>
            <a:gdLst/>
            <a:ahLst/>
            <a:rect l="0" t="0" r="r" b="b"/>
            <a:pathLst>
              <a:path w="27" h="1297">
                <a:moveTo>
                  <a:pt x="0" y="0"/>
                </a:moveTo>
                <a:lnTo>
                  <a:pt x="27" y="0"/>
                </a:lnTo>
                <a:lnTo>
                  <a:pt x="27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56" name=""/>
          <p:cNvSpPr/>
          <p:nvPr/>
        </p:nvSpPr>
        <p:spPr>
          <a:xfrm>
            <a:off x="9343800" y="4028760"/>
            <a:ext cx="2257920" cy="10080"/>
          </a:xfrm>
          <a:custGeom>
            <a:avLst/>
            <a:gdLst/>
            <a:ahLst/>
            <a:rect l="0" t="0" r="r" b="b"/>
            <a:pathLst>
              <a:path w="6272" h="28">
                <a:moveTo>
                  <a:pt x="0" y="0"/>
                </a:moveTo>
                <a:lnTo>
                  <a:pt x="6272" y="0"/>
                </a:lnTo>
                <a:lnTo>
                  <a:pt x="627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57" name=""/>
          <p:cNvSpPr/>
          <p:nvPr/>
        </p:nvSpPr>
        <p:spPr>
          <a:xfrm>
            <a:off x="11591640" y="4038480"/>
            <a:ext cx="10080" cy="466920"/>
          </a:xfrm>
          <a:custGeom>
            <a:avLst/>
            <a:gdLst/>
            <a:ahLst/>
            <a:rect l="0" t="0" r="r" b="b"/>
            <a:pathLst>
              <a:path w="28" h="1297">
                <a:moveTo>
                  <a:pt x="0" y="0"/>
                </a:moveTo>
                <a:lnTo>
                  <a:pt x="28" y="0"/>
                </a:lnTo>
                <a:lnTo>
                  <a:pt x="28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58" name=""/>
          <p:cNvSpPr/>
          <p:nvPr/>
        </p:nvSpPr>
        <p:spPr>
          <a:xfrm>
            <a:off x="590400" y="4495680"/>
            <a:ext cx="8753760" cy="9720"/>
          </a:xfrm>
          <a:custGeom>
            <a:avLst/>
            <a:gdLst/>
            <a:ahLst/>
            <a:rect l="0" t="0" r="r" b="b"/>
            <a:pathLst>
              <a:path w="24316" h="27">
                <a:moveTo>
                  <a:pt x="0" y="0"/>
                </a:moveTo>
                <a:lnTo>
                  <a:pt x="24316" y="0"/>
                </a:lnTo>
                <a:lnTo>
                  <a:pt x="2431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59" name=""/>
          <p:cNvSpPr/>
          <p:nvPr/>
        </p:nvSpPr>
        <p:spPr>
          <a:xfrm>
            <a:off x="9343800" y="4495680"/>
            <a:ext cx="2257920" cy="9720"/>
          </a:xfrm>
          <a:custGeom>
            <a:avLst/>
            <a:gdLst/>
            <a:ahLst/>
            <a:rect l="0" t="0" r="r" b="b"/>
            <a:pathLst>
              <a:path w="6272" h="27">
                <a:moveTo>
                  <a:pt x="0" y="0"/>
                </a:moveTo>
                <a:lnTo>
                  <a:pt x="6272" y="0"/>
                </a:lnTo>
                <a:lnTo>
                  <a:pt x="627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60" name=""/>
          <p:cNvSpPr txBox="1"/>
          <p:nvPr/>
        </p:nvSpPr>
        <p:spPr>
          <a:xfrm>
            <a:off x="590400" y="1281600"/>
            <a:ext cx="8308152" cy="36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8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学習データの文型との結び付きが考えられる</a:t>
            </a:r>
            <a:endParaRPr lang="en-US" sz="28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61" name=""/>
          <p:cNvSpPr txBox="1"/>
          <p:nvPr/>
        </p:nvSpPr>
        <p:spPr>
          <a:xfrm>
            <a:off x="590400" y="2107440"/>
            <a:ext cx="8706420" cy="258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02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訓練データで「整数リスト</a:t>
            </a:r>
            <a:r>
              <a:rPr lang="en-US" sz="202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xs</a:t>
            </a:r>
            <a:r>
              <a:rPr lang="ja-JP" sz="202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に対して、」と始まる指示は</a:t>
            </a:r>
            <a:r>
              <a:rPr lang="en-US" sz="202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84</a:t>
            </a:r>
            <a:r>
              <a:rPr lang="ja-JP" sz="202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件。</a:t>
            </a:r>
            <a:endParaRPr lang="en-US" sz="202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62" name=""/>
          <p:cNvSpPr txBox="1"/>
          <p:nvPr/>
        </p:nvSpPr>
        <p:spPr>
          <a:xfrm>
            <a:off x="723960" y="2751480"/>
            <a:ext cx="2892618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その文型で学習した処理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63" name=""/>
          <p:cNvSpPr txBox="1"/>
          <p:nvPr/>
        </p:nvSpPr>
        <p:spPr>
          <a:xfrm>
            <a:off x="11010960" y="2751480"/>
            <a:ext cx="526608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件数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64" name=""/>
          <p:cNvSpPr txBox="1"/>
          <p:nvPr/>
        </p:nvSpPr>
        <p:spPr>
          <a:xfrm>
            <a:off x="723960" y="3218400"/>
            <a:ext cx="699246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</a:t>
            </a:r>
            <a:r>
              <a:rPr lang="ja-JP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操作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65" name=""/>
          <p:cNvSpPr txBox="1"/>
          <p:nvPr/>
        </p:nvSpPr>
        <p:spPr>
          <a:xfrm>
            <a:off x="11310480" y="3218400"/>
            <a:ext cx="262476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8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0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66" name=""/>
          <p:cNvSpPr txBox="1"/>
          <p:nvPr/>
        </p:nvSpPr>
        <p:spPr>
          <a:xfrm>
            <a:off x="723960" y="3684960"/>
            <a:ext cx="699246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2</a:t>
            </a:r>
            <a:r>
              <a:rPr lang="ja-JP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操作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67" name=""/>
          <p:cNvSpPr txBox="1"/>
          <p:nvPr/>
        </p:nvSpPr>
        <p:spPr>
          <a:xfrm>
            <a:off x="11317680" y="3684960"/>
            <a:ext cx="262476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68" name=""/>
          <p:cNvSpPr txBox="1"/>
          <p:nvPr/>
        </p:nvSpPr>
        <p:spPr>
          <a:xfrm>
            <a:off x="723960" y="4151880"/>
            <a:ext cx="699246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3</a:t>
            </a:r>
            <a:r>
              <a:rPr lang="ja-JP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操作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69" name=""/>
          <p:cNvSpPr txBox="1"/>
          <p:nvPr/>
        </p:nvSpPr>
        <p:spPr>
          <a:xfrm>
            <a:off x="11167560" y="4151880"/>
            <a:ext cx="346104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83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70" name=""/>
          <p:cNvSpPr txBox="1"/>
          <p:nvPr/>
        </p:nvSpPr>
        <p:spPr>
          <a:xfrm>
            <a:off x="590400" y="4755240"/>
            <a:ext cx="7998066" cy="258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02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この文型を、複数の操作と結び付けて覚えた可能性がある。</a:t>
            </a:r>
            <a:endParaRPr lang="en-US" sz="202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71" name=""/>
          <p:cNvSpPr txBox="1"/>
          <p:nvPr/>
        </p:nvSpPr>
        <p:spPr>
          <a:xfrm>
            <a:off x="590400" y="5307840"/>
            <a:ext cx="6517188" cy="258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0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原因の確定には、教材を変えた追加比較が必要。</a:t>
            </a:r>
            <a:endParaRPr lang="en-US" sz="202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72" name=""/>
          <p:cNvSpPr txBox="1"/>
          <p:nvPr/>
        </p:nvSpPr>
        <p:spPr>
          <a:xfrm>
            <a:off x="11705760" y="6466680"/>
            <a:ext cx="231012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Hiragino Sans"/>
                <a:ea typeface="Hiragino Sans"/>
              </a:rPr>
              <a:t>30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7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7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76" name=""/>
          <p:cNvSpPr/>
          <p:nvPr/>
        </p:nvSpPr>
        <p:spPr>
          <a:xfrm>
            <a:off x="599760" y="2590560"/>
            <a:ext cx="4410720" cy="495720"/>
          </a:xfrm>
          <a:custGeom>
            <a:avLst/>
            <a:gdLst/>
            <a:ahLst/>
            <a:rect l="0" t="0" r="r" b="b"/>
            <a:pathLst>
              <a:path w="12252" h="1377">
                <a:moveTo>
                  <a:pt x="0" y="0"/>
                </a:moveTo>
                <a:lnTo>
                  <a:pt x="12252" y="0"/>
                </a:lnTo>
                <a:lnTo>
                  <a:pt x="12252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77" name=""/>
          <p:cNvSpPr/>
          <p:nvPr/>
        </p:nvSpPr>
        <p:spPr>
          <a:xfrm>
            <a:off x="5010120" y="2590560"/>
            <a:ext cx="6591600" cy="495720"/>
          </a:xfrm>
          <a:custGeom>
            <a:avLst/>
            <a:gdLst/>
            <a:ahLst/>
            <a:rect l="0" t="0" r="r" b="b"/>
            <a:pathLst>
              <a:path w="18310" h="1377">
                <a:moveTo>
                  <a:pt x="0" y="0"/>
                </a:moveTo>
                <a:lnTo>
                  <a:pt x="18310" y="0"/>
                </a:lnTo>
                <a:lnTo>
                  <a:pt x="18310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78" name=""/>
          <p:cNvSpPr/>
          <p:nvPr/>
        </p:nvSpPr>
        <p:spPr>
          <a:xfrm>
            <a:off x="599760" y="2590560"/>
            <a:ext cx="4410720" cy="495720"/>
          </a:xfrm>
          <a:custGeom>
            <a:avLst/>
            <a:gdLst/>
            <a:ahLst/>
            <a:rect l="0" t="0" r="r" b="b"/>
            <a:pathLst>
              <a:path w="12252" h="1377">
                <a:moveTo>
                  <a:pt x="0" y="0"/>
                </a:moveTo>
                <a:lnTo>
                  <a:pt x="12252" y="0"/>
                </a:lnTo>
                <a:lnTo>
                  <a:pt x="12252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79" name=""/>
          <p:cNvSpPr/>
          <p:nvPr/>
        </p:nvSpPr>
        <p:spPr>
          <a:xfrm>
            <a:off x="5010120" y="2590560"/>
            <a:ext cx="6591600" cy="495720"/>
          </a:xfrm>
          <a:custGeom>
            <a:avLst/>
            <a:gdLst/>
            <a:ahLst/>
            <a:rect l="0" t="0" r="r" b="b"/>
            <a:pathLst>
              <a:path w="18310" h="1377">
                <a:moveTo>
                  <a:pt x="0" y="0"/>
                </a:moveTo>
                <a:lnTo>
                  <a:pt x="18310" y="0"/>
                </a:lnTo>
                <a:lnTo>
                  <a:pt x="18310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80" name=""/>
          <p:cNvSpPr/>
          <p:nvPr/>
        </p:nvSpPr>
        <p:spPr>
          <a:xfrm>
            <a:off x="599760" y="3085920"/>
            <a:ext cx="4410720" cy="495720"/>
          </a:xfrm>
          <a:custGeom>
            <a:avLst/>
            <a:gdLst/>
            <a:ahLst/>
            <a:rect l="0" t="0" r="r" b="b"/>
            <a:pathLst>
              <a:path w="12252" h="1377">
                <a:moveTo>
                  <a:pt x="0" y="0"/>
                </a:moveTo>
                <a:lnTo>
                  <a:pt x="12252" y="0"/>
                </a:lnTo>
                <a:lnTo>
                  <a:pt x="12252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81" name=""/>
          <p:cNvSpPr/>
          <p:nvPr/>
        </p:nvSpPr>
        <p:spPr>
          <a:xfrm>
            <a:off x="5010120" y="3085920"/>
            <a:ext cx="6591600" cy="495720"/>
          </a:xfrm>
          <a:custGeom>
            <a:avLst/>
            <a:gdLst/>
            <a:ahLst/>
            <a:rect l="0" t="0" r="r" b="b"/>
            <a:pathLst>
              <a:path w="18310" h="1377">
                <a:moveTo>
                  <a:pt x="0" y="0"/>
                </a:moveTo>
                <a:lnTo>
                  <a:pt x="18310" y="0"/>
                </a:lnTo>
                <a:lnTo>
                  <a:pt x="18310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82" name=""/>
          <p:cNvSpPr/>
          <p:nvPr/>
        </p:nvSpPr>
        <p:spPr>
          <a:xfrm>
            <a:off x="599760" y="3581280"/>
            <a:ext cx="4410720" cy="495720"/>
          </a:xfrm>
          <a:custGeom>
            <a:avLst/>
            <a:gdLst/>
            <a:ahLst/>
            <a:rect l="0" t="0" r="r" b="b"/>
            <a:pathLst>
              <a:path w="12252" h="1377">
                <a:moveTo>
                  <a:pt x="0" y="0"/>
                </a:moveTo>
                <a:lnTo>
                  <a:pt x="12252" y="0"/>
                </a:lnTo>
                <a:lnTo>
                  <a:pt x="12252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83" name=""/>
          <p:cNvSpPr/>
          <p:nvPr/>
        </p:nvSpPr>
        <p:spPr>
          <a:xfrm>
            <a:off x="5010120" y="3581280"/>
            <a:ext cx="6591600" cy="495720"/>
          </a:xfrm>
          <a:custGeom>
            <a:avLst/>
            <a:gdLst/>
            <a:ahLst/>
            <a:rect l="0" t="0" r="r" b="b"/>
            <a:pathLst>
              <a:path w="18310" h="1377">
                <a:moveTo>
                  <a:pt x="0" y="0"/>
                </a:moveTo>
                <a:lnTo>
                  <a:pt x="18310" y="0"/>
                </a:lnTo>
                <a:lnTo>
                  <a:pt x="18310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84" name=""/>
          <p:cNvSpPr/>
          <p:nvPr/>
        </p:nvSpPr>
        <p:spPr>
          <a:xfrm>
            <a:off x="599760" y="4076640"/>
            <a:ext cx="4410720" cy="495360"/>
          </a:xfrm>
          <a:custGeom>
            <a:avLst/>
            <a:gdLst/>
            <a:ahLst/>
            <a:rect l="0" t="0" r="r" b="b"/>
            <a:pathLst>
              <a:path w="12252" h="1376">
                <a:moveTo>
                  <a:pt x="0" y="0"/>
                </a:moveTo>
                <a:lnTo>
                  <a:pt x="12252" y="0"/>
                </a:lnTo>
                <a:lnTo>
                  <a:pt x="12252" y="1376"/>
                </a:lnTo>
                <a:lnTo>
                  <a:pt x="0" y="137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85" name=""/>
          <p:cNvSpPr/>
          <p:nvPr/>
        </p:nvSpPr>
        <p:spPr>
          <a:xfrm>
            <a:off x="5010120" y="4076640"/>
            <a:ext cx="6591600" cy="495360"/>
          </a:xfrm>
          <a:custGeom>
            <a:avLst/>
            <a:gdLst/>
            <a:ahLst/>
            <a:rect l="0" t="0" r="r" b="b"/>
            <a:pathLst>
              <a:path w="18310" h="1376">
                <a:moveTo>
                  <a:pt x="0" y="0"/>
                </a:moveTo>
                <a:lnTo>
                  <a:pt x="18310" y="0"/>
                </a:lnTo>
                <a:lnTo>
                  <a:pt x="18310" y="1376"/>
                </a:lnTo>
                <a:lnTo>
                  <a:pt x="0" y="137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86" name=""/>
          <p:cNvSpPr/>
          <p:nvPr/>
        </p:nvSpPr>
        <p:spPr>
          <a:xfrm>
            <a:off x="590400" y="2581200"/>
            <a:ext cx="9720" cy="505080"/>
          </a:xfrm>
          <a:custGeom>
            <a:avLst/>
            <a:gdLst/>
            <a:ahLst/>
            <a:rect l="0" t="0" r="r" b="b"/>
            <a:pathLst>
              <a:path w="27" h="1403">
                <a:moveTo>
                  <a:pt x="0" y="0"/>
                </a:moveTo>
                <a:lnTo>
                  <a:pt x="27" y="0"/>
                </a:lnTo>
                <a:lnTo>
                  <a:pt x="27" y="1403"/>
                </a:lnTo>
                <a:lnTo>
                  <a:pt x="0" y="140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87" name=""/>
          <p:cNvSpPr/>
          <p:nvPr/>
        </p:nvSpPr>
        <p:spPr>
          <a:xfrm>
            <a:off x="590400" y="2581200"/>
            <a:ext cx="4420080" cy="9720"/>
          </a:xfrm>
          <a:custGeom>
            <a:avLst/>
            <a:gdLst/>
            <a:ahLst/>
            <a:rect l="0" t="0" r="r" b="b"/>
            <a:pathLst>
              <a:path w="12278" h="27">
                <a:moveTo>
                  <a:pt x="0" y="0"/>
                </a:moveTo>
                <a:lnTo>
                  <a:pt x="12278" y="0"/>
                </a:lnTo>
                <a:lnTo>
                  <a:pt x="1227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88" name=""/>
          <p:cNvSpPr/>
          <p:nvPr/>
        </p:nvSpPr>
        <p:spPr>
          <a:xfrm>
            <a:off x="5000400" y="2581200"/>
            <a:ext cx="10080" cy="505080"/>
          </a:xfrm>
          <a:custGeom>
            <a:avLst/>
            <a:gdLst/>
            <a:ahLst/>
            <a:rect l="0" t="0" r="r" b="b"/>
            <a:pathLst>
              <a:path w="28" h="1403">
                <a:moveTo>
                  <a:pt x="0" y="0"/>
                </a:moveTo>
                <a:lnTo>
                  <a:pt x="28" y="0"/>
                </a:lnTo>
                <a:lnTo>
                  <a:pt x="28" y="1403"/>
                </a:lnTo>
                <a:lnTo>
                  <a:pt x="0" y="140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89" name=""/>
          <p:cNvSpPr/>
          <p:nvPr/>
        </p:nvSpPr>
        <p:spPr>
          <a:xfrm>
            <a:off x="5010120" y="2581200"/>
            <a:ext cx="6591600" cy="9720"/>
          </a:xfrm>
          <a:custGeom>
            <a:avLst/>
            <a:gdLst/>
            <a:ahLst/>
            <a:rect l="0" t="0" r="r" b="b"/>
            <a:pathLst>
              <a:path w="18310" h="27">
                <a:moveTo>
                  <a:pt x="0" y="0"/>
                </a:moveTo>
                <a:lnTo>
                  <a:pt x="18310" y="0"/>
                </a:lnTo>
                <a:lnTo>
                  <a:pt x="1831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90" name=""/>
          <p:cNvSpPr/>
          <p:nvPr/>
        </p:nvSpPr>
        <p:spPr>
          <a:xfrm>
            <a:off x="11591640" y="2581200"/>
            <a:ext cx="10080" cy="505080"/>
          </a:xfrm>
          <a:custGeom>
            <a:avLst/>
            <a:gdLst/>
            <a:ahLst/>
            <a:rect l="0" t="0" r="r" b="b"/>
            <a:pathLst>
              <a:path w="28" h="1403">
                <a:moveTo>
                  <a:pt x="0" y="0"/>
                </a:moveTo>
                <a:lnTo>
                  <a:pt x="28" y="0"/>
                </a:lnTo>
                <a:lnTo>
                  <a:pt x="28" y="1403"/>
                </a:lnTo>
                <a:lnTo>
                  <a:pt x="0" y="140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91" name=""/>
          <p:cNvSpPr/>
          <p:nvPr/>
        </p:nvSpPr>
        <p:spPr>
          <a:xfrm>
            <a:off x="590400" y="3076560"/>
            <a:ext cx="4420080" cy="9720"/>
          </a:xfrm>
          <a:custGeom>
            <a:avLst/>
            <a:gdLst/>
            <a:ahLst/>
            <a:rect l="0" t="0" r="r" b="b"/>
            <a:pathLst>
              <a:path w="12278" h="27">
                <a:moveTo>
                  <a:pt x="0" y="0"/>
                </a:moveTo>
                <a:lnTo>
                  <a:pt x="12278" y="0"/>
                </a:lnTo>
                <a:lnTo>
                  <a:pt x="1227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92" name=""/>
          <p:cNvSpPr/>
          <p:nvPr/>
        </p:nvSpPr>
        <p:spPr>
          <a:xfrm>
            <a:off x="5010120" y="3076560"/>
            <a:ext cx="6591600" cy="9720"/>
          </a:xfrm>
          <a:custGeom>
            <a:avLst/>
            <a:gdLst/>
            <a:ahLst/>
            <a:rect l="0" t="0" r="r" b="b"/>
            <a:pathLst>
              <a:path w="18310" h="27">
                <a:moveTo>
                  <a:pt x="0" y="0"/>
                </a:moveTo>
                <a:lnTo>
                  <a:pt x="18310" y="0"/>
                </a:lnTo>
                <a:lnTo>
                  <a:pt x="1831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93" name=""/>
          <p:cNvSpPr/>
          <p:nvPr/>
        </p:nvSpPr>
        <p:spPr>
          <a:xfrm>
            <a:off x="590400" y="3085920"/>
            <a:ext cx="9720" cy="495720"/>
          </a:xfrm>
          <a:custGeom>
            <a:avLst/>
            <a:gdLst/>
            <a:ahLst/>
            <a:rect l="0" t="0" r="r" b="b"/>
            <a:pathLst>
              <a:path w="27" h="1377">
                <a:moveTo>
                  <a:pt x="0" y="0"/>
                </a:moveTo>
                <a:lnTo>
                  <a:pt x="27" y="0"/>
                </a:lnTo>
                <a:lnTo>
                  <a:pt x="27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94" name=""/>
          <p:cNvSpPr/>
          <p:nvPr/>
        </p:nvSpPr>
        <p:spPr>
          <a:xfrm>
            <a:off x="5000400" y="3085920"/>
            <a:ext cx="10080" cy="495720"/>
          </a:xfrm>
          <a:custGeom>
            <a:avLst/>
            <a:gdLst/>
            <a:ahLst/>
            <a:rect l="0" t="0" r="r" b="b"/>
            <a:pathLst>
              <a:path w="28" h="1377">
                <a:moveTo>
                  <a:pt x="0" y="0"/>
                </a:moveTo>
                <a:lnTo>
                  <a:pt x="28" y="0"/>
                </a:lnTo>
                <a:lnTo>
                  <a:pt x="28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95" name=""/>
          <p:cNvSpPr/>
          <p:nvPr/>
        </p:nvSpPr>
        <p:spPr>
          <a:xfrm>
            <a:off x="11591640" y="3085920"/>
            <a:ext cx="10080" cy="495720"/>
          </a:xfrm>
          <a:custGeom>
            <a:avLst/>
            <a:gdLst/>
            <a:ahLst/>
            <a:rect l="0" t="0" r="r" b="b"/>
            <a:pathLst>
              <a:path w="28" h="1377">
                <a:moveTo>
                  <a:pt x="0" y="0"/>
                </a:moveTo>
                <a:lnTo>
                  <a:pt x="28" y="0"/>
                </a:lnTo>
                <a:lnTo>
                  <a:pt x="28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96" name=""/>
          <p:cNvSpPr/>
          <p:nvPr/>
        </p:nvSpPr>
        <p:spPr>
          <a:xfrm>
            <a:off x="590400" y="3581280"/>
            <a:ext cx="9720" cy="495720"/>
          </a:xfrm>
          <a:custGeom>
            <a:avLst/>
            <a:gdLst/>
            <a:ahLst/>
            <a:rect l="0" t="0" r="r" b="b"/>
            <a:pathLst>
              <a:path w="27" h="1377">
                <a:moveTo>
                  <a:pt x="0" y="0"/>
                </a:moveTo>
                <a:lnTo>
                  <a:pt x="27" y="0"/>
                </a:lnTo>
                <a:lnTo>
                  <a:pt x="27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97" name=""/>
          <p:cNvSpPr/>
          <p:nvPr/>
        </p:nvSpPr>
        <p:spPr>
          <a:xfrm>
            <a:off x="590400" y="3571560"/>
            <a:ext cx="4420080" cy="10080"/>
          </a:xfrm>
          <a:custGeom>
            <a:avLst/>
            <a:gdLst/>
            <a:ahLst/>
            <a:rect l="0" t="0" r="r" b="b"/>
            <a:pathLst>
              <a:path w="12278" h="28">
                <a:moveTo>
                  <a:pt x="0" y="0"/>
                </a:moveTo>
                <a:lnTo>
                  <a:pt x="12278" y="0"/>
                </a:lnTo>
                <a:lnTo>
                  <a:pt x="1227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98" name=""/>
          <p:cNvSpPr/>
          <p:nvPr/>
        </p:nvSpPr>
        <p:spPr>
          <a:xfrm>
            <a:off x="5000400" y="3581280"/>
            <a:ext cx="10080" cy="495720"/>
          </a:xfrm>
          <a:custGeom>
            <a:avLst/>
            <a:gdLst/>
            <a:ahLst/>
            <a:rect l="0" t="0" r="r" b="b"/>
            <a:pathLst>
              <a:path w="28" h="1377">
                <a:moveTo>
                  <a:pt x="0" y="0"/>
                </a:moveTo>
                <a:lnTo>
                  <a:pt x="28" y="0"/>
                </a:lnTo>
                <a:lnTo>
                  <a:pt x="28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499" name=""/>
          <p:cNvSpPr/>
          <p:nvPr/>
        </p:nvSpPr>
        <p:spPr>
          <a:xfrm>
            <a:off x="5010120" y="3571560"/>
            <a:ext cx="6591600" cy="10080"/>
          </a:xfrm>
          <a:custGeom>
            <a:avLst/>
            <a:gdLst/>
            <a:ahLst/>
            <a:rect l="0" t="0" r="r" b="b"/>
            <a:pathLst>
              <a:path w="18310" h="28">
                <a:moveTo>
                  <a:pt x="0" y="0"/>
                </a:moveTo>
                <a:lnTo>
                  <a:pt x="18310" y="0"/>
                </a:lnTo>
                <a:lnTo>
                  <a:pt x="1831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00" name=""/>
          <p:cNvSpPr/>
          <p:nvPr/>
        </p:nvSpPr>
        <p:spPr>
          <a:xfrm>
            <a:off x="11591640" y="3581280"/>
            <a:ext cx="10080" cy="495720"/>
          </a:xfrm>
          <a:custGeom>
            <a:avLst/>
            <a:gdLst/>
            <a:ahLst/>
            <a:rect l="0" t="0" r="r" b="b"/>
            <a:pathLst>
              <a:path w="28" h="1377">
                <a:moveTo>
                  <a:pt x="0" y="0"/>
                </a:moveTo>
                <a:lnTo>
                  <a:pt x="28" y="0"/>
                </a:lnTo>
                <a:lnTo>
                  <a:pt x="28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01" name=""/>
          <p:cNvSpPr/>
          <p:nvPr/>
        </p:nvSpPr>
        <p:spPr>
          <a:xfrm>
            <a:off x="590400" y="4076640"/>
            <a:ext cx="9720" cy="495360"/>
          </a:xfrm>
          <a:custGeom>
            <a:avLst/>
            <a:gdLst/>
            <a:ahLst/>
            <a:rect l="0" t="0" r="r" b="b"/>
            <a:pathLst>
              <a:path w="27" h="1376">
                <a:moveTo>
                  <a:pt x="0" y="0"/>
                </a:moveTo>
                <a:lnTo>
                  <a:pt x="27" y="0"/>
                </a:lnTo>
                <a:lnTo>
                  <a:pt x="27" y="1376"/>
                </a:lnTo>
                <a:lnTo>
                  <a:pt x="0" y="137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02" name=""/>
          <p:cNvSpPr/>
          <p:nvPr/>
        </p:nvSpPr>
        <p:spPr>
          <a:xfrm>
            <a:off x="590400" y="4066920"/>
            <a:ext cx="4420080" cy="10080"/>
          </a:xfrm>
          <a:custGeom>
            <a:avLst/>
            <a:gdLst/>
            <a:ahLst/>
            <a:rect l="0" t="0" r="r" b="b"/>
            <a:pathLst>
              <a:path w="12278" h="28">
                <a:moveTo>
                  <a:pt x="0" y="0"/>
                </a:moveTo>
                <a:lnTo>
                  <a:pt x="12278" y="0"/>
                </a:lnTo>
                <a:lnTo>
                  <a:pt x="1227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03" name=""/>
          <p:cNvSpPr/>
          <p:nvPr/>
        </p:nvSpPr>
        <p:spPr>
          <a:xfrm>
            <a:off x="5000400" y="4076640"/>
            <a:ext cx="10080" cy="495360"/>
          </a:xfrm>
          <a:custGeom>
            <a:avLst/>
            <a:gdLst/>
            <a:ahLst/>
            <a:rect l="0" t="0" r="r" b="b"/>
            <a:pathLst>
              <a:path w="28" h="1376">
                <a:moveTo>
                  <a:pt x="0" y="0"/>
                </a:moveTo>
                <a:lnTo>
                  <a:pt x="28" y="0"/>
                </a:lnTo>
                <a:lnTo>
                  <a:pt x="28" y="1376"/>
                </a:lnTo>
                <a:lnTo>
                  <a:pt x="0" y="137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04" name=""/>
          <p:cNvSpPr/>
          <p:nvPr/>
        </p:nvSpPr>
        <p:spPr>
          <a:xfrm>
            <a:off x="5010120" y="4066920"/>
            <a:ext cx="6591600" cy="10080"/>
          </a:xfrm>
          <a:custGeom>
            <a:avLst/>
            <a:gdLst/>
            <a:ahLst/>
            <a:rect l="0" t="0" r="r" b="b"/>
            <a:pathLst>
              <a:path w="18310" h="28">
                <a:moveTo>
                  <a:pt x="0" y="0"/>
                </a:moveTo>
                <a:lnTo>
                  <a:pt x="18310" y="0"/>
                </a:lnTo>
                <a:lnTo>
                  <a:pt x="1831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05" name=""/>
          <p:cNvSpPr/>
          <p:nvPr/>
        </p:nvSpPr>
        <p:spPr>
          <a:xfrm>
            <a:off x="11591640" y="4076640"/>
            <a:ext cx="10080" cy="495360"/>
          </a:xfrm>
          <a:custGeom>
            <a:avLst/>
            <a:gdLst/>
            <a:ahLst/>
            <a:rect l="0" t="0" r="r" b="b"/>
            <a:pathLst>
              <a:path w="28" h="1376">
                <a:moveTo>
                  <a:pt x="0" y="0"/>
                </a:moveTo>
                <a:lnTo>
                  <a:pt x="28" y="0"/>
                </a:lnTo>
                <a:lnTo>
                  <a:pt x="28" y="1376"/>
                </a:lnTo>
                <a:lnTo>
                  <a:pt x="0" y="137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06" name=""/>
          <p:cNvSpPr/>
          <p:nvPr/>
        </p:nvSpPr>
        <p:spPr>
          <a:xfrm>
            <a:off x="590400" y="4562280"/>
            <a:ext cx="4420080" cy="9720"/>
          </a:xfrm>
          <a:custGeom>
            <a:avLst/>
            <a:gdLst/>
            <a:ahLst/>
            <a:rect l="0" t="0" r="r" b="b"/>
            <a:pathLst>
              <a:path w="12278" h="27">
                <a:moveTo>
                  <a:pt x="0" y="0"/>
                </a:moveTo>
                <a:lnTo>
                  <a:pt x="12278" y="0"/>
                </a:lnTo>
                <a:lnTo>
                  <a:pt x="1227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07" name=""/>
          <p:cNvSpPr/>
          <p:nvPr/>
        </p:nvSpPr>
        <p:spPr>
          <a:xfrm>
            <a:off x="5010120" y="4562280"/>
            <a:ext cx="6591600" cy="9720"/>
          </a:xfrm>
          <a:custGeom>
            <a:avLst/>
            <a:gdLst/>
            <a:ahLst/>
            <a:rect l="0" t="0" r="r" b="b"/>
            <a:pathLst>
              <a:path w="18310" h="27">
                <a:moveTo>
                  <a:pt x="0" y="0"/>
                </a:moveTo>
                <a:lnTo>
                  <a:pt x="18310" y="0"/>
                </a:lnTo>
                <a:lnTo>
                  <a:pt x="1831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08" name=""/>
          <p:cNvSpPr txBox="1"/>
          <p:nvPr/>
        </p:nvSpPr>
        <p:spPr>
          <a:xfrm>
            <a:off x="590400" y="1272240"/>
            <a:ext cx="5815872" cy="36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8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モデルが情報を読み取る仕組み</a:t>
            </a:r>
            <a:endParaRPr lang="en-US" sz="28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09" name=""/>
          <p:cNvSpPr txBox="1"/>
          <p:nvPr/>
        </p:nvSpPr>
        <p:spPr>
          <a:xfrm>
            <a:off x="590400" y="2095560"/>
            <a:ext cx="10390158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7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アテンション</a:t>
            </a:r>
            <a:r>
              <a:rPr lang="ja-JP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は、次のコードを作るときに、どこから情報を読むかを決める仕組み。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10" name=""/>
          <p:cNvSpPr txBox="1"/>
          <p:nvPr/>
        </p:nvSpPr>
        <p:spPr>
          <a:xfrm>
            <a:off x="714240" y="2720880"/>
            <a:ext cx="1681668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6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参照できる情報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11" name=""/>
          <p:cNvSpPr txBox="1"/>
          <p:nvPr/>
        </p:nvSpPr>
        <p:spPr>
          <a:xfrm>
            <a:off x="5125680" y="2720880"/>
            <a:ext cx="481068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6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内容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12" name=""/>
          <p:cNvSpPr txBox="1"/>
          <p:nvPr/>
        </p:nvSpPr>
        <p:spPr>
          <a:xfrm>
            <a:off x="714240" y="3215880"/>
            <a:ext cx="1441548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日本語の指示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13" name=""/>
          <p:cNvSpPr txBox="1"/>
          <p:nvPr/>
        </p:nvSpPr>
        <p:spPr>
          <a:xfrm>
            <a:off x="5125680" y="3215880"/>
            <a:ext cx="3842334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「偶数」「残す」など、求める処理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14" name=""/>
          <p:cNvSpPr txBox="1"/>
          <p:nvPr/>
        </p:nvSpPr>
        <p:spPr>
          <a:xfrm>
            <a:off x="714240" y="3711240"/>
            <a:ext cx="2402028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すでに生成したコード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15" name=""/>
          <p:cNvSpPr txBox="1"/>
          <p:nvPr/>
        </p:nvSpPr>
        <p:spPr>
          <a:xfrm>
            <a:off x="5125680" y="3711240"/>
            <a:ext cx="2882268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変数名、構文、処理の続き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16" name=""/>
          <p:cNvSpPr txBox="1"/>
          <p:nvPr/>
        </p:nvSpPr>
        <p:spPr>
          <a:xfrm>
            <a:off x="714240" y="4206600"/>
            <a:ext cx="1441548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開始の印など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17" name=""/>
          <p:cNvSpPr txBox="1"/>
          <p:nvPr/>
        </p:nvSpPr>
        <p:spPr>
          <a:xfrm>
            <a:off x="5125680" y="4206600"/>
            <a:ext cx="2402028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入力の始まりや区切り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18" name=""/>
          <p:cNvSpPr txBox="1"/>
          <p:nvPr/>
        </p:nvSpPr>
        <p:spPr>
          <a:xfrm>
            <a:off x="590400" y="4819680"/>
            <a:ext cx="7656102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参照割合だけでは、その情報が必要だったかは確定できない。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19" name=""/>
          <p:cNvSpPr txBox="1"/>
          <p:nvPr/>
        </p:nvSpPr>
        <p:spPr>
          <a:xfrm>
            <a:off x="590400" y="5353200"/>
            <a:ext cx="7109208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7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情報の受け渡しを止めて、生成結果が変わるかを調べる。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20" name=""/>
          <p:cNvSpPr txBox="1"/>
          <p:nvPr/>
        </p:nvSpPr>
        <p:spPr>
          <a:xfrm>
            <a:off x="11705760" y="6466680"/>
            <a:ext cx="231012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Hiragino Sans"/>
                <a:ea typeface="Hiragino Sans"/>
              </a:rPr>
              <a:t>31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2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2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24" name=""/>
          <p:cNvSpPr txBox="1"/>
          <p:nvPr/>
        </p:nvSpPr>
        <p:spPr>
          <a:xfrm>
            <a:off x="590400" y="786240"/>
            <a:ext cx="4985388" cy="36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8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アテンションの図の読み方</a:t>
            </a:r>
            <a:endParaRPr lang="en-US" sz="28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25" name=""/>
          <p:cNvSpPr txBox="1"/>
          <p:nvPr/>
        </p:nvSpPr>
        <p:spPr>
          <a:xfrm>
            <a:off x="3143160" y="1482480"/>
            <a:ext cx="2161908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入力の指示・区切り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26" name=""/>
          <p:cNvSpPr txBox="1"/>
          <p:nvPr/>
        </p:nvSpPr>
        <p:spPr>
          <a:xfrm>
            <a:off x="6915240" y="1482480"/>
            <a:ext cx="1681668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生成済みコード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27" name=""/>
          <p:cNvSpPr txBox="1"/>
          <p:nvPr/>
        </p:nvSpPr>
        <p:spPr>
          <a:xfrm>
            <a:off x="1619280" y="3007440"/>
            <a:ext cx="505494" cy="219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729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生成</a:t>
            </a:r>
            <a:endParaRPr lang="en-US" sz="1729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28" name=""/>
          <p:cNvSpPr txBox="1"/>
          <p:nvPr/>
        </p:nvSpPr>
        <p:spPr>
          <a:xfrm>
            <a:off x="1619280" y="3350520"/>
            <a:ext cx="1010160" cy="219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729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ステップ</a:t>
            </a:r>
            <a:endParaRPr lang="en-US" sz="1729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pic>
        <p:nvPicPr>
          <p:cNvPr id="1529" name=""/>
          <p:cNvPicPr/>
          <p:nvPr/>
        </p:nvPicPr>
        <p:blipFill>
          <a:blip r:embed="rId1"/>
          <a:stretch/>
        </p:blipFill>
        <p:spPr>
          <a:xfrm>
            <a:off x="3143160" y="1828800"/>
            <a:ext cx="5238360" cy="3257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30" name=""/>
          <p:cNvSpPr txBox="1"/>
          <p:nvPr/>
        </p:nvSpPr>
        <p:spPr>
          <a:xfrm>
            <a:off x="1619280" y="3683880"/>
            <a:ext cx="253368" cy="219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729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↓</a:t>
            </a:r>
            <a:endParaRPr lang="en-US" sz="1729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31" name=""/>
          <p:cNvSpPr txBox="1"/>
          <p:nvPr/>
        </p:nvSpPr>
        <p:spPr>
          <a:xfrm>
            <a:off x="8715240" y="3007440"/>
            <a:ext cx="1262700" cy="219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729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薄い：弱い</a:t>
            </a:r>
            <a:endParaRPr lang="en-US" sz="1729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32" name=""/>
          <p:cNvSpPr txBox="1"/>
          <p:nvPr/>
        </p:nvSpPr>
        <p:spPr>
          <a:xfrm>
            <a:off x="8715240" y="3683880"/>
            <a:ext cx="1262700" cy="219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729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濃い：強い</a:t>
            </a:r>
            <a:endParaRPr lang="en-US" sz="1729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33" name=""/>
          <p:cNvSpPr txBox="1"/>
          <p:nvPr/>
        </p:nvSpPr>
        <p:spPr>
          <a:xfrm>
            <a:off x="4572000" y="5256720"/>
            <a:ext cx="3505752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横：参照するトークン位置 →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34" name=""/>
          <p:cNvSpPr txBox="1"/>
          <p:nvPr/>
        </p:nvSpPr>
        <p:spPr>
          <a:xfrm>
            <a:off x="590400" y="5848200"/>
            <a:ext cx="7002396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濃い位置ほど強く参照。</a:t>
            </a:r>
            <a:r>
              <a:rPr lang="en-US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15M</a:t>
            </a:r>
            <a:r>
              <a:rPr lang="ja-JP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・</a:t>
            </a:r>
            <a:r>
              <a:rPr lang="en-US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</a:t>
            </a:r>
            <a:r>
              <a:rPr lang="ja-JP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エポックの</a:t>
            </a:r>
            <a:r>
              <a:rPr lang="en-US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L8</a:t>
            </a:r>
            <a:r>
              <a:rPr lang="ja-JP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・</a:t>
            </a:r>
            <a:r>
              <a:rPr lang="en-US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H5</a:t>
            </a:r>
            <a:r>
              <a:rPr lang="ja-JP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の例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35" name=""/>
          <p:cNvSpPr txBox="1"/>
          <p:nvPr/>
        </p:nvSpPr>
        <p:spPr>
          <a:xfrm>
            <a:off x="590400" y="203760"/>
            <a:ext cx="246123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00" b="0" u="none" strike="noStrike">
                <a:solidFill>
                  <a:srgbClr val="64748B"/>
                </a:solidFill>
                <a:effectLst/>
                <a:uFillTx/>
                <a:latin typeface="Hiragino Sans"/>
                <a:ea typeface="Hiragino Sans"/>
              </a:rPr>
              <a:t>6. </a:t>
            </a:r>
            <a:r>
              <a:rPr lang="ja-JP" sz="1500" b="0" u="none" strike="noStrike">
                <a:solidFill>
                  <a:srgbClr val="64748B"/>
                </a:solidFill>
                <a:effectLst/>
                <a:uFillTx/>
                <a:latin typeface="Hiragino Sans"/>
                <a:ea typeface="Hiragino Sans"/>
              </a:rPr>
              <a:t>アテンションの可視化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36" name=""/>
          <p:cNvSpPr txBox="1"/>
          <p:nvPr/>
        </p:nvSpPr>
        <p:spPr>
          <a:xfrm>
            <a:off x="11705760" y="6457320"/>
            <a:ext cx="231012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Hiragino Sans"/>
                <a:ea typeface="Hiragino Sans"/>
              </a:rPr>
              <a:t>32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3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3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40" name=""/>
          <p:cNvSpPr txBox="1"/>
          <p:nvPr/>
        </p:nvSpPr>
        <p:spPr>
          <a:xfrm>
            <a:off x="590400" y="725760"/>
            <a:ext cx="4484862" cy="334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26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1M</a:t>
            </a:r>
            <a:r>
              <a:rPr lang="ja-JP" sz="26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：</a:t>
            </a:r>
            <a:r>
              <a:rPr lang="en-US" sz="26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attention </a:t>
            </a:r>
            <a:r>
              <a:rPr lang="ja-JP" sz="26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の可視化</a:t>
            </a:r>
            <a:endParaRPr lang="en-US" sz="262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pic>
        <p:nvPicPr>
          <p:cNvPr id="1541" name=""/>
          <p:cNvPicPr/>
          <p:nvPr/>
        </p:nvPicPr>
        <p:blipFill>
          <a:blip r:embed="rId1"/>
          <a:stretch/>
        </p:blipFill>
        <p:spPr>
          <a:xfrm>
            <a:off x="2600280" y="1781280"/>
            <a:ext cx="6990840" cy="3619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42" name=""/>
          <p:cNvSpPr txBox="1"/>
          <p:nvPr/>
        </p:nvSpPr>
        <p:spPr>
          <a:xfrm>
            <a:off x="590400" y="1378800"/>
            <a:ext cx="5552982" cy="219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729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同じ指示：</a:t>
            </a:r>
            <a:r>
              <a:rPr lang="ja-JP" sz="1729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各要素を絶対値にして、降順に並べる</a:t>
            </a:r>
            <a:endParaRPr lang="en-US" sz="1729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43" name=""/>
          <p:cNvSpPr txBox="1"/>
          <p:nvPr/>
        </p:nvSpPr>
        <p:spPr>
          <a:xfrm>
            <a:off x="590400" y="5569920"/>
            <a:ext cx="8238600" cy="219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729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生成結果：未定義の </a:t>
            </a:r>
            <a:r>
              <a:rPr lang="en-US" sz="1729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result </a:t>
            </a:r>
            <a:r>
              <a:rPr lang="ja-JP" sz="1729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を参照し、この指示では実行できなかった。</a:t>
            </a:r>
            <a:endParaRPr lang="en-US" sz="1729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44" name=""/>
          <p:cNvSpPr txBox="1"/>
          <p:nvPr/>
        </p:nvSpPr>
        <p:spPr>
          <a:xfrm>
            <a:off x="590400" y="5984280"/>
            <a:ext cx="6466266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430" b="0" u="none" strike="noStrike">
                <a:solidFill>
                  <a:srgbClr val="52606D"/>
                </a:solidFill>
                <a:effectLst/>
                <a:uFillTx/>
                <a:latin typeface="Hiragino Sans"/>
                <a:ea typeface="Hiragino Sans"/>
              </a:rPr>
              <a:t>色は各モデル内の相対的な強さ。モデル間で濃さを直接比較しない。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45" name=""/>
          <p:cNvSpPr txBox="1"/>
          <p:nvPr/>
        </p:nvSpPr>
        <p:spPr>
          <a:xfrm>
            <a:off x="285840" y="239760"/>
            <a:ext cx="2204964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350" b="0" u="none" strike="noStrike">
                <a:solidFill>
                  <a:srgbClr val="666666"/>
                </a:solidFill>
                <a:effectLst/>
                <a:uFillTx/>
                <a:latin typeface="Hiragino Sans"/>
                <a:ea typeface="Hiragino Sans"/>
              </a:rPr>
              <a:t>6. </a:t>
            </a:r>
            <a:r>
              <a:rPr lang="ja-JP" sz="1350" b="0" u="none" strike="noStrike">
                <a:solidFill>
                  <a:srgbClr val="666666"/>
                </a:solidFill>
                <a:effectLst/>
                <a:uFillTx/>
                <a:latin typeface="Hiragino Sans"/>
                <a:ea typeface="Hiragino Sans"/>
              </a:rPr>
              <a:t>アテンションの可視化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46" name=""/>
          <p:cNvSpPr txBox="1"/>
          <p:nvPr/>
        </p:nvSpPr>
        <p:spPr>
          <a:xfrm>
            <a:off x="11705760" y="6466680"/>
            <a:ext cx="231012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Hiragino Sans"/>
                <a:ea typeface="Hiragino Sans"/>
              </a:rPr>
              <a:t>33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4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4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50" name=""/>
          <p:cNvSpPr txBox="1"/>
          <p:nvPr/>
        </p:nvSpPr>
        <p:spPr>
          <a:xfrm>
            <a:off x="590400" y="725760"/>
            <a:ext cx="6646770" cy="334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26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5M</a:t>
            </a:r>
            <a:r>
              <a:rPr lang="ja-JP" sz="26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：</a:t>
            </a:r>
            <a:r>
              <a:rPr lang="en-US" sz="26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attention </a:t>
            </a:r>
            <a:r>
              <a:rPr lang="ja-JP" sz="26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の可視化（</a:t>
            </a:r>
            <a:r>
              <a:rPr lang="en-US" sz="26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L1</a:t>
            </a:r>
            <a:r>
              <a:rPr lang="ja-JP" sz="26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〜</a:t>
            </a:r>
            <a:r>
              <a:rPr lang="en-US" sz="26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L3</a:t>
            </a:r>
            <a:r>
              <a:rPr lang="ja-JP" sz="26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）</a:t>
            </a:r>
            <a:endParaRPr lang="en-US" sz="262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pic>
        <p:nvPicPr>
          <p:cNvPr id="1551" name=""/>
          <p:cNvPicPr/>
          <p:nvPr/>
        </p:nvPicPr>
        <p:blipFill>
          <a:blip r:embed="rId1"/>
          <a:stretch/>
        </p:blipFill>
        <p:spPr>
          <a:xfrm>
            <a:off x="2600280" y="1781280"/>
            <a:ext cx="6990840" cy="3619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52" name=""/>
          <p:cNvSpPr txBox="1"/>
          <p:nvPr/>
        </p:nvSpPr>
        <p:spPr>
          <a:xfrm>
            <a:off x="590400" y="1378800"/>
            <a:ext cx="5552982" cy="219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729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同じ指示：</a:t>
            </a:r>
            <a:r>
              <a:rPr lang="ja-JP" sz="1729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各要素を絶対値にして、降順に並べる</a:t>
            </a:r>
            <a:endParaRPr lang="en-US" sz="1729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53" name=""/>
          <p:cNvSpPr txBox="1"/>
          <p:nvPr/>
        </p:nvSpPr>
        <p:spPr>
          <a:xfrm>
            <a:off x="590400" y="5569920"/>
            <a:ext cx="8738298" cy="219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729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生成結果：絶対値の処理は生成したが、</a:t>
            </a:r>
            <a:r>
              <a:rPr lang="en-US" sz="1729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k</a:t>
            </a:r>
            <a:r>
              <a:rPr lang="ja-JP" sz="1729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加算が入り、降順の処理が抜けた。</a:t>
            </a:r>
            <a:endParaRPr lang="en-US" sz="1729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54" name=""/>
          <p:cNvSpPr txBox="1"/>
          <p:nvPr/>
        </p:nvSpPr>
        <p:spPr>
          <a:xfrm>
            <a:off x="590400" y="5984280"/>
            <a:ext cx="6466266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430" b="0" u="none" strike="noStrike">
                <a:solidFill>
                  <a:srgbClr val="52606D"/>
                </a:solidFill>
                <a:effectLst/>
                <a:uFillTx/>
                <a:latin typeface="Hiragino Sans"/>
                <a:ea typeface="Hiragino Sans"/>
              </a:rPr>
              <a:t>色は各モデル内の相対的な強さ。モデル間で濃さを直接比較しない。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55" name=""/>
          <p:cNvSpPr txBox="1"/>
          <p:nvPr/>
        </p:nvSpPr>
        <p:spPr>
          <a:xfrm>
            <a:off x="285840" y="239760"/>
            <a:ext cx="2204964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350" b="0" u="none" strike="noStrike">
                <a:solidFill>
                  <a:srgbClr val="666666"/>
                </a:solidFill>
                <a:effectLst/>
                <a:uFillTx/>
                <a:latin typeface="Hiragino Sans"/>
                <a:ea typeface="Hiragino Sans"/>
              </a:rPr>
              <a:t>6. </a:t>
            </a:r>
            <a:r>
              <a:rPr lang="ja-JP" sz="1350" b="0" u="none" strike="noStrike">
                <a:solidFill>
                  <a:srgbClr val="666666"/>
                </a:solidFill>
                <a:effectLst/>
                <a:uFillTx/>
                <a:latin typeface="Hiragino Sans"/>
                <a:ea typeface="Hiragino Sans"/>
              </a:rPr>
              <a:t>アテンションの可視化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56" name=""/>
          <p:cNvSpPr txBox="1"/>
          <p:nvPr/>
        </p:nvSpPr>
        <p:spPr>
          <a:xfrm>
            <a:off x="11705400" y="6466680"/>
            <a:ext cx="2318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Hiragino Sans"/>
                <a:ea typeface="Hiragino Sans"/>
              </a:rPr>
              <a:t>34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5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5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60" name=""/>
          <p:cNvSpPr txBox="1"/>
          <p:nvPr/>
        </p:nvSpPr>
        <p:spPr>
          <a:xfrm>
            <a:off x="590400" y="725760"/>
            <a:ext cx="6646770" cy="334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26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5M</a:t>
            </a:r>
            <a:r>
              <a:rPr lang="ja-JP" sz="26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：</a:t>
            </a:r>
            <a:r>
              <a:rPr lang="en-US" sz="26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attention </a:t>
            </a:r>
            <a:r>
              <a:rPr lang="ja-JP" sz="26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の可視化（</a:t>
            </a:r>
            <a:r>
              <a:rPr lang="en-US" sz="26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L4</a:t>
            </a:r>
            <a:r>
              <a:rPr lang="ja-JP" sz="26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〜</a:t>
            </a:r>
            <a:r>
              <a:rPr lang="en-US" sz="26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L5</a:t>
            </a:r>
            <a:r>
              <a:rPr lang="ja-JP" sz="26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）</a:t>
            </a:r>
            <a:endParaRPr lang="en-US" sz="262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pic>
        <p:nvPicPr>
          <p:cNvPr id="1561" name=""/>
          <p:cNvPicPr/>
          <p:nvPr/>
        </p:nvPicPr>
        <p:blipFill>
          <a:blip r:embed="rId1"/>
          <a:stretch/>
        </p:blipFill>
        <p:spPr>
          <a:xfrm>
            <a:off x="866880" y="1781280"/>
            <a:ext cx="10458000" cy="3619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62" name=""/>
          <p:cNvSpPr txBox="1"/>
          <p:nvPr/>
        </p:nvSpPr>
        <p:spPr>
          <a:xfrm>
            <a:off x="590400" y="1378800"/>
            <a:ext cx="5552982" cy="219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729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同じ指示：</a:t>
            </a:r>
            <a:r>
              <a:rPr lang="ja-JP" sz="1729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各要素を絶対値にして、降順に並べる</a:t>
            </a:r>
            <a:endParaRPr lang="en-US" sz="1729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63" name=""/>
          <p:cNvSpPr txBox="1"/>
          <p:nvPr/>
        </p:nvSpPr>
        <p:spPr>
          <a:xfrm>
            <a:off x="590400" y="5569920"/>
            <a:ext cx="8738298" cy="219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729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生成結果：絶対値の処理は生成したが、</a:t>
            </a:r>
            <a:r>
              <a:rPr lang="en-US" sz="1729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k</a:t>
            </a:r>
            <a:r>
              <a:rPr lang="ja-JP" sz="1729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加算が入り、降順の処理が抜けた。</a:t>
            </a:r>
            <a:endParaRPr lang="en-US" sz="1729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64" name=""/>
          <p:cNvSpPr txBox="1"/>
          <p:nvPr/>
        </p:nvSpPr>
        <p:spPr>
          <a:xfrm>
            <a:off x="590400" y="5984280"/>
            <a:ext cx="6466266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430" b="0" u="none" strike="noStrike">
                <a:solidFill>
                  <a:srgbClr val="52606D"/>
                </a:solidFill>
                <a:effectLst/>
                <a:uFillTx/>
                <a:latin typeface="Hiragino Sans"/>
                <a:ea typeface="Hiragino Sans"/>
              </a:rPr>
              <a:t>色は各モデル内の相対的な強さ。モデル間で濃さを直接比較しない。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65" name=""/>
          <p:cNvSpPr txBox="1"/>
          <p:nvPr/>
        </p:nvSpPr>
        <p:spPr>
          <a:xfrm>
            <a:off x="285840" y="239760"/>
            <a:ext cx="2204964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350" b="0" u="none" strike="noStrike">
                <a:solidFill>
                  <a:srgbClr val="666666"/>
                </a:solidFill>
                <a:effectLst/>
                <a:uFillTx/>
                <a:latin typeface="Hiragino Sans"/>
                <a:ea typeface="Hiragino Sans"/>
              </a:rPr>
              <a:t>6. </a:t>
            </a:r>
            <a:r>
              <a:rPr lang="ja-JP" sz="1350" b="0" u="none" strike="noStrike">
                <a:solidFill>
                  <a:srgbClr val="666666"/>
                </a:solidFill>
                <a:effectLst/>
                <a:uFillTx/>
                <a:latin typeface="Hiragino Sans"/>
                <a:ea typeface="Hiragino Sans"/>
              </a:rPr>
              <a:t>アテンションの可視化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66" name=""/>
          <p:cNvSpPr txBox="1"/>
          <p:nvPr/>
        </p:nvSpPr>
        <p:spPr>
          <a:xfrm>
            <a:off x="11705760" y="6466680"/>
            <a:ext cx="231012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Hiragino Sans"/>
                <a:ea typeface="Hiragino Sans"/>
              </a:rPr>
              <a:t>35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6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6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70" name=""/>
          <p:cNvSpPr txBox="1"/>
          <p:nvPr/>
        </p:nvSpPr>
        <p:spPr>
          <a:xfrm>
            <a:off x="590400" y="725760"/>
            <a:ext cx="6911730" cy="334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26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15M</a:t>
            </a:r>
            <a:r>
              <a:rPr lang="ja-JP" sz="26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：</a:t>
            </a:r>
            <a:r>
              <a:rPr lang="en-US" sz="26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attention </a:t>
            </a:r>
            <a:r>
              <a:rPr lang="ja-JP" sz="26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の可視化（</a:t>
            </a:r>
            <a:r>
              <a:rPr lang="en-US" sz="26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L1</a:t>
            </a:r>
            <a:r>
              <a:rPr lang="ja-JP" sz="26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〜</a:t>
            </a:r>
            <a:r>
              <a:rPr lang="en-US" sz="26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L4</a:t>
            </a:r>
            <a:r>
              <a:rPr lang="ja-JP" sz="26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）</a:t>
            </a:r>
            <a:endParaRPr lang="en-US" sz="262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pic>
        <p:nvPicPr>
          <p:cNvPr id="1571" name=""/>
          <p:cNvPicPr/>
          <p:nvPr/>
        </p:nvPicPr>
        <p:blipFill>
          <a:blip r:embed="rId1"/>
          <a:stretch/>
        </p:blipFill>
        <p:spPr>
          <a:xfrm>
            <a:off x="2124000" y="1781280"/>
            <a:ext cx="7943400" cy="3619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72" name=""/>
          <p:cNvSpPr txBox="1"/>
          <p:nvPr/>
        </p:nvSpPr>
        <p:spPr>
          <a:xfrm>
            <a:off x="590400" y="1378800"/>
            <a:ext cx="5552982" cy="219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729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同じ指示：</a:t>
            </a:r>
            <a:r>
              <a:rPr lang="ja-JP" sz="1729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各要素を絶対値にして、降順に並べる</a:t>
            </a:r>
            <a:endParaRPr lang="en-US" sz="1729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73" name=""/>
          <p:cNvSpPr txBox="1"/>
          <p:nvPr/>
        </p:nvSpPr>
        <p:spPr>
          <a:xfrm>
            <a:off x="590400" y="5569920"/>
            <a:ext cx="6814854" cy="219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729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生成結果：絶対値を取って降順に並べるコードを生成した。</a:t>
            </a:r>
            <a:endParaRPr lang="en-US" sz="1729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74" name=""/>
          <p:cNvSpPr txBox="1"/>
          <p:nvPr/>
        </p:nvSpPr>
        <p:spPr>
          <a:xfrm>
            <a:off x="590400" y="5984280"/>
            <a:ext cx="6466266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430" b="0" u="none" strike="noStrike">
                <a:solidFill>
                  <a:srgbClr val="52606D"/>
                </a:solidFill>
                <a:effectLst/>
                <a:uFillTx/>
                <a:latin typeface="Hiragino Sans"/>
                <a:ea typeface="Hiragino Sans"/>
              </a:rPr>
              <a:t>色は各モデル内の相対的な強さ。モデル間で濃さを直接比較しない。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75" name=""/>
          <p:cNvSpPr txBox="1"/>
          <p:nvPr/>
        </p:nvSpPr>
        <p:spPr>
          <a:xfrm>
            <a:off x="285840" y="239760"/>
            <a:ext cx="2204964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350" b="0" u="none" strike="noStrike">
                <a:solidFill>
                  <a:srgbClr val="666666"/>
                </a:solidFill>
                <a:effectLst/>
                <a:uFillTx/>
                <a:latin typeface="Hiragino Sans"/>
                <a:ea typeface="Hiragino Sans"/>
              </a:rPr>
              <a:t>6. </a:t>
            </a:r>
            <a:r>
              <a:rPr lang="ja-JP" sz="1350" b="0" u="none" strike="noStrike">
                <a:solidFill>
                  <a:srgbClr val="666666"/>
                </a:solidFill>
                <a:effectLst/>
                <a:uFillTx/>
                <a:latin typeface="Hiragino Sans"/>
                <a:ea typeface="Hiragino Sans"/>
              </a:rPr>
              <a:t>アテンションの可視化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76" name=""/>
          <p:cNvSpPr txBox="1"/>
          <p:nvPr/>
        </p:nvSpPr>
        <p:spPr>
          <a:xfrm>
            <a:off x="11705760" y="6466680"/>
            <a:ext cx="231012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Hiragino Sans"/>
                <a:ea typeface="Hiragino Sans"/>
              </a:rPr>
              <a:t>36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7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7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80" name=""/>
          <p:cNvSpPr txBox="1"/>
          <p:nvPr/>
        </p:nvSpPr>
        <p:spPr>
          <a:xfrm>
            <a:off x="590400" y="725760"/>
            <a:ext cx="6911730" cy="334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26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15M</a:t>
            </a:r>
            <a:r>
              <a:rPr lang="ja-JP" sz="26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：</a:t>
            </a:r>
            <a:r>
              <a:rPr lang="en-US" sz="26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attention </a:t>
            </a:r>
            <a:r>
              <a:rPr lang="ja-JP" sz="26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の可視化（</a:t>
            </a:r>
            <a:r>
              <a:rPr lang="en-US" sz="26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L5</a:t>
            </a:r>
            <a:r>
              <a:rPr lang="ja-JP" sz="26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〜</a:t>
            </a:r>
            <a:r>
              <a:rPr lang="en-US" sz="26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L8</a:t>
            </a:r>
            <a:r>
              <a:rPr lang="ja-JP" sz="26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）</a:t>
            </a:r>
            <a:endParaRPr lang="en-US" sz="262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pic>
        <p:nvPicPr>
          <p:cNvPr id="1581" name=""/>
          <p:cNvPicPr/>
          <p:nvPr/>
        </p:nvPicPr>
        <p:blipFill>
          <a:blip r:embed="rId1"/>
          <a:stretch/>
        </p:blipFill>
        <p:spPr>
          <a:xfrm>
            <a:off x="2124000" y="1781280"/>
            <a:ext cx="7943400" cy="3619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82" name=""/>
          <p:cNvSpPr txBox="1"/>
          <p:nvPr/>
        </p:nvSpPr>
        <p:spPr>
          <a:xfrm>
            <a:off x="590400" y="1378800"/>
            <a:ext cx="5552982" cy="219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729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同じ指示：</a:t>
            </a:r>
            <a:r>
              <a:rPr lang="ja-JP" sz="1729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各要素を絶対値にして、降順に並べる</a:t>
            </a:r>
            <a:endParaRPr lang="en-US" sz="1729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83" name=""/>
          <p:cNvSpPr txBox="1"/>
          <p:nvPr/>
        </p:nvSpPr>
        <p:spPr>
          <a:xfrm>
            <a:off x="590400" y="5569920"/>
            <a:ext cx="6814854" cy="219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729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生成結果：絶対値を取って降順に並べるコードを生成した。</a:t>
            </a:r>
            <a:endParaRPr lang="en-US" sz="1729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84" name=""/>
          <p:cNvSpPr txBox="1"/>
          <p:nvPr/>
        </p:nvSpPr>
        <p:spPr>
          <a:xfrm>
            <a:off x="590400" y="5984280"/>
            <a:ext cx="6466266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430" b="0" u="none" strike="noStrike">
                <a:solidFill>
                  <a:srgbClr val="52606D"/>
                </a:solidFill>
                <a:effectLst/>
                <a:uFillTx/>
                <a:latin typeface="Hiragino Sans"/>
                <a:ea typeface="Hiragino Sans"/>
              </a:rPr>
              <a:t>色は各モデル内の相対的な強さ。モデル間で濃さを直接比較しない。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85" name=""/>
          <p:cNvSpPr txBox="1"/>
          <p:nvPr/>
        </p:nvSpPr>
        <p:spPr>
          <a:xfrm>
            <a:off x="285840" y="239760"/>
            <a:ext cx="2204964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350" b="0" u="none" strike="noStrike">
                <a:solidFill>
                  <a:srgbClr val="666666"/>
                </a:solidFill>
                <a:effectLst/>
                <a:uFillTx/>
                <a:latin typeface="Hiragino Sans"/>
                <a:ea typeface="Hiragino Sans"/>
              </a:rPr>
              <a:t>6. </a:t>
            </a:r>
            <a:r>
              <a:rPr lang="ja-JP" sz="1350" b="0" u="none" strike="noStrike">
                <a:solidFill>
                  <a:srgbClr val="666666"/>
                </a:solidFill>
                <a:effectLst/>
                <a:uFillTx/>
                <a:latin typeface="Hiragino Sans"/>
                <a:ea typeface="Hiragino Sans"/>
              </a:rPr>
              <a:t>アテンションの可視化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86" name=""/>
          <p:cNvSpPr txBox="1"/>
          <p:nvPr/>
        </p:nvSpPr>
        <p:spPr>
          <a:xfrm>
            <a:off x="11705760" y="6466680"/>
            <a:ext cx="231012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Hiragino Sans"/>
                <a:ea typeface="Hiragino Sans"/>
              </a:rPr>
              <a:t>37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8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8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90" name=""/>
          <p:cNvSpPr/>
          <p:nvPr/>
        </p:nvSpPr>
        <p:spPr>
          <a:xfrm>
            <a:off x="599760" y="2590560"/>
            <a:ext cx="2010240" cy="495720"/>
          </a:xfrm>
          <a:custGeom>
            <a:avLst/>
            <a:gdLst/>
            <a:ahLst/>
            <a:rect l="0" t="0" r="r" b="b"/>
            <a:pathLst>
              <a:path w="5584" h="1377">
                <a:moveTo>
                  <a:pt x="0" y="0"/>
                </a:moveTo>
                <a:lnTo>
                  <a:pt x="5584" y="0"/>
                </a:lnTo>
                <a:lnTo>
                  <a:pt x="5584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91" name=""/>
          <p:cNvSpPr/>
          <p:nvPr/>
        </p:nvSpPr>
        <p:spPr>
          <a:xfrm>
            <a:off x="2609640" y="2590560"/>
            <a:ext cx="3019680" cy="495720"/>
          </a:xfrm>
          <a:custGeom>
            <a:avLst/>
            <a:gdLst/>
            <a:ahLst/>
            <a:rect l="0" t="0" r="r" b="b"/>
            <a:pathLst>
              <a:path w="8388" h="1377">
                <a:moveTo>
                  <a:pt x="0" y="0"/>
                </a:moveTo>
                <a:lnTo>
                  <a:pt x="8388" y="0"/>
                </a:lnTo>
                <a:lnTo>
                  <a:pt x="8388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92" name=""/>
          <p:cNvSpPr/>
          <p:nvPr/>
        </p:nvSpPr>
        <p:spPr>
          <a:xfrm>
            <a:off x="5628960" y="2590560"/>
            <a:ext cx="5972760" cy="495720"/>
          </a:xfrm>
          <a:custGeom>
            <a:avLst/>
            <a:gdLst/>
            <a:ahLst/>
            <a:rect l="0" t="0" r="r" b="b"/>
            <a:pathLst>
              <a:path w="16591" h="1377">
                <a:moveTo>
                  <a:pt x="0" y="0"/>
                </a:moveTo>
                <a:lnTo>
                  <a:pt x="16591" y="0"/>
                </a:lnTo>
                <a:lnTo>
                  <a:pt x="16591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93" name=""/>
          <p:cNvSpPr/>
          <p:nvPr/>
        </p:nvSpPr>
        <p:spPr>
          <a:xfrm>
            <a:off x="599760" y="2590560"/>
            <a:ext cx="2010240" cy="495720"/>
          </a:xfrm>
          <a:custGeom>
            <a:avLst/>
            <a:gdLst/>
            <a:ahLst/>
            <a:rect l="0" t="0" r="r" b="b"/>
            <a:pathLst>
              <a:path w="5584" h="1377">
                <a:moveTo>
                  <a:pt x="0" y="0"/>
                </a:moveTo>
                <a:lnTo>
                  <a:pt x="5584" y="0"/>
                </a:lnTo>
                <a:lnTo>
                  <a:pt x="5584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94" name=""/>
          <p:cNvSpPr/>
          <p:nvPr/>
        </p:nvSpPr>
        <p:spPr>
          <a:xfrm>
            <a:off x="2609640" y="2590560"/>
            <a:ext cx="3019680" cy="495720"/>
          </a:xfrm>
          <a:custGeom>
            <a:avLst/>
            <a:gdLst/>
            <a:ahLst/>
            <a:rect l="0" t="0" r="r" b="b"/>
            <a:pathLst>
              <a:path w="8388" h="1377">
                <a:moveTo>
                  <a:pt x="0" y="0"/>
                </a:moveTo>
                <a:lnTo>
                  <a:pt x="8388" y="0"/>
                </a:lnTo>
                <a:lnTo>
                  <a:pt x="8388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95" name=""/>
          <p:cNvSpPr/>
          <p:nvPr/>
        </p:nvSpPr>
        <p:spPr>
          <a:xfrm>
            <a:off x="5628960" y="2590560"/>
            <a:ext cx="5972760" cy="495720"/>
          </a:xfrm>
          <a:custGeom>
            <a:avLst/>
            <a:gdLst/>
            <a:ahLst/>
            <a:rect l="0" t="0" r="r" b="b"/>
            <a:pathLst>
              <a:path w="16591" h="1377">
                <a:moveTo>
                  <a:pt x="0" y="0"/>
                </a:moveTo>
                <a:lnTo>
                  <a:pt x="16591" y="0"/>
                </a:lnTo>
                <a:lnTo>
                  <a:pt x="16591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96" name=""/>
          <p:cNvSpPr/>
          <p:nvPr/>
        </p:nvSpPr>
        <p:spPr>
          <a:xfrm>
            <a:off x="599760" y="3085920"/>
            <a:ext cx="2010240" cy="495720"/>
          </a:xfrm>
          <a:custGeom>
            <a:avLst/>
            <a:gdLst/>
            <a:ahLst/>
            <a:rect l="0" t="0" r="r" b="b"/>
            <a:pathLst>
              <a:path w="5584" h="1377">
                <a:moveTo>
                  <a:pt x="0" y="0"/>
                </a:moveTo>
                <a:lnTo>
                  <a:pt x="5584" y="0"/>
                </a:lnTo>
                <a:lnTo>
                  <a:pt x="5584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97" name=""/>
          <p:cNvSpPr/>
          <p:nvPr/>
        </p:nvSpPr>
        <p:spPr>
          <a:xfrm>
            <a:off x="2609640" y="3085920"/>
            <a:ext cx="3019680" cy="495720"/>
          </a:xfrm>
          <a:custGeom>
            <a:avLst/>
            <a:gdLst/>
            <a:ahLst/>
            <a:rect l="0" t="0" r="r" b="b"/>
            <a:pathLst>
              <a:path w="8388" h="1377">
                <a:moveTo>
                  <a:pt x="0" y="0"/>
                </a:moveTo>
                <a:lnTo>
                  <a:pt x="8388" y="0"/>
                </a:lnTo>
                <a:lnTo>
                  <a:pt x="8388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98" name=""/>
          <p:cNvSpPr/>
          <p:nvPr/>
        </p:nvSpPr>
        <p:spPr>
          <a:xfrm>
            <a:off x="5628960" y="3085920"/>
            <a:ext cx="5972760" cy="495720"/>
          </a:xfrm>
          <a:custGeom>
            <a:avLst/>
            <a:gdLst/>
            <a:ahLst/>
            <a:rect l="0" t="0" r="r" b="b"/>
            <a:pathLst>
              <a:path w="16591" h="1377">
                <a:moveTo>
                  <a:pt x="0" y="0"/>
                </a:moveTo>
                <a:lnTo>
                  <a:pt x="16591" y="0"/>
                </a:lnTo>
                <a:lnTo>
                  <a:pt x="16591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599" name=""/>
          <p:cNvSpPr/>
          <p:nvPr/>
        </p:nvSpPr>
        <p:spPr>
          <a:xfrm>
            <a:off x="599760" y="3581280"/>
            <a:ext cx="2010240" cy="495720"/>
          </a:xfrm>
          <a:custGeom>
            <a:avLst/>
            <a:gdLst/>
            <a:ahLst/>
            <a:rect l="0" t="0" r="r" b="b"/>
            <a:pathLst>
              <a:path w="5584" h="1377">
                <a:moveTo>
                  <a:pt x="0" y="0"/>
                </a:moveTo>
                <a:lnTo>
                  <a:pt x="5584" y="0"/>
                </a:lnTo>
                <a:lnTo>
                  <a:pt x="5584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00" name=""/>
          <p:cNvSpPr/>
          <p:nvPr/>
        </p:nvSpPr>
        <p:spPr>
          <a:xfrm>
            <a:off x="2609640" y="3581280"/>
            <a:ext cx="3019680" cy="495720"/>
          </a:xfrm>
          <a:custGeom>
            <a:avLst/>
            <a:gdLst/>
            <a:ahLst/>
            <a:rect l="0" t="0" r="r" b="b"/>
            <a:pathLst>
              <a:path w="8388" h="1377">
                <a:moveTo>
                  <a:pt x="0" y="0"/>
                </a:moveTo>
                <a:lnTo>
                  <a:pt x="8388" y="0"/>
                </a:lnTo>
                <a:lnTo>
                  <a:pt x="8388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01" name=""/>
          <p:cNvSpPr/>
          <p:nvPr/>
        </p:nvSpPr>
        <p:spPr>
          <a:xfrm>
            <a:off x="5628960" y="3581280"/>
            <a:ext cx="5972760" cy="495720"/>
          </a:xfrm>
          <a:custGeom>
            <a:avLst/>
            <a:gdLst/>
            <a:ahLst/>
            <a:rect l="0" t="0" r="r" b="b"/>
            <a:pathLst>
              <a:path w="16591" h="1377">
                <a:moveTo>
                  <a:pt x="0" y="0"/>
                </a:moveTo>
                <a:lnTo>
                  <a:pt x="16591" y="0"/>
                </a:lnTo>
                <a:lnTo>
                  <a:pt x="16591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02" name=""/>
          <p:cNvSpPr/>
          <p:nvPr/>
        </p:nvSpPr>
        <p:spPr>
          <a:xfrm>
            <a:off x="599760" y="4076640"/>
            <a:ext cx="2010240" cy="495360"/>
          </a:xfrm>
          <a:custGeom>
            <a:avLst/>
            <a:gdLst/>
            <a:ahLst/>
            <a:rect l="0" t="0" r="r" b="b"/>
            <a:pathLst>
              <a:path w="5584" h="1376">
                <a:moveTo>
                  <a:pt x="0" y="0"/>
                </a:moveTo>
                <a:lnTo>
                  <a:pt x="5584" y="0"/>
                </a:lnTo>
                <a:lnTo>
                  <a:pt x="5584" y="1376"/>
                </a:lnTo>
                <a:lnTo>
                  <a:pt x="0" y="137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03" name=""/>
          <p:cNvSpPr/>
          <p:nvPr/>
        </p:nvSpPr>
        <p:spPr>
          <a:xfrm>
            <a:off x="2609640" y="4076640"/>
            <a:ext cx="3019680" cy="495360"/>
          </a:xfrm>
          <a:custGeom>
            <a:avLst/>
            <a:gdLst/>
            <a:ahLst/>
            <a:rect l="0" t="0" r="r" b="b"/>
            <a:pathLst>
              <a:path w="8388" h="1376">
                <a:moveTo>
                  <a:pt x="0" y="0"/>
                </a:moveTo>
                <a:lnTo>
                  <a:pt x="8388" y="0"/>
                </a:lnTo>
                <a:lnTo>
                  <a:pt x="8388" y="1376"/>
                </a:lnTo>
                <a:lnTo>
                  <a:pt x="0" y="137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04" name=""/>
          <p:cNvSpPr/>
          <p:nvPr/>
        </p:nvSpPr>
        <p:spPr>
          <a:xfrm>
            <a:off x="5628960" y="4076640"/>
            <a:ext cx="5972760" cy="495360"/>
          </a:xfrm>
          <a:custGeom>
            <a:avLst/>
            <a:gdLst/>
            <a:ahLst/>
            <a:rect l="0" t="0" r="r" b="b"/>
            <a:pathLst>
              <a:path w="16591" h="1376">
                <a:moveTo>
                  <a:pt x="0" y="0"/>
                </a:moveTo>
                <a:lnTo>
                  <a:pt x="16591" y="0"/>
                </a:lnTo>
                <a:lnTo>
                  <a:pt x="16591" y="1376"/>
                </a:lnTo>
                <a:lnTo>
                  <a:pt x="0" y="137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05" name=""/>
          <p:cNvSpPr/>
          <p:nvPr/>
        </p:nvSpPr>
        <p:spPr>
          <a:xfrm>
            <a:off x="590400" y="2581200"/>
            <a:ext cx="9720" cy="505080"/>
          </a:xfrm>
          <a:custGeom>
            <a:avLst/>
            <a:gdLst/>
            <a:ahLst/>
            <a:rect l="0" t="0" r="r" b="b"/>
            <a:pathLst>
              <a:path w="27" h="1403">
                <a:moveTo>
                  <a:pt x="0" y="0"/>
                </a:moveTo>
                <a:lnTo>
                  <a:pt x="27" y="0"/>
                </a:lnTo>
                <a:lnTo>
                  <a:pt x="27" y="1403"/>
                </a:lnTo>
                <a:lnTo>
                  <a:pt x="0" y="140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06" name=""/>
          <p:cNvSpPr/>
          <p:nvPr/>
        </p:nvSpPr>
        <p:spPr>
          <a:xfrm>
            <a:off x="590400" y="2581200"/>
            <a:ext cx="2019600" cy="9720"/>
          </a:xfrm>
          <a:custGeom>
            <a:avLst/>
            <a:gdLst/>
            <a:ahLst/>
            <a:rect l="0" t="0" r="r" b="b"/>
            <a:pathLst>
              <a:path w="5610" h="27">
                <a:moveTo>
                  <a:pt x="0" y="0"/>
                </a:moveTo>
                <a:lnTo>
                  <a:pt x="5610" y="0"/>
                </a:lnTo>
                <a:lnTo>
                  <a:pt x="561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07" name=""/>
          <p:cNvSpPr/>
          <p:nvPr/>
        </p:nvSpPr>
        <p:spPr>
          <a:xfrm>
            <a:off x="2600280" y="2581200"/>
            <a:ext cx="9720" cy="505080"/>
          </a:xfrm>
          <a:custGeom>
            <a:avLst/>
            <a:gdLst/>
            <a:ahLst/>
            <a:rect l="0" t="0" r="r" b="b"/>
            <a:pathLst>
              <a:path w="27" h="1403">
                <a:moveTo>
                  <a:pt x="0" y="0"/>
                </a:moveTo>
                <a:lnTo>
                  <a:pt x="27" y="0"/>
                </a:lnTo>
                <a:lnTo>
                  <a:pt x="27" y="1403"/>
                </a:lnTo>
                <a:lnTo>
                  <a:pt x="0" y="140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08" name=""/>
          <p:cNvSpPr/>
          <p:nvPr/>
        </p:nvSpPr>
        <p:spPr>
          <a:xfrm>
            <a:off x="2609640" y="2581200"/>
            <a:ext cx="3019680" cy="9720"/>
          </a:xfrm>
          <a:custGeom>
            <a:avLst/>
            <a:gdLst/>
            <a:ahLst/>
            <a:rect l="0" t="0" r="r" b="b"/>
            <a:pathLst>
              <a:path w="8388" h="27">
                <a:moveTo>
                  <a:pt x="0" y="0"/>
                </a:moveTo>
                <a:lnTo>
                  <a:pt x="8388" y="0"/>
                </a:lnTo>
                <a:lnTo>
                  <a:pt x="838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09" name=""/>
          <p:cNvSpPr/>
          <p:nvPr/>
        </p:nvSpPr>
        <p:spPr>
          <a:xfrm>
            <a:off x="5619600" y="2581200"/>
            <a:ext cx="9720" cy="505080"/>
          </a:xfrm>
          <a:custGeom>
            <a:avLst/>
            <a:gdLst/>
            <a:ahLst/>
            <a:rect l="0" t="0" r="r" b="b"/>
            <a:pathLst>
              <a:path w="27" h="1403">
                <a:moveTo>
                  <a:pt x="0" y="0"/>
                </a:moveTo>
                <a:lnTo>
                  <a:pt x="27" y="0"/>
                </a:lnTo>
                <a:lnTo>
                  <a:pt x="27" y="1403"/>
                </a:lnTo>
                <a:lnTo>
                  <a:pt x="0" y="140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10" name=""/>
          <p:cNvSpPr/>
          <p:nvPr/>
        </p:nvSpPr>
        <p:spPr>
          <a:xfrm>
            <a:off x="5628960" y="2581200"/>
            <a:ext cx="5972760" cy="9720"/>
          </a:xfrm>
          <a:custGeom>
            <a:avLst/>
            <a:gdLst/>
            <a:ahLst/>
            <a:rect l="0" t="0" r="r" b="b"/>
            <a:pathLst>
              <a:path w="16591" h="27">
                <a:moveTo>
                  <a:pt x="0" y="0"/>
                </a:moveTo>
                <a:lnTo>
                  <a:pt x="16591" y="0"/>
                </a:lnTo>
                <a:lnTo>
                  <a:pt x="165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11" name=""/>
          <p:cNvSpPr/>
          <p:nvPr/>
        </p:nvSpPr>
        <p:spPr>
          <a:xfrm>
            <a:off x="11591640" y="2581200"/>
            <a:ext cx="10080" cy="505080"/>
          </a:xfrm>
          <a:custGeom>
            <a:avLst/>
            <a:gdLst/>
            <a:ahLst/>
            <a:rect l="0" t="0" r="r" b="b"/>
            <a:pathLst>
              <a:path w="28" h="1403">
                <a:moveTo>
                  <a:pt x="0" y="0"/>
                </a:moveTo>
                <a:lnTo>
                  <a:pt x="28" y="0"/>
                </a:lnTo>
                <a:lnTo>
                  <a:pt x="28" y="1403"/>
                </a:lnTo>
                <a:lnTo>
                  <a:pt x="0" y="140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12" name=""/>
          <p:cNvSpPr/>
          <p:nvPr/>
        </p:nvSpPr>
        <p:spPr>
          <a:xfrm>
            <a:off x="590400" y="3076560"/>
            <a:ext cx="2019600" cy="9720"/>
          </a:xfrm>
          <a:custGeom>
            <a:avLst/>
            <a:gdLst/>
            <a:ahLst/>
            <a:rect l="0" t="0" r="r" b="b"/>
            <a:pathLst>
              <a:path w="5610" h="27">
                <a:moveTo>
                  <a:pt x="0" y="0"/>
                </a:moveTo>
                <a:lnTo>
                  <a:pt x="5610" y="0"/>
                </a:lnTo>
                <a:lnTo>
                  <a:pt x="561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13" name=""/>
          <p:cNvSpPr/>
          <p:nvPr/>
        </p:nvSpPr>
        <p:spPr>
          <a:xfrm>
            <a:off x="2609640" y="3076560"/>
            <a:ext cx="3019680" cy="9720"/>
          </a:xfrm>
          <a:custGeom>
            <a:avLst/>
            <a:gdLst/>
            <a:ahLst/>
            <a:rect l="0" t="0" r="r" b="b"/>
            <a:pathLst>
              <a:path w="8388" h="27">
                <a:moveTo>
                  <a:pt x="0" y="0"/>
                </a:moveTo>
                <a:lnTo>
                  <a:pt x="8388" y="0"/>
                </a:lnTo>
                <a:lnTo>
                  <a:pt x="838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14" name=""/>
          <p:cNvSpPr/>
          <p:nvPr/>
        </p:nvSpPr>
        <p:spPr>
          <a:xfrm>
            <a:off x="5628960" y="3076560"/>
            <a:ext cx="5972760" cy="9720"/>
          </a:xfrm>
          <a:custGeom>
            <a:avLst/>
            <a:gdLst/>
            <a:ahLst/>
            <a:rect l="0" t="0" r="r" b="b"/>
            <a:pathLst>
              <a:path w="16591" h="27">
                <a:moveTo>
                  <a:pt x="0" y="0"/>
                </a:moveTo>
                <a:lnTo>
                  <a:pt x="16591" y="0"/>
                </a:lnTo>
                <a:lnTo>
                  <a:pt x="165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15" name=""/>
          <p:cNvSpPr/>
          <p:nvPr/>
        </p:nvSpPr>
        <p:spPr>
          <a:xfrm>
            <a:off x="590400" y="3085920"/>
            <a:ext cx="9720" cy="495720"/>
          </a:xfrm>
          <a:custGeom>
            <a:avLst/>
            <a:gdLst/>
            <a:ahLst/>
            <a:rect l="0" t="0" r="r" b="b"/>
            <a:pathLst>
              <a:path w="27" h="1377">
                <a:moveTo>
                  <a:pt x="0" y="0"/>
                </a:moveTo>
                <a:lnTo>
                  <a:pt x="27" y="0"/>
                </a:lnTo>
                <a:lnTo>
                  <a:pt x="27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16" name=""/>
          <p:cNvSpPr/>
          <p:nvPr/>
        </p:nvSpPr>
        <p:spPr>
          <a:xfrm>
            <a:off x="2600280" y="3085920"/>
            <a:ext cx="9720" cy="495720"/>
          </a:xfrm>
          <a:custGeom>
            <a:avLst/>
            <a:gdLst/>
            <a:ahLst/>
            <a:rect l="0" t="0" r="r" b="b"/>
            <a:pathLst>
              <a:path w="27" h="1377">
                <a:moveTo>
                  <a:pt x="0" y="0"/>
                </a:moveTo>
                <a:lnTo>
                  <a:pt x="27" y="0"/>
                </a:lnTo>
                <a:lnTo>
                  <a:pt x="27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17" name=""/>
          <p:cNvSpPr/>
          <p:nvPr/>
        </p:nvSpPr>
        <p:spPr>
          <a:xfrm>
            <a:off x="5619600" y="3085920"/>
            <a:ext cx="9720" cy="495720"/>
          </a:xfrm>
          <a:custGeom>
            <a:avLst/>
            <a:gdLst/>
            <a:ahLst/>
            <a:rect l="0" t="0" r="r" b="b"/>
            <a:pathLst>
              <a:path w="27" h="1377">
                <a:moveTo>
                  <a:pt x="0" y="0"/>
                </a:moveTo>
                <a:lnTo>
                  <a:pt x="27" y="0"/>
                </a:lnTo>
                <a:lnTo>
                  <a:pt x="27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18" name=""/>
          <p:cNvSpPr/>
          <p:nvPr/>
        </p:nvSpPr>
        <p:spPr>
          <a:xfrm>
            <a:off x="11591640" y="3085920"/>
            <a:ext cx="10080" cy="495720"/>
          </a:xfrm>
          <a:custGeom>
            <a:avLst/>
            <a:gdLst/>
            <a:ahLst/>
            <a:rect l="0" t="0" r="r" b="b"/>
            <a:pathLst>
              <a:path w="28" h="1377">
                <a:moveTo>
                  <a:pt x="0" y="0"/>
                </a:moveTo>
                <a:lnTo>
                  <a:pt x="28" y="0"/>
                </a:lnTo>
                <a:lnTo>
                  <a:pt x="28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19" name=""/>
          <p:cNvSpPr/>
          <p:nvPr/>
        </p:nvSpPr>
        <p:spPr>
          <a:xfrm>
            <a:off x="590400" y="3581280"/>
            <a:ext cx="9720" cy="495720"/>
          </a:xfrm>
          <a:custGeom>
            <a:avLst/>
            <a:gdLst/>
            <a:ahLst/>
            <a:rect l="0" t="0" r="r" b="b"/>
            <a:pathLst>
              <a:path w="27" h="1377">
                <a:moveTo>
                  <a:pt x="0" y="0"/>
                </a:moveTo>
                <a:lnTo>
                  <a:pt x="27" y="0"/>
                </a:lnTo>
                <a:lnTo>
                  <a:pt x="27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20" name=""/>
          <p:cNvSpPr/>
          <p:nvPr/>
        </p:nvSpPr>
        <p:spPr>
          <a:xfrm>
            <a:off x="590400" y="3571560"/>
            <a:ext cx="2019600" cy="10080"/>
          </a:xfrm>
          <a:custGeom>
            <a:avLst/>
            <a:gdLst/>
            <a:ahLst/>
            <a:rect l="0" t="0" r="r" b="b"/>
            <a:pathLst>
              <a:path w="5610" h="28">
                <a:moveTo>
                  <a:pt x="0" y="0"/>
                </a:moveTo>
                <a:lnTo>
                  <a:pt x="5610" y="0"/>
                </a:lnTo>
                <a:lnTo>
                  <a:pt x="561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21" name=""/>
          <p:cNvSpPr/>
          <p:nvPr/>
        </p:nvSpPr>
        <p:spPr>
          <a:xfrm>
            <a:off x="2600280" y="3581280"/>
            <a:ext cx="9720" cy="495720"/>
          </a:xfrm>
          <a:custGeom>
            <a:avLst/>
            <a:gdLst/>
            <a:ahLst/>
            <a:rect l="0" t="0" r="r" b="b"/>
            <a:pathLst>
              <a:path w="27" h="1377">
                <a:moveTo>
                  <a:pt x="0" y="0"/>
                </a:moveTo>
                <a:lnTo>
                  <a:pt x="27" y="0"/>
                </a:lnTo>
                <a:lnTo>
                  <a:pt x="27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22" name=""/>
          <p:cNvSpPr/>
          <p:nvPr/>
        </p:nvSpPr>
        <p:spPr>
          <a:xfrm>
            <a:off x="2609640" y="3571560"/>
            <a:ext cx="3019680" cy="10080"/>
          </a:xfrm>
          <a:custGeom>
            <a:avLst/>
            <a:gdLst/>
            <a:ahLst/>
            <a:rect l="0" t="0" r="r" b="b"/>
            <a:pathLst>
              <a:path w="8388" h="28">
                <a:moveTo>
                  <a:pt x="0" y="0"/>
                </a:moveTo>
                <a:lnTo>
                  <a:pt x="8388" y="0"/>
                </a:lnTo>
                <a:lnTo>
                  <a:pt x="838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23" name=""/>
          <p:cNvSpPr/>
          <p:nvPr/>
        </p:nvSpPr>
        <p:spPr>
          <a:xfrm>
            <a:off x="5619600" y="3581280"/>
            <a:ext cx="9720" cy="495720"/>
          </a:xfrm>
          <a:custGeom>
            <a:avLst/>
            <a:gdLst/>
            <a:ahLst/>
            <a:rect l="0" t="0" r="r" b="b"/>
            <a:pathLst>
              <a:path w="27" h="1377">
                <a:moveTo>
                  <a:pt x="0" y="0"/>
                </a:moveTo>
                <a:lnTo>
                  <a:pt x="27" y="0"/>
                </a:lnTo>
                <a:lnTo>
                  <a:pt x="27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24" name=""/>
          <p:cNvSpPr/>
          <p:nvPr/>
        </p:nvSpPr>
        <p:spPr>
          <a:xfrm>
            <a:off x="5628960" y="3571560"/>
            <a:ext cx="5972760" cy="10080"/>
          </a:xfrm>
          <a:custGeom>
            <a:avLst/>
            <a:gdLst/>
            <a:ahLst/>
            <a:rect l="0" t="0" r="r" b="b"/>
            <a:pathLst>
              <a:path w="16591" h="28">
                <a:moveTo>
                  <a:pt x="0" y="0"/>
                </a:moveTo>
                <a:lnTo>
                  <a:pt x="16591" y="0"/>
                </a:lnTo>
                <a:lnTo>
                  <a:pt x="1659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25" name=""/>
          <p:cNvSpPr/>
          <p:nvPr/>
        </p:nvSpPr>
        <p:spPr>
          <a:xfrm>
            <a:off x="11591640" y="3581280"/>
            <a:ext cx="10080" cy="495720"/>
          </a:xfrm>
          <a:custGeom>
            <a:avLst/>
            <a:gdLst/>
            <a:ahLst/>
            <a:rect l="0" t="0" r="r" b="b"/>
            <a:pathLst>
              <a:path w="28" h="1377">
                <a:moveTo>
                  <a:pt x="0" y="0"/>
                </a:moveTo>
                <a:lnTo>
                  <a:pt x="28" y="0"/>
                </a:lnTo>
                <a:lnTo>
                  <a:pt x="28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26" name=""/>
          <p:cNvSpPr/>
          <p:nvPr/>
        </p:nvSpPr>
        <p:spPr>
          <a:xfrm>
            <a:off x="590400" y="4076640"/>
            <a:ext cx="9720" cy="495360"/>
          </a:xfrm>
          <a:custGeom>
            <a:avLst/>
            <a:gdLst/>
            <a:ahLst/>
            <a:rect l="0" t="0" r="r" b="b"/>
            <a:pathLst>
              <a:path w="27" h="1376">
                <a:moveTo>
                  <a:pt x="0" y="0"/>
                </a:moveTo>
                <a:lnTo>
                  <a:pt x="27" y="0"/>
                </a:lnTo>
                <a:lnTo>
                  <a:pt x="27" y="1376"/>
                </a:lnTo>
                <a:lnTo>
                  <a:pt x="0" y="137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27" name=""/>
          <p:cNvSpPr/>
          <p:nvPr/>
        </p:nvSpPr>
        <p:spPr>
          <a:xfrm>
            <a:off x="590400" y="4066920"/>
            <a:ext cx="2019600" cy="10080"/>
          </a:xfrm>
          <a:custGeom>
            <a:avLst/>
            <a:gdLst/>
            <a:ahLst/>
            <a:rect l="0" t="0" r="r" b="b"/>
            <a:pathLst>
              <a:path w="5610" h="28">
                <a:moveTo>
                  <a:pt x="0" y="0"/>
                </a:moveTo>
                <a:lnTo>
                  <a:pt x="5610" y="0"/>
                </a:lnTo>
                <a:lnTo>
                  <a:pt x="561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28" name=""/>
          <p:cNvSpPr/>
          <p:nvPr/>
        </p:nvSpPr>
        <p:spPr>
          <a:xfrm>
            <a:off x="2600280" y="4076640"/>
            <a:ext cx="9720" cy="495360"/>
          </a:xfrm>
          <a:custGeom>
            <a:avLst/>
            <a:gdLst/>
            <a:ahLst/>
            <a:rect l="0" t="0" r="r" b="b"/>
            <a:pathLst>
              <a:path w="27" h="1376">
                <a:moveTo>
                  <a:pt x="0" y="0"/>
                </a:moveTo>
                <a:lnTo>
                  <a:pt x="27" y="0"/>
                </a:lnTo>
                <a:lnTo>
                  <a:pt x="27" y="1376"/>
                </a:lnTo>
                <a:lnTo>
                  <a:pt x="0" y="137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29" name=""/>
          <p:cNvSpPr/>
          <p:nvPr/>
        </p:nvSpPr>
        <p:spPr>
          <a:xfrm>
            <a:off x="2609640" y="4066920"/>
            <a:ext cx="3019680" cy="10080"/>
          </a:xfrm>
          <a:custGeom>
            <a:avLst/>
            <a:gdLst/>
            <a:ahLst/>
            <a:rect l="0" t="0" r="r" b="b"/>
            <a:pathLst>
              <a:path w="8388" h="28">
                <a:moveTo>
                  <a:pt x="0" y="0"/>
                </a:moveTo>
                <a:lnTo>
                  <a:pt x="8388" y="0"/>
                </a:lnTo>
                <a:lnTo>
                  <a:pt x="838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30" name=""/>
          <p:cNvSpPr/>
          <p:nvPr/>
        </p:nvSpPr>
        <p:spPr>
          <a:xfrm>
            <a:off x="5619600" y="4076640"/>
            <a:ext cx="9720" cy="495360"/>
          </a:xfrm>
          <a:custGeom>
            <a:avLst/>
            <a:gdLst/>
            <a:ahLst/>
            <a:rect l="0" t="0" r="r" b="b"/>
            <a:pathLst>
              <a:path w="27" h="1376">
                <a:moveTo>
                  <a:pt x="0" y="0"/>
                </a:moveTo>
                <a:lnTo>
                  <a:pt x="27" y="0"/>
                </a:lnTo>
                <a:lnTo>
                  <a:pt x="27" y="1376"/>
                </a:lnTo>
                <a:lnTo>
                  <a:pt x="0" y="137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31" name=""/>
          <p:cNvSpPr/>
          <p:nvPr/>
        </p:nvSpPr>
        <p:spPr>
          <a:xfrm>
            <a:off x="5628960" y="4066920"/>
            <a:ext cx="5972760" cy="10080"/>
          </a:xfrm>
          <a:custGeom>
            <a:avLst/>
            <a:gdLst/>
            <a:ahLst/>
            <a:rect l="0" t="0" r="r" b="b"/>
            <a:pathLst>
              <a:path w="16591" h="28">
                <a:moveTo>
                  <a:pt x="0" y="0"/>
                </a:moveTo>
                <a:lnTo>
                  <a:pt x="16591" y="0"/>
                </a:lnTo>
                <a:lnTo>
                  <a:pt x="1659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32" name=""/>
          <p:cNvSpPr/>
          <p:nvPr/>
        </p:nvSpPr>
        <p:spPr>
          <a:xfrm>
            <a:off x="11591640" y="4076640"/>
            <a:ext cx="10080" cy="495360"/>
          </a:xfrm>
          <a:custGeom>
            <a:avLst/>
            <a:gdLst/>
            <a:ahLst/>
            <a:rect l="0" t="0" r="r" b="b"/>
            <a:pathLst>
              <a:path w="28" h="1376">
                <a:moveTo>
                  <a:pt x="0" y="0"/>
                </a:moveTo>
                <a:lnTo>
                  <a:pt x="28" y="0"/>
                </a:lnTo>
                <a:lnTo>
                  <a:pt x="28" y="1376"/>
                </a:lnTo>
                <a:lnTo>
                  <a:pt x="0" y="137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33" name=""/>
          <p:cNvSpPr/>
          <p:nvPr/>
        </p:nvSpPr>
        <p:spPr>
          <a:xfrm>
            <a:off x="590400" y="4562280"/>
            <a:ext cx="2019600" cy="9720"/>
          </a:xfrm>
          <a:custGeom>
            <a:avLst/>
            <a:gdLst/>
            <a:ahLst/>
            <a:rect l="0" t="0" r="r" b="b"/>
            <a:pathLst>
              <a:path w="5610" h="27">
                <a:moveTo>
                  <a:pt x="0" y="0"/>
                </a:moveTo>
                <a:lnTo>
                  <a:pt x="5610" y="0"/>
                </a:lnTo>
                <a:lnTo>
                  <a:pt x="561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34" name=""/>
          <p:cNvSpPr/>
          <p:nvPr/>
        </p:nvSpPr>
        <p:spPr>
          <a:xfrm>
            <a:off x="2609640" y="4562280"/>
            <a:ext cx="3019680" cy="9720"/>
          </a:xfrm>
          <a:custGeom>
            <a:avLst/>
            <a:gdLst/>
            <a:ahLst/>
            <a:rect l="0" t="0" r="r" b="b"/>
            <a:pathLst>
              <a:path w="8388" h="27">
                <a:moveTo>
                  <a:pt x="0" y="0"/>
                </a:moveTo>
                <a:lnTo>
                  <a:pt x="8388" y="0"/>
                </a:lnTo>
                <a:lnTo>
                  <a:pt x="838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35" name=""/>
          <p:cNvSpPr/>
          <p:nvPr/>
        </p:nvSpPr>
        <p:spPr>
          <a:xfrm>
            <a:off x="5628960" y="4562280"/>
            <a:ext cx="5972760" cy="9720"/>
          </a:xfrm>
          <a:custGeom>
            <a:avLst/>
            <a:gdLst/>
            <a:ahLst/>
            <a:rect l="0" t="0" r="r" b="b"/>
            <a:pathLst>
              <a:path w="16591" h="27">
                <a:moveTo>
                  <a:pt x="0" y="0"/>
                </a:moveTo>
                <a:lnTo>
                  <a:pt x="16591" y="0"/>
                </a:lnTo>
                <a:lnTo>
                  <a:pt x="165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36" name=""/>
          <p:cNvSpPr txBox="1"/>
          <p:nvPr/>
        </p:nvSpPr>
        <p:spPr>
          <a:xfrm>
            <a:off x="590400" y="1272240"/>
            <a:ext cx="7062012" cy="36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8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指示の情報を止めると合格数が落ちる</a:t>
            </a:r>
            <a:endParaRPr lang="en-US" sz="28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37" name=""/>
          <p:cNvSpPr txBox="1"/>
          <p:nvPr/>
        </p:nvSpPr>
        <p:spPr>
          <a:xfrm>
            <a:off x="590400" y="2095560"/>
            <a:ext cx="7481394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 epoch</a:t>
            </a:r>
            <a:r>
              <a:rPr lang="ja-JP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モデル。学習時に準拠した文型で、</a:t>
            </a:r>
            <a:r>
              <a:rPr lang="en-US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24</a:t>
            </a:r>
            <a:r>
              <a:rPr lang="ja-JP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操作を診断。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38" name=""/>
          <p:cNvSpPr txBox="1"/>
          <p:nvPr/>
        </p:nvSpPr>
        <p:spPr>
          <a:xfrm>
            <a:off x="714240" y="2720880"/>
            <a:ext cx="721188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6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モデル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39" name=""/>
          <p:cNvSpPr txBox="1"/>
          <p:nvPr/>
        </p:nvSpPr>
        <p:spPr>
          <a:xfrm>
            <a:off x="4458240" y="2720880"/>
            <a:ext cx="1201428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6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通常の生成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40" name=""/>
          <p:cNvSpPr txBox="1"/>
          <p:nvPr/>
        </p:nvSpPr>
        <p:spPr>
          <a:xfrm>
            <a:off x="9172440" y="2720880"/>
            <a:ext cx="2642148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6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指示の情報を止めた生成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41" name=""/>
          <p:cNvSpPr txBox="1"/>
          <p:nvPr/>
        </p:nvSpPr>
        <p:spPr>
          <a:xfrm>
            <a:off x="714240" y="3215880"/>
            <a:ext cx="385434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1M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42" name=""/>
          <p:cNvSpPr txBox="1"/>
          <p:nvPr/>
        </p:nvSpPr>
        <p:spPr>
          <a:xfrm>
            <a:off x="4853160" y="3215880"/>
            <a:ext cx="748926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3 / 24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43" name=""/>
          <p:cNvSpPr txBox="1"/>
          <p:nvPr/>
        </p:nvSpPr>
        <p:spPr>
          <a:xfrm>
            <a:off x="10799280" y="3215880"/>
            <a:ext cx="777906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6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0 / 24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44" name=""/>
          <p:cNvSpPr txBox="1"/>
          <p:nvPr/>
        </p:nvSpPr>
        <p:spPr>
          <a:xfrm>
            <a:off x="714240" y="3711240"/>
            <a:ext cx="385434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5M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45" name=""/>
          <p:cNvSpPr txBox="1"/>
          <p:nvPr/>
        </p:nvSpPr>
        <p:spPr>
          <a:xfrm>
            <a:off x="4715640" y="3711240"/>
            <a:ext cx="90666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22 / 24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46" name=""/>
          <p:cNvSpPr txBox="1"/>
          <p:nvPr/>
        </p:nvSpPr>
        <p:spPr>
          <a:xfrm>
            <a:off x="10799280" y="3711240"/>
            <a:ext cx="777906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6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0 / 24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47" name=""/>
          <p:cNvSpPr txBox="1"/>
          <p:nvPr/>
        </p:nvSpPr>
        <p:spPr>
          <a:xfrm>
            <a:off x="714240" y="4206600"/>
            <a:ext cx="543168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15M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48" name=""/>
          <p:cNvSpPr txBox="1"/>
          <p:nvPr/>
        </p:nvSpPr>
        <p:spPr>
          <a:xfrm>
            <a:off x="4715640" y="4206600"/>
            <a:ext cx="90666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22 / 24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49" name=""/>
          <p:cNvSpPr txBox="1"/>
          <p:nvPr/>
        </p:nvSpPr>
        <p:spPr>
          <a:xfrm>
            <a:off x="10799280" y="4206600"/>
            <a:ext cx="777906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6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2 / 24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50" name=""/>
          <p:cNvSpPr txBox="1"/>
          <p:nvPr/>
        </p:nvSpPr>
        <p:spPr>
          <a:xfrm>
            <a:off x="590400" y="4819680"/>
            <a:ext cx="6835968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7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指示から受け取る情報が、操作の選択に寄与している。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51" name=""/>
          <p:cNvSpPr txBox="1"/>
          <p:nvPr/>
        </p:nvSpPr>
        <p:spPr>
          <a:xfrm>
            <a:off x="590400" y="5353200"/>
            <a:ext cx="7736004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24</a:t>
            </a:r>
            <a:r>
              <a:rPr lang="ja-JP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操作の内部診断。冒頭変更の</a:t>
            </a:r>
            <a:r>
              <a:rPr lang="en-US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14</a:t>
            </a:r>
            <a:r>
              <a:rPr lang="ja-JP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操作、固定</a:t>
            </a:r>
            <a:r>
              <a:rPr lang="en-US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5</a:t>
            </a:r>
            <a:r>
              <a:rPr lang="ja-JP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テストとは別。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52" name=""/>
          <p:cNvSpPr txBox="1"/>
          <p:nvPr/>
        </p:nvSpPr>
        <p:spPr>
          <a:xfrm>
            <a:off x="11705760" y="6466680"/>
            <a:ext cx="231012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Hiragino Sans"/>
                <a:ea typeface="Hiragino Sans"/>
              </a:rPr>
              <a:t>38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5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5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56" name=""/>
          <p:cNvSpPr/>
          <p:nvPr/>
        </p:nvSpPr>
        <p:spPr>
          <a:xfrm>
            <a:off x="599760" y="2428560"/>
            <a:ext cx="3962880" cy="467280"/>
          </a:xfrm>
          <a:custGeom>
            <a:avLst/>
            <a:gdLst/>
            <a:ahLst/>
            <a:rect l="0" t="0" r="r" b="b"/>
            <a:pathLst>
              <a:path w="11008" h="1298">
                <a:moveTo>
                  <a:pt x="0" y="0"/>
                </a:moveTo>
                <a:lnTo>
                  <a:pt x="11008" y="0"/>
                </a:lnTo>
                <a:lnTo>
                  <a:pt x="11008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57" name=""/>
          <p:cNvSpPr/>
          <p:nvPr/>
        </p:nvSpPr>
        <p:spPr>
          <a:xfrm>
            <a:off x="4562280" y="2428560"/>
            <a:ext cx="7039440" cy="467280"/>
          </a:xfrm>
          <a:custGeom>
            <a:avLst/>
            <a:gdLst/>
            <a:ahLst/>
            <a:rect l="0" t="0" r="r" b="b"/>
            <a:pathLst>
              <a:path w="19554" h="1298">
                <a:moveTo>
                  <a:pt x="0" y="0"/>
                </a:moveTo>
                <a:lnTo>
                  <a:pt x="19554" y="0"/>
                </a:lnTo>
                <a:lnTo>
                  <a:pt x="19554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58" name=""/>
          <p:cNvSpPr/>
          <p:nvPr/>
        </p:nvSpPr>
        <p:spPr>
          <a:xfrm>
            <a:off x="599760" y="2428560"/>
            <a:ext cx="3962880" cy="467280"/>
          </a:xfrm>
          <a:custGeom>
            <a:avLst/>
            <a:gdLst/>
            <a:ahLst/>
            <a:rect l="0" t="0" r="r" b="b"/>
            <a:pathLst>
              <a:path w="11008" h="1298">
                <a:moveTo>
                  <a:pt x="0" y="0"/>
                </a:moveTo>
                <a:lnTo>
                  <a:pt x="11008" y="0"/>
                </a:lnTo>
                <a:lnTo>
                  <a:pt x="11008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59" name=""/>
          <p:cNvSpPr/>
          <p:nvPr/>
        </p:nvSpPr>
        <p:spPr>
          <a:xfrm>
            <a:off x="4562280" y="2428560"/>
            <a:ext cx="7039440" cy="467280"/>
          </a:xfrm>
          <a:custGeom>
            <a:avLst/>
            <a:gdLst/>
            <a:ahLst/>
            <a:rect l="0" t="0" r="r" b="b"/>
            <a:pathLst>
              <a:path w="19554" h="1298">
                <a:moveTo>
                  <a:pt x="0" y="0"/>
                </a:moveTo>
                <a:lnTo>
                  <a:pt x="19554" y="0"/>
                </a:lnTo>
                <a:lnTo>
                  <a:pt x="19554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60" name=""/>
          <p:cNvSpPr/>
          <p:nvPr/>
        </p:nvSpPr>
        <p:spPr>
          <a:xfrm>
            <a:off x="599760" y="2895480"/>
            <a:ext cx="3962880" cy="466920"/>
          </a:xfrm>
          <a:custGeom>
            <a:avLst/>
            <a:gdLst/>
            <a:ahLst/>
            <a:rect l="0" t="0" r="r" b="b"/>
            <a:pathLst>
              <a:path w="11008" h="1297">
                <a:moveTo>
                  <a:pt x="0" y="0"/>
                </a:moveTo>
                <a:lnTo>
                  <a:pt x="11008" y="0"/>
                </a:lnTo>
                <a:lnTo>
                  <a:pt x="11008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61" name=""/>
          <p:cNvSpPr/>
          <p:nvPr/>
        </p:nvSpPr>
        <p:spPr>
          <a:xfrm>
            <a:off x="4562280" y="2895480"/>
            <a:ext cx="7039440" cy="466920"/>
          </a:xfrm>
          <a:custGeom>
            <a:avLst/>
            <a:gdLst/>
            <a:ahLst/>
            <a:rect l="0" t="0" r="r" b="b"/>
            <a:pathLst>
              <a:path w="19554" h="1297">
                <a:moveTo>
                  <a:pt x="0" y="0"/>
                </a:moveTo>
                <a:lnTo>
                  <a:pt x="19554" y="0"/>
                </a:lnTo>
                <a:lnTo>
                  <a:pt x="19554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62" name=""/>
          <p:cNvSpPr/>
          <p:nvPr/>
        </p:nvSpPr>
        <p:spPr>
          <a:xfrm>
            <a:off x="599760" y="3362040"/>
            <a:ext cx="3962880" cy="467280"/>
          </a:xfrm>
          <a:custGeom>
            <a:avLst/>
            <a:gdLst/>
            <a:ahLst/>
            <a:rect l="0" t="0" r="r" b="b"/>
            <a:pathLst>
              <a:path w="11008" h="1298">
                <a:moveTo>
                  <a:pt x="0" y="0"/>
                </a:moveTo>
                <a:lnTo>
                  <a:pt x="11008" y="0"/>
                </a:lnTo>
                <a:lnTo>
                  <a:pt x="11008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63" name=""/>
          <p:cNvSpPr/>
          <p:nvPr/>
        </p:nvSpPr>
        <p:spPr>
          <a:xfrm>
            <a:off x="4562280" y="3362040"/>
            <a:ext cx="7039440" cy="467280"/>
          </a:xfrm>
          <a:custGeom>
            <a:avLst/>
            <a:gdLst/>
            <a:ahLst/>
            <a:rect l="0" t="0" r="r" b="b"/>
            <a:pathLst>
              <a:path w="19554" h="1298">
                <a:moveTo>
                  <a:pt x="0" y="0"/>
                </a:moveTo>
                <a:lnTo>
                  <a:pt x="19554" y="0"/>
                </a:lnTo>
                <a:lnTo>
                  <a:pt x="19554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64" name=""/>
          <p:cNvSpPr/>
          <p:nvPr/>
        </p:nvSpPr>
        <p:spPr>
          <a:xfrm>
            <a:off x="599760" y="3828960"/>
            <a:ext cx="3962880" cy="466920"/>
          </a:xfrm>
          <a:custGeom>
            <a:avLst/>
            <a:gdLst/>
            <a:ahLst/>
            <a:rect l="0" t="0" r="r" b="b"/>
            <a:pathLst>
              <a:path w="11008" h="1297">
                <a:moveTo>
                  <a:pt x="0" y="0"/>
                </a:moveTo>
                <a:lnTo>
                  <a:pt x="11008" y="0"/>
                </a:lnTo>
                <a:lnTo>
                  <a:pt x="11008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65" name=""/>
          <p:cNvSpPr/>
          <p:nvPr/>
        </p:nvSpPr>
        <p:spPr>
          <a:xfrm>
            <a:off x="4562280" y="3828960"/>
            <a:ext cx="7039440" cy="466920"/>
          </a:xfrm>
          <a:custGeom>
            <a:avLst/>
            <a:gdLst/>
            <a:ahLst/>
            <a:rect l="0" t="0" r="r" b="b"/>
            <a:pathLst>
              <a:path w="19554" h="1297">
                <a:moveTo>
                  <a:pt x="0" y="0"/>
                </a:moveTo>
                <a:lnTo>
                  <a:pt x="19554" y="0"/>
                </a:lnTo>
                <a:lnTo>
                  <a:pt x="19554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66" name=""/>
          <p:cNvSpPr/>
          <p:nvPr/>
        </p:nvSpPr>
        <p:spPr>
          <a:xfrm>
            <a:off x="590400" y="2419200"/>
            <a:ext cx="9720" cy="476640"/>
          </a:xfrm>
          <a:custGeom>
            <a:avLst/>
            <a:gdLst/>
            <a:ahLst/>
            <a:rect l="0" t="0" r="r" b="b"/>
            <a:pathLst>
              <a:path w="27" h="1324">
                <a:moveTo>
                  <a:pt x="0" y="0"/>
                </a:moveTo>
                <a:lnTo>
                  <a:pt x="27" y="0"/>
                </a:lnTo>
                <a:lnTo>
                  <a:pt x="27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67" name=""/>
          <p:cNvSpPr/>
          <p:nvPr/>
        </p:nvSpPr>
        <p:spPr>
          <a:xfrm>
            <a:off x="590400" y="2419200"/>
            <a:ext cx="3972240" cy="9720"/>
          </a:xfrm>
          <a:custGeom>
            <a:avLst/>
            <a:gdLst/>
            <a:ahLst/>
            <a:rect l="0" t="0" r="r" b="b"/>
            <a:pathLst>
              <a:path w="11034" h="27">
                <a:moveTo>
                  <a:pt x="0" y="0"/>
                </a:moveTo>
                <a:lnTo>
                  <a:pt x="11034" y="0"/>
                </a:lnTo>
                <a:lnTo>
                  <a:pt x="110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68" name=""/>
          <p:cNvSpPr/>
          <p:nvPr/>
        </p:nvSpPr>
        <p:spPr>
          <a:xfrm>
            <a:off x="4552920" y="2419200"/>
            <a:ext cx="9720" cy="476640"/>
          </a:xfrm>
          <a:custGeom>
            <a:avLst/>
            <a:gdLst/>
            <a:ahLst/>
            <a:rect l="0" t="0" r="r" b="b"/>
            <a:pathLst>
              <a:path w="27" h="1324">
                <a:moveTo>
                  <a:pt x="0" y="0"/>
                </a:moveTo>
                <a:lnTo>
                  <a:pt x="27" y="0"/>
                </a:lnTo>
                <a:lnTo>
                  <a:pt x="27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69" name=""/>
          <p:cNvSpPr/>
          <p:nvPr/>
        </p:nvSpPr>
        <p:spPr>
          <a:xfrm>
            <a:off x="4562280" y="2419200"/>
            <a:ext cx="7039440" cy="9720"/>
          </a:xfrm>
          <a:custGeom>
            <a:avLst/>
            <a:gdLst/>
            <a:ahLst/>
            <a:rect l="0" t="0" r="r" b="b"/>
            <a:pathLst>
              <a:path w="19554" h="27">
                <a:moveTo>
                  <a:pt x="0" y="0"/>
                </a:moveTo>
                <a:lnTo>
                  <a:pt x="19554" y="0"/>
                </a:lnTo>
                <a:lnTo>
                  <a:pt x="1955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70" name=""/>
          <p:cNvSpPr/>
          <p:nvPr/>
        </p:nvSpPr>
        <p:spPr>
          <a:xfrm>
            <a:off x="11591640" y="2419200"/>
            <a:ext cx="10080" cy="476640"/>
          </a:xfrm>
          <a:custGeom>
            <a:avLst/>
            <a:gdLst/>
            <a:ahLst/>
            <a:rect l="0" t="0" r="r" b="b"/>
            <a:pathLst>
              <a:path w="28" h="1324">
                <a:moveTo>
                  <a:pt x="0" y="0"/>
                </a:moveTo>
                <a:lnTo>
                  <a:pt x="28" y="0"/>
                </a:lnTo>
                <a:lnTo>
                  <a:pt x="28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71" name=""/>
          <p:cNvSpPr/>
          <p:nvPr/>
        </p:nvSpPr>
        <p:spPr>
          <a:xfrm>
            <a:off x="590400" y="2885760"/>
            <a:ext cx="3972240" cy="10080"/>
          </a:xfrm>
          <a:custGeom>
            <a:avLst/>
            <a:gdLst/>
            <a:ahLst/>
            <a:rect l="0" t="0" r="r" b="b"/>
            <a:pathLst>
              <a:path w="11034" h="28">
                <a:moveTo>
                  <a:pt x="0" y="0"/>
                </a:moveTo>
                <a:lnTo>
                  <a:pt x="11034" y="0"/>
                </a:lnTo>
                <a:lnTo>
                  <a:pt x="1103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72" name=""/>
          <p:cNvSpPr/>
          <p:nvPr/>
        </p:nvSpPr>
        <p:spPr>
          <a:xfrm>
            <a:off x="4562280" y="2885760"/>
            <a:ext cx="7039440" cy="10080"/>
          </a:xfrm>
          <a:custGeom>
            <a:avLst/>
            <a:gdLst/>
            <a:ahLst/>
            <a:rect l="0" t="0" r="r" b="b"/>
            <a:pathLst>
              <a:path w="19554" h="28">
                <a:moveTo>
                  <a:pt x="0" y="0"/>
                </a:moveTo>
                <a:lnTo>
                  <a:pt x="19554" y="0"/>
                </a:lnTo>
                <a:lnTo>
                  <a:pt x="1955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73" name=""/>
          <p:cNvSpPr/>
          <p:nvPr/>
        </p:nvSpPr>
        <p:spPr>
          <a:xfrm>
            <a:off x="590400" y="2895480"/>
            <a:ext cx="9720" cy="466920"/>
          </a:xfrm>
          <a:custGeom>
            <a:avLst/>
            <a:gdLst/>
            <a:ahLst/>
            <a:rect l="0" t="0" r="r" b="b"/>
            <a:pathLst>
              <a:path w="27" h="1297">
                <a:moveTo>
                  <a:pt x="0" y="0"/>
                </a:moveTo>
                <a:lnTo>
                  <a:pt x="27" y="0"/>
                </a:lnTo>
                <a:lnTo>
                  <a:pt x="27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74" name=""/>
          <p:cNvSpPr/>
          <p:nvPr/>
        </p:nvSpPr>
        <p:spPr>
          <a:xfrm>
            <a:off x="4552920" y="2895480"/>
            <a:ext cx="9720" cy="466920"/>
          </a:xfrm>
          <a:custGeom>
            <a:avLst/>
            <a:gdLst/>
            <a:ahLst/>
            <a:rect l="0" t="0" r="r" b="b"/>
            <a:pathLst>
              <a:path w="27" h="1297">
                <a:moveTo>
                  <a:pt x="0" y="0"/>
                </a:moveTo>
                <a:lnTo>
                  <a:pt x="27" y="0"/>
                </a:lnTo>
                <a:lnTo>
                  <a:pt x="27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75" name=""/>
          <p:cNvSpPr/>
          <p:nvPr/>
        </p:nvSpPr>
        <p:spPr>
          <a:xfrm>
            <a:off x="11591640" y="2895480"/>
            <a:ext cx="10080" cy="466920"/>
          </a:xfrm>
          <a:custGeom>
            <a:avLst/>
            <a:gdLst/>
            <a:ahLst/>
            <a:rect l="0" t="0" r="r" b="b"/>
            <a:pathLst>
              <a:path w="28" h="1297">
                <a:moveTo>
                  <a:pt x="0" y="0"/>
                </a:moveTo>
                <a:lnTo>
                  <a:pt x="28" y="0"/>
                </a:lnTo>
                <a:lnTo>
                  <a:pt x="28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76" name=""/>
          <p:cNvSpPr/>
          <p:nvPr/>
        </p:nvSpPr>
        <p:spPr>
          <a:xfrm>
            <a:off x="590400" y="3362040"/>
            <a:ext cx="9720" cy="467280"/>
          </a:xfrm>
          <a:custGeom>
            <a:avLst/>
            <a:gdLst/>
            <a:ahLst/>
            <a:rect l="0" t="0" r="r" b="b"/>
            <a:pathLst>
              <a:path w="27" h="1298">
                <a:moveTo>
                  <a:pt x="0" y="0"/>
                </a:moveTo>
                <a:lnTo>
                  <a:pt x="27" y="0"/>
                </a:lnTo>
                <a:lnTo>
                  <a:pt x="27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77" name=""/>
          <p:cNvSpPr/>
          <p:nvPr/>
        </p:nvSpPr>
        <p:spPr>
          <a:xfrm>
            <a:off x="590400" y="3352680"/>
            <a:ext cx="3972240" cy="9720"/>
          </a:xfrm>
          <a:custGeom>
            <a:avLst/>
            <a:gdLst/>
            <a:ahLst/>
            <a:rect l="0" t="0" r="r" b="b"/>
            <a:pathLst>
              <a:path w="11034" h="27">
                <a:moveTo>
                  <a:pt x="0" y="0"/>
                </a:moveTo>
                <a:lnTo>
                  <a:pt x="11034" y="0"/>
                </a:lnTo>
                <a:lnTo>
                  <a:pt x="110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78" name=""/>
          <p:cNvSpPr/>
          <p:nvPr/>
        </p:nvSpPr>
        <p:spPr>
          <a:xfrm>
            <a:off x="4552920" y="3362040"/>
            <a:ext cx="9720" cy="467280"/>
          </a:xfrm>
          <a:custGeom>
            <a:avLst/>
            <a:gdLst/>
            <a:ahLst/>
            <a:rect l="0" t="0" r="r" b="b"/>
            <a:pathLst>
              <a:path w="27" h="1298">
                <a:moveTo>
                  <a:pt x="0" y="0"/>
                </a:moveTo>
                <a:lnTo>
                  <a:pt x="27" y="0"/>
                </a:lnTo>
                <a:lnTo>
                  <a:pt x="27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79" name=""/>
          <p:cNvSpPr/>
          <p:nvPr/>
        </p:nvSpPr>
        <p:spPr>
          <a:xfrm>
            <a:off x="4562280" y="3352680"/>
            <a:ext cx="7039440" cy="9720"/>
          </a:xfrm>
          <a:custGeom>
            <a:avLst/>
            <a:gdLst/>
            <a:ahLst/>
            <a:rect l="0" t="0" r="r" b="b"/>
            <a:pathLst>
              <a:path w="19554" h="27">
                <a:moveTo>
                  <a:pt x="0" y="0"/>
                </a:moveTo>
                <a:lnTo>
                  <a:pt x="19554" y="0"/>
                </a:lnTo>
                <a:lnTo>
                  <a:pt x="1955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80" name=""/>
          <p:cNvSpPr/>
          <p:nvPr/>
        </p:nvSpPr>
        <p:spPr>
          <a:xfrm>
            <a:off x="11591640" y="3362040"/>
            <a:ext cx="10080" cy="467280"/>
          </a:xfrm>
          <a:custGeom>
            <a:avLst/>
            <a:gdLst/>
            <a:ahLst/>
            <a:rect l="0" t="0" r="r" b="b"/>
            <a:pathLst>
              <a:path w="28" h="1298">
                <a:moveTo>
                  <a:pt x="0" y="0"/>
                </a:moveTo>
                <a:lnTo>
                  <a:pt x="28" y="0"/>
                </a:lnTo>
                <a:lnTo>
                  <a:pt x="28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81" name=""/>
          <p:cNvSpPr/>
          <p:nvPr/>
        </p:nvSpPr>
        <p:spPr>
          <a:xfrm>
            <a:off x="590400" y="3828960"/>
            <a:ext cx="9720" cy="466920"/>
          </a:xfrm>
          <a:custGeom>
            <a:avLst/>
            <a:gdLst/>
            <a:ahLst/>
            <a:rect l="0" t="0" r="r" b="b"/>
            <a:pathLst>
              <a:path w="27" h="1297">
                <a:moveTo>
                  <a:pt x="0" y="0"/>
                </a:moveTo>
                <a:lnTo>
                  <a:pt x="27" y="0"/>
                </a:lnTo>
                <a:lnTo>
                  <a:pt x="27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82" name=""/>
          <p:cNvSpPr/>
          <p:nvPr/>
        </p:nvSpPr>
        <p:spPr>
          <a:xfrm>
            <a:off x="590400" y="3819240"/>
            <a:ext cx="3972240" cy="10080"/>
          </a:xfrm>
          <a:custGeom>
            <a:avLst/>
            <a:gdLst/>
            <a:ahLst/>
            <a:rect l="0" t="0" r="r" b="b"/>
            <a:pathLst>
              <a:path w="11034" h="28">
                <a:moveTo>
                  <a:pt x="0" y="0"/>
                </a:moveTo>
                <a:lnTo>
                  <a:pt x="11034" y="0"/>
                </a:lnTo>
                <a:lnTo>
                  <a:pt x="1103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83" name=""/>
          <p:cNvSpPr/>
          <p:nvPr/>
        </p:nvSpPr>
        <p:spPr>
          <a:xfrm>
            <a:off x="4552920" y="3828960"/>
            <a:ext cx="9720" cy="466920"/>
          </a:xfrm>
          <a:custGeom>
            <a:avLst/>
            <a:gdLst/>
            <a:ahLst/>
            <a:rect l="0" t="0" r="r" b="b"/>
            <a:pathLst>
              <a:path w="27" h="1297">
                <a:moveTo>
                  <a:pt x="0" y="0"/>
                </a:moveTo>
                <a:lnTo>
                  <a:pt x="27" y="0"/>
                </a:lnTo>
                <a:lnTo>
                  <a:pt x="27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84" name=""/>
          <p:cNvSpPr/>
          <p:nvPr/>
        </p:nvSpPr>
        <p:spPr>
          <a:xfrm>
            <a:off x="4562280" y="3819240"/>
            <a:ext cx="7039440" cy="10080"/>
          </a:xfrm>
          <a:custGeom>
            <a:avLst/>
            <a:gdLst/>
            <a:ahLst/>
            <a:rect l="0" t="0" r="r" b="b"/>
            <a:pathLst>
              <a:path w="19554" h="28">
                <a:moveTo>
                  <a:pt x="0" y="0"/>
                </a:moveTo>
                <a:lnTo>
                  <a:pt x="19554" y="0"/>
                </a:lnTo>
                <a:lnTo>
                  <a:pt x="1955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85" name=""/>
          <p:cNvSpPr/>
          <p:nvPr/>
        </p:nvSpPr>
        <p:spPr>
          <a:xfrm>
            <a:off x="11591640" y="3828960"/>
            <a:ext cx="10080" cy="466920"/>
          </a:xfrm>
          <a:custGeom>
            <a:avLst/>
            <a:gdLst/>
            <a:ahLst/>
            <a:rect l="0" t="0" r="r" b="b"/>
            <a:pathLst>
              <a:path w="28" h="1297">
                <a:moveTo>
                  <a:pt x="0" y="0"/>
                </a:moveTo>
                <a:lnTo>
                  <a:pt x="28" y="0"/>
                </a:lnTo>
                <a:lnTo>
                  <a:pt x="28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86" name=""/>
          <p:cNvSpPr/>
          <p:nvPr/>
        </p:nvSpPr>
        <p:spPr>
          <a:xfrm>
            <a:off x="590400" y="4286160"/>
            <a:ext cx="3972240" cy="9720"/>
          </a:xfrm>
          <a:custGeom>
            <a:avLst/>
            <a:gdLst/>
            <a:ahLst/>
            <a:rect l="0" t="0" r="r" b="b"/>
            <a:pathLst>
              <a:path w="11034" h="27">
                <a:moveTo>
                  <a:pt x="0" y="0"/>
                </a:moveTo>
                <a:lnTo>
                  <a:pt x="11034" y="0"/>
                </a:lnTo>
                <a:lnTo>
                  <a:pt x="110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87" name=""/>
          <p:cNvSpPr/>
          <p:nvPr/>
        </p:nvSpPr>
        <p:spPr>
          <a:xfrm>
            <a:off x="4562280" y="4286160"/>
            <a:ext cx="7039440" cy="9720"/>
          </a:xfrm>
          <a:custGeom>
            <a:avLst/>
            <a:gdLst/>
            <a:ahLst/>
            <a:rect l="0" t="0" r="r" b="b"/>
            <a:pathLst>
              <a:path w="19554" h="27">
                <a:moveTo>
                  <a:pt x="0" y="0"/>
                </a:moveTo>
                <a:lnTo>
                  <a:pt x="19554" y="0"/>
                </a:lnTo>
                <a:lnTo>
                  <a:pt x="1955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88" name=""/>
          <p:cNvSpPr txBox="1"/>
          <p:nvPr/>
        </p:nvSpPr>
        <p:spPr>
          <a:xfrm>
            <a:off x="590400" y="1662840"/>
            <a:ext cx="7477254" cy="36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8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評価では、表現を変えた場合も確かめる</a:t>
            </a:r>
            <a:endParaRPr lang="en-US" sz="28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89" name=""/>
          <p:cNvSpPr txBox="1"/>
          <p:nvPr/>
        </p:nvSpPr>
        <p:spPr>
          <a:xfrm>
            <a:off x="723960" y="2541960"/>
            <a:ext cx="1315278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調べること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90" name=""/>
          <p:cNvSpPr txBox="1"/>
          <p:nvPr/>
        </p:nvSpPr>
        <p:spPr>
          <a:xfrm>
            <a:off x="4686120" y="2541960"/>
            <a:ext cx="2366838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今回、分かったこと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91" name=""/>
          <p:cNvSpPr txBox="1"/>
          <p:nvPr/>
        </p:nvSpPr>
        <p:spPr>
          <a:xfrm>
            <a:off x="723960" y="3008880"/>
            <a:ext cx="2366838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決めた文型での動作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92" name=""/>
          <p:cNvSpPr txBox="1"/>
          <p:nvPr/>
        </p:nvSpPr>
        <p:spPr>
          <a:xfrm>
            <a:off x="4686120" y="3008880"/>
            <a:ext cx="4433112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5M</a:t>
            </a:r>
            <a:r>
              <a:rPr lang="ja-JP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・</a:t>
            </a:r>
            <a:r>
              <a:rPr lang="en-US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15M</a:t>
            </a:r>
            <a:r>
              <a:rPr lang="ja-JP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は高い全体合格率を示した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93" name=""/>
          <p:cNvSpPr txBox="1"/>
          <p:nvPr/>
        </p:nvSpPr>
        <p:spPr>
          <a:xfrm>
            <a:off x="723960" y="3475440"/>
            <a:ext cx="2103948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未学習の言い換え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94" name=""/>
          <p:cNvSpPr txBox="1"/>
          <p:nvPr/>
        </p:nvSpPr>
        <p:spPr>
          <a:xfrm>
            <a:off x="4686120" y="3475440"/>
            <a:ext cx="3388176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15M</a:t>
            </a:r>
            <a:r>
              <a:rPr lang="ja-JP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でも</a:t>
            </a:r>
            <a:r>
              <a:rPr lang="en-US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30</a:t>
            </a:r>
            <a:r>
              <a:rPr lang="ja-JP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件中</a:t>
            </a:r>
            <a:r>
              <a:rPr lang="en-US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15</a:t>
            </a:r>
            <a:r>
              <a:rPr lang="ja-JP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件の合格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95" name=""/>
          <p:cNvSpPr txBox="1"/>
          <p:nvPr/>
        </p:nvSpPr>
        <p:spPr>
          <a:xfrm>
            <a:off x="723960" y="3942360"/>
            <a:ext cx="2103948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指示の冒頭の変更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96" name=""/>
          <p:cNvSpPr txBox="1"/>
          <p:nvPr/>
        </p:nvSpPr>
        <p:spPr>
          <a:xfrm>
            <a:off x="4686120" y="3942360"/>
            <a:ext cx="3915198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5M</a:t>
            </a:r>
            <a:r>
              <a:rPr lang="ja-JP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は</a:t>
            </a:r>
            <a:r>
              <a:rPr lang="en-US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14</a:t>
            </a:r>
            <a:r>
              <a:rPr lang="ja-JP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件中</a:t>
            </a:r>
            <a:r>
              <a:rPr lang="en-US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12</a:t>
            </a:r>
            <a:r>
              <a:rPr lang="ja-JP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件から</a:t>
            </a:r>
            <a:r>
              <a:rPr lang="en-US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</a:t>
            </a:r>
            <a:r>
              <a:rPr lang="ja-JP" sz="18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件へ低下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97" name=""/>
          <p:cNvSpPr txBox="1"/>
          <p:nvPr/>
        </p:nvSpPr>
        <p:spPr>
          <a:xfrm>
            <a:off x="590400" y="4545720"/>
            <a:ext cx="11411100" cy="258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0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一種類のプロンプトでの精度に加え、表現を変えても性能が保たれるかを評価する必要があ</a:t>
            </a:r>
            <a:endParaRPr lang="en-US" sz="202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98" name=""/>
          <p:cNvSpPr txBox="1"/>
          <p:nvPr/>
        </p:nvSpPr>
        <p:spPr>
          <a:xfrm>
            <a:off x="590400" y="4936320"/>
            <a:ext cx="593262" cy="258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0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る。</a:t>
            </a:r>
            <a:endParaRPr lang="en-US" sz="202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699" name=""/>
          <p:cNvSpPr txBox="1"/>
          <p:nvPr/>
        </p:nvSpPr>
        <p:spPr>
          <a:xfrm>
            <a:off x="11705760" y="6466680"/>
            <a:ext cx="231012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Hiragino Sans"/>
                <a:ea typeface="Hiragino Sans"/>
              </a:rPr>
              <a:t>39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0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0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03" name=""/>
          <p:cNvSpPr/>
          <p:nvPr/>
        </p:nvSpPr>
        <p:spPr>
          <a:xfrm>
            <a:off x="599760" y="3295440"/>
            <a:ext cx="4448520" cy="495720"/>
          </a:xfrm>
          <a:custGeom>
            <a:avLst/>
            <a:gdLst/>
            <a:ahLst/>
            <a:rect l="0" t="0" r="r" b="b"/>
            <a:pathLst>
              <a:path w="12357" h="1377">
                <a:moveTo>
                  <a:pt x="0" y="0"/>
                </a:moveTo>
                <a:lnTo>
                  <a:pt x="12357" y="0"/>
                </a:lnTo>
                <a:lnTo>
                  <a:pt x="12357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04" name=""/>
          <p:cNvSpPr/>
          <p:nvPr/>
        </p:nvSpPr>
        <p:spPr>
          <a:xfrm>
            <a:off x="5047920" y="3295440"/>
            <a:ext cx="6553800" cy="495720"/>
          </a:xfrm>
          <a:custGeom>
            <a:avLst/>
            <a:gdLst/>
            <a:ahLst/>
            <a:rect l="0" t="0" r="r" b="b"/>
            <a:pathLst>
              <a:path w="18205" h="1377">
                <a:moveTo>
                  <a:pt x="0" y="0"/>
                </a:moveTo>
                <a:lnTo>
                  <a:pt x="18205" y="0"/>
                </a:lnTo>
                <a:lnTo>
                  <a:pt x="18205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05" name=""/>
          <p:cNvSpPr/>
          <p:nvPr/>
        </p:nvSpPr>
        <p:spPr>
          <a:xfrm>
            <a:off x="599760" y="3295440"/>
            <a:ext cx="4448520" cy="495720"/>
          </a:xfrm>
          <a:custGeom>
            <a:avLst/>
            <a:gdLst/>
            <a:ahLst/>
            <a:rect l="0" t="0" r="r" b="b"/>
            <a:pathLst>
              <a:path w="12357" h="1377">
                <a:moveTo>
                  <a:pt x="0" y="0"/>
                </a:moveTo>
                <a:lnTo>
                  <a:pt x="12357" y="0"/>
                </a:lnTo>
                <a:lnTo>
                  <a:pt x="12357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06" name=""/>
          <p:cNvSpPr/>
          <p:nvPr/>
        </p:nvSpPr>
        <p:spPr>
          <a:xfrm>
            <a:off x="5047920" y="3295440"/>
            <a:ext cx="6553800" cy="495720"/>
          </a:xfrm>
          <a:custGeom>
            <a:avLst/>
            <a:gdLst/>
            <a:ahLst/>
            <a:rect l="0" t="0" r="r" b="b"/>
            <a:pathLst>
              <a:path w="18205" h="1377">
                <a:moveTo>
                  <a:pt x="0" y="0"/>
                </a:moveTo>
                <a:lnTo>
                  <a:pt x="18205" y="0"/>
                </a:lnTo>
                <a:lnTo>
                  <a:pt x="18205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07" name=""/>
          <p:cNvSpPr/>
          <p:nvPr/>
        </p:nvSpPr>
        <p:spPr>
          <a:xfrm>
            <a:off x="599760" y="3790800"/>
            <a:ext cx="4448520" cy="495720"/>
          </a:xfrm>
          <a:custGeom>
            <a:avLst/>
            <a:gdLst/>
            <a:ahLst/>
            <a:rect l="0" t="0" r="r" b="b"/>
            <a:pathLst>
              <a:path w="12357" h="1377">
                <a:moveTo>
                  <a:pt x="0" y="0"/>
                </a:moveTo>
                <a:lnTo>
                  <a:pt x="12357" y="0"/>
                </a:lnTo>
                <a:lnTo>
                  <a:pt x="12357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08" name=""/>
          <p:cNvSpPr/>
          <p:nvPr/>
        </p:nvSpPr>
        <p:spPr>
          <a:xfrm>
            <a:off x="5047920" y="3790800"/>
            <a:ext cx="6553800" cy="495720"/>
          </a:xfrm>
          <a:custGeom>
            <a:avLst/>
            <a:gdLst/>
            <a:ahLst/>
            <a:rect l="0" t="0" r="r" b="b"/>
            <a:pathLst>
              <a:path w="18205" h="1377">
                <a:moveTo>
                  <a:pt x="0" y="0"/>
                </a:moveTo>
                <a:lnTo>
                  <a:pt x="18205" y="0"/>
                </a:lnTo>
                <a:lnTo>
                  <a:pt x="18205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09" name=""/>
          <p:cNvSpPr/>
          <p:nvPr/>
        </p:nvSpPr>
        <p:spPr>
          <a:xfrm>
            <a:off x="599760" y="4286160"/>
            <a:ext cx="4448520" cy="495720"/>
          </a:xfrm>
          <a:custGeom>
            <a:avLst/>
            <a:gdLst/>
            <a:ahLst/>
            <a:rect l="0" t="0" r="r" b="b"/>
            <a:pathLst>
              <a:path w="12357" h="1377">
                <a:moveTo>
                  <a:pt x="0" y="0"/>
                </a:moveTo>
                <a:lnTo>
                  <a:pt x="12357" y="0"/>
                </a:lnTo>
                <a:lnTo>
                  <a:pt x="12357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10" name=""/>
          <p:cNvSpPr/>
          <p:nvPr/>
        </p:nvSpPr>
        <p:spPr>
          <a:xfrm>
            <a:off x="5047920" y="4286160"/>
            <a:ext cx="6553800" cy="495720"/>
          </a:xfrm>
          <a:custGeom>
            <a:avLst/>
            <a:gdLst/>
            <a:ahLst/>
            <a:rect l="0" t="0" r="r" b="b"/>
            <a:pathLst>
              <a:path w="18205" h="1377">
                <a:moveTo>
                  <a:pt x="0" y="0"/>
                </a:moveTo>
                <a:lnTo>
                  <a:pt x="18205" y="0"/>
                </a:lnTo>
                <a:lnTo>
                  <a:pt x="18205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11" name=""/>
          <p:cNvSpPr/>
          <p:nvPr/>
        </p:nvSpPr>
        <p:spPr>
          <a:xfrm>
            <a:off x="599760" y="4781520"/>
            <a:ext cx="4448520" cy="495360"/>
          </a:xfrm>
          <a:custGeom>
            <a:avLst/>
            <a:gdLst/>
            <a:ahLst/>
            <a:rect l="0" t="0" r="r" b="b"/>
            <a:pathLst>
              <a:path w="12357" h="1376">
                <a:moveTo>
                  <a:pt x="0" y="0"/>
                </a:moveTo>
                <a:lnTo>
                  <a:pt x="12357" y="0"/>
                </a:lnTo>
                <a:lnTo>
                  <a:pt x="12357" y="1376"/>
                </a:lnTo>
                <a:lnTo>
                  <a:pt x="0" y="137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12" name=""/>
          <p:cNvSpPr/>
          <p:nvPr/>
        </p:nvSpPr>
        <p:spPr>
          <a:xfrm>
            <a:off x="5047920" y="4781520"/>
            <a:ext cx="6553800" cy="495360"/>
          </a:xfrm>
          <a:custGeom>
            <a:avLst/>
            <a:gdLst/>
            <a:ahLst/>
            <a:rect l="0" t="0" r="r" b="b"/>
            <a:pathLst>
              <a:path w="18205" h="1376">
                <a:moveTo>
                  <a:pt x="0" y="0"/>
                </a:moveTo>
                <a:lnTo>
                  <a:pt x="18205" y="0"/>
                </a:lnTo>
                <a:lnTo>
                  <a:pt x="18205" y="1376"/>
                </a:lnTo>
                <a:lnTo>
                  <a:pt x="0" y="137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13" name=""/>
          <p:cNvSpPr/>
          <p:nvPr/>
        </p:nvSpPr>
        <p:spPr>
          <a:xfrm>
            <a:off x="590400" y="3286080"/>
            <a:ext cx="9720" cy="505080"/>
          </a:xfrm>
          <a:custGeom>
            <a:avLst/>
            <a:gdLst/>
            <a:ahLst/>
            <a:rect l="0" t="0" r="r" b="b"/>
            <a:pathLst>
              <a:path w="27" h="1403">
                <a:moveTo>
                  <a:pt x="0" y="0"/>
                </a:moveTo>
                <a:lnTo>
                  <a:pt x="27" y="0"/>
                </a:lnTo>
                <a:lnTo>
                  <a:pt x="27" y="1403"/>
                </a:lnTo>
                <a:lnTo>
                  <a:pt x="0" y="140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14" name=""/>
          <p:cNvSpPr/>
          <p:nvPr/>
        </p:nvSpPr>
        <p:spPr>
          <a:xfrm>
            <a:off x="590400" y="3286080"/>
            <a:ext cx="4467600" cy="9720"/>
          </a:xfrm>
          <a:custGeom>
            <a:avLst/>
            <a:gdLst/>
            <a:ahLst/>
            <a:rect l="0" t="0" r="r" b="b"/>
            <a:pathLst>
              <a:path w="12410" h="27">
                <a:moveTo>
                  <a:pt x="0" y="0"/>
                </a:moveTo>
                <a:lnTo>
                  <a:pt x="12410" y="0"/>
                </a:lnTo>
                <a:lnTo>
                  <a:pt x="1241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15" name=""/>
          <p:cNvSpPr/>
          <p:nvPr/>
        </p:nvSpPr>
        <p:spPr>
          <a:xfrm>
            <a:off x="5047920" y="3286080"/>
            <a:ext cx="10080" cy="505080"/>
          </a:xfrm>
          <a:custGeom>
            <a:avLst/>
            <a:gdLst/>
            <a:ahLst/>
            <a:rect l="0" t="0" r="r" b="b"/>
            <a:pathLst>
              <a:path w="28" h="1403">
                <a:moveTo>
                  <a:pt x="0" y="0"/>
                </a:moveTo>
                <a:lnTo>
                  <a:pt x="28" y="0"/>
                </a:lnTo>
                <a:lnTo>
                  <a:pt x="28" y="1403"/>
                </a:lnTo>
                <a:lnTo>
                  <a:pt x="0" y="140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16" name=""/>
          <p:cNvSpPr/>
          <p:nvPr/>
        </p:nvSpPr>
        <p:spPr>
          <a:xfrm>
            <a:off x="5057640" y="3286080"/>
            <a:ext cx="6544080" cy="9720"/>
          </a:xfrm>
          <a:custGeom>
            <a:avLst/>
            <a:gdLst/>
            <a:ahLst/>
            <a:rect l="0" t="0" r="r" b="b"/>
            <a:pathLst>
              <a:path w="18178" h="27">
                <a:moveTo>
                  <a:pt x="0" y="0"/>
                </a:moveTo>
                <a:lnTo>
                  <a:pt x="18178" y="0"/>
                </a:lnTo>
                <a:lnTo>
                  <a:pt x="1817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17" name=""/>
          <p:cNvSpPr/>
          <p:nvPr/>
        </p:nvSpPr>
        <p:spPr>
          <a:xfrm>
            <a:off x="11591640" y="3286080"/>
            <a:ext cx="10080" cy="505080"/>
          </a:xfrm>
          <a:custGeom>
            <a:avLst/>
            <a:gdLst/>
            <a:ahLst/>
            <a:rect l="0" t="0" r="r" b="b"/>
            <a:pathLst>
              <a:path w="28" h="1403">
                <a:moveTo>
                  <a:pt x="0" y="0"/>
                </a:moveTo>
                <a:lnTo>
                  <a:pt x="28" y="0"/>
                </a:lnTo>
                <a:lnTo>
                  <a:pt x="28" y="1403"/>
                </a:lnTo>
                <a:lnTo>
                  <a:pt x="0" y="140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18" name=""/>
          <p:cNvSpPr/>
          <p:nvPr/>
        </p:nvSpPr>
        <p:spPr>
          <a:xfrm>
            <a:off x="590400" y="3781080"/>
            <a:ext cx="4467600" cy="10080"/>
          </a:xfrm>
          <a:custGeom>
            <a:avLst/>
            <a:gdLst/>
            <a:ahLst/>
            <a:rect l="0" t="0" r="r" b="b"/>
            <a:pathLst>
              <a:path w="12410" h="28">
                <a:moveTo>
                  <a:pt x="0" y="0"/>
                </a:moveTo>
                <a:lnTo>
                  <a:pt x="12410" y="0"/>
                </a:lnTo>
                <a:lnTo>
                  <a:pt x="1241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19" name=""/>
          <p:cNvSpPr/>
          <p:nvPr/>
        </p:nvSpPr>
        <p:spPr>
          <a:xfrm>
            <a:off x="5057640" y="3781080"/>
            <a:ext cx="6544080" cy="10080"/>
          </a:xfrm>
          <a:custGeom>
            <a:avLst/>
            <a:gdLst/>
            <a:ahLst/>
            <a:rect l="0" t="0" r="r" b="b"/>
            <a:pathLst>
              <a:path w="18178" h="28">
                <a:moveTo>
                  <a:pt x="0" y="0"/>
                </a:moveTo>
                <a:lnTo>
                  <a:pt x="18178" y="0"/>
                </a:lnTo>
                <a:lnTo>
                  <a:pt x="1817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20" name=""/>
          <p:cNvSpPr/>
          <p:nvPr/>
        </p:nvSpPr>
        <p:spPr>
          <a:xfrm>
            <a:off x="590400" y="3790800"/>
            <a:ext cx="9720" cy="495720"/>
          </a:xfrm>
          <a:custGeom>
            <a:avLst/>
            <a:gdLst/>
            <a:ahLst/>
            <a:rect l="0" t="0" r="r" b="b"/>
            <a:pathLst>
              <a:path w="27" h="1377">
                <a:moveTo>
                  <a:pt x="0" y="0"/>
                </a:moveTo>
                <a:lnTo>
                  <a:pt x="27" y="0"/>
                </a:lnTo>
                <a:lnTo>
                  <a:pt x="27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21" name=""/>
          <p:cNvSpPr/>
          <p:nvPr/>
        </p:nvSpPr>
        <p:spPr>
          <a:xfrm>
            <a:off x="5047920" y="3790800"/>
            <a:ext cx="10080" cy="495720"/>
          </a:xfrm>
          <a:custGeom>
            <a:avLst/>
            <a:gdLst/>
            <a:ahLst/>
            <a:rect l="0" t="0" r="r" b="b"/>
            <a:pathLst>
              <a:path w="28" h="1377">
                <a:moveTo>
                  <a:pt x="0" y="0"/>
                </a:moveTo>
                <a:lnTo>
                  <a:pt x="28" y="0"/>
                </a:lnTo>
                <a:lnTo>
                  <a:pt x="28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22" name=""/>
          <p:cNvSpPr/>
          <p:nvPr/>
        </p:nvSpPr>
        <p:spPr>
          <a:xfrm>
            <a:off x="11591640" y="3790800"/>
            <a:ext cx="10080" cy="495720"/>
          </a:xfrm>
          <a:custGeom>
            <a:avLst/>
            <a:gdLst/>
            <a:ahLst/>
            <a:rect l="0" t="0" r="r" b="b"/>
            <a:pathLst>
              <a:path w="28" h="1377">
                <a:moveTo>
                  <a:pt x="0" y="0"/>
                </a:moveTo>
                <a:lnTo>
                  <a:pt x="28" y="0"/>
                </a:lnTo>
                <a:lnTo>
                  <a:pt x="28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23" name=""/>
          <p:cNvSpPr/>
          <p:nvPr/>
        </p:nvSpPr>
        <p:spPr>
          <a:xfrm>
            <a:off x="590400" y="4286160"/>
            <a:ext cx="9720" cy="495720"/>
          </a:xfrm>
          <a:custGeom>
            <a:avLst/>
            <a:gdLst/>
            <a:ahLst/>
            <a:rect l="0" t="0" r="r" b="b"/>
            <a:pathLst>
              <a:path w="27" h="1377">
                <a:moveTo>
                  <a:pt x="0" y="0"/>
                </a:moveTo>
                <a:lnTo>
                  <a:pt x="27" y="0"/>
                </a:lnTo>
                <a:lnTo>
                  <a:pt x="27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24" name=""/>
          <p:cNvSpPr/>
          <p:nvPr/>
        </p:nvSpPr>
        <p:spPr>
          <a:xfrm>
            <a:off x="590400" y="4276440"/>
            <a:ext cx="4467600" cy="10080"/>
          </a:xfrm>
          <a:custGeom>
            <a:avLst/>
            <a:gdLst/>
            <a:ahLst/>
            <a:rect l="0" t="0" r="r" b="b"/>
            <a:pathLst>
              <a:path w="12410" h="28">
                <a:moveTo>
                  <a:pt x="0" y="0"/>
                </a:moveTo>
                <a:lnTo>
                  <a:pt x="12410" y="0"/>
                </a:lnTo>
                <a:lnTo>
                  <a:pt x="1241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25" name=""/>
          <p:cNvSpPr/>
          <p:nvPr/>
        </p:nvSpPr>
        <p:spPr>
          <a:xfrm>
            <a:off x="5047920" y="4286160"/>
            <a:ext cx="10080" cy="495720"/>
          </a:xfrm>
          <a:custGeom>
            <a:avLst/>
            <a:gdLst/>
            <a:ahLst/>
            <a:rect l="0" t="0" r="r" b="b"/>
            <a:pathLst>
              <a:path w="28" h="1377">
                <a:moveTo>
                  <a:pt x="0" y="0"/>
                </a:moveTo>
                <a:lnTo>
                  <a:pt x="28" y="0"/>
                </a:lnTo>
                <a:lnTo>
                  <a:pt x="28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26" name=""/>
          <p:cNvSpPr/>
          <p:nvPr/>
        </p:nvSpPr>
        <p:spPr>
          <a:xfrm>
            <a:off x="5057640" y="4276440"/>
            <a:ext cx="6544080" cy="10080"/>
          </a:xfrm>
          <a:custGeom>
            <a:avLst/>
            <a:gdLst/>
            <a:ahLst/>
            <a:rect l="0" t="0" r="r" b="b"/>
            <a:pathLst>
              <a:path w="18178" h="28">
                <a:moveTo>
                  <a:pt x="0" y="0"/>
                </a:moveTo>
                <a:lnTo>
                  <a:pt x="18178" y="0"/>
                </a:lnTo>
                <a:lnTo>
                  <a:pt x="1817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27" name=""/>
          <p:cNvSpPr/>
          <p:nvPr/>
        </p:nvSpPr>
        <p:spPr>
          <a:xfrm>
            <a:off x="11591640" y="4286160"/>
            <a:ext cx="10080" cy="495720"/>
          </a:xfrm>
          <a:custGeom>
            <a:avLst/>
            <a:gdLst/>
            <a:ahLst/>
            <a:rect l="0" t="0" r="r" b="b"/>
            <a:pathLst>
              <a:path w="28" h="1377">
                <a:moveTo>
                  <a:pt x="0" y="0"/>
                </a:moveTo>
                <a:lnTo>
                  <a:pt x="28" y="0"/>
                </a:lnTo>
                <a:lnTo>
                  <a:pt x="28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28" name=""/>
          <p:cNvSpPr/>
          <p:nvPr/>
        </p:nvSpPr>
        <p:spPr>
          <a:xfrm>
            <a:off x="590400" y="4781520"/>
            <a:ext cx="9720" cy="495360"/>
          </a:xfrm>
          <a:custGeom>
            <a:avLst/>
            <a:gdLst/>
            <a:ahLst/>
            <a:rect l="0" t="0" r="r" b="b"/>
            <a:pathLst>
              <a:path w="27" h="1376">
                <a:moveTo>
                  <a:pt x="0" y="0"/>
                </a:moveTo>
                <a:lnTo>
                  <a:pt x="27" y="0"/>
                </a:lnTo>
                <a:lnTo>
                  <a:pt x="27" y="1376"/>
                </a:lnTo>
                <a:lnTo>
                  <a:pt x="0" y="137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29" name=""/>
          <p:cNvSpPr/>
          <p:nvPr/>
        </p:nvSpPr>
        <p:spPr>
          <a:xfrm>
            <a:off x="590400" y="4771800"/>
            <a:ext cx="4467600" cy="10080"/>
          </a:xfrm>
          <a:custGeom>
            <a:avLst/>
            <a:gdLst/>
            <a:ahLst/>
            <a:rect l="0" t="0" r="r" b="b"/>
            <a:pathLst>
              <a:path w="12410" h="28">
                <a:moveTo>
                  <a:pt x="0" y="0"/>
                </a:moveTo>
                <a:lnTo>
                  <a:pt x="12410" y="0"/>
                </a:lnTo>
                <a:lnTo>
                  <a:pt x="1241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30" name=""/>
          <p:cNvSpPr/>
          <p:nvPr/>
        </p:nvSpPr>
        <p:spPr>
          <a:xfrm>
            <a:off x="5047920" y="4781520"/>
            <a:ext cx="10080" cy="495360"/>
          </a:xfrm>
          <a:custGeom>
            <a:avLst/>
            <a:gdLst/>
            <a:ahLst/>
            <a:rect l="0" t="0" r="r" b="b"/>
            <a:pathLst>
              <a:path w="28" h="1376">
                <a:moveTo>
                  <a:pt x="0" y="0"/>
                </a:moveTo>
                <a:lnTo>
                  <a:pt x="28" y="0"/>
                </a:lnTo>
                <a:lnTo>
                  <a:pt x="28" y="1376"/>
                </a:lnTo>
                <a:lnTo>
                  <a:pt x="0" y="137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31" name=""/>
          <p:cNvSpPr/>
          <p:nvPr/>
        </p:nvSpPr>
        <p:spPr>
          <a:xfrm>
            <a:off x="5057640" y="4771800"/>
            <a:ext cx="6544080" cy="10080"/>
          </a:xfrm>
          <a:custGeom>
            <a:avLst/>
            <a:gdLst/>
            <a:ahLst/>
            <a:rect l="0" t="0" r="r" b="b"/>
            <a:pathLst>
              <a:path w="18178" h="28">
                <a:moveTo>
                  <a:pt x="0" y="0"/>
                </a:moveTo>
                <a:lnTo>
                  <a:pt x="18178" y="0"/>
                </a:lnTo>
                <a:lnTo>
                  <a:pt x="1817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32" name=""/>
          <p:cNvSpPr/>
          <p:nvPr/>
        </p:nvSpPr>
        <p:spPr>
          <a:xfrm>
            <a:off x="11591640" y="4781520"/>
            <a:ext cx="10080" cy="495360"/>
          </a:xfrm>
          <a:custGeom>
            <a:avLst/>
            <a:gdLst/>
            <a:ahLst/>
            <a:rect l="0" t="0" r="r" b="b"/>
            <a:pathLst>
              <a:path w="28" h="1376">
                <a:moveTo>
                  <a:pt x="0" y="0"/>
                </a:moveTo>
                <a:lnTo>
                  <a:pt x="28" y="0"/>
                </a:lnTo>
                <a:lnTo>
                  <a:pt x="28" y="1376"/>
                </a:lnTo>
                <a:lnTo>
                  <a:pt x="0" y="137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33" name=""/>
          <p:cNvSpPr/>
          <p:nvPr/>
        </p:nvSpPr>
        <p:spPr>
          <a:xfrm>
            <a:off x="590400" y="5267160"/>
            <a:ext cx="4467600" cy="9720"/>
          </a:xfrm>
          <a:custGeom>
            <a:avLst/>
            <a:gdLst/>
            <a:ahLst/>
            <a:rect l="0" t="0" r="r" b="b"/>
            <a:pathLst>
              <a:path w="12410" h="27">
                <a:moveTo>
                  <a:pt x="0" y="0"/>
                </a:moveTo>
                <a:lnTo>
                  <a:pt x="12410" y="0"/>
                </a:lnTo>
                <a:lnTo>
                  <a:pt x="1241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34" name=""/>
          <p:cNvSpPr/>
          <p:nvPr/>
        </p:nvSpPr>
        <p:spPr>
          <a:xfrm>
            <a:off x="5057640" y="5267160"/>
            <a:ext cx="6544080" cy="9720"/>
          </a:xfrm>
          <a:custGeom>
            <a:avLst/>
            <a:gdLst/>
            <a:ahLst/>
            <a:rect l="0" t="0" r="r" b="b"/>
            <a:pathLst>
              <a:path w="18178" h="27">
                <a:moveTo>
                  <a:pt x="0" y="0"/>
                </a:moveTo>
                <a:lnTo>
                  <a:pt x="18178" y="0"/>
                </a:lnTo>
                <a:lnTo>
                  <a:pt x="1817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35" name=""/>
          <p:cNvSpPr txBox="1"/>
          <p:nvPr/>
        </p:nvSpPr>
        <p:spPr>
          <a:xfrm>
            <a:off x="590400" y="1091160"/>
            <a:ext cx="6646770" cy="36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8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組み合わせ汎化ベンチマークの前提</a:t>
            </a:r>
            <a:endParaRPr lang="en-US" sz="28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36" name=""/>
          <p:cNvSpPr txBox="1"/>
          <p:nvPr/>
        </p:nvSpPr>
        <p:spPr>
          <a:xfrm>
            <a:off x="590400" y="1914480"/>
            <a:ext cx="7562952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7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各操作を表す日本語表現は、</a:t>
            </a:r>
            <a:r>
              <a:rPr lang="en-US" sz="187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Boku</a:t>
            </a:r>
            <a:r>
              <a:rPr lang="ja-JP" sz="187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の訓練データに登場する。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37" name=""/>
          <p:cNvSpPr txBox="1"/>
          <p:nvPr/>
        </p:nvSpPr>
        <p:spPr>
          <a:xfrm>
            <a:off x="590400" y="2266920"/>
            <a:ext cx="7109208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7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ただし、完成した指示文は訓練データと完全一致しない。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38" name=""/>
          <p:cNvSpPr txBox="1"/>
          <p:nvPr/>
        </p:nvSpPr>
        <p:spPr>
          <a:xfrm>
            <a:off x="590400" y="2800440"/>
            <a:ext cx="7878420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評価</a:t>
            </a:r>
            <a:r>
              <a:rPr lang="en-US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872</a:t>
            </a:r>
            <a:r>
              <a:rPr lang="ja-JP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問と訓練</a:t>
            </a:r>
            <a:r>
              <a:rPr lang="en-US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192,900</a:t>
            </a:r>
            <a:r>
              <a:rPr lang="ja-JP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件を照合し、指示全文の一致は</a:t>
            </a:r>
            <a:r>
              <a:rPr lang="en-US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0</a:t>
            </a:r>
            <a:r>
              <a:rPr lang="ja-JP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件。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39" name=""/>
          <p:cNvSpPr txBox="1"/>
          <p:nvPr/>
        </p:nvSpPr>
        <p:spPr>
          <a:xfrm>
            <a:off x="714240" y="3425400"/>
            <a:ext cx="481068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6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課題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40" name=""/>
          <p:cNvSpPr txBox="1"/>
          <p:nvPr/>
        </p:nvSpPr>
        <p:spPr>
          <a:xfrm>
            <a:off x="5170320" y="3425400"/>
            <a:ext cx="2882268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6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訓練と評価で何が変わるか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41" name=""/>
          <p:cNvSpPr txBox="1"/>
          <p:nvPr/>
        </p:nvSpPr>
        <p:spPr>
          <a:xfrm>
            <a:off x="714240" y="3920760"/>
            <a:ext cx="4000482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複数操作で学んだ表現を</a:t>
            </a:r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</a:t>
            </a:r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操作で使う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42" name=""/>
          <p:cNvSpPr txBox="1"/>
          <p:nvPr/>
        </p:nvSpPr>
        <p:spPr>
          <a:xfrm>
            <a:off x="5170320" y="3920760"/>
            <a:ext cx="6003414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複数操作の指示でだけ使った言い方を、単独操作に使う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43" name=""/>
          <p:cNvSpPr txBox="1"/>
          <p:nvPr/>
        </p:nvSpPr>
        <p:spPr>
          <a:xfrm>
            <a:off x="714240" y="4416120"/>
            <a:ext cx="2799882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初めて組み合わせる</a:t>
            </a:r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2</a:t>
            </a:r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操作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44" name=""/>
          <p:cNvSpPr txBox="1"/>
          <p:nvPr/>
        </p:nvSpPr>
        <p:spPr>
          <a:xfrm>
            <a:off x="5170320" y="4416120"/>
            <a:ext cx="5681322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訓練では同じ指示に登場しない</a:t>
            </a:r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2</a:t>
            </a:r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操作を組み合わせる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45" name=""/>
          <p:cNvSpPr txBox="1"/>
          <p:nvPr/>
        </p:nvSpPr>
        <p:spPr>
          <a:xfrm>
            <a:off x="714240" y="4911480"/>
            <a:ext cx="3677976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3</a:t>
            </a:r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操作で学んだ順序を</a:t>
            </a:r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2</a:t>
            </a:r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操作で使う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46" name=""/>
          <p:cNvSpPr txBox="1"/>
          <p:nvPr/>
        </p:nvSpPr>
        <p:spPr>
          <a:xfrm>
            <a:off x="5170320" y="4911480"/>
            <a:ext cx="5839056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3</a:t>
            </a:r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操作中の既知の順序を、未学習の</a:t>
            </a:r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2</a:t>
            </a:r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操作列として使う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47" name=""/>
          <p:cNvSpPr txBox="1"/>
          <p:nvPr/>
        </p:nvSpPr>
        <p:spPr>
          <a:xfrm>
            <a:off x="590400" y="5524560"/>
            <a:ext cx="10663398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未知の日本語表現への強さとは分けて、</a:t>
            </a:r>
            <a:r>
              <a:rPr lang="ja-JP" sz="187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既知の表現を異なる構成で使う能力</a:t>
            </a:r>
            <a:r>
              <a:rPr lang="ja-JP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を調べる。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48" name=""/>
          <p:cNvSpPr txBox="1"/>
          <p:nvPr/>
        </p:nvSpPr>
        <p:spPr>
          <a:xfrm>
            <a:off x="285840" y="239760"/>
            <a:ext cx="2204964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350" b="0" u="none" strike="noStrike">
                <a:solidFill>
                  <a:srgbClr val="666666"/>
                </a:solidFill>
                <a:effectLst/>
                <a:uFillTx/>
                <a:latin typeface="Hiragino Sans"/>
                <a:ea typeface="Hiragino Sans"/>
              </a:rPr>
              <a:t>6. </a:t>
            </a:r>
            <a:r>
              <a:rPr lang="ja-JP" sz="1350" b="0" u="none" strike="noStrike">
                <a:solidFill>
                  <a:srgbClr val="666666"/>
                </a:solidFill>
                <a:effectLst/>
                <a:uFillTx/>
                <a:latin typeface="Hiragino Sans"/>
                <a:ea typeface="Hiragino Sans"/>
              </a:rPr>
              <a:t>組み合わせ汎化を測る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49" name=""/>
          <p:cNvSpPr txBox="1"/>
          <p:nvPr/>
        </p:nvSpPr>
        <p:spPr>
          <a:xfrm>
            <a:off x="11705400" y="6466680"/>
            <a:ext cx="2318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Hiragino Sans"/>
                <a:ea typeface="Hiragino Sans"/>
              </a:rPr>
              <a:t>40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5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5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53" name=""/>
          <p:cNvSpPr/>
          <p:nvPr/>
        </p:nvSpPr>
        <p:spPr>
          <a:xfrm>
            <a:off x="599760" y="1457280"/>
            <a:ext cx="1200960" cy="428760"/>
          </a:xfrm>
          <a:custGeom>
            <a:avLst/>
            <a:gdLst/>
            <a:ahLst/>
            <a:rect l="0" t="0" r="r" b="b"/>
            <a:pathLst>
              <a:path w="3336" h="1191">
                <a:moveTo>
                  <a:pt x="0" y="0"/>
                </a:moveTo>
                <a:lnTo>
                  <a:pt x="3336" y="0"/>
                </a:lnTo>
                <a:lnTo>
                  <a:pt x="3336" y="1191"/>
                </a:lnTo>
                <a:lnTo>
                  <a:pt x="0" y="119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54" name=""/>
          <p:cNvSpPr/>
          <p:nvPr/>
        </p:nvSpPr>
        <p:spPr>
          <a:xfrm>
            <a:off x="1800000" y="1457280"/>
            <a:ext cx="5172480" cy="428760"/>
          </a:xfrm>
          <a:custGeom>
            <a:avLst/>
            <a:gdLst/>
            <a:ahLst/>
            <a:rect l="0" t="0" r="r" b="b"/>
            <a:pathLst>
              <a:path w="14368" h="1191">
                <a:moveTo>
                  <a:pt x="0" y="0"/>
                </a:moveTo>
                <a:lnTo>
                  <a:pt x="14368" y="0"/>
                </a:lnTo>
                <a:lnTo>
                  <a:pt x="14368" y="1191"/>
                </a:lnTo>
                <a:lnTo>
                  <a:pt x="0" y="119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55" name=""/>
          <p:cNvSpPr/>
          <p:nvPr/>
        </p:nvSpPr>
        <p:spPr>
          <a:xfrm>
            <a:off x="6972120" y="1457280"/>
            <a:ext cx="914760" cy="428760"/>
          </a:xfrm>
          <a:custGeom>
            <a:avLst/>
            <a:gdLst/>
            <a:ahLst/>
            <a:rect l="0" t="0" r="r" b="b"/>
            <a:pathLst>
              <a:path w="2541" h="1191">
                <a:moveTo>
                  <a:pt x="0" y="0"/>
                </a:moveTo>
                <a:lnTo>
                  <a:pt x="2541" y="0"/>
                </a:lnTo>
                <a:lnTo>
                  <a:pt x="2541" y="1191"/>
                </a:lnTo>
                <a:lnTo>
                  <a:pt x="0" y="119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56" name=""/>
          <p:cNvSpPr/>
          <p:nvPr/>
        </p:nvSpPr>
        <p:spPr>
          <a:xfrm>
            <a:off x="7886520" y="1457280"/>
            <a:ext cx="3715200" cy="428760"/>
          </a:xfrm>
          <a:custGeom>
            <a:avLst/>
            <a:gdLst/>
            <a:ahLst/>
            <a:rect l="0" t="0" r="r" b="b"/>
            <a:pathLst>
              <a:path w="10320" h="1191">
                <a:moveTo>
                  <a:pt x="0" y="0"/>
                </a:moveTo>
                <a:lnTo>
                  <a:pt x="10320" y="0"/>
                </a:lnTo>
                <a:lnTo>
                  <a:pt x="10320" y="1191"/>
                </a:lnTo>
                <a:lnTo>
                  <a:pt x="0" y="119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57" name=""/>
          <p:cNvSpPr/>
          <p:nvPr/>
        </p:nvSpPr>
        <p:spPr>
          <a:xfrm>
            <a:off x="599760" y="1457280"/>
            <a:ext cx="1200960" cy="428760"/>
          </a:xfrm>
          <a:custGeom>
            <a:avLst/>
            <a:gdLst/>
            <a:ahLst/>
            <a:rect l="0" t="0" r="r" b="b"/>
            <a:pathLst>
              <a:path w="3336" h="1191">
                <a:moveTo>
                  <a:pt x="0" y="0"/>
                </a:moveTo>
                <a:lnTo>
                  <a:pt x="3336" y="0"/>
                </a:lnTo>
                <a:lnTo>
                  <a:pt x="3336" y="1191"/>
                </a:lnTo>
                <a:lnTo>
                  <a:pt x="0" y="1191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58" name=""/>
          <p:cNvSpPr/>
          <p:nvPr/>
        </p:nvSpPr>
        <p:spPr>
          <a:xfrm>
            <a:off x="1800000" y="1457280"/>
            <a:ext cx="5172480" cy="428760"/>
          </a:xfrm>
          <a:custGeom>
            <a:avLst/>
            <a:gdLst/>
            <a:ahLst/>
            <a:rect l="0" t="0" r="r" b="b"/>
            <a:pathLst>
              <a:path w="14368" h="1191">
                <a:moveTo>
                  <a:pt x="0" y="0"/>
                </a:moveTo>
                <a:lnTo>
                  <a:pt x="14368" y="0"/>
                </a:lnTo>
                <a:lnTo>
                  <a:pt x="14368" y="1191"/>
                </a:lnTo>
                <a:lnTo>
                  <a:pt x="0" y="1191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59" name=""/>
          <p:cNvSpPr/>
          <p:nvPr/>
        </p:nvSpPr>
        <p:spPr>
          <a:xfrm>
            <a:off x="6972120" y="1457280"/>
            <a:ext cx="914760" cy="428760"/>
          </a:xfrm>
          <a:custGeom>
            <a:avLst/>
            <a:gdLst/>
            <a:ahLst/>
            <a:rect l="0" t="0" r="r" b="b"/>
            <a:pathLst>
              <a:path w="2541" h="1191">
                <a:moveTo>
                  <a:pt x="0" y="0"/>
                </a:moveTo>
                <a:lnTo>
                  <a:pt x="2541" y="0"/>
                </a:lnTo>
                <a:lnTo>
                  <a:pt x="2541" y="1191"/>
                </a:lnTo>
                <a:lnTo>
                  <a:pt x="0" y="1191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60" name=""/>
          <p:cNvSpPr/>
          <p:nvPr/>
        </p:nvSpPr>
        <p:spPr>
          <a:xfrm>
            <a:off x="7886520" y="1457280"/>
            <a:ext cx="3715200" cy="428760"/>
          </a:xfrm>
          <a:custGeom>
            <a:avLst/>
            <a:gdLst/>
            <a:ahLst/>
            <a:rect l="0" t="0" r="r" b="b"/>
            <a:pathLst>
              <a:path w="10320" h="1191">
                <a:moveTo>
                  <a:pt x="0" y="0"/>
                </a:moveTo>
                <a:lnTo>
                  <a:pt x="10320" y="0"/>
                </a:lnTo>
                <a:lnTo>
                  <a:pt x="10320" y="1191"/>
                </a:lnTo>
                <a:lnTo>
                  <a:pt x="0" y="1191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61" name=""/>
          <p:cNvSpPr/>
          <p:nvPr/>
        </p:nvSpPr>
        <p:spPr>
          <a:xfrm>
            <a:off x="599760" y="1885680"/>
            <a:ext cx="1200960" cy="429120"/>
          </a:xfrm>
          <a:custGeom>
            <a:avLst/>
            <a:gdLst/>
            <a:ahLst/>
            <a:rect l="0" t="0" r="r" b="b"/>
            <a:pathLst>
              <a:path w="3336" h="1192">
                <a:moveTo>
                  <a:pt x="0" y="0"/>
                </a:moveTo>
                <a:lnTo>
                  <a:pt x="3336" y="0"/>
                </a:lnTo>
                <a:lnTo>
                  <a:pt x="3336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62" name=""/>
          <p:cNvSpPr/>
          <p:nvPr/>
        </p:nvSpPr>
        <p:spPr>
          <a:xfrm>
            <a:off x="1800000" y="1885680"/>
            <a:ext cx="5172480" cy="429120"/>
          </a:xfrm>
          <a:custGeom>
            <a:avLst/>
            <a:gdLst/>
            <a:ahLst/>
            <a:rect l="0" t="0" r="r" b="b"/>
            <a:pathLst>
              <a:path w="14368" h="1192">
                <a:moveTo>
                  <a:pt x="0" y="0"/>
                </a:moveTo>
                <a:lnTo>
                  <a:pt x="14368" y="0"/>
                </a:lnTo>
                <a:lnTo>
                  <a:pt x="14368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63" name=""/>
          <p:cNvSpPr/>
          <p:nvPr/>
        </p:nvSpPr>
        <p:spPr>
          <a:xfrm>
            <a:off x="6972120" y="1885680"/>
            <a:ext cx="914760" cy="429120"/>
          </a:xfrm>
          <a:custGeom>
            <a:avLst/>
            <a:gdLst/>
            <a:ahLst/>
            <a:rect l="0" t="0" r="r" b="b"/>
            <a:pathLst>
              <a:path w="2541" h="1192">
                <a:moveTo>
                  <a:pt x="0" y="0"/>
                </a:moveTo>
                <a:lnTo>
                  <a:pt x="2541" y="0"/>
                </a:lnTo>
                <a:lnTo>
                  <a:pt x="2541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64" name=""/>
          <p:cNvSpPr/>
          <p:nvPr/>
        </p:nvSpPr>
        <p:spPr>
          <a:xfrm>
            <a:off x="7886520" y="1885680"/>
            <a:ext cx="3715200" cy="429120"/>
          </a:xfrm>
          <a:custGeom>
            <a:avLst/>
            <a:gdLst/>
            <a:ahLst/>
            <a:rect l="0" t="0" r="r" b="b"/>
            <a:pathLst>
              <a:path w="10320" h="1192">
                <a:moveTo>
                  <a:pt x="0" y="0"/>
                </a:moveTo>
                <a:lnTo>
                  <a:pt x="10320" y="0"/>
                </a:lnTo>
                <a:lnTo>
                  <a:pt x="10320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65" name=""/>
          <p:cNvSpPr/>
          <p:nvPr/>
        </p:nvSpPr>
        <p:spPr>
          <a:xfrm>
            <a:off x="599760" y="2314440"/>
            <a:ext cx="1200960" cy="428760"/>
          </a:xfrm>
          <a:custGeom>
            <a:avLst/>
            <a:gdLst/>
            <a:ahLst/>
            <a:rect l="0" t="0" r="r" b="b"/>
            <a:pathLst>
              <a:path w="3336" h="1191">
                <a:moveTo>
                  <a:pt x="0" y="0"/>
                </a:moveTo>
                <a:lnTo>
                  <a:pt x="3336" y="0"/>
                </a:lnTo>
                <a:lnTo>
                  <a:pt x="3336" y="1191"/>
                </a:lnTo>
                <a:lnTo>
                  <a:pt x="0" y="1191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66" name=""/>
          <p:cNvSpPr/>
          <p:nvPr/>
        </p:nvSpPr>
        <p:spPr>
          <a:xfrm>
            <a:off x="1800000" y="2314440"/>
            <a:ext cx="5172480" cy="428760"/>
          </a:xfrm>
          <a:custGeom>
            <a:avLst/>
            <a:gdLst/>
            <a:ahLst/>
            <a:rect l="0" t="0" r="r" b="b"/>
            <a:pathLst>
              <a:path w="14368" h="1191">
                <a:moveTo>
                  <a:pt x="0" y="0"/>
                </a:moveTo>
                <a:lnTo>
                  <a:pt x="14368" y="0"/>
                </a:lnTo>
                <a:lnTo>
                  <a:pt x="14368" y="1191"/>
                </a:lnTo>
                <a:lnTo>
                  <a:pt x="0" y="1191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67" name=""/>
          <p:cNvSpPr/>
          <p:nvPr/>
        </p:nvSpPr>
        <p:spPr>
          <a:xfrm>
            <a:off x="6972120" y="2314440"/>
            <a:ext cx="914760" cy="428760"/>
          </a:xfrm>
          <a:custGeom>
            <a:avLst/>
            <a:gdLst/>
            <a:ahLst/>
            <a:rect l="0" t="0" r="r" b="b"/>
            <a:pathLst>
              <a:path w="2541" h="1191">
                <a:moveTo>
                  <a:pt x="0" y="0"/>
                </a:moveTo>
                <a:lnTo>
                  <a:pt x="2541" y="0"/>
                </a:lnTo>
                <a:lnTo>
                  <a:pt x="2541" y="1191"/>
                </a:lnTo>
                <a:lnTo>
                  <a:pt x="0" y="1191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68" name=""/>
          <p:cNvSpPr/>
          <p:nvPr/>
        </p:nvSpPr>
        <p:spPr>
          <a:xfrm>
            <a:off x="7886520" y="2314440"/>
            <a:ext cx="3715200" cy="428760"/>
          </a:xfrm>
          <a:custGeom>
            <a:avLst/>
            <a:gdLst/>
            <a:ahLst/>
            <a:rect l="0" t="0" r="r" b="b"/>
            <a:pathLst>
              <a:path w="10320" h="1191">
                <a:moveTo>
                  <a:pt x="0" y="0"/>
                </a:moveTo>
                <a:lnTo>
                  <a:pt x="10320" y="0"/>
                </a:lnTo>
                <a:lnTo>
                  <a:pt x="10320" y="1191"/>
                </a:lnTo>
                <a:lnTo>
                  <a:pt x="0" y="1191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69" name=""/>
          <p:cNvSpPr/>
          <p:nvPr/>
        </p:nvSpPr>
        <p:spPr>
          <a:xfrm>
            <a:off x="599760" y="2742840"/>
            <a:ext cx="1200960" cy="429120"/>
          </a:xfrm>
          <a:custGeom>
            <a:avLst/>
            <a:gdLst/>
            <a:ahLst/>
            <a:rect l="0" t="0" r="r" b="b"/>
            <a:pathLst>
              <a:path w="3336" h="1192">
                <a:moveTo>
                  <a:pt x="0" y="0"/>
                </a:moveTo>
                <a:lnTo>
                  <a:pt x="3336" y="0"/>
                </a:lnTo>
                <a:lnTo>
                  <a:pt x="3336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70" name=""/>
          <p:cNvSpPr/>
          <p:nvPr/>
        </p:nvSpPr>
        <p:spPr>
          <a:xfrm>
            <a:off x="1800000" y="2742840"/>
            <a:ext cx="5172480" cy="429120"/>
          </a:xfrm>
          <a:custGeom>
            <a:avLst/>
            <a:gdLst/>
            <a:ahLst/>
            <a:rect l="0" t="0" r="r" b="b"/>
            <a:pathLst>
              <a:path w="14368" h="1192">
                <a:moveTo>
                  <a:pt x="0" y="0"/>
                </a:moveTo>
                <a:lnTo>
                  <a:pt x="14368" y="0"/>
                </a:lnTo>
                <a:lnTo>
                  <a:pt x="14368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71" name=""/>
          <p:cNvSpPr/>
          <p:nvPr/>
        </p:nvSpPr>
        <p:spPr>
          <a:xfrm>
            <a:off x="6972120" y="2742840"/>
            <a:ext cx="914760" cy="429120"/>
          </a:xfrm>
          <a:custGeom>
            <a:avLst/>
            <a:gdLst/>
            <a:ahLst/>
            <a:rect l="0" t="0" r="r" b="b"/>
            <a:pathLst>
              <a:path w="2541" h="1192">
                <a:moveTo>
                  <a:pt x="0" y="0"/>
                </a:moveTo>
                <a:lnTo>
                  <a:pt x="2541" y="0"/>
                </a:lnTo>
                <a:lnTo>
                  <a:pt x="2541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72" name=""/>
          <p:cNvSpPr/>
          <p:nvPr/>
        </p:nvSpPr>
        <p:spPr>
          <a:xfrm>
            <a:off x="7886520" y="2742840"/>
            <a:ext cx="3715200" cy="429120"/>
          </a:xfrm>
          <a:custGeom>
            <a:avLst/>
            <a:gdLst/>
            <a:ahLst/>
            <a:rect l="0" t="0" r="r" b="b"/>
            <a:pathLst>
              <a:path w="10320" h="1192">
                <a:moveTo>
                  <a:pt x="0" y="0"/>
                </a:moveTo>
                <a:lnTo>
                  <a:pt x="10320" y="0"/>
                </a:lnTo>
                <a:lnTo>
                  <a:pt x="10320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73" name=""/>
          <p:cNvSpPr/>
          <p:nvPr/>
        </p:nvSpPr>
        <p:spPr>
          <a:xfrm>
            <a:off x="599760" y="3171600"/>
            <a:ext cx="1200960" cy="429120"/>
          </a:xfrm>
          <a:custGeom>
            <a:avLst/>
            <a:gdLst/>
            <a:ahLst/>
            <a:rect l="0" t="0" r="r" b="b"/>
            <a:pathLst>
              <a:path w="3336" h="1192">
                <a:moveTo>
                  <a:pt x="0" y="0"/>
                </a:moveTo>
                <a:lnTo>
                  <a:pt x="3336" y="0"/>
                </a:lnTo>
                <a:lnTo>
                  <a:pt x="3336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74" name=""/>
          <p:cNvSpPr/>
          <p:nvPr/>
        </p:nvSpPr>
        <p:spPr>
          <a:xfrm>
            <a:off x="1800000" y="3171600"/>
            <a:ext cx="5172480" cy="429120"/>
          </a:xfrm>
          <a:custGeom>
            <a:avLst/>
            <a:gdLst/>
            <a:ahLst/>
            <a:rect l="0" t="0" r="r" b="b"/>
            <a:pathLst>
              <a:path w="14368" h="1192">
                <a:moveTo>
                  <a:pt x="0" y="0"/>
                </a:moveTo>
                <a:lnTo>
                  <a:pt x="14368" y="0"/>
                </a:lnTo>
                <a:lnTo>
                  <a:pt x="14368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75" name=""/>
          <p:cNvSpPr/>
          <p:nvPr/>
        </p:nvSpPr>
        <p:spPr>
          <a:xfrm>
            <a:off x="6972120" y="3171600"/>
            <a:ext cx="914760" cy="429120"/>
          </a:xfrm>
          <a:custGeom>
            <a:avLst/>
            <a:gdLst/>
            <a:ahLst/>
            <a:rect l="0" t="0" r="r" b="b"/>
            <a:pathLst>
              <a:path w="2541" h="1192">
                <a:moveTo>
                  <a:pt x="0" y="0"/>
                </a:moveTo>
                <a:lnTo>
                  <a:pt x="2541" y="0"/>
                </a:lnTo>
                <a:lnTo>
                  <a:pt x="2541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76" name=""/>
          <p:cNvSpPr/>
          <p:nvPr/>
        </p:nvSpPr>
        <p:spPr>
          <a:xfrm>
            <a:off x="7886520" y="3171600"/>
            <a:ext cx="3715200" cy="429120"/>
          </a:xfrm>
          <a:custGeom>
            <a:avLst/>
            <a:gdLst/>
            <a:ahLst/>
            <a:rect l="0" t="0" r="r" b="b"/>
            <a:pathLst>
              <a:path w="10320" h="1192">
                <a:moveTo>
                  <a:pt x="0" y="0"/>
                </a:moveTo>
                <a:lnTo>
                  <a:pt x="10320" y="0"/>
                </a:lnTo>
                <a:lnTo>
                  <a:pt x="10320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77" name=""/>
          <p:cNvSpPr/>
          <p:nvPr/>
        </p:nvSpPr>
        <p:spPr>
          <a:xfrm>
            <a:off x="599760" y="3600360"/>
            <a:ext cx="1200960" cy="428760"/>
          </a:xfrm>
          <a:custGeom>
            <a:avLst/>
            <a:gdLst/>
            <a:ahLst/>
            <a:rect l="0" t="0" r="r" b="b"/>
            <a:pathLst>
              <a:path w="3336" h="1191">
                <a:moveTo>
                  <a:pt x="0" y="0"/>
                </a:moveTo>
                <a:lnTo>
                  <a:pt x="3336" y="0"/>
                </a:lnTo>
                <a:lnTo>
                  <a:pt x="3336" y="1191"/>
                </a:lnTo>
                <a:lnTo>
                  <a:pt x="0" y="119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78" name=""/>
          <p:cNvSpPr/>
          <p:nvPr/>
        </p:nvSpPr>
        <p:spPr>
          <a:xfrm>
            <a:off x="1800000" y="3600360"/>
            <a:ext cx="5172480" cy="428760"/>
          </a:xfrm>
          <a:custGeom>
            <a:avLst/>
            <a:gdLst/>
            <a:ahLst/>
            <a:rect l="0" t="0" r="r" b="b"/>
            <a:pathLst>
              <a:path w="14368" h="1191">
                <a:moveTo>
                  <a:pt x="0" y="0"/>
                </a:moveTo>
                <a:lnTo>
                  <a:pt x="14368" y="0"/>
                </a:lnTo>
                <a:lnTo>
                  <a:pt x="14368" y="1191"/>
                </a:lnTo>
                <a:lnTo>
                  <a:pt x="0" y="119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79" name=""/>
          <p:cNvSpPr/>
          <p:nvPr/>
        </p:nvSpPr>
        <p:spPr>
          <a:xfrm>
            <a:off x="6972120" y="3600360"/>
            <a:ext cx="914760" cy="428760"/>
          </a:xfrm>
          <a:custGeom>
            <a:avLst/>
            <a:gdLst/>
            <a:ahLst/>
            <a:rect l="0" t="0" r="r" b="b"/>
            <a:pathLst>
              <a:path w="2541" h="1191">
                <a:moveTo>
                  <a:pt x="0" y="0"/>
                </a:moveTo>
                <a:lnTo>
                  <a:pt x="2541" y="0"/>
                </a:lnTo>
                <a:lnTo>
                  <a:pt x="2541" y="1191"/>
                </a:lnTo>
                <a:lnTo>
                  <a:pt x="0" y="119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80" name=""/>
          <p:cNvSpPr/>
          <p:nvPr/>
        </p:nvSpPr>
        <p:spPr>
          <a:xfrm>
            <a:off x="7886520" y="3600360"/>
            <a:ext cx="3715200" cy="428760"/>
          </a:xfrm>
          <a:custGeom>
            <a:avLst/>
            <a:gdLst/>
            <a:ahLst/>
            <a:rect l="0" t="0" r="r" b="b"/>
            <a:pathLst>
              <a:path w="10320" h="1191">
                <a:moveTo>
                  <a:pt x="0" y="0"/>
                </a:moveTo>
                <a:lnTo>
                  <a:pt x="10320" y="0"/>
                </a:lnTo>
                <a:lnTo>
                  <a:pt x="10320" y="1191"/>
                </a:lnTo>
                <a:lnTo>
                  <a:pt x="0" y="119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81" name=""/>
          <p:cNvSpPr/>
          <p:nvPr/>
        </p:nvSpPr>
        <p:spPr>
          <a:xfrm>
            <a:off x="599760" y="4028760"/>
            <a:ext cx="1200960" cy="429120"/>
          </a:xfrm>
          <a:custGeom>
            <a:avLst/>
            <a:gdLst/>
            <a:ahLst/>
            <a:rect l="0" t="0" r="r" b="b"/>
            <a:pathLst>
              <a:path w="3336" h="1192">
                <a:moveTo>
                  <a:pt x="0" y="0"/>
                </a:moveTo>
                <a:lnTo>
                  <a:pt x="3336" y="0"/>
                </a:lnTo>
                <a:lnTo>
                  <a:pt x="3336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82" name=""/>
          <p:cNvSpPr/>
          <p:nvPr/>
        </p:nvSpPr>
        <p:spPr>
          <a:xfrm>
            <a:off x="1800000" y="4028760"/>
            <a:ext cx="5172480" cy="429120"/>
          </a:xfrm>
          <a:custGeom>
            <a:avLst/>
            <a:gdLst/>
            <a:ahLst/>
            <a:rect l="0" t="0" r="r" b="b"/>
            <a:pathLst>
              <a:path w="14368" h="1192">
                <a:moveTo>
                  <a:pt x="0" y="0"/>
                </a:moveTo>
                <a:lnTo>
                  <a:pt x="14368" y="0"/>
                </a:lnTo>
                <a:lnTo>
                  <a:pt x="14368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83" name=""/>
          <p:cNvSpPr/>
          <p:nvPr/>
        </p:nvSpPr>
        <p:spPr>
          <a:xfrm>
            <a:off x="6972120" y="4028760"/>
            <a:ext cx="914760" cy="429120"/>
          </a:xfrm>
          <a:custGeom>
            <a:avLst/>
            <a:gdLst/>
            <a:ahLst/>
            <a:rect l="0" t="0" r="r" b="b"/>
            <a:pathLst>
              <a:path w="2541" h="1192">
                <a:moveTo>
                  <a:pt x="0" y="0"/>
                </a:moveTo>
                <a:lnTo>
                  <a:pt x="2541" y="0"/>
                </a:lnTo>
                <a:lnTo>
                  <a:pt x="2541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84" name=""/>
          <p:cNvSpPr/>
          <p:nvPr/>
        </p:nvSpPr>
        <p:spPr>
          <a:xfrm>
            <a:off x="7886520" y="4028760"/>
            <a:ext cx="3715200" cy="429120"/>
          </a:xfrm>
          <a:custGeom>
            <a:avLst/>
            <a:gdLst/>
            <a:ahLst/>
            <a:rect l="0" t="0" r="r" b="b"/>
            <a:pathLst>
              <a:path w="10320" h="1192">
                <a:moveTo>
                  <a:pt x="0" y="0"/>
                </a:moveTo>
                <a:lnTo>
                  <a:pt x="10320" y="0"/>
                </a:lnTo>
                <a:lnTo>
                  <a:pt x="10320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85" name=""/>
          <p:cNvSpPr/>
          <p:nvPr/>
        </p:nvSpPr>
        <p:spPr>
          <a:xfrm>
            <a:off x="599760" y="4457520"/>
            <a:ext cx="1200960" cy="429120"/>
          </a:xfrm>
          <a:custGeom>
            <a:avLst/>
            <a:gdLst/>
            <a:ahLst/>
            <a:rect l="0" t="0" r="r" b="b"/>
            <a:pathLst>
              <a:path w="3336" h="1192">
                <a:moveTo>
                  <a:pt x="0" y="0"/>
                </a:moveTo>
                <a:lnTo>
                  <a:pt x="3336" y="0"/>
                </a:lnTo>
                <a:lnTo>
                  <a:pt x="3336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86" name=""/>
          <p:cNvSpPr/>
          <p:nvPr/>
        </p:nvSpPr>
        <p:spPr>
          <a:xfrm>
            <a:off x="1800000" y="4457520"/>
            <a:ext cx="5172480" cy="429120"/>
          </a:xfrm>
          <a:custGeom>
            <a:avLst/>
            <a:gdLst/>
            <a:ahLst/>
            <a:rect l="0" t="0" r="r" b="b"/>
            <a:pathLst>
              <a:path w="14368" h="1192">
                <a:moveTo>
                  <a:pt x="0" y="0"/>
                </a:moveTo>
                <a:lnTo>
                  <a:pt x="14368" y="0"/>
                </a:lnTo>
                <a:lnTo>
                  <a:pt x="14368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87" name=""/>
          <p:cNvSpPr/>
          <p:nvPr/>
        </p:nvSpPr>
        <p:spPr>
          <a:xfrm>
            <a:off x="6972120" y="4457520"/>
            <a:ext cx="914760" cy="429120"/>
          </a:xfrm>
          <a:custGeom>
            <a:avLst/>
            <a:gdLst/>
            <a:ahLst/>
            <a:rect l="0" t="0" r="r" b="b"/>
            <a:pathLst>
              <a:path w="2541" h="1192">
                <a:moveTo>
                  <a:pt x="0" y="0"/>
                </a:moveTo>
                <a:lnTo>
                  <a:pt x="2541" y="0"/>
                </a:lnTo>
                <a:lnTo>
                  <a:pt x="2541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88" name=""/>
          <p:cNvSpPr/>
          <p:nvPr/>
        </p:nvSpPr>
        <p:spPr>
          <a:xfrm>
            <a:off x="7886520" y="4457520"/>
            <a:ext cx="3715200" cy="429120"/>
          </a:xfrm>
          <a:custGeom>
            <a:avLst/>
            <a:gdLst/>
            <a:ahLst/>
            <a:rect l="0" t="0" r="r" b="b"/>
            <a:pathLst>
              <a:path w="10320" h="1192">
                <a:moveTo>
                  <a:pt x="0" y="0"/>
                </a:moveTo>
                <a:lnTo>
                  <a:pt x="10320" y="0"/>
                </a:lnTo>
                <a:lnTo>
                  <a:pt x="10320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89" name=""/>
          <p:cNvSpPr/>
          <p:nvPr/>
        </p:nvSpPr>
        <p:spPr>
          <a:xfrm>
            <a:off x="599760" y="4886280"/>
            <a:ext cx="1200960" cy="428760"/>
          </a:xfrm>
          <a:custGeom>
            <a:avLst/>
            <a:gdLst/>
            <a:ahLst/>
            <a:rect l="0" t="0" r="r" b="b"/>
            <a:pathLst>
              <a:path w="3336" h="1191">
                <a:moveTo>
                  <a:pt x="0" y="0"/>
                </a:moveTo>
                <a:lnTo>
                  <a:pt x="3336" y="0"/>
                </a:lnTo>
                <a:lnTo>
                  <a:pt x="3336" y="1191"/>
                </a:lnTo>
                <a:lnTo>
                  <a:pt x="0" y="1191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90" name=""/>
          <p:cNvSpPr/>
          <p:nvPr/>
        </p:nvSpPr>
        <p:spPr>
          <a:xfrm>
            <a:off x="1800000" y="4886280"/>
            <a:ext cx="5172480" cy="428760"/>
          </a:xfrm>
          <a:custGeom>
            <a:avLst/>
            <a:gdLst/>
            <a:ahLst/>
            <a:rect l="0" t="0" r="r" b="b"/>
            <a:pathLst>
              <a:path w="14368" h="1191">
                <a:moveTo>
                  <a:pt x="0" y="0"/>
                </a:moveTo>
                <a:lnTo>
                  <a:pt x="14368" y="0"/>
                </a:lnTo>
                <a:lnTo>
                  <a:pt x="14368" y="1191"/>
                </a:lnTo>
                <a:lnTo>
                  <a:pt x="0" y="1191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91" name=""/>
          <p:cNvSpPr/>
          <p:nvPr/>
        </p:nvSpPr>
        <p:spPr>
          <a:xfrm>
            <a:off x="6972120" y="4886280"/>
            <a:ext cx="914760" cy="428760"/>
          </a:xfrm>
          <a:custGeom>
            <a:avLst/>
            <a:gdLst/>
            <a:ahLst/>
            <a:rect l="0" t="0" r="r" b="b"/>
            <a:pathLst>
              <a:path w="2541" h="1191">
                <a:moveTo>
                  <a:pt x="0" y="0"/>
                </a:moveTo>
                <a:lnTo>
                  <a:pt x="2541" y="0"/>
                </a:lnTo>
                <a:lnTo>
                  <a:pt x="2541" y="1191"/>
                </a:lnTo>
                <a:lnTo>
                  <a:pt x="0" y="1191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92" name=""/>
          <p:cNvSpPr/>
          <p:nvPr/>
        </p:nvSpPr>
        <p:spPr>
          <a:xfrm>
            <a:off x="7886520" y="4886280"/>
            <a:ext cx="3715200" cy="428760"/>
          </a:xfrm>
          <a:custGeom>
            <a:avLst/>
            <a:gdLst/>
            <a:ahLst/>
            <a:rect l="0" t="0" r="r" b="b"/>
            <a:pathLst>
              <a:path w="10320" h="1191">
                <a:moveTo>
                  <a:pt x="0" y="0"/>
                </a:moveTo>
                <a:lnTo>
                  <a:pt x="10320" y="0"/>
                </a:lnTo>
                <a:lnTo>
                  <a:pt x="10320" y="1191"/>
                </a:lnTo>
                <a:lnTo>
                  <a:pt x="0" y="1191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93" name=""/>
          <p:cNvSpPr/>
          <p:nvPr/>
        </p:nvSpPr>
        <p:spPr>
          <a:xfrm>
            <a:off x="599760" y="5314680"/>
            <a:ext cx="1200960" cy="429120"/>
          </a:xfrm>
          <a:custGeom>
            <a:avLst/>
            <a:gdLst/>
            <a:ahLst/>
            <a:rect l="0" t="0" r="r" b="b"/>
            <a:pathLst>
              <a:path w="3336" h="1192">
                <a:moveTo>
                  <a:pt x="0" y="0"/>
                </a:moveTo>
                <a:lnTo>
                  <a:pt x="3336" y="0"/>
                </a:lnTo>
                <a:lnTo>
                  <a:pt x="3336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94" name=""/>
          <p:cNvSpPr/>
          <p:nvPr/>
        </p:nvSpPr>
        <p:spPr>
          <a:xfrm>
            <a:off x="1800000" y="5314680"/>
            <a:ext cx="5172480" cy="429120"/>
          </a:xfrm>
          <a:custGeom>
            <a:avLst/>
            <a:gdLst/>
            <a:ahLst/>
            <a:rect l="0" t="0" r="r" b="b"/>
            <a:pathLst>
              <a:path w="14368" h="1192">
                <a:moveTo>
                  <a:pt x="0" y="0"/>
                </a:moveTo>
                <a:lnTo>
                  <a:pt x="14368" y="0"/>
                </a:lnTo>
                <a:lnTo>
                  <a:pt x="14368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95" name=""/>
          <p:cNvSpPr/>
          <p:nvPr/>
        </p:nvSpPr>
        <p:spPr>
          <a:xfrm>
            <a:off x="6972120" y="5314680"/>
            <a:ext cx="914760" cy="429120"/>
          </a:xfrm>
          <a:custGeom>
            <a:avLst/>
            <a:gdLst/>
            <a:ahLst/>
            <a:rect l="0" t="0" r="r" b="b"/>
            <a:pathLst>
              <a:path w="2541" h="1192">
                <a:moveTo>
                  <a:pt x="0" y="0"/>
                </a:moveTo>
                <a:lnTo>
                  <a:pt x="2541" y="0"/>
                </a:lnTo>
                <a:lnTo>
                  <a:pt x="2541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96" name=""/>
          <p:cNvSpPr/>
          <p:nvPr/>
        </p:nvSpPr>
        <p:spPr>
          <a:xfrm>
            <a:off x="7886520" y="5314680"/>
            <a:ext cx="3715200" cy="429120"/>
          </a:xfrm>
          <a:custGeom>
            <a:avLst/>
            <a:gdLst/>
            <a:ahLst/>
            <a:rect l="0" t="0" r="r" b="b"/>
            <a:pathLst>
              <a:path w="10320" h="1192">
                <a:moveTo>
                  <a:pt x="0" y="0"/>
                </a:moveTo>
                <a:lnTo>
                  <a:pt x="10320" y="0"/>
                </a:lnTo>
                <a:lnTo>
                  <a:pt x="10320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97" name=""/>
          <p:cNvSpPr/>
          <p:nvPr/>
        </p:nvSpPr>
        <p:spPr>
          <a:xfrm>
            <a:off x="590400" y="144756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98" name=""/>
          <p:cNvSpPr/>
          <p:nvPr/>
        </p:nvSpPr>
        <p:spPr>
          <a:xfrm>
            <a:off x="590400" y="1447560"/>
            <a:ext cx="1219680" cy="10080"/>
          </a:xfrm>
          <a:custGeom>
            <a:avLst/>
            <a:gdLst/>
            <a:ahLst/>
            <a:rect l="0" t="0" r="r" b="b"/>
            <a:pathLst>
              <a:path w="3388" h="28">
                <a:moveTo>
                  <a:pt x="0" y="0"/>
                </a:moveTo>
                <a:lnTo>
                  <a:pt x="3388" y="0"/>
                </a:lnTo>
                <a:lnTo>
                  <a:pt x="338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799" name=""/>
          <p:cNvSpPr/>
          <p:nvPr/>
        </p:nvSpPr>
        <p:spPr>
          <a:xfrm>
            <a:off x="1800000" y="144756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28" y="0"/>
                </a:lnTo>
                <a:lnTo>
                  <a:pt x="2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00" name=""/>
          <p:cNvSpPr/>
          <p:nvPr/>
        </p:nvSpPr>
        <p:spPr>
          <a:xfrm>
            <a:off x="1809720" y="1447560"/>
            <a:ext cx="5172120" cy="10080"/>
          </a:xfrm>
          <a:custGeom>
            <a:avLst/>
            <a:gdLst/>
            <a:ahLst/>
            <a:rect l="0" t="0" r="r" b="b"/>
            <a:pathLst>
              <a:path w="14367" h="28">
                <a:moveTo>
                  <a:pt x="0" y="0"/>
                </a:moveTo>
                <a:lnTo>
                  <a:pt x="14367" y="0"/>
                </a:lnTo>
                <a:lnTo>
                  <a:pt x="1436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01" name=""/>
          <p:cNvSpPr/>
          <p:nvPr/>
        </p:nvSpPr>
        <p:spPr>
          <a:xfrm>
            <a:off x="6972120" y="144756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02" name=""/>
          <p:cNvSpPr/>
          <p:nvPr/>
        </p:nvSpPr>
        <p:spPr>
          <a:xfrm>
            <a:off x="6981480" y="1447560"/>
            <a:ext cx="914760" cy="10080"/>
          </a:xfrm>
          <a:custGeom>
            <a:avLst/>
            <a:gdLst/>
            <a:ahLst/>
            <a:rect l="0" t="0" r="r" b="b"/>
            <a:pathLst>
              <a:path w="2541" h="28">
                <a:moveTo>
                  <a:pt x="0" y="0"/>
                </a:moveTo>
                <a:lnTo>
                  <a:pt x="2541" y="0"/>
                </a:lnTo>
                <a:lnTo>
                  <a:pt x="254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03" name=""/>
          <p:cNvSpPr/>
          <p:nvPr/>
        </p:nvSpPr>
        <p:spPr>
          <a:xfrm>
            <a:off x="7886520" y="144756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04" name=""/>
          <p:cNvSpPr/>
          <p:nvPr/>
        </p:nvSpPr>
        <p:spPr>
          <a:xfrm>
            <a:off x="7895880" y="1447560"/>
            <a:ext cx="3705840" cy="10080"/>
          </a:xfrm>
          <a:custGeom>
            <a:avLst/>
            <a:gdLst/>
            <a:ahLst/>
            <a:rect l="0" t="0" r="r" b="b"/>
            <a:pathLst>
              <a:path w="10294" h="28">
                <a:moveTo>
                  <a:pt x="0" y="0"/>
                </a:moveTo>
                <a:lnTo>
                  <a:pt x="10294" y="0"/>
                </a:lnTo>
                <a:lnTo>
                  <a:pt x="102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05" name=""/>
          <p:cNvSpPr/>
          <p:nvPr/>
        </p:nvSpPr>
        <p:spPr>
          <a:xfrm>
            <a:off x="11591640" y="144756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28" y="0"/>
                </a:lnTo>
                <a:lnTo>
                  <a:pt x="2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06" name=""/>
          <p:cNvSpPr/>
          <p:nvPr/>
        </p:nvSpPr>
        <p:spPr>
          <a:xfrm>
            <a:off x="590400" y="1876320"/>
            <a:ext cx="1219680" cy="9720"/>
          </a:xfrm>
          <a:custGeom>
            <a:avLst/>
            <a:gdLst/>
            <a:ahLst/>
            <a:rect l="0" t="0" r="r" b="b"/>
            <a:pathLst>
              <a:path w="3388" h="27">
                <a:moveTo>
                  <a:pt x="0" y="0"/>
                </a:moveTo>
                <a:lnTo>
                  <a:pt x="3388" y="0"/>
                </a:lnTo>
                <a:lnTo>
                  <a:pt x="338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07" name=""/>
          <p:cNvSpPr/>
          <p:nvPr/>
        </p:nvSpPr>
        <p:spPr>
          <a:xfrm>
            <a:off x="1809720" y="1876320"/>
            <a:ext cx="5172120" cy="9720"/>
          </a:xfrm>
          <a:custGeom>
            <a:avLst/>
            <a:gdLst/>
            <a:ahLst/>
            <a:rect l="0" t="0" r="r" b="b"/>
            <a:pathLst>
              <a:path w="14367" h="27">
                <a:moveTo>
                  <a:pt x="0" y="0"/>
                </a:moveTo>
                <a:lnTo>
                  <a:pt x="14367" y="0"/>
                </a:lnTo>
                <a:lnTo>
                  <a:pt x="1436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08" name=""/>
          <p:cNvSpPr/>
          <p:nvPr/>
        </p:nvSpPr>
        <p:spPr>
          <a:xfrm>
            <a:off x="6981480" y="1876320"/>
            <a:ext cx="914760" cy="9720"/>
          </a:xfrm>
          <a:custGeom>
            <a:avLst/>
            <a:gdLst/>
            <a:ahLst/>
            <a:rect l="0" t="0" r="r" b="b"/>
            <a:pathLst>
              <a:path w="2541" h="27">
                <a:moveTo>
                  <a:pt x="0" y="0"/>
                </a:moveTo>
                <a:lnTo>
                  <a:pt x="2541" y="0"/>
                </a:lnTo>
                <a:lnTo>
                  <a:pt x="25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09" name=""/>
          <p:cNvSpPr/>
          <p:nvPr/>
        </p:nvSpPr>
        <p:spPr>
          <a:xfrm>
            <a:off x="7895880" y="1876320"/>
            <a:ext cx="3705840" cy="9720"/>
          </a:xfrm>
          <a:custGeom>
            <a:avLst/>
            <a:gdLst/>
            <a:ahLst/>
            <a:rect l="0" t="0" r="r" b="b"/>
            <a:pathLst>
              <a:path w="10294" h="27">
                <a:moveTo>
                  <a:pt x="0" y="0"/>
                </a:moveTo>
                <a:lnTo>
                  <a:pt x="10294" y="0"/>
                </a:lnTo>
                <a:lnTo>
                  <a:pt x="1029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10" name=""/>
          <p:cNvSpPr/>
          <p:nvPr/>
        </p:nvSpPr>
        <p:spPr>
          <a:xfrm>
            <a:off x="590400" y="1885680"/>
            <a:ext cx="9720" cy="429120"/>
          </a:xfrm>
          <a:custGeom>
            <a:avLst/>
            <a:gdLst/>
            <a:ahLst/>
            <a:rect l="0" t="0" r="r" b="b"/>
            <a:pathLst>
              <a:path w="27" h="1192">
                <a:moveTo>
                  <a:pt x="0" y="0"/>
                </a:moveTo>
                <a:lnTo>
                  <a:pt x="27" y="0"/>
                </a:lnTo>
                <a:lnTo>
                  <a:pt x="27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11" name=""/>
          <p:cNvSpPr/>
          <p:nvPr/>
        </p:nvSpPr>
        <p:spPr>
          <a:xfrm>
            <a:off x="1800000" y="1885680"/>
            <a:ext cx="10080" cy="429120"/>
          </a:xfrm>
          <a:custGeom>
            <a:avLst/>
            <a:gdLst/>
            <a:ahLst/>
            <a:rect l="0" t="0" r="r" b="b"/>
            <a:pathLst>
              <a:path w="28" h="1192">
                <a:moveTo>
                  <a:pt x="0" y="0"/>
                </a:moveTo>
                <a:lnTo>
                  <a:pt x="28" y="0"/>
                </a:lnTo>
                <a:lnTo>
                  <a:pt x="28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12" name=""/>
          <p:cNvSpPr/>
          <p:nvPr/>
        </p:nvSpPr>
        <p:spPr>
          <a:xfrm>
            <a:off x="6972120" y="1885680"/>
            <a:ext cx="9720" cy="429120"/>
          </a:xfrm>
          <a:custGeom>
            <a:avLst/>
            <a:gdLst/>
            <a:ahLst/>
            <a:rect l="0" t="0" r="r" b="b"/>
            <a:pathLst>
              <a:path w="27" h="1192">
                <a:moveTo>
                  <a:pt x="0" y="0"/>
                </a:moveTo>
                <a:lnTo>
                  <a:pt x="27" y="0"/>
                </a:lnTo>
                <a:lnTo>
                  <a:pt x="27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13" name=""/>
          <p:cNvSpPr/>
          <p:nvPr/>
        </p:nvSpPr>
        <p:spPr>
          <a:xfrm>
            <a:off x="7886520" y="1885680"/>
            <a:ext cx="9720" cy="429120"/>
          </a:xfrm>
          <a:custGeom>
            <a:avLst/>
            <a:gdLst/>
            <a:ahLst/>
            <a:rect l="0" t="0" r="r" b="b"/>
            <a:pathLst>
              <a:path w="27" h="1192">
                <a:moveTo>
                  <a:pt x="0" y="0"/>
                </a:moveTo>
                <a:lnTo>
                  <a:pt x="27" y="0"/>
                </a:lnTo>
                <a:lnTo>
                  <a:pt x="27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14" name=""/>
          <p:cNvSpPr/>
          <p:nvPr/>
        </p:nvSpPr>
        <p:spPr>
          <a:xfrm>
            <a:off x="11591640" y="1885680"/>
            <a:ext cx="10080" cy="429120"/>
          </a:xfrm>
          <a:custGeom>
            <a:avLst/>
            <a:gdLst/>
            <a:ahLst/>
            <a:rect l="0" t="0" r="r" b="b"/>
            <a:pathLst>
              <a:path w="28" h="1192">
                <a:moveTo>
                  <a:pt x="0" y="0"/>
                </a:moveTo>
                <a:lnTo>
                  <a:pt x="28" y="0"/>
                </a:lnTo>
                <a:lnTo>
                  <a:pt x="28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15" name=""/>
          <p:cNvSpPr/>
          <p:nvPr/>
        </p:nvSpPr>
        <p:spPr>
          <a:xfrm>
            <a:off x="590400" y="2314440"/>
            <a:ext cx="9720" cy="428760"/>
          </a:xfrm>
          <a:custGeom>
            <a:avLst/>
            <a:gdLst/>
            <a:ahLst/>
            <a:rect l="0" t="0" r="r" b="b"/>
            <a:pathLst>
              <a:path w="27" h="1191">
                <a:moveTo>
                  <a:pt x="0" y="0"/>
                </a:moveTo>
                <a:lnTo>
                  <a:pt x="27" y="0"/>
                </a:lnTo>
                <a:lnTo>
                  <a:pt x="27" y="1191"/>
                </a:lnTo>
                <a:lnTo>
                  <a:pt x="0" y="119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16" name=""/>
          <p:cNvSpPr/>
          <p:nvPr/>
        </p:nvSpPr>
        <p:spPr>
          <a:xfrm>
            <a:off x="590400" y="2304720"/>
            <a:ext cx="1219680" cy="10080"/>
          </a:xfrm>
          <a:custGeom>
            <a:avLst/>
            <a:gdLst/>
            <a:ahLst/>
            <a:rect l="0" t="0" r="r" b="b"/>
            <a:pathLst>
              <a:path w="3388" h="28">
                <a:moveTo>
                  <a:pt x="0" y="0"/>
                </a:moveTo>
                <a:lnTo>
                  <a:pt x="3388" y="0"/>
                </a:lnTo>
                <a:lnTo>
                  <a:pt x="338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17" name=""/>
          <p:cNvSpPr/>
          <p:nvPr/>
        </p:nvSpPr>
        <p:spPr>
          <a:xfrm>
            <a:off x="1800000" y="2314440"/>
            <a:ext cx="10080" cy="428760"/>
          </a:xfrm>
          <a:custGeom>
            <a:avLst/>
            <a:gdLst/>
            <a:ahLst/>
            <a:rect l="0" t="0" r="r" b="b"/>
            <a:pathLst>
              <a:path w="28" h="1191">
                <a:moveTo>
                  <a:pt x="0" y="0"/>
                </a:moveTo>
                <a:lnTo>
                  <a:pt x="28" y="0"/>
                </a:lnTo>
                <a:lnTo>
                  <a:pt x="28" y="1191"/>
                </a:lnTo>
                <a:lnTo>
                  <a:pt x="0" y="119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18" name=""/>
          <p:cNvSpPr/>
          <p:nvPr/>
        </p:nvSpPr>
        <p:spPr>
          <a:xfrm>
            <a:off x="1809720" y="2304720"/>
            <a:ext cx="5172120" cy="10080"/>
          </a:xfrm>
          <a:custGeom>
            <a:avLst/>
            <a:gdLst/>
            <a:ahLst/>
            <a:rect l="0" t="0" r="r" b="b"/>
            <a:pathLst>
              <a:path w="14367" h="28">
                <a:moveTo>
                  <a:pt x="0" y="0"/>
                </a:moveTo>
                <a:lnTo>
                  <a:pt x="14367" y="0"/>
                </a:lnTo>
                <a:lnTo>
                  <a:pt x="1436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19" name=""/>
          <p:cNvSpPr/>
          <p:nvPr/>
        </p:nvSpPr>
        <p:spPr>
          <a:xfrm>
            <a:off x="6972120" y="2314440"/>
            <a:ext cx="9720" cy="428760"/>
          </a:xfrm>
          <a:custGeom>
            <a:avLst/>
            <a:gdLst/>
            <a:ahLst/>
            <a:rect l="0" t="0" r="r" b="b"/>
            <a:pathLst>
              <a:path w="27" h="1191">
                <a:moveTo>
                  <a:pt x="0" y="0"/>
                </a:moveTo>
                <a:lnTo>
                  <a:pt x="27" y="0"/>
                </a:lnTo>
                <a:lnTo>
                  <a:pt x="27" y="1191"/>
                </a:lnTo>
                <a:lnTo>
                  <a:pt x="0" y="119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20" name=""/>
          <p:cNvSpPr/>
          <p:nvPr/>
        </p:nvSpPr>
        <p:spPr>
          <a:xfrm>
            <a:off x="6981480" y="2304720"/>
            <a:ext cx="914760" cy="10080"/>
          </a:xfrm>
          <a:custGeom>
            <a:avLst/>
            <a:gdLst/>
            <a:ahLst/>
            <a:rect l="0" t="0" r="r" b="b"/>
            <a:pathLst>
              <a:path w="2541" h="28">
                <a:moveTo>
                  <a:pt x="0" y="0"/>
                </a:moveTo>
                <a:lnTo>
                  <a:pt x="2541" y="0"/>
                </a:lnTo>
                <a:lnTo>
                  <a:pt x="254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21" name=""/>
          <p:cNvSpPr/>
          <p:nvPr/>
        </p:nvSpPr>
        <p:spPr>
          <a:xfrm>
            <a:off x="7886520" y="2314440"/>
            <a:ext cx="9720" cy="428760"/>
          </a:xfrm>
          <a:custGeom>
            <a:avLst/>
            <a:gdLst/>
            <a:ahLst/>
            <a:rect l="0" t="0" r="r" b="b"/>
            <a:pathLst>
              <a:path w="27" h="1191">
                <a:moveTo>
                  <a:pt x="0" y="0"/>
                </a:moveTo>
                <a:lnTo>
                  <a:pt x="27" y="0"/>
                </a:lnTo>
                <a:lnTo>
                  <a:pt x="27" y="1191"/>
                </a:lnTo>
                <a:lnTo>
                  <a:pt x="0" y="119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22" name=""/>
          <p:cNvSpPr/>
          <p:nvPr/>
        </p:nvSpPr>
        <p:spPr>
          <a:xfrm>
            <a:off x="7895880" y="2304720"/>
            <a:ext cx="3705840" cy="10080"/>
          </a:xfrm>
          <a:custGeom>
            <a:avLst/>
            <a:gdLst/>
            <a:ahLst/>
            <a:rect l="0" t="0" r="r" b="b"/>
            <a:pathLst>
              <a:path w="10294" h="28">
                <a:moveTo>
                  <a:pt x="0" y="0"/>
                </a:moveTo>
                <a:lnTo>
                  <a:pt x="10294" y="0"/>
                </a:lnTo>
                <a:lnTo>
                  <a:pt x="102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23" name=""/>
          <p:cNvSpPr/>
          <p:nvPr/>
        </p:nvSpPr>
        <p:spPr>
          <a:xfrm>
            <a:off x="11591640" y="2314440"/>
            <a:ext cx="10080" cy="428760"/>
          </a:xfrm>
          <a:custGeom>
            <a:avLst/>
            <a:gdLst/>
            <a:ahLst/>
            <a:rect l="0" t="0" r="r" b="b"/>
            <a:pathLst>
              <a:path w="28" h="1191">
                <a:moveTo>
                  <a:pt x="0" y="0"/>
                </a:moveTo>
                <a:lnTo>
                  <a:pt x="28" y="0"/>
                </a:lnTo>
                <a:lnTo>
                  <a:pt x="28" y="1191"/>
                </a:lnTo>
                <a:lnTo>
                  <a:pt x="0" y="119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24" name=""/>
          <p:cNvSpPr/>
          <p:nvPr/>
        </p:nvSpPr>
        <p:spPr>
          <a:xfrm>
            <a:off x="590400" y="2742840"/>
            <a:ext cx="9720" cy="429120"/>
          </a:xfrm>
          <a:custGeom>
            <a:avLst/>
            <a:gdLst/>
            <a:ahLst/>
            <a:rect l="0" t="0" r="r" b="b"/>
            <a:pathLst>
              <a:path w="27" h="1192">
                <a:moveTo>
                  <a:pt x="0" y="0"/>
                </a:moveTo>
                <a:lnTo>
                  <a:pt x="27" y="0"/>
                </a:lnTo>
                <a:lnTo>
                  <a:pt x="27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25" name=""/>
          <p:cNvSpPr/>
          <p:nvPr/>
        </p:nvSpPr>
        <p:spPr>
          <a:xfrm>
            <a:off x="590400" y="2733480"/>
            <a:ext cx="1219680" cy="9720"/>
          </a:xfrm>
          <a:custGeom>
            <a:avLst/>
            <a:gdLst/>
            <a:ahLst/>
            <a:rect l="0" t="0" r="r" b="b"/>
            <a:pathLst>
              <a:path w="3388" h="27">
                <a:moveTo>
                  <a:pt x="0" y="0"/>
                </a:moveTo>
                <a:lnTo>
                  <a:pt x="3388" y="0"/>
                </a:lnTo>
                <a:lnTo>
                  <a:pt x="338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26" name=""/>
          <p:cNvSpPr/>
          <p:nvPr/>
        </p:nvSpPr>
        <p:spPr>
          <a:xfrm>
            <a:off x="1800000" y="2742840"/>
            <a:ext cx="10080" cy="429120"/>
          </a:xfrm>
          <a:custGeom>
            <a:avLst/>
            <a:gdLst/>
            <a:ahLst/>
            <a:rect l="0" t="0" r="r" b="b"/>
            <a:pathLst>
              <a:path w="28" h="1192">
                <a:moveTo>
                  <a:pt x="0" y="0"/>
                </a:moveTo>
                <a:lnTo>
                  <a:pt x="28" y="0"/>
                </a:lnTo>
                <a:lnTo>
                  <a:pt x="28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27" name=""/>
          <p:cNvSpPr/>
          <p:nvPr/>
        </p:nvSpPr>
        <p:spPr>
          <a:xfrm>
            <a:off x="1809720" y="2733480"/>
            <a:ext cx="5172120" cy="9720"/>
          </a:xfrm>
          <a:custGeom>
            <a:avLst/>
            <a:gdLst/>
            <a:ahLst/>
            <a:rect l="0" t="0" r="r" b="b"/>
            <a:pathLst>
              <a:path w="14367" h="27">
                <a:moveTo>
                  <a:pt x="0" y="0"/>
                </a:moveTo>
                <a:lnTo>
                  <a:pt x="14367" y="0"/>
                </a:lnTo>
                <a:lnTo>
                  <a:pt x="1436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28" name=""/>
          <p:cNvSpPr/>
          <p:nvPr/>
        </p:nvSpPr>
        <p:spPr>
          <a:xfrm>
            <a:off x="6972120" y="2742840"/>
            <a:ext cx="9720" cy="429120"/>
          </a:xfrm>
          <a:custGeom>
            <a:avLst/>
            <a:gdLst/>
            <a:ahLst/>
            <a:rect l="0" t="0" r="r" b="b"/>
            <a:pathLst>
              <a:path w="27" h="1192">
                <a:moveTo>
                  <a:pt x="0" y="0"/>
                </a:moveTo>
                <a:lnTo>
                  <a:pt x="27" y="0"/>
                </a:lnTo>
                <a:lnTo>
                  <a:pt x="27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29" name=""/>
          <p:cNvSpPr/>
          <p:nvPr/>
        </p:nvSpPr>
        <p:spPr>
          <a:xfrm>
            <a:off x="6981480" y="2733480"/>
            <a:ext cx="914760" cy="9720"/>
          </a:xfrm>
          <a:custGeom>
            <a:avLst/>
            <a:gdLst/>
            <a:ahLst/>
            <a:rect l="0" t="0" r="r" b="b"/>
            <a:pathLst>
              <a:path w="2541" h="27">
                <a:moveTo>
                  <a:pt x="0" y="0"/>
                </a:moveTo>
                <a:lnTo>
                  <a:pt x="2541" y="0"/>
                </a:lnTo>
                <a:lnTo>
                  <a:pt x="25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30" name=""/>
          <p:cNvSpPr/>
          <p:nvPr/>
        </p:nvSpPr>
        <p:spPr>
          <a:xfrm>
            <a:off x="7886520" y="2742840"/>
            <a:ext cx="9720" cy="429120"/>
          </a:xfrm>
          <a:custGeom>
            <a:avLst/>
            <a:gdLst/>
            <a:ahLst/>
            <a:rect l="0" t="0" r="r" b="b"/>
            <a:pathLst>
              <a:path w="27" h="1192">
                <a:moveTo>
                  <a:pt x="0" y="0"/>
                </a:moveTo>
                <a:lnTo>
                  <a:pt x="27" y="0"/>
                </a:lnTo>
                <a:lnTo>
                  <a:pt x="27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31" name=""/>
          <p:cNvSpPr/>
          <p:nvPr/>
        </p:nvSpPr>
        <p:spPr>
          <a:xfrm>
            <a:off x="7895880" y="2733480"/>
            <a:ext cx="3705840" cy="9720"/>
          </a:xfrm>
          <a:custGeom>
            <a:avLst/>
            <a:gdLst/>
            <a:ahLst/>
            <a:rect l="0" t="0" r="r" b="b"/>
            <a:pathLst>
              <a:path w="10294" h="27">
                <a:moveTo>
                  <a:pt x="0" y="0"/>
                </a:moveTo>
                <a:lnTo>
                  <a:pt x="10294" y="0"/>
                </a:lnTo>
                <a:lnTo>
                  <a:pt x="1029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32" name=""/>
          <p:cNvSpPr/>
          <p:nvPr/>
        </p:nvSpPr>
        <p:spPr>
          <a:xfrm>
            <a:off x="11591640" y="2742840"/>
            <a:ext cx="10080" cy="429120"/>
          </a:xfrm>
          <a:custGeom>
            <a:avLst/>
            <a:gdLst/>
            <a:ahLst/>
            <a:rect l="0" t="0" r="r" b="b"/>
            <a:pathLst>
              <a:path w="28" h="1192">
                <a:moveTo>
                  <a:pt x="0" y="0"/>
                </a:moveTo>
                <a:lnTo>
                  <a:pt x="28" y="0"/>
                </a:lnTo>
                <a:lnTo>
                  <a:pt x="28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33" name=""/>
          <p:cNvSpPr/>
          <p:nvPr/>
        </p:nvSpPr>
        <p:spPr>
          <a:xfrm>
            <a:off x="590400" y="3171600"/>
            <a:ext cx="9720" cy="429120"/>
          </a:xfrm>
          <a:custGeom>
            <a:avLst/>
            <a:gdLst/>
            <a:ahLst/>
            <a:rect l="0" t="0" r="r" b="b"/>
            <a:pathLst>
              <a:path w="27" h="1192">
                <a:moveTo>
                  <a:pt x="0" y="0"/>
                </a:moveTo>
                <a:lnTo>
                  <a:pt x="27" y="0"/>
                </a:lnTo>
                <a:lnTo>
                  <a:pt x="27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34" name=""/>
          <p:cNvSpPr/>
          <p:nvPr/>
        </p:nvSpPr>
        <p:spPr>
          <a:xfrm>
            <a:off x="590400" y="3162240"/>
            <a:ext cx="1219680" cy="9720"/>
          </a:xfrm>
          <a:custGeom>
            <a:avLst/>
            <a:gdLst/>
            <a:ahLst/>
            <a:rect l="0" t="0" r="r" b="b"/>
            <a:pathLst>
              <a:path w="3388" h="27">
                <a:moveTo>
                  <a:pt x="0" y="0"/>
                </a:moveTo>
                <a:lnTo>
                  <a:pt x="3388" y="0"/>
                </a:lnTo>
                <a:lnTo>
                  <a:pt x="338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35" name=""/>
          <p:cNvSpPr/>
          <p:nvPr/>
        </p:nvSpPr>
        <p:spPr>
          <a:xfrm>
            <a:off x="1800000" y="3171600"/>
            <a:ext cx="10080" cy="429120"/>
          </a:xfrm>
          <a:custGeom>
            <a:avLst/>
            <a:gdLst/>
            <a:ahLst/>
            <a:rect l="0" t="0" r="r" b="b"/>
            <a:pathLst>
              <a:path w="28" h="1192">
                <a:moveTo>
                  <a:pt x="0" y="0"/>
                </a:moveTo>
                <a:lnTo>
                  <a:pt x="28" y="0"/>
                </a:lnTo>
                <a:lnTo>
                  <a:pt x="28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36" name=""/>
          <p:cNvSpPr/>
          <p:nvPr/>
        </p:nvSpPr>
        <p:spPr>
          <a:xfrm>
            <a:off x="1809720" y="3162240"/>
            <a:ext cx="5172120" cy="9720"/>
          </a:xfrm>
          <a:custGeom>
            <a:avLst/>
            <a:gdLst/>
            <a:ahLst/>
            <a:rect l="0" t="0" r="r" b="b"/>
            <a:pathLst>
              <a:path w="14367" h="27">
                <a:moveTo>
                  <a:pt x="0" y="0"/>
                </a:moveTo>
                <a:lnTo>
                  <a:pt x="14367" y="0"/>
                </a:lnTo>
                <a:lnTo>
                  <a:pt x="1436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37" name=""/>
          <p:cNvSpPr/>
          <p:nvPr/>
        </p:nvSpPr>
        <p:spPr>
          <a:xfrm>
            <a:off x="6972120" y="3171600"/>
            <a:ext cx="9720" cy="429120"/>
          </a:xfrm>
          <a:custGeom>
            <a:avLst/>
            <a:gdLst/>
            <a:ahLst/>
            <a:rect l="0" t="0" r="r" b="b"/>
            <a:pathLst>
              <a:path w="27" h="1192">
                <a:moveTo>
                  <a:pt x="0" y="0"/>
                </a:moveTo>
                <a:lnTo>
                  <a:pt x="27" y="0"/>
                </a:lnTo>
                <a:lnTo>
                  <a:pt x="27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38" name=""/>
          <p:cNvSpPr/>
          <p:nvPr/>
        </p:nvSpPr>
        <p:spPr>
          <a:xfrm>
            <a:off x="6981480" y="3162240"/>
            <a:ext cx="914760" cy="9720"/>
          </a:xfrm>
          <a:custGeom>
            <a:avLst/>
            <a:gdLst/>
            <a:ahLst/>
            <a:rect l="0" t="0" r="r" b="b"/>
            <a:pathLst>
              <a:path w="2541" h="27">
                <a:moveTo>
                  <a:pt x="0" y="0"/>
                </a:moveTo>
                <a:lnTo>
                  <a:pt x="2541" y="0"/>
                </a:lnTo>
                <a:lnTo>
                  <a:pt x="25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39" name=""/>
          <p:cNvSpPr/>
          <p:nvPr/>
        </p:nvSpPr>
        <p:spPr>
          <a:xfrm>
            <a:off x="7886520" y="3171600"/>
            <a:ext cx="9720" cy="429120"/>
          </a:xfrm>
          <a:custGeom>
            <a:avLst/>
            <a:gdLst/>
            <a:ahLst/>
            <a:rect l="0" t="0" r="r" b="b"/>
            <a:pathLst>
              <a:path w="27" h="1192">
                <a:moveTo>
                  <a:pt x="0" y="0"/>
                </a:moveTo>
                <a:lnTo>
                  <a:pt x="27" y="0"/>
                </a:lnTo>
                <a:lnTo>
                  <a:pt x="27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40" name=""/>
          <p:cNvSpPr/>
          <p:nvPr/>
        </p:nvSpPr>
        <p:spPr>
          <a:xfrm>
            <a:off x="7895880" y="3162240"/>
            <a:ext cx="3705840" cy="9720"/>
          </a:xfrm>
          <a:custGeom>
            <a:avLst/>
            <a:gdLst/>
            <a:ahLst/>
            <a:rect l="0" t="0" r="r" b="b"/>
            <a:pathLst>
              <a:path w="10294" h="27">
                <a:moveTo>
                  <a:pt x="0" y="0"/>
                </a:moveTo>
                <a:lnTo>
                  <a:pt x="10294" y="0"/>
                </a:lnTo>
                <a:lnTo>
                  <a:pt x="1029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41" name=""/>
          <p:cNvSpPr/>
          <p:nvPr/>
        </p:nvSpPr>
        <p:spPr>
          <a:xfrm>
            <a:off x="11591640" y="3171600"/>
            <a:ext cx="10080" cy="429120"/>
          </a:xfrm>
          <a:custGeom>
            <a:avLst/>
            <a:gdLst/>
            <a:ahLst/>
            <a:rect l="0" t="0" r="r" b="b"/>
            <a:pathLst>
              <a:path w="28" h="1192">
                <a:moveTo>
                  <a:pt x="0" y="0"/>
                </a:moveTo>
                <a:lnTo>
                  <a:pt x="28" y="0"/>
                </a:lnTo>
                <a:lnTo>
                  <a:pt x="28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42" name=""/>
          <p:cNvSpPr/>
          <p:nvPr/>
        </p:nvSpPr>
        <p:spPr>
          <a:xfrm>
            <a:off x="590400" y="3600360"/>
            <a:ext cx="9720" cy="428760"/>
          </a:xfrm>
          <a:custGeom>
            <a:avLst/>
            <a:gdLst/>
            <a:ahLst/>
            <a:rect l="0" t="0" r="r" b="b"/>
            <a:pathLst>
              <a:path w="27" h="1191">
                <a:moveTo>
                  <a:pt x="0" y="0"/>
                </a:moveTo>
                <a:lnTo>
                  <a:pt x="27" y="0"/>
                </a:lnTo>
                <a:lnTo>
                  <a:pt x="27" y="1191"/>
                </a:lnTo>
                <a:lnTo>
                  <a:pt x="0" y="119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43" name=""/>
          <p:cNvSpPr/>
          <p:nvPr/>
        </p:nvSpPr>
        <p:spPr>
          <a:xfrm>
            <a:off x="590400" y="3590640"/>
            <a:ext cx="1219680" cy="10080"/>
          </a:xfrm>
          <a:custGeom>
            <a:avLst/>
            <a:gdLst/>
            <a:ahLst/>
            <a:rect l="0" t="0" r="r" b="b"/>
            <a:pathLst>
              <a:path w="3388" h="28">
                <a:moveTo>
                  <a:pt x="0" y="0"/>
                </a:moveTo>
                <a:lnTo>
                  <a:pt x="3388" y="0"/>
                </a:lnTo>
                <a:lnTo>
                  <a:pt x="338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44" name=""/>
          <p:cNvSpPr/>
          <p:nvPr/>
        </p:nvSpPr>
        <p:spPr>
          <a:xfrm>
            <a:off x="1800000" y="3600360"/>
            <a:ext cx="10080" cy="428760"/>
          </a:xfrm>
          <a:custGeom>
            <a:avLst/>
            <a:gdLst/>
            <a:ahLst/>
            <a:rect l="0" t="0" r="r" b="b"/>
            <a:pathLst>
              <a:path w="28" h="1191">
                <a:moveTo>
                  <a:pt x="0" y="0"/>
                </a:moveTo>
                <a:lnTo>
                  <a:pt x="28" y="0"/>
                </a:lnTo>
                <a:lnTo>
                  <a:pt x="28" y="1191"/>
                </a:lnTo>
                <a:lnTo>
                  <a:pt x="0" y="119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45" name=""/>
          <p:cNvSpPr/>
          <p:nvPr/>
        </p:nvSpPr>
        <p:spPr>
          <a:xfrm>
            <a:off x="1809720" y="3590640"/>
            <a:ext cx="5172120" cy="10080"/>
          </a:xfrm>
          <a:custGeom>
            <a:avLst/>
            <a:gdLst/>
            <a:ahLst/>
            <a:rect l="0" t="0" r="r" b="b"/>
            <a:pathLst>
              <a:path w="14367" h="28">
                <a:moveTo>
                  <a:pt x="0" y="0"/>
                </a:moveTo>
                <a:lnTo>
                  <a:pt x="14367" y="0"/>
                </a:lnTo>
                <a:lnTo>
                  <a:pt x="1436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46" name=""/>
          <p:cNvSpPr/>
          <p:nvPr/>
        </p:nvSpPr>
        <p:spPr>
          <a:xfrm>
            <a:off x="6972120" y="3600360"/>
            <a:ext cx="9720" cy="428760"/>
          </a:xfrm>
          <a:custGeom>
            <a:avLst/>
            <a:gdLst/>
            <a:ahLst/>
            <a:rect l="0" t="0" r="r" b="b"/>
            <a:pathLst>
              <a:path w="27" h="1191">
                <a:moveTo>
                  <a:pt x="0" y="0"/>
                </a:moveTo>
                <a:lnTo>
                  <a:pt x="27" y="0"/>
                </a:lnTo>
                <a:lnTo>
                  <a:pt x="27" y="1191"/>
                </a:lnTo>
                <a:lnTo>
                  <a:pt x="0" y="119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47" name=""/>
          <p:cNvSpPr/>
          <p:nvPr/>
        </p:nvSpPr>
        <p:spPr>
          <a:xfrm>
            <a:off x="6981480" y="3590640"/>
            <a:ext cx="914760" cy="10080"/>
          </a:xfrm>
          <a:custGeom>
            <a:avLst/>
            <a:gdLst/>
            <a:ahLst/>
            <a:rect l="0" t="0" r="r" b="b"/>
            <a:pathLst>
              <a:path w="2541" h="28">
                <a:moveTo>
                  <a:pt x="0" y="0"/>
                </a:moveTo>
                <a:lnTo>
                  <a:pt x="2541" y="0"/>
                </a:lnTo>
                <a:lnTo>
                  <a:pt x="254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48" name=""/>
          <p:cNvSpPr/>
          <p:nvPr/>
        </p:nvSpPr>
        <p:spPr>
          <a:xfrm>
            <a:off x="7886520" y="3600360"/>
            <a:ext cx="9720" cy="428760"/>
          </a:xfrm>
          <a:custGeom>
            <a:avLst/>
            <a:gdLst/>
            <a:ahLst/>
            <a:rect l="0" t="0" r="r" b="b"/>
            <a:pathLst>
              <a:path w="27" h="1191">
                <a:moveTo>
                  <a:pt x="0" y="0"/>
                </a:moveTo>
                <a:lnTo>
                  <a:pt x="27" y="0"/>
                </a:lnTo>
                <a:lnTo>
                  <a:pt x="27" y="1191"/>
                </a:lnTo>
                <a:lnTo>
                  <a:pt x="0" y="119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49" name=""/>
          <p:cNvSpPr/>
          <p:nvPr/>
        </p:nvSpPr>
        <p:spPr>
          <a:xfrm>
            <a:off x="7895880" y="3590640"/>
            <a:ext cx="3705840" cy="10080"/>
          </a:xfrm>
          <a:custGeom>
            <a:avLst/>
            <a:gdLst/>
            <a:ahLst/>
            <a:rect l="0" t="0" r="r" b="b"/>
            <a:pathLst>
              <a:path w="10294" h="28">
                <a:moveTo>
                  <a:pt x="0" y="0"/>
                </a:moveTo>
                <a:lnTo>
                  <a:pt x="10294" y="0"/>
                </a:lnTo>
                <a:lnTo>
                  <a:pt x="102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50" name=""/>
          <p:cNvSpPr/>
          <p:nvPr/>
        </p:nvSpPr>
        <p:spPr>
          <a:xfrm>
            <a:off x="11591640" y="3600360"/>
            <a:ext cx="10080" cy="428760"/>
          </a:xfrm>
          <a:custGeom>
            <a:avLst/>
            <a:gdLst/>
            <a:ahLst/>
            <a:rect l="0" t="0" r="r" b="b"/>
            <a:pathLst>
              <a:path w="28" h="1191">
                <a:moveTo>
                  <a:pt x="0" y="0"/>
                </a:moveTo>
                <a:lnTo>
                  <a:pt x="28" y="0"/>
                </a:lnTo>
                <a:lnTo>
                  <a:pt x="28" y="1191"/>
                </a:lnTo>
                <a:lnTo>
                  <a:pt x="0" y="119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51" name=""/>
          <p:cNvSpPr/>
          <p:nvPr/>
        </p:nvSpPr>
        <p:spPr>
          <a:xfrm>
            <a:off x="590400" y="4028760"/>
            <a:ext cx="9720" cy="429120"/>
          </a:xfrm>
          <a:custGeom>
            <a:avLst/>
            <a:gdLst/>
            <a:ahLst/>
            <a:rect l="0" t="0" r="r" b="b"/>
            <a:pathLst>
              <a:path w="27" h="1192">
                <a:moveTo>
                  <a:pt x="0" y="0"/>
                </a:moveTo>
                <a:lnTo>
                  <a:pt x="27" y="0"/>
                </a:lnTo>
                <a:lnTo>
                  <a:pt x="27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52" name=""/>
          <p:cNvSpPr/>
          <p:nvPr/>
        </p:nvSpPr>
        <p:spPr>
          <a:xfrm>
            <a:off x="590400" y="4019400"/>
            <a:ext cx="1219680" cy="9720"/>
          </a:xfrm>
          <a:custGeom>
            <a:avLst/>
            <a:gdLst/>
            <a:ahLst/>
            <a:rect l="0" t="0" r="r" b="b"/>
            <a:pathLst>
              <a:path w="3388" h="27">
                <a:moveTo>
                  <a:pt x="0" y="0"/>
                </a:moveTo>
                <a:lnTo>
                  <a:pt x="3388" y="0"/>
                </a:lnTo>
                <a:lnTo>
                  <a:pt x="338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53" name=""/>
          <p:cNvSpPr/>
          <p:nvPr/>
        </p:nvSpPr>
        <p:spPr>
          <a:xfrm>
            <a:off x="1800000" y="4028760"/>
            <a:ext cx="10080" cy="429120"/>
          </a:xfrm>
          <a:custGeom>
            <a:avLst/>
            <a:gdLst/>
            <a:ahLst/>
            <a:rect l="0" t="0" r="r" b="b"/>
            <a:pathLst>
              <a:path w="28" h="1192">
                <a:moveTo>
                  <a:pt x="0" y="0"/>
                </a:moveTo>
                <a:lnTo>
                  <a:pt x="28" y="0"/>
                </a:lnTo>
                <a:lnTo>
                  <a:pt x="28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54" name=""/>
          <p:cNvSpPr/>
          <p:nvPr/>
        </p:nvSpPr>
        <p:spPr>
          <a:xfrm>
            <a:off x="1809720" y="4019400"/>
            <a:ext cx="5172120" cy="9720"/>
          </a:xfrm>
          <a:custGeom>
            <a:avLst/>
            <a:gdLst/>
            <a:ahLst/>
            <a:rect l="0" t="0" r="r" b="b"/>
            <a:pathLst>
              <a:path w="14367" h="27">
                <a:moveTo>
                  <a:pt x="0" y="0"/>
                </a:moveTo>
                <a:lnTo>
                  <a:pt x="14367" y="0"/>
                </a:lnTo>
                <a:lnTo>
                  <a:pt x="1436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55" name=""/>
          <p:cNvSpPr/>
          <p:nvPr/>
        </p:nvSpPr>
        <p:spPr>
          <a:xfrm>
            <a:off x="6972120" y="4028760"/>
            <a:ext cx="9720" cy="429120"/>
          </a:xfrm>
          <a:custGeom>
            <a:avLst/>
            <a:gdLst/>
            <a:ahLst/>
            <a:rect l="0" t="0" r="r" b="b"/>
            <a:pathLst>
              <a:path w="27" h="1192">
                <a:moveTo>
                  <a:pt x="0" y="0"/>
                </a:moveTo>
                <a:lnTo>
                  <a:pt x="27" y="0"/>
                </a:lnTo>
                <a:lnTo>
                  <a:pt x="27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56" name=""/>
          <p:cNvSpPr/>
          <p:nvPr/>
        </p:nvSpPr>
        <p:spPr>
          <a:xfrm>
            <a:off x="6981480" y="4019400"/>
            <a:ext cx="914760" cy="9720"/>
          </a:xfrm>
          <a:custGeom>
            <a:avLst/>
            <a:gdLst/>
            <a:ahLst/>
            <a:rect l="0" t="0" r="r" b="b"/>
            <a:pathLst>
              <a:path w="2541" h="27">
                <a:moveTo>
                  <a:pt x="0" y="0"/>
                </a:moveTo>
                <a:lnTo>
                  <a:pt x="2541" y="0"/>
                </a:lnTo>
                <a:lnTo>
                  <a:pt x="25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57" name=""/>
          <p:cNvSpPr/>
          <p:nvPr/>
        </p:nvSpPr>
        <p:spPr>
          <a:xfrm>
            <a:off x="7886520" y="4028760"/>
            <a:ext cx="9720" cy="429120"/>
          </a:xfrm>
          <a:custGeom>
            <a:avLst/>
            <a:gdLst/>
            <a:ahLst/>
            <a:rect l="0" t="0" r="r" b="b"/>
            <a:pathLst>
              <a:path w="27" h="1192">
                <a:moveTo>
                  <a:pt x="0" y="0"/>
                </a:moveTo>
                <a:lnTo>
                  <a:pt x="27" y="0"/>
                </a:lnTo>
                <a:lnTo>
                  <a:pt x="27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58" name=""/>
          <p:cNvSpPr/>
          <p:nvPr/>
        </p:nvSpPr>
        <p:spPr>
          <a:xfrm>
            <a:off x="7895880" y="4019400"/>
            <a:ext cx="3705840" cy="9720"/>
          </a:xfrm>
          <a:custGeom>
            <a:avLst/>
            <a:gdLst/>
            <a:ahLst/>
            <a:rect l="0" t="0" r="r" b="b"/>
            <a:pathLst>
              <a:path w="10294" h="27">
                <a:moveTo>
                  <a:pt x="0" y="0"/>
                </a:moveTo>
                <a:lnTo>
                  <a:pt x="10294" y="0"/>
                </a:lnTo>
                <a:lnTo>
                  <a:pt x="1029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59" name=""/>
          <p:cNvSpPr/>
          <p:nvPr/>
        </p:nvSpPr>
        <p:spPr>
          <a:xfrm>
            <a:off x="11591640" y="4028760"/>
            <a:ext cx="10080" cy="429120"/>
          </a:xfrm>
          <a:custGeom>
            <a:avLst/>
            <a:gdLst/>
            <a:ahLst/>
            <a:rect l="0" t="0" r="r" b="b"/>
            <a:pathLst>
              <a:path w="28" h="1192">
                <a:moveTo>
                  <a:pt x="0" y="0"/>
                </a:moveTo>
                <a:lnTo>
                  <a:pt x="28" y="0"/>
                </a:lnTo>
                <a:lnTo>
                  <a:pt x="28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60" name=""/>
          <p:cNvSpPr/>
          <p:nvPr/>
        </p:nvSpPr>
        <p:spPr>
          <a:xfrm>
            <a:off x="590400" y="4457520"/>
            <a:ext cx="9720" cy="429120"/>
          </a:xfrm>
          <a:custGeom>
            <a:avLst/>
            <a:gdLst/>
            <a:ahLst/>
            <a:rect l="0" t="0" r="r" b="b"/>
            <a:pathLst>
              <a:path w="27" h="1192">
                <a:moveTo>
                  <a:pt x="0" y="0"/>
                </a:moveTo>
                <a:lnTo>
                  <a:pt x="27" y="0"/>
                </a:lnTo>
                <a:lnTo>
                  <a:pt x="27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61" name=""/>
          <p:cNvSpPr/>
          <p:nvPr/>
        </p:nvSpPr>
        <p:spPr>
          <a:xfrm>
            <a:off x="590400" y="4448160"/>
            <a:ext cx="1219680" cy="9720"/>
          </a:xfrm>
          <a:custGeom>
            <a:avLst/>
            <a:gdLst/>
            <a:ahLst/>
            <a:rect l="0" t="0" r="r" b="b"/>
            <a:pathLst>
              <a:path w="3388" h="27">
                <a:moveTo>
                  <a:pt x="0" y="0"/>
                </a:moveTo>
                <a:lnTo>
                  <a:pt x="3388" y="0"/>
                </a:lnTo>
                <a:lnTo>
                  <a:pt x="338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62" name=""/>
          <p:cNvSpPr/>
          <p:nvPr/>
        </p:nvSpPr>
        <p:spPr>
          <a:xfrm>
            <a:off x="1800000" y="4457520"/>
            <a:ext cx="10080" cy="429120"/>
          </a:xfrm>
          <a:custGeom>
            <a:avLst/>
            <a:gdLst/>
            <a:ahLst/>
            <a:rect l="0" t="0" r="r" b="b"/>
            <a:pathLst>
              <a:path w="28" h="1192">
                <a:moveTo>
                  <a:pt x="0" y="0"/>
                </a:moveTo>
                <a:lnTo>
                  <a:pt x="28" y="0"/>
                </a:lnTo>
                <a:lnTo>
                  <a:pt x="28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63" name=""/>
          <p:cNvSpPr/>
          <p:nvPr/>
        </p:nvSpPr>
        <p:spPr>
          <a:xfrm>
            <a:off x="1809720" y="4448160"/>
            <a:ext cx="5172120" cy="9720"/>
          </a:xfrm>
          <a:custGeom>
            <a:avLst/>
            <a:gdLst/>
            <a:ahLst/>
            <a:rect l="0" t="0" r="r" b="b"/>
            <a:pathLst>
              <a:path w="14367" h="27">
                <a:moveTo>
                  <a:pt x="0" y="0"/>
                </a:moveTo>
                <a:lnTo>
                  <a:pt x="14367" y="0"/>
                </a:lnTo>
                <a:lnTo>
                  <a:pt x="1436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64" name=""/>
          <p:cNvSpPr/>
          <p:nvPr/>
        </p:nvSpPr>
        <p:spPr>
          <a:xfrm>
            <a:off x="6972120" y="4457520"/>
            <a:ext cx="9720" cy="429120"/>
          </a:xfrm>
          <a:custGeom>
            <a:avLst/>
            <a:gdLst/>
            <a:ahLst/>
            <a:rect l="0" t="0" r="r" b="b"/>
            <a:pathLst>
              <a:path w="27" h="1192">
                <a:moveTo>
                  <a:pt x="0" y="0"/>
                </a:moveTo>
                <a:lnTo>
                  <a:pt x="27" y="0"/>
                </a:lnTo>
                <a:lnTo>
                  <a:pt x="27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65" name=""/>
          <p:cNvSpPr/>
          <p:nvPr/>
        </p:nvSpPr>
        <p:spPr>
          <a:xfrm>
            <a:off x="6981480" y="4448160"/>
            <a:ext cx="914760" cy="9720"/>
          </a:xfrm>
          <a:custGeom>
            <a:avLst/>
            <a:gdLst/>
            <a:ahLst/>
            <a:rect l="0" t="0" r="r" b="b"/>
            <a:pathLst>
              <a:path w="2541" h="27">
                <a:moveTo>
                  <a:pt x="0" y="0"/>
                </a:moveTo>
                <a:lnTo>
                  <a:pt x="2541" y="0"/>
                </a:lnTo>
                <a:lnTo>
                  <a:pt x="25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66" name=""/>
          <p:cNvSpPr/>
          <p:nvPr/>
        </p:nvSpPr>
        <p:spPr>
          <a:xfrm>
            <a:off x="7886520" y="4457520"/>
            <a:ext cx="9720" cy="429120"/>
          </a:xfrm>
          <a:custGeom>
            <a:avLst/>
            <a:gdLst/>
            <a:ahLst/>
            <a:rect l="0" t="0" r="r" b="b"/>
            <a:pathLst>
              <a:path w="27" h="1192">
                <a:moveTo>
                  <a:pt x="0" y="0"/>
                </a:moveTo>
                <a:lnTo>
                  <a:pt x="27" y="0"/>
                </a:lnTo>
                <a:lnTo>
                  <a:pt x="27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67" name=""/>
          <p:cNvSpPr/>
          <p:nvPr/>
        </p:nvSpPr>
        <p:spPr>
          <a:xfrm>
            <a:off x="7895880" y="4448160"/>
            <a:ext cx="3705840" cy="9720"/>
          </a:xfrm>
          <a:custGeom>
            <a:avLst/>
            <a:gdLst/>
            <a:ahLst/>
            <a:rect l="0" t="0" r="r" b="b"/>
            <a:pathLst>
              <a:path w="10294" h="27">
                <a:moveTo>
                  <a:pt x="0" y="0"/>
                </a:moveTo>
                <a:lnTo>
                  <a:pt x="10294" y="0"/>
                </a:lnTo>
                <a:lnTo>
                  <a:pt x="1029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68" name=""/>
          <p:cNvSpPr/>
          <p:nvPr/>
        </p:nvSpPr>
        <p:spPr>
          <a:xfrm>
            <a:off x="11591640" y="4457520"/>
            <a:ext cx="10080" cy="429120"/>
          </a:xfrm>
          <a:custGeom>
            <a:avLst/>
            <a:gdLst/>
            <a:ahLst/>
            <a:rect l="0" t="0" r="r" b="b"/>
            <a:pathLst>
              <a:path w="28" h="1192">
                <a:moveTo>
                  <a:pt x="0" y="0"/>
                </a:moveTo>
                <a:lnTo>
                  <a:pt x="28" y="0"/>
                </a:lnTo>
                <a:lnTo>
                  <a:pt x="28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69" name=""/>
          <p:cNvSpPr/>
          <p:nvPr/>
        </p:nvSpPr>
        <p:spPr>
          <a:xfrm>
            <a:off x="590400" y="4886280"/>
            <a:ext cx="9720" cy="428760"/>
          </a:xfrm>
          <a:custGeom>
            <a:avLst/>
            <a:gdLst/>
            <a:ahLst/>
            <a:rect l="0" t="0" r="r" b="b"/>
            <a:pathLst>
              <a:path w="27" h="1191">
                <a:moveTo>
                  <a:pt x="0" y="0"/>
                </a:moveTo>
                <a:lnTo>
                  <a:pt x="27" y="0"/>
                </a:lnTo>
                <a:lnTo>
                  <a:pt x="27" y="1191"/>
                </a:lnTo>
                <a:lnTo>
                  <a:pt x="0" y="119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70" name=""/>
          <p:cNvSpPr/>
          <p:nvPr/>
        </p:nvSpPr>
        <p:spPr>
          <a:xfrm>
            <a:off x="590400" y="4876560"/>
            <a:ext cx="1219680" cy="10080"/>
          </a:xfrm>
          <a:custGeom>
            <a:avLst/>
            <a:gdLst/>
            <a:ahLst/>
            <a:rect l="0" t="0" r="r" b="b"/>
            <a:pathLst>
              <a:path w="3388" h="28">
                <a:moveTo>
                  <a:pt x="0" y="0"/>
                </a:moveTo>
                <a:lnTo>
                  <a:pt x="3388" y="0"/>
                </a:lnTo>
                <a:lnTo>
                  <a:pt x="338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71" name=""/>
          <p:cNvSpPr/>
          <p:nvPr/>
        </p:nvSpPr>
        <p:spPr>
          <a:xfrm>
            <a:off x="1800000" y="4886280"/>
            <a:ext cx="10080" cy="428760"/>
          </a:xfrm>
          <a:custGeom>
            <a:avLst/>
            <a:gdLst/>
            <a:ahLst/>
            <a:rect l="0" t="0" r="r" b="b"/>
            <a:pathLst>
              <a:path w="28" h="1191">
                <a:moveTo>
                  <a:pt x="0" y="0"/>
                </a:moveTo>
                <a:lnTo>
                  <a:pt x="28" y="0"/>
                </a:lnTo>
                <a:lnTo>
                  <a:pt x="28" y="1191"/>
                </a:lnTo>
                <a:lnTo>
                  <a:pt x="0" y="119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72" name=""/>
          <p:cNvSpPr/>
          <p:nvPr/>
        </p:nvSpPr>
        <p:spPr>
          <a:xfrm>
            <a:off x="1809720" y="4876560"/>
            <a:ext cx="5172120" cy="10080"/>
          </a:xfrm>
          <a:custGeom>
            <a:avLst/>
            <a:gdLst/>
            <a:ahLst/>
            <a:rect l="0" t="0" r="r" b="b"/>
            <a:pathLst>
              <a:path w="14367" h="28">
                <a:moveTo>
                  <a:pt x="0" y="0"/>
                </a:moveTo>
                <a:lnTo>
                  <a:pt x="14367" y="0"/>
                </a:lnTo>
                <a:lnTo>
                  <a:pt x="1436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73" name=""/>
          <p:cNvSpPr/>
          <p:nvPr/>
        </p:nvSpPr>
        <p:spPr>
          <a:xfrm>
            <a:off x="6972120" y="4886280"/>
            <a:ext cx="9720" cy="428760"/>
          </a:xfrm>
          <a:custGeom>
            <a:avLst/>
            <a:gdLst/>
            <a:ahLst/>
            <a:rect l="0" t="0" r="r" b="b"/>
            <a:pathLst>
              <a:path w="27" h="1191">
                <a:moveTo>
                  <a:pt x="0" y="0"/>
                </a:moveTo>
                <a:lnTo>
                  <a:pt x="27" y="0"/>
                </a:lnTo>
                <a:lnTo>
                  <a:pt x="27" y="1191"/>
                </a:lnTo>
                <a:lnTo>
                  <a:pt x="0" y="119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74" name=""/>
          <p:cNvSpPr/>
          <p:nvPr/>
        </p:nvSpPr>
        <p:spPr>
          <a:xfrm>
            <a:off x="6981480" y="4876560"/>
            <a:ext cx="914760" cy="10080"/>
          </a:xfrm>
          <a:custGeom>
            <a:avLst/>
            <a:gdLst/>
            <a:ahLst/>
            <a:rect l="0" t="0" r="r" b="b"/>
            <a:pathLst>
              <a:path w="2541" h="28">
                <a:moveTo>
                  <a:pt x="0" y="0"/>
                </a:moveTo>
                <a:lnTo>
                  <a:pt x="2541" y="0"/>
                </a:lnTo>
                <a:lnTo>
                  <a:pt x="254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75" name=""/>
          <p:cNvSpPr/>
          <p:nvPr/>
        </p:nvSpPr>
        <p:spPr>
          <a:xfrm>
            <a:off x="7886520" y="4886280"/>
            <a:ext cx="9720" cy="428760"/>
          </a:xfrm>
          <a:custGeom>
            <a:avLst/>
            <a:gdLst/>
            <a:ahLst/>
            <a:rect l="0" t="0" r="r" b="b"/>
            <a:pathLst>
              <a:path w="27" h="1191">
                <a:moveTo>
                  <a:pt x="0" y="0"/>
                </a:moveTo>
                <a:lnTo>
                  <a:pt x="27" y="0"/>
                </a:lnTo>
                <a:lnTo>
                  <a:pt x="27" y="1191"/>
                </a:lnTo>
                <a:lnTo>
                  <a:pt x="0" y="119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76" name=""/>
          <p:cNvSpPr/>
          <p:nvPr/>
        </p:nvSpPr>
        <p:spPr>
          <a:xfrm>
            <a:off x="7895880" y="4876560"/>
            <a:ext cx="3705840" cy="10080"/>
          </a:xfrm>
          <a:custGeom>
            <a:avLst/>
            <a:gdLst/>
            <a:ahLst/>
            <a:rect l="0" t="0" r="r" b="b"/>
            <a:pathLst>
              <a:path w="10294" h="28">
                <a:moveTo>
                  <a:pt x="0" y="0"/>
                </a:moveTo>
                <a:lnTo>
                  <a:pt x="10294" y="0"/>
                </a:lnTo>
                <a:lnTo>
                  <a:pt x="102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77" name=""/>
          <p:cNvSpPr/>
          <p:nvPr/>
        </p:nvSpPr>
        <p:spPr>
          <a:xfrm>
            <a:off x="11591640" y="4886280"/>
            <a:ext cx="10080" cy="428760"/>
          </a:xfrm>
          <a:custGeom>
            <a:avLst/>
            <a:gdLst/>
            <a:ahLst/>
            <a:rect l="0" t="0" r="r" b="b"/>
            <a:pathLst>
              <a:path w="28" h="1191">
                <a:moveTo>
                  <a:pt x="0" y="0"/>
                </a:moveTo>
                <a:lnTo>
                  <a:pt x="28" y="0"/>
                </a:lnTo>
                <a:lnTo>
                  <a:pt x="28" y="1191"/>
                </a:lnTo>
                <a:lnTo>
                  <a:pt x="0" y="119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78" name=""/>
          <p:cNvSpPr/>
          <p:nvPr/>
        </p:nvSpPr>
        <p:spPr>
          <a:xfrm>
            <a:off x="590400" y="5314680"/>
            <a:ext cx="9720" cy="429120"/>
          </a:xfrm>
          <a:custGeom>
            <a:avLst/>
            <a:gdLst/>
            <a:ahLst/>
            <a:rect l="0" t="0" r="r" b="b"/>
            <a:pathLst>
              <a:path w="27" h="1192">
                <a:moveTo>
                  <a:pt x="0" y="0"/>
                </a:moveTo>
                <a:lnTo>
                  <a:pt x="27" y="0"/>
                </a:lnTo>
                <a:lnTo>
                  <a:pt x="27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79" name=""/>
          <p:cNvSpPr/>
          <p:nvPr/>
        </p:nvSpPr>
        <p:spPr>
          <a:xfrm>
            <a:off x="590400" y="5305320"/>
            <a:ext cx="1219680" cy="9720"/>
          </a:xfrm>
          <a:custGeom>
            <a:avLst/>
            <a:gdLst/>
            <a:ahLst/>
            <a:rect l="0" t="0" r="r" b="b"/>
            <a:pathLst>
              <a:path w="3388" h="27">
                <a:moveTo>
                  <a:pt x="0" y="0"/>
                </a:moveTo>
                <a:lnTo>
                  <a:pt x="3388" y="0"/>
                </a:lnTo>
                <a:lnTo>
                  <a:pt x="338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80" name=""/>
          <p:cNvSpPr/>
          <p:nvPr/>
        </p:nvSpPr>
        <p:spPr>
          <a:xfrm>
            <a:off x="1800000" y="5314680"/>
            <a:ext cx="10080" cy="429120"/>
          </a:xfrm>
          <a:custGeom>
            <a:avLst/>
            <a:gdLst/>
            <a:ahLst/>
            <a:rect l="0" t="0" r="r" b="b"/>
            <a:pathLst>
              <a:path w="28" h="1192">
                <a:moveTo>
                  <a:pt x="0" y="0"/>
                </a:moveTo>
                <a:lnTo>
                  <a:pt x="28" y="0"/>
                </a:lnTo>
                <a:lnTo>
                  <a:pt x="28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81" name=""/>
          <p:cNvSpPr/>
          <p:nvPr/>
        </p:nvSpPr>
        <p:spPr>
          <a:xfrm>
            <a:off x="1809720" y="5305320"/>
            <a:ext cx="5172120" cy="9720"/>
          </a:xfrm>
          <a:custGeom>
            <a:avLst/>
            <a:gdLst/>
            <a:ahLst/>
            <a:rect l="0" t="0" r="r" b="b"/>
            <a:pathLst>
              <a:path w="14367" h="27">
                <a:moveTo>
                  <a:pt x="0" y="0"/>
                </a:moveTo>
                <a:lnTo>
                  <a:pt x="14367" y="0"/>
                </a:lnTo>
                <a:lnTo>
                  <a:pt x="1436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82" name=""/>
          <p:cNvSpPr/>
          <p:nvPr/>
        </p:nvSpPr>
        <p:spPr>
          <a:xfrm>
            <a:off x="6972120" y="5314680"/>
            <a:ext cx="9720" cy="429120"/>
          </a:xfrm>
          <a:custGeom>
            <a:avLst/>
            <a:gdLst/>
            <a:ahLst/>
            <a:rect l="0" t="0" r="r" b="b"/>
            <a:pathLst>
              <a:path w="27" h="1192">
                <a:moveTo>
                  <a:pt x="0" y="0"/>
                </a:moveTo>
                <a:lnTo>
                  <a:pt x="27" y="0"/>
                </a:lnTo>
                <a:lnTo>
                  <a:pt x="27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83" name=""/>
          <p:cNvSpPr/>
          <p:nvPr/>
        </p:nvSpPr>
        <p:spPr>
          <a:xfrm>
            <a:off x="6981480" y="5305320"/>
            <a:ext cx="914760" cy="9720"/>
          </a:xfrm>
          <a:custGeom>
            <a:avLst/>
            <a:gdLst/>
            <a:ahLst/>
            <a:rect l="0" t="0" r="r" b="b"/>
            <a:pathLst>
              <a:path w="2541" h="27">
                <a:moveTo>
                  <a:pt x="0" y="0"/>
                </a:moveTo>
                <a:lnTo>
                  <a:pt x="2541" y="0"/>
                </a:lnTo>
                <a:lnTo>
                  <a:pt x="25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84" name=""/>
          <p:cNvSpPr/>
          <p:nvPr/>
        </p:nvSpPr>
        <p:spPr>
          <a:xfrm>
            <a:off x="7886520" y="5314680"/>
            <a:ext cx="9720" cy="429120"/>
          </a:xfrm>
          <a:custGeom>
            <a:avLst/>
            <a:gdLst/>
            <a:ahLst/>
            <a:rect l="0" t="0" r="r" b="b"/>
            <a:pathLst>
              <a:path w="27" h="1192">
                <a:moveTo>
                  <a:pt x="0" y="0"/>
                </a:moveTo>
                <a:lnTo>
                  <a:pt x="27" y="0"/>
                </a:lnTo>
                <a:lnTo>
                  <a:pt x="27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85" name=""/>
          <p:cNvSpPr/>
          <p:nvPr/>
        </p:nvSpPr>
        <p:spPr>
          <a:xfrm>
            <a:off x="7895880" y="5305320"/>
            <a:ext cx="3705840" cy="9720"/>
          </a:xfrm>
          <a:custGeom>
            <a:avLst/>
            <a:gdLst/>
            <a:ahLst/>
            <a:rect l="0" t="0" r="r" b="b"/>
            <a:pathLst>
              <a:path w="10294" h="27">
                <a:moveTo>
                  <a:pt x="0" y="0"/>
                </a:moveTo>
                <a:lnTo>
                  <a:pt x="10294" y="0"/>
                </a:lnTo>
                <a:lnTo>
                  <a:pt x="1029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86" name=""/>
          <p:cNvSpPr/>
          <p:nvPr/>
        </p:nvSpPr>
        <p:spPr>
          <a:xfrm>
            <a:off x="11591640" y="5314680"/>
            <a:ext cx="10080" cy="429120"/>
          </a:xfrm>
          <a:custGeom>
            <a:avLst/>
            <a:gdLst/>
            <a:ahLst/>
            <a:rect l="0" t="0" r="r" b="b"/>
            <a:pathLst>
              <a:path w="28" h="1192">
                <a:moveTo>
                  <a:pt x="0" y="0"/>
                </a:moveTo>
                <a:lnTo>
                  <a:pt x="28" y="0"/>
                </a:lnTo>
                <a:lnTo>
                  <a:pt x="28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87" name=""/>
          <p:cNvSpPr/>
          <p:nvPr/>
        </p:nvSpPr>
        <p:spPr>
          <a:xfrm>
            <a:off x="590400" y="5733720"/>
            <a:ext cx="1219680" cy="10080"/>
          </a:xfrm>
          <a:custGeom>
            <a:avLst/>
            <a:gdLst/>
            <a:ahLst/>
            <a:rect l="0" t="0" r="r" b="b"/>
            <a:pathLst>
              <a:path w="3388" h="28">
                <a:moveTo>
                  <a:pt x="0" y="0"/>
                </a:moveTo>
                <a:lnTo>
                  <a:pt x="3388" y="0"/>
                </a:lnTo>
                <a:lnTo>
                  <a:pt x="338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88" name=""/>
          <p:cNvSpPr/>
          <p:nvPr/>
        </p:nvSpPr>
        <p:spPr>
          <a:xfrm>
            <a:off x="1809720" y="5733720"/>
            <a:ext cx="5172120" cy="10080"/>
          </a:xfrm>
          <a:custGeom>
            <a:avLst/>
            <a:gdLst/>
            <a:ahLst/>
            <a:rect l="0" t="0" r="r" b="b"/>
            <a:pathLst>
              <a:path w="14367" h="28">
                <a:moveTo>
                  <a:pt x="0" y="0"/>
                </a:moveTo>
                <a:lnTo>
                  <a:pt x="14367" y="0"/>
                </a:lnTo>
                <a:lnTo>
                  <a:pt x="1436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89" name=""/>
          <p:cNvSpPr/>
          <p:nvPr/>
        </p:nvSpPr>
        <p:spPr>
          <a:xfrm>
            <a:off x="6981480" y="5733720"/>
            <a:ext cx="914760" cy="10080"/>
          </a:xfrm>
          <a:custGeom>
            <a:avLst/>
            <a:gdLst/>
            <a:ahLst/>
            <a:rect l="0" t="0" r="r" b="b"/>
            <a:pathLst>
              <a:path w="2541" h="28">
                <a:moveTo>
                  <a:pt x="0" y="0"/>
                </a:moveTo>
                <a:lnTo>
                  <a:pt x="2541" y="0"/>
                </a:lnTo>
                <a:lnTo>
                  <a:pt x="254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90" name=""/>
          <p:cNvSpPr/>
          <p:nvPr/>
        </p:nvSpPr>
        <p:spPr>
          <a:xfrm>
            <a:off x="7895880" y="5733720"/>
            <a:ext cx="3705840" cy="10080"/>
          </a:xfrm>
          <a:custGeom>
            <a:avLst/>
            <a:gdLst/>
            <a:ahLst/>
            <a:rect l="0" t="0" r="r" b="b"/>
            <a:pathLst>
              <a:path w="10294" h="28">
                <a:moveTo>
                  <a:pt x="0" y="0"/>
                </a:moveTo>
                <a:lnTo>
                  <a:pt x="10294" y="0"/>
                </a:lnTo>
                <a:lnTo>
                  <a:pt x="102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91" name=""/>
          <p:cNvSpPr txBox="1"/>
          <p:nvPr/>
        </p:nvSpPr>
        <p:spPr>
          <a:xfrm>
            <a:off x="590400" y="691200"/>
            <a:ext cx="6962238" cy="36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8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データセットの構成：</a:t>
            </a:r>
            <a:r>
              <a:rPr lang="en-US" sz="28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9</a:t>
            </a:r>
            <a:r>
              <a:rPr lang="ja-JP" sz="28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種類・</a:t>
            </a:r>
            <a:r>
              <a:rPr lang="en-US" sz="28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872</a:t>
            </a:r>
            <a:r>
              <a:rPr lang="ja-JP" sz="28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問</a:t>
            </a:r>
            <a:endParaRPr lang="en-US" sz="28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92" name=""/>
          <p:cNvSpPr txBox="1"/>
          <p:nvPr/>
        </p:nvSpPr>
        <p:spPr>
          <a:xfrm>
            <a:off x="1119600" y="1575360"/>
            <a:ext cx="1826568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5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操作数 問題の種類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93" name=""/>
          <p:cNvSpPr txBox="1"/>
          <p:nvPr/>
        </p:nvSpPr>
        <p:spPr>
          <a:xfrm>
            <a:off x="7397640" y="1575360"/>
            <a:ext cx="95013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50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問数 構成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94" name=""/>
          <p:cNvSpPr txBox="1"/>
          <p:nvPr/>
        </p:nvSpPr>
        <p:spPr>
          <a:xfrm>
            <a:off x="1566000" y="2004120"/>
            <a:ext cx="218592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95" name=""/>
          <p:cNvSpPr txBox="1"/>
          <p:nvPr/>
        </p:nvSpPr>
        <p:spPr>
          <a:xfrm>
            <a:off x="1910160" y="2004120"/>
            <a:ext cx="3650238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複数操作で学んだ表現を</a:t>
            </a:r>
            <a:r>
              <a:rPr lang="en-US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</a:t>
            </a:r>
            <a:r>
              <a:rPr lang="ja-JP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操作で使う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96" name=""/>
          <p:cNvSpPr txBox="1"/>
          <p:nvPr/>
        </p:nvSpPr>
        <p:spPr>
          <a:xfrm>
            <a:off x="7528320" y="2004120"/>
            <a:ext cx="288558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96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97" name=""/>
          <p:cNvSpPr txBox="1"/>
          <p:nvPr/>
        </p:nvSpPr>
        <p:spPr>
          <a:xfrm>
            <a:off x="7997760" y="2004120"/>
            <a:ext cx="160011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24</a:t>
            </a:r>
            <a:r>
              <a:rPr lang="ja-JP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操作 </a:t>
            </a:r>
            <a:r>
              <a:rPr lang="en-US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× 4</a:t>
            </a:r>
            <a:r>
              <a:rPr lang="ja-JP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表現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98" name=""/>
          <p:cNvSpPr txBox="1"/>
          <p:nvPr/>
        </p:nvSpPr>
        <p:spPr>
          <a:xfrm>
            <a:off x="1566000" y="2432520"/>
            <a:ext cx="218592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2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899" name=""/>
          <p:cNvSpPr txBox="1"/>
          <p:nvPr/>
        </p:nvSpPr>
        <p:spPr>
          <a:xfrm>
            <a:off x="1910160" y="2432520"/>
            <a:ext cx="2554794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初めて組み合わせる</a:t>
            </a:r>
            <a:r>
              <a:rPr lang="en-US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2</a:t>
            </a:r>
            <a:r>
              <a:rPr lang="ja-JP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操作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00" name=""/>
          <p:cNvSpPr txBox="1"/>
          <p:nvPr/>
        </p:nvSpPr>
        <p:spPr>
          <a:xfrm>
            <a:off x="7403040" y="2432520"/>
            <a:ext cx="43263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100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01" name=""/>
          <p:cNvSpPr txBox="1"/>
          <p:nvPr/>
        </p:nvSpPr>
        <p:spPr>
          <a:xfrm>
            <a:off x="7997760" y="2432520"/>
            <a:ext cx="2545686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5</a:t>
            </a:r>
            <a:r>
              <a:rPr lang="ja-JP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ペア </a:t>
            </a:r>
            <a:r>
              <a:rPr lang="en-US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× </a:t>
            </a:r>
            <a:r>
              <a:rPr lang="ja-JP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両順序 </a:t>
            </a:r>
            <a:r>
              <a:rPr lang="en-US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× 10</a:t>
            </a:r>
            <a:r>
              <a:rPr lang="ja-JP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表現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02" name=""/>
          <p:cNvSpPr txBox="1"/>
          <p:nvPr/>
        </p:nvSpPr>
        <p:spPr>
          <a:xfrm>
            <a:off x="1566000" y="2861280"/>
            <a:ext cx="218592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2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03" name=""/>
          <p:cNvSpPr txBox="1"/>
          <p:nvPr/>
        </p:nvSpPr>
        <p:spPr>
          <a:xfrm>
            <a:off x="1910160" y="2861280"/>
            <a:ext cx="145935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同じ操作を</a:t>
            </a:r>
            <a:r>
              <a:rPr lang="en-US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2</a:t>
            </a:r>
            <a:r>
              <a:rPr lang="ja-JP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回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04" name=""/>
          <p:cNvSpPr txBox="1"/>
          <p:nvPr/>
        </p:nvSpPr>
        <p:spPr>
          <a:xfrm>
            <a:off x="7528320" y="2861280"/>
            <a:ext cx="288558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96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05" name=""/>
          <p:cNvSpPr txBox="1"/>
          <p:nvPr/>
        </p:nvSpPr>
        <p:spPr>
          <a:xfrm>
            <a:off x="7997760" y="2861280"/>
            <a:ext cx="160011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24</a:t>
            </a:r>
            <a:r>
              <a:rPr lang="ja-JP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操作 </a:t>
            </a:r>
            <a:r>
              <a:rPr lang="en-US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× 4</a:t>
            </a:r>
            <a:r>
              <a:rPr lang="ja-JP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表現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06" name=""/>
          <p:cNvSpPr txBox="1"/>
          <p:nvPr/>
        </p:nvSpPr>
        <p:spPr>
          <a:xfrm>
            <a:off x="1566000" y="3290040"/>
            <a:ext cx="218592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2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07" name=""/>
          <p:cNvSpPr txBox="1"/>
          <p:nvPr/>
        </p:nvSpPr>
        <p:spPr>
          <a:xfrm>
            <a:off x="1910160" y="3290040"/>
            <a:ext cx="3356298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3</a:t>
            </a:r>
            <a:r>
              <a:rPr lang="ja-JP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操作で学んだ順序を</a:t>
            </a:r>
            <a:r>
              <a:rPr lang="en-US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2</a:t>
            </a:r>
            <a:r>
              <a:rPr lang="ja-JP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操作で使う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08" name=""/>
          <p:cNvSpPr txBox="1"/>
          <p:nvPr/>
        </p:nvSpPr>
        <p:spPr>
          <a:xfrm>
            <a:off x="7528320" y="3290040"/>
            <a:ext cx="288558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88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09" name=""/>
          <p:cNvSpPr txBox="1"/>
          <p:nvPr/>
        </p:nvSpPr>
        <p:spPr>
          <a:xfrm>
            <a:off x="7997760" y="3290040"/>
            <a:ext cx="1603008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88</a:t>
            </a:r>
            <a:r>
              <a:rPr lang="ja-JP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種類の操作列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10" name=""/>
          <p:cNvSpPr txBox="1"/>
          <p:nvPr/>
        </p:nvSpPr>
        <p:spPr>
          <a:xfrm>
            <a:off x="1566000" y="3718440"/>
            <a:ext cx="218592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3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11" name=""/>
          <p:cNvSpPr txBox="1"/>
          <p:nvPr/>
        </p:nvSpPr>
        <p:spPr>
          <a:xfrm>
            <a:off x="1910160" y="3718440"/>
            <a:ext cx="2554794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初めてのペアを含む</a:t>
            </a:r>
            <a:r>
              <a:rPr lang="en-US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3</a:t>
            </a:r>
            <a:r>
              <a:rPr lang="ja-JP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操作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12" name=""/>
          <p:cNvSpPr txBox="1"/>
          <p:nvPr/>
        </p:nvSpPr>
        <p:spPr>
          <a:xfrm>
            <a:off x="7403040" y="3718440"/>
            <a:ext cx="43263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100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13" name=""/>
          <p:cNvSpPr txBox="1"/>
          <p:nvPr/>
        </p:nvSpPr>
        <p:spPr>
          <a:xfrm>
            <a:off x="7997760" y="3718440"/>
            <a:ext cx="17470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100</a:t>
            </a:r>
            <a:r>
              <a:rPr lang="ja-JP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種類の操作列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14" name=""/>
          <p:cNvSpPr txBox="1"/>
          <p:nvPr/>
        </p:nvSpPr>
        <p:spPr>
          <a:xfrm>
            <a:off x="1566000" y="4147200"/>
            <a:ext cx="218592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3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15" name=""/>
          <p:cNvSpPr txBox="1"/>
          <p:nvPr/>
        </p:nvSpPr>
        <p:spPr>
          <a:xfrm>
            <a:off x="1910160" y="4147200"/>
            <a:ext cx="145935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同じ操作を</a:t>
            </a:r>
            <a:r>
              <a:rPr lang="en-US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3</a:t>
            </a:r>
            <a:r>
              <a:rPr lang="ja-JP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回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16" name=""/>
          <p:cNvSpPr txBox="1"/>
          <p:nvPr/>
        </p:nvSpPr>
        <p:spPr>
          <a:xfrm>
            <a:off x="7528320" y="4147200"/>
            <a:ext cx="288558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96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17" name=""/>
          <p:cNvSpPr txBox="1"/>
          <p:nvPr/>
        </p:nvSpPr>
        <p:spPr>
          <a:xfrm>
            <a:off x="7997760" y="4147200"/>
            <a:ext cx="160011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24</a:t>
            </a:r>
            <a:r>
              <a:rPr lang="ja-JP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操作 </a:t>
            </a:r>
            <a:r>
              <a:rPr lang="en-US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× 4</a:t>
            </a:r>
            <a:r>
              <a:rPr lang="ja-JP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表現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18" name=""/>
          <p:cNvSpPr txBox="1"/>
          <p:nvPr/>
        </p:nvSpPr>
        <p:spPr>
          <a:xfrm>
            <a:off x="1564920" y="4575960"/>
            <a:ext cx="218592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4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19" name=""/>
          <p:cNvSpPr txBox="1"/>
          <p:nvPr/>
        </p:nvSpPr>
        <p:spPr>
          <a:xfrm>
            <a:off x="1910160" y="4575960"/>
            <a:ext cx="1460178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同じ操作を</a:t>
            </a:r>
            <a:r>
              <a:rPr lang="en-US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4</a:t>
            </a:r>
            <a:r>
              <a:rPr lang="ja-JP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回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20" name=""/>
          <p:cNvSpPr txBox="1"/>
          <p:nvPr/>
        </p:nvSpPr>
        <p:spPr>
          <a:xfrm>
            <a:off x="7528320" y="4575960"/>
            <a:ext cx="288558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96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21" name=""/>
          <p:cNvSpPr txBox="1"/>
          <p:nvPr/>
        </p:nvSpPr>
        <p:spPr>
          <a:xfrm>
            <a:off x="7997760" y="4575960"/>
            <a:ext cx="160011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24</a:t>
            </a:r>
            <a:r>
              <a:rPr lang="ja-JP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操作 </a:t>
            </a:r>
            <a:r>
              <a:rPr lang="en-US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× 4</a:t>
            </a:r>
            <a:r>
              <a:rPr lang="ja-JP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表現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22" name=""/>
          <p:cNvSpPr txBox="1"/>
          <p:nvPr/>
        </p:nvSpPr>
        <p:spPr>
          <a:xfrm>
            <a:off x="1564920" y="5004360"/>
            <a:ext cx="218592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4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23" name=""/>
          <p:cNvSpPr txBox="1"/>
          <p:nvPr/>
        </p:nvSpPr>
        <p:spPr>
          <a:xfrm>
            <a:off x="1910160" y="5004360"/>
            <a:ext cx="2775042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異なる</a:t>
            </a:r>
            <a:r>
              <a:rPr lang="en-US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4</a:t>
            </a:r>
            <a:r>
              <a:rPr lang="ja-JP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操作を組み合わせる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24" name=""/>
          <p:cNvSpPr txBox="1"/>
          <p:nvPr/>
        </p:nvSpPr>
        <p:spPr>
          <a:xfrm>
            <a:off x="7403040" y="5004360"/>
            <a:ext cx="43263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100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25" name=""/>
          <p:cNvSpPr txBox="1"/>
          <p:nvPr/>
        </p:nvSpPr>
        <p:spPr>
          <a:xfrm>
            <a:off x="7997760" y="5004360"/>
            <a:ext cx="17470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100</a:t>
            </a:r>
            <a:r>
              <a:rPr lang="ja-JP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種類の操作列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26" name=""/>
          <p:cNvSpPr txBox="1"/>
          <p:nvPr/>
        </p:nvSpPr>
        <p:spPr>
          <a:xfrm>
            <a:off x="1564920" y="5433120"/>
            <a:ext cx="218592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4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27" name=""/>
          <p:cNvSpPr txBox="1"/>
          <p:nvPr/>
        </p:nvSpPr>
        <p:spPr>
          <a:xfrm>
            <a:off x="1910160" y="5433120"/>
            <a:ext cx="24798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2</a:t>
            </a:r>
            <a:r>
              <a:rPr lang="ja-JP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操作の組を</a:t>
            </a:r>
            <a:r>
              <a:rPr lang="en-US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2</a:t>
            </a:r>
            <a:r>
              <a:rPr lang="ja-JP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回繰り返す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28" name=""/>
          <p:cNvSpPr txBox="1"/>
          <p:nvPr/>
        </p:nvSpPr>
        <p:spPr>
          <a:xfrm>
            <a:off x="7403040" y="5433120"/>
            <a:ext cx="43263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100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29" name=""/>
          <p:cNvSpPr txBox="1"/>
          <p:nvPr/>
        </p:nvSpPr>
        <p:spPr>
          <a:xfrm>
            <a:off x="7997760" y="5433120"/>
            <a:ext cx="2387538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A</a:t>
            </a:r>
            <a:r>
              <a:rPr lang="ja-JP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・</a:t>
            </a:r>
            <a:r>
              <a:rPr lang="en-US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B</a:t>
            </a:r>
            <a:r>
              <a:rPr lang="ja-JP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・</a:t>
            </a:r>
            <a:r>
              <a:rPr lang="en-US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A</a:t>
            </a:r>
            <a:r>
              <a:rPr lang="ja-JP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・</a:t>
            </a:r>
            <a:r>
              <a:rPr lang="en-US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B</a:t>
            </a:r>
            <a:r>
              <a:rPr lang="ja-JP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の</a:t>
            </a:r>
            <a:r>
              <a:rPr lang="en-US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100</a:t>
            </a:r>
            <a:r>
              <a:rPr lang="ja-JP" sz="150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種類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30" name=""/>
          <p:cNvSpPr txBox="1"/>
          <p:nvPr/>
        </p:nvSpPr>
        <p:spPr>
          <a:xfrm>
            <a:off x="590400" y="5959080"/>
            <a:ext cx="10980522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各問題でコードを</a:t>
            </a:r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</a:t>
            </a:r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つ生成。</a:t>
            </a:r>
            <a:r>
              <a:rPr lang="en-US" sz="16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179</a:t>
            </a:r>
            <a:r>
              <a:rPr lang="ja-JP" sz="16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通りの共通テスト入力ですべて合格した問題の割合</a:t>
            </a:r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を正答率とする。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31" name=""/>
          <p:cNvSpPr txBox="1"/>
          <p:nvPr/>
        </p:nvSpPr>
        <p:spPr>
          <a:xfrm>
            <a:off x="11705400" y="6466680"/>
            <a:ext cx="2318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Hiragino Sans"/>
                <a:ea typeface="Hiragino Sans"/>
              </a:rPr>
              <a:t>41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3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3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pic>
        <p:nvPicPr>
          <p:cNvPr id="1935" name="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36" name=""/>
          <p:cNvSpPr txBox="1"/>
          <p:nvPr/>
        </p:nvSpPr>
        <p:spPr>
          <a:xfrm>
            <a:off x="11705400" y="6466680"/>
            <a:ext cx="2318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Hiragino Sans"/>
                <a:ea typeface="Hiragino Sans"/>
              </a:rPr>
              <a:t>42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3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3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40" name=""/>
          <p:cNvSpPr/>
          <p:nvPr/>
        </p:nvSpPr>
        <p:spPr>
          <a:xfrm>
            <a:off x="599760" y="2047680"/>
            <a:ext cx="3829680" cy="495720"/>
          </a:xfrm>
          <a:custGeom>
            <a:avLst/>
            <a:gdLst/>
            <a:ahLst/>
            <a:rect l="0" t="0" r="r" b="b"/>
            <a:pathLst>
              <a:path w="10638" h="1377">
                <a:moveTo>
                  <a:pt x="0" y="0"/>
                </a:moveTo>
                <a:lnTo>
                  <a:pt x="10638" y="0"/>
                </a:lnTo>
                <a:lnTo>
                  <a:pt x="10638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41" name=""/>
          <p:cNvSpPr/>
          <p:nvPr/>
        </p:nvSpPr>
        <p:spPr>
          <a:xfrm>
            <a:off x="4429080" y="2047680"/>
            <a:ext cx="2638800" cy="495720"/>
          </a:xfrm>
          <a:custGeom>
            <a:avLst/>
            <a:gdLst/>
            <a:ahLst/>
            <a:rect l="0" t="0" r="r" b="b"/>
            <a:pathLst>
              <a:path w="7330" h="1377">
                <a:moveTo>
                  <a:pt x="0" y="0"/>
                </a:moveTo>
                <a:lnTo>
                  <a:pt x="7330" y="0"/>
                </a:lnTo>
                <a:lnTo>
                  <a:pt x="7330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42" name=""/>
          <p:cNvSpPr/>
          <p:nvPr/>
        </p:nvSpPr>
        <p:spPr>
          <a:xfrm>
            <a:off x="7067520" y="2047680"/>
            <a:ext cx="2438640" cy="495720"/>
          </a:xfrm>
          <a:custGeom>
            <a:avLst/>
            <a:gdLst/>
            <a:ahLst/>
            <a:rect l="0" t="0" r="r" b="b"/>
            <a:pathLst>
              <a:path w="6774" h="1377">
                <a:moveTo>
                  <a:pt x="0" y="0"/>
                </a:moveTo>
                <a:lnTo>
                  <a:pt x="6774" y="0"/>
                </a:lnTo>
                <a:lnTo>
                  <a:pt x="6774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43" name=""/>
          <p:cNvSpPr/>
          <p:nvPr/>
        </p:nvSpPr>
        <p:spPr>
          <a:xfrm>
            <a:off x="9505800" y="2047680"/>
            <a:ext cx="2095920" cy="495720"/>
          </a:xfrm>
          <a:custGeom>
            <a:avLst/>
            <a:gdLst/>
            <a:ahLst/>
            <a:rect l="0" t="0" r="r" b="b"/>
            <a:pathLst>
              <a:path w="5822" h="1377">
                <a:moveTo>
                  <a:pt x="0" y="0"/>
                </a:moveTo>
                <a:lnTo>
                  <a:pt x="5822" y="0"/>
                </a:lnTo>
                <a:lnTo>
                  <a:pt x="5822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44" name=""/>
          <p:cNvSpPr/>
          <p:nvPr/>
        </p:nvSpPr>
        <p:spPr>
          <a:xfrm>
            <a:off x="599760" y="2047680"/>
            <a:ext cx="3829680" cy="495720"/>
          </a:xfrm>
          <a:custGeom>
            <a:avLst/>
            <a:gdLst/>
            <a:ahLst/>
            <a:rect l="0" t="0" r="r" b="b"/>
            <a:pathLst>
              <a:path w="10638" h="1377">
                <a:moveTo>
                  <a:pt x="0" y="0"/>
                </a:moveTo>
                <a:lnTo>
                  <a:pt x="10638" y="0"/>
                </a:lnTo>
                <a:lnTo>
                  <a:pt x="10638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45" name=""/>
          <p:cNvSpPr/>
          <p:nvPr/>
        </p:nvSpPr>
        <p:spPr>
          <a:xfrm>
            <a:off x="4429080" y="2047680"/>
            <a:ext cx="2638800" cy="495720"/>
          </a:xfrm>
          <a:custGeom>
            <a:avLst/>
            <a:gdLst/>
            <a:ahLst/>
            <a:rect l="0" t="0" r="r" b="b"/>
            <a:pathLst>
              <a:path w="7330" h="1377">
                <a:moveTo>
                  <a:pt x="0" y="0"/>
                </a:moveTo>
                <a:lnTo>
                  <a:pt x="7330" y="0"/>
                </a:lnTo>
                <a:lnTo>
                  <a:pt x="7330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46" name=""/>
          <p:cNvSpPr/>
          <p:nvPr/>
        </p:nvSpPr>
        <p:spPr>
          <a:xfrm>
            <a:off x="7067520" y="2047680"/>
            <a:ext cx="2438640" cy="495720"/>
          </a:xfrm>
          <a:custGeom>
            <a:avLst/>
            <a:gdLst/>
            <a:ahLst/>
            <a:rect l="0" t="0" r="r" b="b"/>
            <a:pathLst>
              <a:path w="6774" h="1377">
                <a:moveTo>
                  <a:pt x="0" y="0"/>
                </a:moveTo>
                <a:lnTo>
                  <a:pt x="6774" y="0"/>
                </a:lnTo>
                <a:lnTo>
                  <a:pt x="6774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47" name=""/>
          <p:cNvSpPr/>
          <p:nvPr/>
        </p:nvSpPr>
        <p:spPr>
          <a:xfrm>
            <a:off x="9505800" y="2047680"/>
            <a:ext cx="2095920" cy="495720"/>
          </a:xfrm>
          <a:custGeom>
            <a:avLst/>
            <a:gdLst/>
            <a:ahLst/>
            <a:rect l="0" t="0" r="r" b="b"/>
            <a:pathLst>
              <a:path w="5822" h="1377">
                <a:moveTo>
                  <a:pt x="0" y="0"/>
                </a:moveTo>
                <a:lnTo>
                  <a:pt x="5822" y="0"/>
                </a:lnTo>
                <a:lnTo>
                  <a:pt x="5822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48" name=""/>
          <p:cNvSpPr/>
          <p:nvPr/>
        </p:nvSpPr>
        <p:spPr>
          <a:xfrm>
            <a:off x="599760" y="2543040"/>
            <a:ext cx="3829680" cy="495720"/>
          </a:xfrm>
          <a:custGeom>
            <a:avLst/>
            <a:gdLst/>
            <a:ahLst/>
            <a:rect l="0" t="0" r="r" b="b"/>
            <a:pathLst>
              <a:path w="10638" h="1377">
                <a:moveTo>
                  <a:pt x="0" y="0"/>
                </a:moveTo>
                <a:lnTo>
                  <a:pt x="10638" y="0"/>
                </a:lnTo>
                <a:lnTo>
                  <a:pt x="10638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49" name=""/>
          <p:cNvSpPr/>
          <p:nvPr/>
        </p:nvSpPr>
        <p:spPr>
          <a:xfrm>
            <a:off x="4429080" y="2543040"/>
            <a:ext cx="2638800" cy="495720"/>
          </a:xfrm>
          <a:custGeom>
            <a:avLst/>
            <a:gdLst/>
            <a:ahLst/>
            <a:rect l="0" t="0" r="r" b="b"/>
            <a:pathLst>
              <a:path w="7330" h="1377">
                <a:moveTo>
                  <a:pt x="0" y="0"/>
                </a:moveTo>
                <a:lnTo>
                  <a:pt x="7330" y="0"/>
                </a:lnTo>
                <a:lnTo>
                  <a:pt x="7330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50" name=""/>
          <p:cNvSpPr/>
          <p:nvPr/>
        </p:nvSpPr>
        <p:spPr>
          <a:xfrm>
            <a:off x="7067520" y="2543040"/>
            <a:ext cx="2438640" cy="495720"/>
          </a:xfrm>
          <a:custGeom>
            <a:avLst/>
            <a:gdLst/>
            <a:ahLst/>
            <a:rect l="0" t="0" r="r" b="b"/>
            <a:pathLst>
              <a:path w="6774" h="1377">
                <a:moveTo>
                  <a:pt x="0" y="0"/>
                </a:moveTo>
                <a:lnTo>
                  <a:pt x="6774" y="0"/>
                </a:lnTo>
                <a:lnTo>
                  <a:pt x="6774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51" name=""/>
          <p:cNvSpPr/>
          <p:nvPr/>
        </p:nvSpPr>
        <p:spPr>
          <a:xfrm>
            <a:off x="9505800" y="2543040"/>
            <a:ext cx="2095920" cy="495720"/>
          </a:xfrm>
          <a:custGeom>
            <a:avLst/>
            <a:gdLst/>
            <a:ahLst/>
            <a:rect l="0" t="0" r="r" b="b"/>
            <a:pathLst>
              <a:path w="5822" h="1377">
                <a:moveTo>
                  <a:pt x="0" y="0"/>
                </a:moveTo>
                <a:lnTo>
                  <a:pt x="5822" y="0"/>
                </a:lnTo>
                <a:lnTo>
                  <a:pt x="5822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52" name=""/>
          <p:cNvSpPr/>
          <p:nvPr/>
        </p:nvSpPr>
        <p:spPr>
          <a:xfrm>
            <a:off x="599760" y="3038400"/>
            <a:ext cx="3829680" cy="495720"/>
          </a:xfrm>
          <a:custGeom>
            <a:avLst/>
            <a:gdLst/>
            <a:ahLst/>
            <a:rect l="0" t="0" r="r" b="b"/>
            <a:pathLst>
              <a:path w="10638" h="1377">
                <a:moveTo>
                  <a:pt x="0" y="0"/>
                </a:moveTo>
                <a:lnTo>
                  <a:pt x="10638" y="0"/>
                </a:lnTo>
                <a:lnTo>
                  <a:pt x="10638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53" name=""/>
          <p:cNvSpPr/>
          <p:nvPr/>
        </p:nvSpPr>
        <p:spPr>
          <a:xfrm>
            <a:off x="4429080" y="3038400"/>
            <a:ext cx="2638800" cy="495720"/>
          </a:xfrm>
          <a:custGeom>
            <a:avLst/>
            <a:gdLst/>
            <a:ahLst/>
            <a:rect l="0" t="0" r="r" b="b"/>
            <a:pathLst>
              <a:path w="7330" h="1377">
                <a:moveTo>
                  <a:pt x="0" y="0"/>
                </a:moveTo>
                <a:lnTo>
                  <a:pt x="7330" y="0"/>
                </a:lnTo>
                <a:lnTo>
                  <a:pt x="7330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54" name=""/>
          <p:cNvSpPr/>
          <p:nvPr/>
        </p:nvSpPr>
        <p:spPr>
          <a:xfrm>
            <a:off x="7067520" y="3038400"/>
            <a:ext cx="2438640" cy="495720"/>
          </a:xfrm>
          <a:custGeom>
            <a:avLst/>
            <a:gdLst/>
            <a:ahLst/>
            <a:rect l="0" t="0" r="r" b="b"/>
            <a:pathLst>
              <a:path w="6774" h="1377">
                <a:moveTo>
                  <a:pt x="0" y="0"/>
                </a:moveTo>
                <a:lnTo>
                  <a:pt x="6774" y="0"/>
                </a:lnTo>
                <a:lnTo>
                  <a:pt x="6774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55" name=""/>
          <p:cNvSpPr/>
          <p:nvPr/>
        </p:nvSpPr>
        <p:spPr>
          <a:xfrm>
            <a:off x="9505800" y="3038400"/>
            <a:ext cx="2095920" cy="495720"/>
          </a:xfrm>
          <a:custGeom>
            <a:avLst/>
            <a:gdLst/>
            <a:ahLst/>
            <a:rect l="0" t="0" r="r" b="b"/>
            <a:pathLst>
              <a:path w="5822" h="1377">
                <a:moveTo>
                  <a:pt x="0" y="0"/>
                </a:moveTo>
                <a:lnTo>
                  <a:pt x="5822" y="0"/>
                </a:lnTo>
                <a:lnTo>
                  <a:pt x="5822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56" name=""/>
          <p:cNvSpPr/>
          <p:nvPr/>
        </p:nvSpPr>
        <p:spPr>
          <a:xfrm>
            <a:off x="599760" y="3533760"/>
            <a:ext cx="3829680" cy="495360"/>
          </a:xfrm>
          <a:custGeom>
            <a:avLst/>
            <a:gdLst/>
            <a:ahLst/>
            <a:rect l="0" t="0" r="r" b="b"/>
            <a:pathLst>
              <a:path w="10638" h="1376">
                <a:moveTo>
                  <a:pt x="0" y="0"/>
                </a:moveTo>
                <a:lnTo>
                  <a:pt x="10638" y="0"/>
                </a:lnTo>
                <a:lnTo>
                  <a:pt x="10638" y="1376"/>
                </a:lnTo>
                <a:lnTo>
                  <a:pt x="0" y="137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57" name=""/>
          <p:cNvSpPr/>
          <p:nvPr/>
        </p:nvSpPr>
        <p:spPr>
          <a:xfrm>
            <a:off x="4429080" y="3533760"/>
            <a:ext cx="2638800" cy="495360"/>
          </a:xfrm>
          <a:custGeom>
            <a:avLst/>
            <a:gdLst/>
            <a:ahLst/>
            <a:rect l="0" t="0" r="r" b="b"/>
            <a:pathLst>
              <a:path w="7330" h="1376">
                <a:moveTo>
                  <a:pt x="0" y="0"/>
                </a:moveTo>
                <a:lnTo>
                  <a:pt x="7330" y="0"/>
                </a:lnTo>
                <a:lnTo>
                  <a:pt x="7330" y="1376"/>
                </a:lnTo>
                <a:lnTo>
                  <a:pt x="0" y="137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58" name=""/>
          <p:cNvSpPr/>
          <p:nvPr/>
        </p:nvSpPr>
        <p:spPr>
          <a:xfrm>
            <a:off x="7067520" y="3533760"/>
            <a:ext cx="2438640" cy="495360"/>
          </a:xfrm>
          <a:custGeom>
            <a:avLst/>
            <a:gdLst/>
            <a:ahLst/>
            <a:rect l="0" t="0" r="r" b="b"/>
            <a:pathLst>
              <a:path w="6774" h="1376">
                <a:moveTo>
                  <a:pt x="0" y="0"/>
                </a:moveTo>
                <a:lnTo>
                  <a:pt x="6774" y="0"/>
                </a:lnTo>
                <a:lnTo>
                  <a:pt x="6774" y="1376"/>
                </a:lnTo>
                <a:lnTo>
                  <a:pt x="0" y="137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59" name=""/>
          <p:cNvSpPr/>
          <p:nvPr/>
        </p:nvSpPr>
        <p:spPr>
          <a:xfrm>
            <a:off x="9505800" y="3533760"/>
            <a:ext cx="2095920" cy="495360"/>
          </a:xfrm>
          <a:custGeom>
            <a:avLst/>
            <a:gdLst/>
            <a:ahLst/>
            <a:rect l="0" t="0" r="r" b="b"/>
            <a:pathLst>
              <a:path w="5822" h="1376">
                <a:moveTo>
                  <a:pt x="0" y="0"/>
                </a:moveTo>
                <a:lnTo>
                  <a:pt x="5822" y="0"/>
                </a:lnTo>
                <a:lnTo>
                  <a:pt x="5822" y="1376"/>
                </a:lnTo>
                <a:lnTo>
                  <a:pt x="0" y="137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60" name=""/>
          <p:cNvSpPr/>
          <p:nvPr/>
        </p:nvSpPr>
        <p:spPr>
          <a:xfrm>
            <a:off x="590400" y="2047680"/>
            <a:ext cx="9720" cy="505080"/>
          </a:xfrm>
          <a:custGeom>
            <a:avLst/>
            <a:gdLst/>
            <a:ahLst/>
            <a:rect l="0" t="0" r="r" b="b"/>
            <a:pathLst>
              <a:path w="27" h="1403">
                <a:moveTo>
                  <a:pt x="0" y="0"/>
                </a:moveTo>
                <a:lnTo>
                  <a:pt x="27" y="0"/>
                </a:lnTo>
                <a:lnTo>
                  <a:pt x="27" y="1403"/>
                </a:lnTo>
                <a:lnTo>
                  <a:pt x="0" y="140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61" name=""/>
          <p:cNvSpPr/>
          <p:nvPr/>
        </p:nvSpPr>
        <p:spPr>
          <a:xfrm>
            <a:off x="590400" y="2047680"/>
            <a:ext cx="3839040" cy="9720"/>
          </a:xfrm>
          <a:custGeom>
            <a:avLst/>
            <a:gdLst/>
            <a:ahLst/>
            <a:rect l="0" t="0" r="r" b="b"/>
            <a:pathLst>
              <a:path w="10664" h="27">
                <a:moveTo>
                  <a:pt x="0" y="0"/>
                </a:moveTo>
                <a:lnTo>
                  <a:pt x="10664" y="0"/>
                </a:lnTo>
                <a:lnTo>
                  <a:pt x="1066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62" name=""/>
          <p:cNvSpPr/>
          <p:nvPr/>
        </p:nvSpPr>
        <p:spPr>
          <a:xfrm>
            <a:off x="4419360" y="2047680"/>
            <a:ext cx="10080" cy="505080"/>
          </a:xfrm>
          <a:custGeom>
            <a:avLst/>
            <a:gdLst/>
            <a:ahLst/>
            <a:rect l="0" t="0" r="r" b="b"/>
            <a:pathLst>
              <a:path w="28" h="1403">
                <a:moveTo>
                  <a:pt x="0" y="0"/>
                </a:moveTo>
                <a:lnTo>
                  <a:pt x="28" y="0"/>
                </a:lnTo>
                <a:lnTo>
                  <a:pt x="28" y="1403"/>
                </a:lnTo>
                <a:lnTo>
                  <a:pt x="0" y="140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63" name=""/>
          <p:cNvSpPr/>
          <p:nvPr/>
        </p:nvSpPr>
        <p:spPr>
          <a:xfrm>
            <a:off x="4429080" y="2047680"/>
            <a:ext cx="2638800" cy="9720"/>
          </a:xfrm>
          <a:custGeom>
            <a:avLst/>
            <a:gdLst/>
            <a:ahLst/>
            <a:rect l="0" t="0" r="r" b="b"/>
            <a:pathLst>
              <a:path w="7330" h="27">
                <a:moveTo>
                  <a:pt x="0" y="0"/>
                </a:moveTo>
                <a:lnTo>
                  <a:pt x="7330" y="0"/>
                </a:lnTo>
                <a:lnTo>
                  <a:pt x="733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64" name=""/>
          <p:cNvSpPr/>
          <p:nvPr/>
        </p:nvSpPr>
        <p:spPr>
          <a:xfrm>
            <a:off x="7057800" y="2047680"/>
            <a:ext cx="10080" cy="505080"/>
          </a:xfrm>
          <a:custGeom>
            <a:avLst/>
            <a:gdLst/>
            <a:ahLst/>
            <a:rect l="0" t="0" r="r" b="b"/>
            <a:pathLst>
              <a:path w="28" h="1403">
                <a:moveTo>
                  <a:pt x="0" y="0"/>
                </a:moveTo>
                <a:lnTo>
                  <a:pt x="28" y="0"/>
                </a:lnTo>
                <a:lnTo>
                  <a:pt x="28" y="1403"/>
                </a:lnTo>
                <a:lnTo>
                  <a:pt x="0" y="140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65" name=""/>
          <p:cNvSpPr/>
          <p:nvPr/>
        </p:nvSpPr>
        <p:spPr>
          <a:xfrm>
            <a:off x="7067520" y="2047680"/>
            <a:ext cx="2448000" cy="9720"/>
          </a:xfrm>
          <a:custGeom>
            <a:avLst/>
            <a:gdLst/>
            <a:ahLst/>
            <a:rect l="0" t="0" r="r" b="b"/>
            <a:pathLst>
              <a:path w="6800" h="27">
                <a:moveTo>
                  <a:pt x="0" y="0"/>
                </a:moveTo>
                <a:lnTo>
                  <a:pt x="6800" y="0"/>
                </a:lnTo>
                <a:lnTo>
                  <a:pt x="680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66" name=""/>
          <p:cNvSpPr/>
          <p:nvPr/>
        </p:nvSpPr>
        <p:spPr>
          <a:xfrm>
            <a:off x="9505800" y="2047680"/>
            <a:ext cx="9720" cy="505080"/>
          </a:xfrm>
          <a:custGeom>
            <a:avLst/>
            <a:gdLst/>
            <a:ahLst/>
            <a:rect l="0" t="0" r="r" b="b"/>
            <a:pathLst>
              <a:path w="27" h="1403">
                <a:moveTo>
                  <a:pt x="0" y="0"/>
                </a:moveTo>
                <a:lnTo>
                  <a:pt x="27" y="0"/>
                </a:lnTo>
                <a:lnTo>
                  <a:pt x="27" y="1403"/>
                </a:lnTo>
                <a:lnTo>
                  <a:pt x="0" y="140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67" name=""/>
          <p:cNvSpPr/>
          <p:nvPr/>
        </p:nvSpPr>
        <p:spPr>
          <a:xfrm>
            <a:off x="9515160" y="2047680"/>
            <a:ext cx="2086560" cy="9720"/>
          </a:xfrm>
          <a:custGeom>
            <a:avLst/>
            <a:gdLst/>
            <a:ahLst/>
            <a:rect l="0" t="0" r="r" b="b"/>
            <a:pathLst>
              <a:path w="5796" h="27">
                <a:moveTo>
                  <a:pt x="0" y="0"/>
                </a:moveTo>
                <a:lnTo>
                  <a:pt x="5796" y="0"/>
                </a:lnTo>
                <a:lnTo>
                  <a:pt x="579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68" name=""/>
          <p:cNvSpPr/>
          <p:nvPr/>
        </p:nvSpPr>
        <p:spPr>
          <a:xfrm>
            <a:off x="11591640" y="2047680"/>
            <a:ext cx="10080" cy="505080"/>
          </a:xfrm>
          <a:custGeom>
            <a:avLst/>
            <a:gdLst/>
            <a:ahLst/>
            <a:rect l="0" t="0" r="r" b="b"/>
            <a:pathLst>
              <a:path w="28" h="1403">
                <a:moveTo>
                  <a:pt x="0" y="0"/>
                </a:moveTo>
                <a:lnTo>
                  <a:pt x="28" y="0"/>
                </a:lnTo>
                <a:lnTo>
                  <a:pt x="28" y="1403"/>
                </a:lnTo>
                <a:lnTo>
                  <a:pt x="0" y="140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69" name=""/>
          <p:cNvSpPr/>
          <p:nvPr/>
        </p:nvSpPr>
        <p:spPr>
          <a:xfrm>
            <a:off x="590400" y="2543040"/>
            <a:ext cx="3839040" cy="9720"/>
          </a:xfrm>
          <a:custGeom>
            <a:avLst/>
            <a:gdLst/>
            <a:ahLst/>
            <a:rect l="0" t="0" r="r" b="b"/>
            <a:pathLst>
              <a:path w="10664" h="27">
                <a:moveTo>
                  <a:pt x="0" y="0"/>
                </a:moveTo>
                <a:lnTo>
                  <a:pt x="10664" y="0"/>
                </a:lnTo>
                <a:lnTo>
                  <a:pt x="1066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70" name=""/>
          <p:cNvSpPr/>
          <p:nvPr/>
        </p:nvSpPr>
        <p:spPr>
          <a:xfrm>
            <a:off x="4429080" y="2543040"/>
            <a:ext cx="2638800" cy="9720"/>
          </a:xfrm>
          <a:custGeom>
            <a:avLst/>
            <a:gdLst/>
            <a:ahLst/>
            <a:rect l="0" t="0" r="r" b="b"/>
            <a:pathLst>
              <a:path w="7330" h="27">
                <a:moveTo>
                  <a:pt x="0" y="0"/>
                </a:moveTo>
                <a:lnTo>
                  <a:pt x="7330" y="0"/>
                </a:lnTo>
                <a:lnTo>
                  <a:pt x="733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71" name=""/>
          <p:cNvSpPr/>
          <p:nvPr/>
        </p:nvSpPr>
        <p:spPr>
          <a:xfrm>
            <a:off x="7067520" y="2543040"/>
            <a:ext cx="2448000" cy="9720"/>
          </a:xfrm>
          <a:custGeom>
            <a:avLst/>
            <a:gdLst/>
            <a:ahLst/>
            <a:rect l="0" t="0" r="r" b="b"/>
            <a:pathLst>
              <a:path w="6800" h="27">
                <a:moveTo>
                  <a:pt x="0" y="0"/>
                </a:moveTo>
                <a:lnTo>
                  <a:pt x="6800" y="0"/>
                </a:lnTo>
                <a:lnTo>
                  <a:pt x="680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72" name=""/>
          <p:cNvSpPr/>
          <p:nvPr/>
        </p:nvSpPr>
        <p:spPr>
          <a:xfrm>
            <a:off x="9515160" y="2543040"/>
            <a:ext cx="2086560" cy="9720"/>
          </a:xfrm>
          <a:custGeom>
            <a:avLst/>
            <a:gdLst/>
            <a:ahLst/>
            <a:rect l="0" t="0" r="r" b="b"/>
            <a:pathLst>
              <a:path w="5796" h="27">
                <a:moveTo>
                  <a:pt x="0" y="0"/>
                </a:moveTo>
                <a:lnTo>
                  <a:pt x="5796" y="0"/>
                </a:lnTo>
                <a:lnTo>
                  <a:pt x="579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73" name=""/>
          <p:cNvSpPr/>
          <p:nvPr/>
        </p:nvSpPr>
        <p:spPr>
          <a:xfrm>
            <a:off x="590400" y="2552400"/>
            <a:ext cx="9720" cy="495720"/>
          </a:xfrm>
          <a:custGeom>
            <a:avLst/>
            <a:gdLst/>
            <a:ahLst/>
            <a:rect l="0" t="0" r="r" b="b"/>
            <a:pathLst>
              <a:path w="27" h="1377">
                <a:moveTo>
                  <a:pt x="0" y="0"/>
                </a:moveTo>
                <a:lnTo>
                  <a:pt x="27" y="0"/>
                </a:lnTo>
                <a:lnTo>
                  <a:pt x="27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74" name=""/>
          <p:cNvSpPr/>
          <p:nvPr/>
        </p:nvSpPr>
        <p:spPr>
          <a:xfrm>
            <a:off x="4419360" y="2552400"/>
            <a:ext cx="10080" cy="495720"/>
          </a:xfrm>
          <a:custGeom>
            <a:avLst/>
            <a:gdLst/>
            <a:ahLst/>
            <a:rect l="0" t="0" r="r" b="b"/>
            <a:pathLst>
              <a:path w="28" h="1377">
                <a:moveTo>
                  <a:pt x="0" y="0"/>
                </a:moveTo>
                <a:lnTo>
                  <a:pt x="28" y="0"/>
                </a:lnTo>
                <a:lnTo>
                  <a:pt x="28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75" name=""/>
          <p:cNvSpPr/>
          <p:nvPr/>
        </p:nvSpPr>
        <p:spPr>
          <a:xfrm>
            <a:off x="7057800" y="2552400"/>
            <a:ext cx="10080" cy="495720"/>
          </a:xfrm>
          <a:custGeom>
            <a:avLst/>
            <a:gdLst/>
            <a:ahLst/>
            <a:rect l="0" t="0" r="r" b="b"/>
            <a:pathLst>
              <a:path w="28" h="1377">
                <a:moveTo>
                  <a:pt x="0" y="0"/>
                </a:moveTo>
                <a:lnTo>
                  <a:pt x="28" y="0"/>
                </a:lnTo>
                <a:lnTo>
                  <a:pt x="28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76" name=""/>
          <p:cNvSpPr/>
          <p:nvPr/>
        </p:nvSpPr>
        <p:spPr>
          <a:xfrm>
            <a:off x="9505800" y="2552400"/>
            <a:ext cx="9720" cy="495720"/>
          </a:xfrm>
          <a:custGeom>
            <a:avLst/>
            <a:gdLst/>
            <a:ahLst/>
            <a:rect l="0" t="0" r="r" b="b"/>
            <a:pathLst>
              <a:path w="27" h="1377">
                <a:moveTo>
                  <a:pt x="0" y="0"/>
                </a:moveTo>
                <a:lnTo>
                  <a:pt x="27" y="0"/>
                </a:lnTo>
                <a:lnTo>
                  <a:pt x="27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77" name=""/>
          <p:cNvSpPr/>
          <p:nvPr/>
        </p:nvSpPr>
        <p:spPr>
          <a:xfrm>
            <a:off x="11591640" y="2552400"/>
            <a:ext cx="10080" cy="495720"/>
          </a:xfrm>
          <a:custGeom>
            <a:avLst/>
            <a:gdLst/>
            <a:ahLst/>
            <a:rect l="0" t="0" r="r" b="b"/>
            <a:pathLst>
              <a:path w="28" h="1377">
                <a:moveTo>
                  <a:pt x="0" y="0"/>
                </a:moveTo>
                <a:lnTo>
                  <a:pt x="28" y="0"/>
                </a:lnTo>
                <a:lnTo>
                  <a:pt x="28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78" name=""/>
          <p:cNvSpPr/>
          <p:nvPr/>
        </p:nvSpPr>
        <p:spPr>
          <a:xfrm>
            <a:off x="590400" y="3047760"/>
            <a:ext cx="9720" cy="495720"/>
          </a:xfrm>
          <a:custGeom>
            <a:avLst/>
            <a:gdLst/>
            <a:ahLst/>
            <a:rect l="0" t="0" r="r" b="b"/>
            <a:pathLst>
              <a:path w="27" h="1377">
                <a:moveTo>
                  <a:pt x="0" y="0"/>
                </a:moveTo>
                <a:lnTo>
                  <a:pt x="27" y="0"/>
                </a:lnTo>
                <a:lnTo>
                  <a:pt x="27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79" name=""/>
          <p:cNvSpPr/>
          <p:nvPr/>
        </p:nvSpPr>
        <p:spPr>
          <a:xfrm>
            <a:off x="590400" y="3038400"/>
            <a:ext cx="3839040" cy="9720"/>
          </a:xfrm>
          <a:custGeom>
            <a:avLst/>
            <a:gdLst/>
            <a:ahLst/>
            <a:rect l="0" t="0" r="r" b="b"/>
            <a:pathLst>
              <a:path w="10664" h="27">
                <a:moveTo>
                  <a:pt x="0" y="0"/>
                </a:moveTo>
                <a:lnTo>
                  <a:pt x="10664" y="0"/>
                </a:lnTo>
                <a:lnTo>
                  <a:pt x="1066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80" name=""/>
          <p:cNvSpPr/>
          <p:nvPr/>
        </p:nvSpPr>
        <p:spPr>
          <a:xfrm>
            <a:off x="4419360" y="3047760"/>
            <a:ext cx="10080" cy="495720"/>
          </a:xfrm>
          <a:custGeom>
            <a:avLst/>
            <a:gdLst/>
            <a:ahLst/>
            <a:rect l="0" t="0" r="r" b="b"/>
            <a:pathLst>
              <a:path w="28" h="1377">
                <a:moveTo>
                  <a:pt x="0" y="0"/>
                </a:moveTo>
                <a:lnTo>
                  <a:pt x="28" y="0"/>
                </a:lnTo>
                <a:lnTo>
                  <a:pt x="28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81" name=""/>
          <p:cNvSpPr/>
          <p:nvPr/>
        </p:nvSpPr>
        <p:spPr>
          <a:xfrm>
            <a:off x="4429080" y="3038400"/>
            <a:ext cx="2638800" cy="9720"/>
          </a:xfrm>
          <a:custGeom>
            <a:avLst/>
            <a:gdLst/>
            <a:ahLst/>
            <a:rect l="0" t="0" r="r" b="b"/>
            <a:pathLst>
              <a:path w="7330" h="27">
                <a:moveTo>
                  <a:pt x="0" y="0"/>
                </a:moveTo>
                <a:lnTo>
                  <a:pt x="7330" y="0"/>
                </a:lnTo>
                <a:lnTo>
                  <a:pt x="733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82" name=""/>
          <p:cNvSpPr/>
          <p:nvPr/>
        </p:nvSpPr>
        <p:spPr>
          <a:xfrm>
            <a:off x="7057800" y="3047760"/>
            <a:ext cx="10080" cy="495720"/>
          </a:xfrm>
          <a:custGeom>
            <a:avLst/>
            <a:gdLst/>
            <a:ahLst/>
            <a:rect l="0" t="0" r="r" b="b"/>
            <a:pathLst>
              <a:path w="28" h="1377">
                <a:moveTo>
                  <a:pt x="0" y="0"/>
                </a:moveTo>
                <a:lnTo>
                  <a:pt x="28" y="0"/>
                </a:lnTo>
                <a:lnTo>
                  <a:pt x="28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83" name=""/>
          <p:cNvSpPr/>
          <p:nvPr/>
        </p:nvSpPr>
        <p:spPr>
          <a:xfrm>
            <a:off x="7067520" y="3038400"/>
            <a:ext cx="2448000" cy="9720"/>
          </a:xfrm>
          <a:custGeom>
            <a:avLst/>
            <a:gdLst/>
            <a:ahLst/>
            <a:rect l="0" t="0" r="r" b="b"/>
            <a:pathLst>
              <a:path w="6800" h="27">
                <a:moveTo>
                  <a:pt x="0" y="0"/>
                </a:moveTo>
                <a:lnTo>
                  <a:pt x="6800" y="0"/>
                </a:lnTo>
                <a:lnTo>
                  <a:pt x="680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84" name=""/>
          <p:cNvSpPr/>
          <p:nvPr/>
        </p:nvSpPr>
        <p:spPr>
          <a:xfrm>
            <a:off x="9505800" y="3047760"/>
            <a:ext cx="9720" cy="495720"/>
          </a:xfrm>
          <a:custGeom>
            <a:avLst/>
            <a:gdLst/>
            <a:ahLst/>
            <a:rect l="0" t="0" r="r" b="b"/>
            <a:pathLst>
              <a:path w="27" h="1377">
                <a:moveTo>
                  <a:pt x="0" y="0"/>
                </a:moveTo>
                <a:lnTo>
                  <a:pt x="27" y="0"/>
                </a:lnTo>
                <a:lnTo>
                  <a:pt x="27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85" name=""/>
          <p:cNvSpPr/>
          <p:nvPr/>
        </p:nvSpPr>
        <p:spPr>
          <a:xfrm>
            <a:off x="9515160" y="3038400"/>
            <a:ext cx="2086560" cy="9720"/>
          </a:xfrm>
          <a:custGeom>
            <a:avLst/>
            <a:gdLst/>
            <a:ahLst/>
            <a:rect l="0" t="0" r="r" b="b"/>
            <a:pathLst>
              <a:path w="5796" h="27">
                <a:moveTo>
                  <a:pt x="0" y="0"/>
                </a:moveTo>
                <a:lnTo>
                  <a:pt x="5796" y="0"/>
                </a:lnTo>
                <a:lnTo>
                  <a:pt x="579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86" name=""/>
          <p:cNvSpPr/>
          <p:nvPr/>
        </p:nvSpPr>
        <p:spPr>
          <a:xfrm>
            <a:off x="11591640" y="3047760"/>
            <a:ext cx="10080" cy="495720"/>
          </a:xfrm>
          <a:custGeom>
            <a:avLst/>
            <a:gdLst/>
            <a:ahLst/>
            <a:rect l="0" t="0" r="r" b="b"/>
            <a:pathLst>
              <a:path w="28" h="1377">
                <a:moveTo>
                  <a:pt x="0" y="0"/>
                </a:moveTo>
                <a:lnTo>
                  <a:pt x="28" y="0"/>
                </a:lnTo>
                <a:lnTo>
                  <a:pt x="28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87" name=""/>
          <p:cNvSpPr/>
          <p:nvPr/>
        </p:nvSpPr>
        <p:spPr>
          <a:xfrm>
            <a:off x="590400" y="3543120"/>
            <a:ext cx="9720" cy="495720"/>
          </a:xfrm>
          <a:custGeom>
            <a:avLst/>
            <a:gdLst/>
            <a:ahLst/>
            <a:rect l="0" t="0" r="r" b="b"/>
            <a:pathLst>
              <a:path w="27" h="1377">
                <a:moveTo>
                  <a:pt x="0" y="0"/>
                </a:moveTo>
                <a:lnTo>
                  <a:pt x="27" y="0"/>
                </a:lnTo>
                <a:lnTo>
                  <a:pt x="27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88" name=""/>
          <p:cNvSpPr/>
          <p:nvPr/>
        </p:nvSpPr>
        <p:spPr>
          <a:xfrm>
            <a:off x="590400" y="3533760"/>
            <a:ext cx="3839040" cy="9720"/>
          </a:xfrm>
          <a:custGeom>
            <a:avLst/>
            <a:gdLst/>
            <a:ahLst/>
            <a:rect l="0" t="0" r="r" b="b"/>
            <a:pathLst>
              <a:path w="10664" h="27">
                <a:moveTo>
                  <a:pt x="0" y="0"/>
                </a:moveTo>
                <a:lnTo>
                  <a:pt x="10664" y="0"/>
                </a:lnTo>
                <a:lnTo>
                  <a:pt x="1066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89" name=""/>
          <p:cNvSpPr/>
          <p:nvPr/>
        </p:nvSpPr>
        <p:spPr>
          <a:xfrm>
            <a:off x="4419360" y="3543120"/>
            <a:ext cx="10080" cy="495720"/>
          </a:xfrm>
          <a:custGeom>
            <a:avLst/>
            <a:gdLst/>
            <a:ahLst/>
            <a:rect l="0" t="0" r="r" b="b"/>
            <a:pathLst>
              <a:path w="28" h="1377">
                <a:moveTo>
                  <a:pt x="0" y="0"/>
                </a:moveTo>
                <a:lnTo>
                  <a:pt x="28" y="0"/>
                </a:lnTo>
                <a:lnTo>
                  <a:pt x="28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90" name=""/>
          <p:cNvSpPr/>
          <p:nvPr/>
        </p:nvSpPr>
        <p:spPr>
          <a:xfrm>
            <a:off x="4429080" y="3533760"/>
            <a:ext cx="2638800" cy="9720"/>
          </a:xfrm>
          <a:custGeom>
            <a:avLst/>
            <a:gdLst/>
            <a:ahLst/>
            <a:rect l="0" t="0" r="r" b="b"/>
            <a:pathLst>
              <a:path w="7330" h="27">
                <a:moveTo>
                  <a:pt x="0" y="0"/>
                </a:moveTo>
                <a:lnTo>
                  <a:pt x="7330" y="0"/>
                </a:lnTo>
                <a:lnTo>
                  <a:pt x="733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91" name=""/>
          <p:cNvSpPr/>
          <p:nvPr/>
        </p:nvSpPr>
        <p:spPr>
          <a:xfrm>
            <a:off x="7057800" y="3543120"/>
            <a:ext cx="10080" cy="495720"/>
          </a:xfrm>
          <a:custGeom>
            <a:avLst/>
            <a:gdLst/>
            <a:ahLst/>
            <a:rect l="0" t="0" r="r" b="b"/>
            <a:pathLst>
              <a:path w="28" h="1377">
                <a:moveTo>
                  <a:pt x="0" y="0"/>
                </a:moveTo>
                <a:lnTo>
                  <a:pt x="28" y="0"/>
                </a:lnTo>
                <a:lnTo>
                  <a:pt x="28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92" name=""/>
          <p:cNvSpPr/>
          <p:nvPr/>
        </p:nvSpPr>
        <p:spPr>
          <a:xfrm>
            <a:off x="7067520" y="3533760"/>
            <a:ext cx="2448000" cy="9720"/>
          </a:xfrm>
          <a:custGeom>
            <a:avLst/>
            <a:gdLst/>
            <a:ahLst/>
            <a:rect l="0" t="0" r="r" b="b"/>
            <a:pathLst>
              <a:path w="6800" h="27">
                <a:moveTo>
                  <a:pt x="0" y="0"/>
                </a:moveTo>
                <a:lnTo>
                  <a:pt x="6800" y="0"/>
                </a:lnTo>
                <a:lnTo>
                  <a:pt x="680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93" name=""/>
          <p:cNvSpPr/>
          <p:nvPr/>
        </p:nvSpPr>
        <p:spPr>
          <a:xfrm>
            <a:off x="9505800" y="3543120"/>
            <a:ext cx="9720" cy="495720"/>
          </a:xfrm>
          <a:custGeom>
            <a:avLst/>
            <a:gdLst/>
            <a:ahLst/>
            <a:rect l="0" t="0" r="r" b="b"/>
            <a:pathLst>
              <a:path w="27" h="1377">
                <a:moveTo>
                  <a:pt x="0" y="0"/>
                </a:moveTo>
                <a:lnTo>
                  <a:pt x="27" y="0"/>
                </a:lnTo>
                <a:lnTo>
                  <a:pt x="27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94" name=""/>
          <p:cNvSpPr/>
          <p:nvPr/>
        </p:nvSpPr>
        <p:spPr>
          <a:xfrm>
            <a:off x="9515160" y="3533760"/>
            <a:ext cx="2086560" cy="9720"/>
          </a:xfrm>
          <a:custGeom>
            <a:avLst/>
            <a:gdLst/>
            <a:ahLst/>
            <a:rect l="0" t="0" r="r" b="b"/>
            <a:pathLst>
              <a:path w="5796" h="27">
                <a:moveTo>
                  <a:pt x="0" y="0"/>
                </a:moveTo>
                <a:lnTo>
                  <a:pt x="5796" y="0"/>
                </a:lnTo>
                <a:lnTo>
                  <a:pt x="579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95" name=""/>
          <p:cNvSpPr/>
          <p:nvPr/>
        </p:nvSpPr>
        <p:spPr>
          <a:xfrm>
            <a:off x="11591640" y="3543120"/>
            <a:ext cx="10080" cy="495720"/>
          </a:xfrm>
          <a:custGeom>
            <a:avLst/>
            <a:gdLst/>
            <a:ahLst/>
            <a:rect l="0" t="0" r="r" b="b"/>
            <a:pathLst>
              <a:path w="28" h="1377">
                <a:moveTo>
                  <a:pt x="0" y="0"/>
                </a:moveTo>
                <a:lnTo>
                  <a:pt x="28" y="0"/>
                </a:lnTo>
                <a:lnTo>
                  <a:pt x="28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96" name=""/>
          <p:cNvSpPr/>
          <p:nvPr/>
        </p:nvSpPr>
        <p:spPr>
          <a:xfrm>
            <a:off x="590400" y="4028760"/>
            <a:ext cx="3839040" cy="10080"/>
          </a:xfrm>
          <a:custGeom>
            <a:avLst/>
            <a:gdLst/>
            <a:ahLst/>
            <a:rect l="0" t="0" r="r" b="b"/>
            <a:pathLst>
              <a:path w="10664" h="28">
                <a:moveTo>
                  <a:pt x="0" y="0"/>
                </a:moveTo>
                <a:lnTo>
                  <a:pt x="10664" y="0"/>
                </a:lnTo>
                <a:lnTo>
                  <a:pt x="1066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97" name=""/>
          <p:cNvSpPr/>
          <p:nvPr/>
        </p:nvSpPr>
        <p:spPr>
          <a:xfrm>
            <a:off x="4429080" y="4028760"/>
            <a:ext cx="2638800" cy="10080"/>
          </a:xfrm>
          <a:custGeom>
            <a:avLst/>
            <a:gdLst/>
            <a:ahLst/>
            <a:rect l="0" t="0" r="r" b="b"/>
            <a:pathLst>
              <a:path w="7330" h="28">
                <a:moveTo>
                  <a:pt x="0" y="0"/>
                </a:moveTo>
                <a:lnTo>
                  <a:pt x="7330" y="0"/>
                </a:lnTo>
                <a:lnTo>
                  <a:pt x="733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98" name=""/>
          <p:cNvSpPr/>
          <p:nvPr/>
        </p:nvSpPr>
        <p:spPr>
          <a:xfrm>
            <a:off x="7067520" y="4028760"/>
            <a:ext cx="2448000" cy="10080"/>
          </a:xfrm>
          <a:custGeom>
            <a:avLst/>
            <a:gdLst/>
            <a:ahLst/>
            <a:rect l="0" t="0" r="r" b="b"/>
            <a:pathLst>
              <a:path w="6800" h="28">
                <a:moveTo>
                  <a:pt x="0" y="0"/>
                </a:moveTo>
                <a:lnTo>
                  <a:pt x="6800" y="0"/>
                </a:lnTo>
                <a:lnTo>
                  <a:pt x="680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1999" name=""/>
          <p:cNvSpPr/>
          <p:nvPr/>
        </p:nvSpPr>
        <p:spPr>
          <a:xfrm>
            <a:off x="9515160" y="4028760"/>
            <a:ext cx="2086560" cy="10080"/>
          </a:xfrm>
          <a:custGeom>
            <a:avLst/>
            <a:gdLst/>
            <a:ahLst/>
            <a:rect l="0" t="0" r="r" b="b"/>
            <a:pathLst>
              <a:path w="5796" h="28">
                <a:moveTo>
                  <a:pt x="0" y="0"/>
                </a:moveTo>
                <a:lnTo>
                  <a:pt x="5796" y="0"/>
                </a:lnTo>
                <a:lnTo>
                  <a:pt x="579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00" name=""/>
          <p:cNvSpPr txBox="1"/>
          <p:nvPr/>
        </p:nvSpPr>
        <p:spPr>
          <a:xfrm>
            <a:off x="590400" y="1281600"/>
            <a:ext cx="7477254" cy="36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8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高得点の課題と、残る課題を分けて読む</a:t>
            </a:r>
            <a:endParaRPr lang="en-US" sz="28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01" name=""/>
          <p:cNvSpPr txBox="1"/>
          <p:nvPr/>
        </p:nvSpPr>
        <p:spPr>
          <a:xfrm>
            <a:off x="714240" y="2187360"/>
            <a:ext cx="1201428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6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問題の種類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02" name=""/>
          <p:cNvSpPr txBox="1"/>
          <p:nvPr/>
        </p:nvSpPr>
        <p:spPr>
          <a:xfrm>
            <a:off x="5199480" y="2187360"/>
            <a:ext cx="2001276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6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Boku 15M</a:t>
            </a:r>
            <a:r>
              <a:rPr lang="ja-JP" sz="16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・</a:t>
            </a:r>
            <a:r>
              <a:rPr lang="en-US" sz="16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1ep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03" name=""/>
          <p:cNvSpPr txBox="1"/>
          <p:nvPr/>
        </p:nvSpPr>
        <p:spPr>
          <a:xfrm>
            <a:off x="7788240" y="2187360"/>
            <a:ext cx="1835676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6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Boku 1M</a:t>
            </a:r>
            <a:r>
              <a:rPr lang="ja-JP" sz="16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・</a:t>
            </a:r>
            <a:r>
              <a:rPr lang="en-US" sz="16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3ep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04" name=""/>
          <p:cNvSpPr txBox="1"/>
          <p:nvPr/>
        </p:nvSpPr>
        <p:spPr>
          <a:xfrm>
            <a:off x="10144440" y="2187360"/>
            <a:ext cx="1528488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6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Qwen3-1.7B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05" name=""/>
          <p:cNvSpPr txBox="1"/>
          <p:nvPr/>
        </p:nvSpPr>
        <p:spPr>
          <a:xfrm>
            <a:off x="714240" y="2682720"/>
            <a:ext cx="2799882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初めて組み合わせる</a:t>
            </a:r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2</a:t>
            </a:r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操作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06" name=""/>
          <p:cNvSpPr txBox="1"/>
          <p:nvPr/>
        </p:nvSpPr>
        <p:spPr>
          <a:xfrm>
            <a:off x="6018480" y="2682720"/>
            <a:ext cx="1063152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98 / 100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07" name=""/>
          <p:cNvSpPr txBox="1"/>
          <p:nvPr/>
        </p:nvSpPr>
        <p:spPr>
          <a:xfrm>
            <a:off x="8462520" y="2682720"/>
            <a:ext cx="1063152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99 / 100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08" name=""/>
          <p:cNvSpPr txBox="1"/>
          <p:nvPr/>
        </p:nvSpPr>
        <p:spPr>
          <a:xfrm>
            <a:off x="10549440" y="2682720"/>
            <a:ext cx="1064394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34 / 100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09" name=""/>
          <p:cNvSpPr txBox="1"/>
          <p:nvPr/>
        </p:nvSpPr>
        <p:spPr>
          <a:xfrm>
            <a:off x="714240" y="3178080"/>
            <a:ext cx="2799882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初めてのペアを含む</a:t>
            </a:r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3</a:t>
            </a:r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操作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10" name=""/>
          <p:cNvSpPr txBox="1"/>
          <p:nvPr/>
        </p:nvSpPr>
        <p:spPr>
          <a:xfrm>
            <a:off x="6018480" y="3178080"/>
            <a:ext cx="1063152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96 / 100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11" name=""/>
          <p:cNvSpPr txBox="1"/>
          <p:nvPr/>
        </p:nvSpPr>
        <p:spPr>
          <a:xfrm>
            <a:off x="8324640" y="3178080"/>
            <a:ext cx="1220886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100 / 100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12" name=""/>
          <p:cNvSpPr txBox="1"/>
          <p:nvPr/>
        </p:nvSpPr>
        <p:spPr>
          <a:xfrm>
            <a:off x="10550160" y="3178080"/>
            <a:ext cx="1063152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27 / 100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13" name=""/>
          <p:cNvSpPr txBox="1"/>
          <p:nvPr/>
        </p:nvSpPr>
        <p:spPr>
          <a:xfrm>
            <a:off x="714240" y="3673080"/>
            <a:ext cx="304083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異なる</a:t>
            </a:r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4</a:t>
            </a:r>
            <a:r>
              <a:rPr lang="ja-JP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操作を組み合わせる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14" name=""/>
          <p:cNvSpPr txBox="1"/>
          <p:nvPr/>
        </p:nvSpPr>
        <p:spPr>
          <a:xfrm>
            <a:off x="6018480" y="3673080"/>
            <a:ext cx="1063152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29 / 100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15" name=""/>
          <p:cNvSpPr txBox="1"/>
          <p:nvPr/>
        </p:nvSpPr>
        <p:spPr>
          <a:xfrm>
            <a:off x="8461440" y="3673080"/>
            <a:ext cx="1064394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43 / 100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16" name=""/>
          <p:cNvSpPr/>
          <p:nvPr/>
        </p:nvSpPr>
        <p:spPr>
          <a:xfrm>
            <a:off x="685440" y="4400280"/>
            <a:ext cx="67320" cy="66960"/>
          </a:xfrm>
          <a:custGeom>
            <a:avLst/>
            <a:gdLst/>
            <a:ahLst/>
            <a:rect l="0" t="0" r="r" b="b"/>
            <a:pathLst>
              <a:path w="187" h="186">
                <a:moveTo>
                  <a:pt x="187" y="94"/>
                </a:moveTo>
                <a:cubicBezTo>
                  <a:pt x="187" y="106"/>
                  <a:pt x="184" y="118"/>
                  <a:pt x="180" y="129"/>
                </a:cubicBezTo>
                <a:cubicBezTo>
                  <a:pt x="175" y="141"/>
                  <a:pt x="168" y="151"/>
                  <a:pt x="160" y="159"/>
                </a:cubicBezTo>
                <a:cubicBezTo>
                  <a:pt x="151" y="168"/>
                  <a:pt x="141" y="175"/>
                  <a:pt x="130" y="179"/>
                </a:cubicBezTo>
                <a:cubicBezTo>
                  <a:pt x="118" y="184"/>
                  <a:pt x="106" y="186"/>
                  <a:pt x="94" y="186"/>
                </a:cubicBezTo>
                <a:cubicBezTo>
                  <a:pt x="82" y="186"/>
                  <a:pt x="70" y="184"/>
                  <a:pt x="59" y="179"/>
                </a:cubicBezTo>
                <a:cubicBezTo>
                  <a:pt x="47" y="175"/>
                  <a:pt x="36" y="168"/>
                  <a:pt x="28" y="159"/>
                </a:cubicBezTo>
                <a:cubicBezTo>
                  <a:pt x="19" y="151"/>
                  <a:pt x="12" y="141"/>
                  <a:pt x="8" y="129"/>
                </a:cubicBezTo>
                <a:cubicBezTo>
                  <a:pt x="3" y="118"/>
                  <a:pt x="0" y="106"/>
                  <a:pt x="0" y="94"/>
                </a:cubicBezTo>
                <a:cubicBezTo>
                  <a:pt x="0" y="82"/>
                  <a:pt x="3" y="69"/>
                  <a:pt x="8" y="57"/>
                </a:cubicBezTo>
                <a:cubicBezTo>
                  <a:pt x="12" y="46"/>
                  <a:pt x="19" y="36"/>
                  <a:pt x="28" y="27"/>
                </a:cubicBezTo>
                <a:cubicBezTo>
                  <a:pt x="36" y="19"/>
                  <a:pt x="47" y="12"/>
                  <a:pt x="59" y="7"/>
                </a:cubicBezTo>
                <a:cubicBezTo>
                  <a:pt x="70" y="3"/>
                  <a:pt x="82" y="0"/>
                  <a:pt x="94" y="0"/>
                </a:cubicBezTo>
                <a:cubicBezTo>
                  <a:pt x="106" y="0"/>
                  <a:pt x="118" y="3"/>
                  <a:pt x="130" y="7"/>
                </a:cubicBezTo>
                <a:cubicBezTo>
                  <a:pt x="141" y="12"/>
                  <a:pt x="151" y="19"/>
                  <a:pt x="160" y="27"/>
                </a:cubicBezTo>
                <a:cubicBezTo>
                  <a:pt x="168" y="36"/>
                  <a:pt x="175" y="46"/>
                  <a:pt x="180" y="57"/>
                </a:cubicBezTo>
                <a:cubicBezTo>
                  <a:pt x="184" y="69"/>
                  <a:pt x="187" y="82"/>
                  <a:pt x="187" y="94"/>
                </a:cubicBezTo>
                <a:close/>
              </a:path>
            </a:pathLst>
          </a:custGeom>
          <a:solidFill>
            <a:srgbClr val="17212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FFFFFF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17" name=""/>
          <p:cNvSpPr txBox="1"/>
          <p:nvPr/>
        </p:nvSpPr>
        <p:spPr>
          <a:xfrm>
            <a:off x="10550160" y="3673080"/>
            <a:ext cx="1063152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65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26 / 100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18" name=""/>
          <p:cNvSpPr/>
          <p:nvPr/>
        </p:nvSpPr>
        <p:spPr>
          <a:xfrm>
            <a:off x="685440" y="4867200"/>
            <a:ext cx="67320" cy="66960"/>
          </a:xfrm>
          <a:custGeom>
            <a:avLst/>
            <a:gdLst/>
            <a:ahLst/>
            <a:rect l="0" t="0" r="r" b="b"/>
            <a:pathLst>
              <a:path w="187" h="186">
                <a:moveTo>
                  <a:pt x="187" y="93"/>
                </a:moveTo>
                <a:cubicBezTo>
                  <a:pt x="187" y="106"/>
                  <a:pt x="184" y="117"/>
                  <a:pt x="180" y="129"/>
                </a:cubicBezTo>
                <a:cubicBezTo>
                  <a:pt x="175" y="140"/>
                  <a:pt x="168" y="150"/>
                  <a:pt x="160" y="159"/>
                </a:cubicBezTo>
                <a:cubicBezTo>
                  <a:pt x="151" y="167"/>
                  <a:pt x="141" y="174"/>
                  <a:pt x="130" y="179"/>
                </a:cubicBezTo>
                <a:cubicBezTo>
                  <a:pt x="118" y="184"/>
                  <a:pt x="106" y="186"/>
                  <a:pt x="94" y="186"/>
                </a:cubicBezTo>
                <a:cubicBezTo>
                  <a:pt x="82" y="186"/>
                  <a:pt x="70" y="184"/>
                  <a:pt x="59" y="179"/>
                </a:cubicBezTo>
                <a:cubicBezTo>
                  <a:pt x="47" y="174"/>
                  <a:pt x="36" y="167"/>
                  <a:pt x="28" y="159"/>
                </a:cubicBezTo>
                <a:cubicBezTo>
                  <a:pt x="19" y="150"/>
                  <a:pt x="12" y="140"/>
                  <a:pt x="8" y="129"/>
                </a:cubicBezTo>
                <a:cubicBezTo>
                  <a:pt x="3" y="117"/>
                  <a:pt x="0" y="106"/>
                  <a:pt x="0" y="93"/>
                </a:cubicBezTo>
                <a:cubicBezTo>
                  <a:pt x="0" y="81"/>
                  <a:pt x="3" y="68"/>
                  <a:pt x="8" y="57"/>
                </a:cubicBezTo>
                <a:cubicBezTo>
                  <a:pt x="12" y="46"/>
                  <a:pt x="19" y="36"/>
                  <a:pt x="28" y="27"/>
                </a:cubicBezTo>
                <a:cubicBezTo>
                  <a:pt x="36" y="18"/>
                  <a:pt x="47" y="11"/>
                  <a:pt x="59" y="7"/>
                </a:cubicBezTo>
                <a:cubicBezTo>
                  <a:pt x="70" y="2"/>
                  <a:pt x="82" y="0"/>
                  <a:pt x="94" y="0"/>
                </a:cubicBezTo>
                <a:cubicBezTo>
                  <a:pt x="106" y="0"/>
                  <a:pt x="118" y="2"/>
                  <a:pt x="130" y="7"/>
                </a:cubicBezTo>
                <a:cubicBezTo>
                  <a:pt x="141" y="11"/>
                  <a:pt x="151" y="18"/>
                  <a:pt x="160" y="27"/>
                </a:cubicBezTo>
                <a:cubicBezTo>
                  <a:pt x="168" y="36"/>
                  <a:pt x="175" y="46"/>
                  <a:pt x="180" y="57"/>
                </a:cubicBezTo>
                <a:cubicBezTo>
                  <a:pt x="184" y="68"/>
                  <a:pt x="187" y="81"/>
                  <a:pt x="187" y="93"/>
                </a:cubicBezTo>
                <a:close/>
              </a:path>
            </a:pathLst>
          </a:custGeom>
          <a:solidFill>
            <a:srgbClr val="17212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FFFFFF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19" name=""/>
          <p:cNvSpPr txBox="1"/>
          <p:nvPr/>
        </p:nvSpPr>
        <p:spPr>
          <a:xfrm>
            <a:off x="888120" y="4286160"/>
            <a:ext cx="8306910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7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今回の</a:t>
            </a:r>
            <a:r>
              <a:rPr lang="en-US" sz="187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2</a:t>
            </a:r>
            <a:r>
              <a:rPr lang="ja-JP" sz="187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・</a:t>
            </a:r>
            <a:r>
              <a:rPr lang="en-US" sz="187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3</a:t>
            </a:r>
            <a:r>
              <a:rPr lang="ja-JP" sz="187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操作の課題では、小規模モデルにも有望な結果がある。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20" name=""/>
          <p:cNvSpPr/>
          <p:nvPr/>
        </p:nvSpPr>
        <p:spPr>
          <a:xfrm>
            <a:off x="685440" y="5343480"/>
            <a:ext cx="67320" cy="66960"/>
          </a:xfrm>
          <a:custGeom>
            <a:avLst/>
            <a:gdLst/>
            <a:ahLst/>
            <a:rect l="0" t="0" r="r" b="b"/>
            <a:pathLst>
              <a:path w="187" h="186">
                <a:moveTo>
                  <a:pt x="187" y="93"/>
                </a:moveTo>
                <a:cubicBezTo>
                  <a:pt x="187" y="106"/>
                  <a:pt x="184" y="117"/>
                  <a:pt x="180" y="129"/>
                </a:cubicBezTo>
                <a:cubicBezTo>
                  <a:pt x="175" y="140"/>
                  <a:pt x="168" y="150"/>
                  <a:pt x="160" y="159"/>
                </a:cubicBezTo>
                <a:cubicBezTo>
                  <a:pt x="151" y="167"/>
                  <a:pt x="141" y="174"/>
                  <a:pt x="130" y="179"/>
                </a:cubicBezTo>
                <a:cubicBezTo>
                  <a:pt x="118" y="183"/>
                  <a:pt x="106" y="186"/>
                  <a:pt x="94" y="186"/>
                </a:cubicBezTo>
                <a:cubicBezTo>
                  <a:pt x="82" y="186"/>
                  <a:pt x="70" y="183"/>
                  <a:pt x="59" y="179"/>
                </a:cubicBezTo>
                <a:cubicBezTo>
                  <a:pt x="47" y="174"/>
                  <a:pt x="36" y="167"/>
                  <a:pt x="28" y="159"/>
                </a:cubicBezTo>
                <a:cubicBezTo>
                  <a:pt x="19" y="150"/>
                  <a:pt x="12" y="140"/>
                  <a:pt x="8" y="129"/>
                </a:cubicBezTo>
                <a:cubicBezTo>
                  <a:pt x="3" y="117"/>
                  <a:pt x="0" y="106"/>
                  <a:pt x="0" y="93"/>
                </a:cubicBezTo>
                <a:cubicBezTo>
                  <a:pt x="0" y="81"/>
                  <a:pt x="3" y="69"/>
                  <a:pt x="8" y="58"/>
                </a:cubicBezTo>
                <a:cubicBezTo>
                  <a:pt x="12" y="45"/>
                  <a:pt x="19" y="35"/>
                  <a:pt x="28" y="27"/>
                </a:cubicBezTo>
                <a:cubicBezTo>
                  <a:pt x="36" y="18"/>
                  <a:pt x="47" y="11"/>
                  <a:pt x="59" y="7"/>
                </a:cubicBezTo>
                <a:cubicBezTo>
                  <a:pt x="70" y="2"/>
                  <a:pt x="82" y="0"/>
                  <a:pt x="94" y="0"/>
                </a:cubicBezTo>
                <a:cubicBezTo>
                  <a:pt x="106" y="0"/>
                  <a:pt x="118" y="2"/>
                  <a:pt x="130" y="7"/>
                </a:cubicBezTo>
                <a:cubicBezTo>
                  <a:pt x="141" y="11"/>
                  <a:pt x="151" y="18"/>
                  <a:pt x="160" y="27"/>
                </a:cubicBezTo>
                <a:cubicBezTo>
                  <a:pt x="168" y="35"/>
                  <a:pt x="175" y="45"/>
                  <a:pt x="180" y="58"/>
                </a:cubicBezTo>
                <a:cubicBezTo>
                  <a:pt x="184" y="69"/>
                  <a:pt x="187" y="81"/>
                  <a:pt x="187" y="93"/>
                </a:cubicBezTo>
                <a:close/>
              </a:path>
            </a:pathLst>
          </a:custGeom>
          <a:solidFill>
            <a:srgbClr val="17212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FFFFFF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21" name=""/>
          <p:cNvSpPr txBox="1"/>
          <p:nvPr/>
        </p:nvSpPr>
        <p:spPr>
          <a:xfrm>
            <a:off x="888120" y="4753080"/>
            <a:ext cx="9750942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4</a:t>
            </a:r>
            <a:r>
              <a:rPr lang="ja-JP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操作では誤りが多く残る。どの操作を落とすか、順序を変えるかを分析する。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22" name=""/>
          <p:cNvSpPr txBox="1"/>
          <p:nvPr/>
        </p:nvSpPr>
        <p:spPr>
          <a:xfrm>
            <a:off x="888120" y="5229360"/>
            <a:ext cx="10740816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1M</a:t>
            </a:r>
            <a:r>
              <a:rPr lang="ja-JP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は</a:t>
            </a:r>
            <a:r>
              <a:rPr lang="en-US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3epoch</a:t>
            </a:r>
            <a:r>
              <a:rPr lang="ja-JP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、</a:t>
            </a:r>
            <a:r>
              <a:rPr lang="en-US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15M</a:t>
            </a:r>
            <a:r>
              <a:rPr lang="ja-JP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は</a:t>
            </a:r>
            <a:r>
              <a:rPr lang="en-US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1epoch</a:t>
            </a:r>
            <a:r>
              <a:rPr lang="ja-JP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。生成条件も異なり、規模だけの優劣とは解釈しない。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23" name=""/>
          <p:cNvSpPr txBox="1"/>
          <p:nvPr/>
        </p:nvSpPr>
        <p:spPr>
          <a:xfrm>
            <a:off x="285840" y="239760"/>
            <a:ext cx="2204964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350" b="0" u="none" strike="noStrike">
                <a:solidFill>
                  <a:srgbClr val="666666"/>
                </a:solidFill>
                <a:effectLst/>
                <a:uFillTx/>
                <a:latin typeface="Hiragino Sans"/>
                <a:ea typeface="Hiragino Sans"/>
              </a:rPr>
              <a:t>6. </a:t>
            </a:r>
            <a:r>
              <a:rPr lang="ja-JP" sz="1350" b="0" u="none" strike="noStrike">
                <a:solidFill>
                  <a:srgbClr val="666666"/>
                </a:solidFill>
                <a:effectLst/>
                <a:uFillTx/>
                <a:latin typeface="Hiragino Sans"/>
                <a:ea typeface="Hiragino Sans"/>
              </a:rPr>
              <a:t>組み合わせ汎化を測る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24" name=""/>
          <p:cNvSpPr txBox="1"/>
          <p:nvPr/>
        </p:nvSpPr>
        <p:spPr>
          <a:xfrm>
            <a:off x="11705400" y="6466680"/>
            <a:ext cx="2318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Hiragino Sans"/>
                <a:ea typeface="Hiragino Sans"/>
              </a:rPr>
              <a:t>43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2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2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28" name=""/>
          <p:cNvSpPr txBox="1"/>
          <p:nvPr/>
        </p:nvSpPr>
        <p:spPr>
          <a:xfrm>
            <a:off x="590400" y="1576800"/>
            <a:ext cx="6646770" cy="36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8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今回の結果の意義と、次の研究課題</a:t>
            </a:r>
            <a:endParaRPr lang="en-US" sz="28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29" name=""/>
          <p:cNvSpPr txBox="1"/>
          <p:nvPr/>
        </p:nvSpPr>
        <p:spPr>
          <a:xfrm>
            <a:off x="590400" y="2402640"/>
            <a:ext cx="11411100" cy="258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0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今回のベンチマークでは、小規模モデルの組み合わせ汎化について有望な結果が得られた。</a:t>
            </a:r>
            <a:endParaRPr lang="en-US" sz="202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30" name=""/>
          <p:cNvSpPr txBox="1"/>
          <p:nvPr/>
        </p:nvSpPr>
        <p:spPr>
          <a:xfrm>
            <a:off x="590400" y="2954880"/>
            <a:ext cx="11411100" cy="258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02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今後は比較条件を揃え、より大きなモデルとの比較を追加するとともに、</a:t>
            </a:r>
            <a:r>
              <a:rPr lang="ja-JP" sz="20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評価設計と作成手順</a:t>
            </a:r>
            <a:endParaRPr lang="en-US" sz="202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31" name=""/>
          <p:cNvSpPr/>
          <p:nvPr/>
        </p:nvSpPr>
        <p:spPr>
          <a:xfrm>
            <a:off x="695160" y="400968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6"/>
                </a:moveTo>
                <a:cubicBezTo>
                  <a:pt x="213" y="120"/>
                  <a:pt x="210" y="134"/>
                  <a:pt x="205" y="147"/>
                </a:cubicBezTo>
                <a:cubicBezTo>
                  <a:pt x="199" y="161"/>
                  <a:pt x="192" y="172"/>
                  <a:pt x="182" y="182"/>
                </a:cubicBezTo>
                <a:cubicBezTo>
                  <a:pt x="172" y="192"/>
                  <a:pt x="160" y="200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5" y="205"/>
                </a:cubicBezTo>
                <a:cubicBezTo>
                  <a:pt x="52" y="200"/>
                  <a:pt x="41" y="192"/>
                  <a:pt x="31" y="182"/>
                </a:cubicBezTo>
                <a:cubicBezTo>
                  <a:pt x="21" y="172"/>
                  <a:pt x="13" y="161"/>
                  <a:pt x="8" y="147"/>
                </a:cubicBezTo>
                <a:cubicBezTo>
                  <a:pt x="3" y="134"/>
                  <a:pt x="0" y="120"/>
                  <a:pt x="0" y="106"/>
                </a:cubicBezTo>
                <a:cubicBezTo>
                  <a:pt x="0" y="92"/>
                  <a:pt x="3" y="79"/>
                  <a:pt x="8" y="66"/>
                </a:cubicBezTo>
                <a:cubicBezTo>
                  <a:pt x="13" y="53"/>
                  <a:pt x="21" y="41"/>
                  <a:pt x="31" y="31"/>
                </a:cubicBezTo>
                <a:cubicBezTo>
                  <a:pt x="41" y="22"/>
                  <a:pt x="52" y="14"/>
                  <a:pt x="65" y="9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9"/>
                </a:cubicBezTo>
                <a:cubicBezTo>
                  <a:pt x="160" y="14"/>
                  <a:pt x="172" y="22"/>
                  <a:pt x="182" y="31"/>
                </a:cubicBezTo>
                <a:cubicBezTo>
                  <a:pt x="192" y="41"/>
                  <a:pt x="199" y="53"/>
                  <a:pt x="205" y="66"/>
                </a:cubicBezTo>
                <a:cubicBezTo>
                  <a:pt x="210" y="79"/>
                  <a:pt x="213" y="92"/>
                  <a:pt x="213" y="106"/>
                </a:cubicBezTo>
                <a:close/>
              </a:path>
            </a:pathLst>
          </a:custGeom>
          <a:solidFill>
            <a:srgbClr val="17212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FFFFFF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32" name=""/>
          <p:cNvSpPr txBox="1"/>
          <p:nvPr/>
        </p:nvSpPr>
        <p:spPr>
          <a:xfrm>
            <a:off x="590400" y="3345480"/>
            <a:ext cx="2074140" cy="258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0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を明文化する。</a:t>
            </a:r>
            <a:endParaRPr lang="en-US" sz="202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33" name=""/>
          <p:cNvSpPr/>
          <p:nvPr/>
        </p:nvSpPr>
        <p:spPr>
          <a:xfrm>
            <a:off x="695160" y="4514760"/>
            <a:ext cx="76680" cy="76320"/>
          </a:xfrm>
          <a:custGeom>
            <a:avLst/>
            <a:gdLst/>
            <a:ahLst/>
            <a:rect l="0" t="0" r="r" b="b"/>
            <a:pathLst>
              <a:path w="213" h="212">
                <a:moveTo>
                  <a:pt x="213" y="107"/>
                </a:moveTo>
                <a:cubicBezTo>
                  <a:pt x="213" y="121"/>
                  <a:pt x="210" y="134"/>
                  <a:pt x="205" y="147"/>
                </a:cubicBezTo>
                <a:cubicBezTo>
                  <a:pt x="199" y="160"/>
                  <a:pt x="192" y="171"/>
                  <a:pt x="182" y="181"/>
                </a:cubicBezTo>
                <a:cubicBezTo>
                  <a:pt x="172" y="191"/>
                  <a:pt x="160" y="199"/>
                  <a:pt x="147" y="204"/>
                </a:cubicBezTo>
                <a:cubicBezTo>
                  <a:pt x="134" y="210"/>
                  <a:pt x="121" y="212"/>
                  <a:pt x="107" y="212"/>
                </a:cubicBezTo>
                <a:cubicBezTo>
                  <a:pt x="93" y="212"/>
                  <a:pt x="79" y="210"/>
                  <a:pt x="65" y="204"/>
                </a:cubicBezTo>
                <a:cubicBezTo>
                  <a:pt x="52" y="199"/>
                  <a:pt x="41" y="191"/>
                  <a:pt x="31" y="181"/>
                </a:cubicBezTo>
                <a:cubicBezTo>
                  <a:pt x="21" y="171"/>
                  <a:pt x="13" y="160"/>
                  <a:pt x="8" y="147"/>
                </a:cubicBezTo>
                <a:cubicBezTo>
                  <a:pt x="3" y="134"/>
                  <a:pt x="0" y="121"/>
                  <a:pt x="0" y="107"/>
                </a:cubicBezTo>
                <a:cubicBezTo>
                  <a:pt x="0" y="93"/>
                  <a:pt x="3" y="79"/>
                  <a:pt x="8" y="66"/>
                </a:cubicBezTo>
                <a:cubicBezTo>
                  <a:pt x="13" y="53"/>
                  <a:pt x="21" y="42"/>
                  <a:pt x="31" y="32"/>
                </a:cubicBezTo>
                <a:cubicBezTo>
                  <a:pt x="41" y="22"/>
                  <a:pt x="52" y="13"/>
                  <a:pt x="65" y="8"/>
                </a:cubicBezTo>
                <a:cubicBezTo>
                  <a:pt x="79" y="2"/>
                  <a:pt x="93" y="0"/>
                  <a:pt x="107" y="0"/>
                </a:cubicBezTo>
                <a:cubicBezTo>
                  <a:pt x="121" y="0"/>
                  <a:pt x="134" y="2"/>
                  <a:pt x="147" y="8"/>
                </a:cubicBezTo>
                <a:cubicBezTo>
                  <a:pt x="160" y="13"/>
                  <a:pt x="172" y="22"/>
                  <a:pt x="182" y="32"/>
                </a:cubicBezTo>
                <a:cubicBezTo>
                  <a:pt x="192" y="42"/>
                  <a:pt x="199" y="53"/>
                  <a:pt x="205" y="66"/>
                </a:cubicBezTo>
                <a:cubicBezTo>
                  <a:pt x="210" y="79"/>
                  <a:pt x="213" y="93"/>
                  <a:pt x="213" y="107"/>
                </a:cubicBezTo>
                <a:close/>
              </a:path>
            </a:pathLst>
          </a:custGeom>
          <a:solidFill>
            <a:srgbClr val="17212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FFFFFF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34" name=""/>
          <p:cNvSpPr txBox="1"/>
          <p:nvPr/>
        </p:nvSpPr>
        <p:spPr>
          <a:xfrm>
            <a:off x="911880" y="3898080"/>
            <a:ext cx="11089620" cy="258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02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比較条件：訓練回数、プロンプト、生成上限などを記録し、揃えられる条件を揃える。</a:t>
            </a:r>
            <a:endParaRPr lang="en-US" sz="202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35" name=""/>
          <p:cNvSpPr/>
          <p:nvPr/>
        </p:nvSpPr>
        <p:spPr>
          <a:xfrm>
            <a:off x="695160" y="5010120"/>
            <a:ext cx="76680" cy="76320"/>
          </a:xfrm>
          <a:custGeom>
            <a:avLst/>
            <a:gdLst/>
            <a:ahLst/>
            <a:rect l="0" t="0" r="r" b="b"/>
            <a:pathLst>
              <a:path w="213" h="212">
                <a:moveTo>
                  <a:pt x="213" y="105"/>
                </a:moveTo>
                <a:cubicBezTo>
                  <a:pt x="213" y="120"/>
                  <a:pt x="210" y="134"/>
                  <a:pt x="205" y="147"/>
                </a:cubicBezTo>
                <a:cubicBezTo>
                  <a:pt x="199" y="160"/>
                  <a:pt x="192" y="171"/>
                  <a:pt x="182" y="181"/>
                </a:cubicBezTo>
                <a:cubicBezTo>
                  <a:pt x="172" y="191"/>
                  <a:pt x="160" y="199"/>
                  <a:pt x="147" y="204"/>
                </a:cubicBezTo>
                <a:cubicBezTo>
                  <a:pt x="134" y="210"/>
                  <a:pt x="121" y="212"/>
                  <a:pt x="107" y="212"/>
                </a:cubicBezTo>
                <a:cubicBezTo>
                  <a:pt x="93" y="212"/>
                  <a:pt x="79" y="210"/>
                  <a:pt x="65" y="204"/>
                </a:cubicBezTo>
                <a:cubicBezTo>
                  <a:pt x="52" y="199"/>
                  <a:pt x="41" y="191"/>
                  <a:pt x="31" y="181"/>
                </a:cubicBezTo>
                <a:cubicBezTo>
                  <a:pt x="21" y="171"/>
                  <a:pt x="13" y="160"/>
                  <a:pt x="8" y="147"/>
                </a:cubicBezTo>
                <a:cubicBezTo>
                  <a:pt x="3" y="134"/>
                  <a:pt x="0" y="120"/>
                  <a:pt x="0" y="105"/>
                </a:cubicBezTo>
                <a:cubicBezTo>
                  <a:pt x="0" y="91"/>
                  <a:pt x="3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9" y="2"/>
                  <a:pt x="93" y="0"/>
                  <a:pt x="107" y="0"/>
                </a:cubicBezTo>
                <a:cubicBezTo>
                  <a:pt x="121" y="0"/>
                  <a:pt x="134" y="2"/>
                  <a:pt x="147" y="8"/>
                </a:cubicBezTo>
                <a:cubicBezTo>
                  <a:pt x="160" y="13"/>
                  <a:pt x="172" y="21"/>
                  <a:pt x="182" y="31"/>
                </a:cubicBezTo>
                <a:cubicBezTo>
                  <a:pt x="192" y="41"/>
                  <a:pt x="199" y="52"/>
                  <a:pt x="205" y="65"/>
                </a:cubicBezTo>
                <a:cubicBezTo>
                  <a:pt x="210" y="78"/>
                  <a:pt x="213" y="91"/>
                  <a:pt x="213" y="105"/>
                </a:cubicBezTo>
                <a:close/>
              </a:path>
            </a:pathLst>
          </a:custGeom>
          <a:solidFill>
            <a:srgbClr val="17212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FFFFFF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36" name=""/>
          <p:cNvSpPr txBox="1"/>
          <p:nvPr/>
        </p:nvSpPr>
        <p:spPr>
          <a:xfrm>
            <a:off x="911880" y="4402800"/>
            <a:ext cx="9774954" cy="258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02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評価設計：何を既知・未知とするか、どの誤りを検出したいかを定める。</a:t>
            </a:r>
            <a:endParaRPr lang="en-US" sz="202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37" name=""/>
          <p:cNvSpPr txBox="1"/>
          <p:nvPr/>
        </p:nvSpPr>
        <p:spPr>
          <a:xfrm>
            <a:off x="911880" y="4898160"/>
            <a:ext cx="11089620" cy="258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02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作成手順：問題の選定、訓練との照合、採点方法、再現手順を公開可能な形に整理する。</a:t>
            </a:r>
            <a:endParaRPr lang="en-US" sz="202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38" name=""/>
          <p:cNvSpPr txBox="1"/>
          <p:nvPr/>
        </p:nvSpPr>
        <p:spPr>
          <a:xfrm>
            <a:off x="285840" y="239760"/>
            <a:ext cx="3382794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350" b="0" u="none" strike="noStrike">
                <a:solidFill>
                  <a:srgbClr val="666666"/>
                </a:solidFill>
                <a:effectLst/>
                <a:uFillTx/>
                <a:latin typeface="Hiragino Sans"/>
                <a:ea typeface="Hiragino Sans"/>
              </a:rPr>
              <a:t>7. </a:t>
            </a:r>
            <a:r>
              <a:rPr lang="ja-JP" sz="1350" b="0" u="none" strike="noStrike">
                <a:solidFill>
                  <a:srgbClr val="666666"/>
                </a:solidFill>
                <a:effectLst/>
                <a:uFillTx/>
                <a:latin typeface="Hiragino Sans"/>
                <a:ea typeface="Hiragino Sans"/>
              </a:rPr>
              <a:t>ベンチマークから研究課題を考える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39" name=""/>
          <p:cNvSpPr txBox="1"/>
          <p:nvPr/>
        </p:nvSpPr>
        <p:spPr>
          <a:xfrm>
            <a:off x="11704680" y="6466680"/>
            <a:ext cx="232668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Hiragino Sans"/>
                <a:ea typeface="Hiragino Sans"/>
              </a:rPr>
              <a:t>44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4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4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43" name=""/>
          <p:cNvSpPr txBox="1"/>
          <p:nvPr/>
        </p:nvSpPr>
        <p:spPr>
          <a:xfrm>
            <a:off x="590400" y="1634040"/>
            <a:ext cx="3739248" cy="36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8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ベンチマークの役割</a:t>
            </a:r>
            <a:endParaRPr lang="en-US" sz="28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44" name=""/>
          <p:cNvSpPr/>
          <p:nvPr/>
        </p:nvSpPr>
        <p:spPr>
          <a:xfrm>
            <a:off x="695160" y="3124080"/>
            <a:ext cx="76680" cy="76320"/>
          </a:xfrm>
          <a:custGeom>
            <a:avLst/>
            <a:gdLst/>
            <a:ahLst/>
            <a:rect l="0" t="0" r="r" b="b"/>
            <a:pathLst>
              <a:path w="213" h="212">
                <a:moveTo>
                  <a:pt x="213" y="107"/>
                </a:moveTo>
                <a:cubicBezTo>
                  <a:pt x="213" y="121"/>
                  <a:pt x="210" y="134"/>
                  <a:pt x="205" y="147"/>
                </a:cubicBezTo>
                <a:cubicBezTo>
                  <a:pt x="199" y="160"/>
                  <a:pt x="192" y="172"/>
                  <a:pt x="182" y="182"/>
                </a:cubicBezTo>
                <a:cubicBezTo>
                  <a:pt x="172" y="191"/>
                  <a:pt x="160" y="199"/>
                  <a:pt x="147" y="204"/>
                </a:cubicBezTo>
                <a:cubicBezTo>
                  <a:pt x="134" y="210"/>
                  <a:pt x="121" y="212"/>
                  <a:pt x="107" y="212"/>
                </a:cubicBezTo>
                <a:cubicBezTo>
                  <a:pt x="93" y="212"/>
                  <a:pt x="79" y="210"/>
                  <a:pt x="65" y="204"/>
                </a:cubicBezTo>
                <a:cubicBezTo>
                  <a:pt x="52" y="199"/>
                  <a:pt x="41" y="191"/>
                  <a:pt x="31" y="182"/>
                </a:cubicBezTo>
                <a:cubicBezTo>
                  <a:pt x="21" y="172"/>
                  <a:pt x="13" y="160"/>
                  <a:pt x="8" y="147"/>
                </a:cubicBezTo>
                <a:cubicBezTo>
                  <a:pt x="3" y="134"/>
                  <a:pt x="0" y="121"/>
                  <a:pt x="0" y="107"/>
                </a:cubicBezTo>
                <a:cubicBezTo>
                  <a:pt x="0" y="93"/>
                  <a:pt x="3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3"/>
                  <a:pt x="172" y="21"/>
                  <a:pt x="182" y="31"/>
                </a:cubicBezTo>
                <a:cubicBezTo>
                  <a:pt x="192" y="41"/>
                  <a:pt x="199" y="52"/>
                  <a:pt x="205" y="65"/>
                </a:cubicBezTo>
                <a:cubicBezTo>
                  <a:pt x="210" y="78"/>
                  <a:pt x="213" y="93"/>
                  <a:pt x="213" y="107"/>
                </a:cubicBezTo>
                <a:close/>
              </a:path>
            </a:pathLst>
          </a:custGeom>
          <a:solidFill>
            <a:srgbClr val="17212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FFFFFF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45" name=""/>
          <p:cNvSpPr txBox="1"/>
          <p:nvPr/>
        </p:nvSpPr>
        <p:spPr>
          <a:xfrm>
            <a:off x="590400" y="2459880"/>
            <a:ext cx="9182520" cy="258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0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モデルの能力と限界を観測し、次に取り組む研究課題を明確にする。</a:t>
            </a:r>
            <a:endParaRPr lang="en-US" sz="202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46" name=""/>
          <p:cNvSpPr/>
          <p:nvPr/>
        </p:nvSpPr>
        <p:spPr>
          <a:xfrm>
            <a:off x="695160" y="362880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6"/>
                </a:moveTo>
                <a:cubicBezTo>
                  <a:pt x="213" y="120"/>
                  <a:pt x="210" y="133"/>
                  <a:pt x="205" y="146"/>
                </a:cubicBezTo>
                <a:cubicBezTo>
                  <a:pt x="199" y="160"/>
                  <a:pt x="192" y="172"/>
                  <a:pt x="182" y="182"/>
                </a:cubicBezTo>
                <a:cubicBezTo>
                  <a:pt x="172" y="192"/>
                  <a:pt x="160" y="199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5" y="205"/>
                </a:cubicBezTo>
                <a:cubicBezTo>
                  <a:pt x="52" y="199"/>
                  <a:pt x="41" y="192"/>
                  <a:pt x="31" y="182"/>
                </a:cubicBezTo>
                <a:cubicBezTo>
                  <a:pt x="21" y="172"/>
                  <a:pt x="13" y="160"/>
                  <a:pt x="8" y="146"/>
                </a:cubicBezTo>
                <a:cubicBezTo>
                  <a:pt x="3" y="133"/>
                  <a:pt x="0" y="120"/>
                  <a:pt x="0" y="106"/>
                </a:cubicBez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4"/>
                  <a:pt x="172" y="21"/>
                  <a:pt x="182" y="31"/>
                </a:cubicBezTo>
                <a:cubicBezTo>
                  <a:pt x="192" y="41"/>
                  <a:pt x="199" y="52"/>
                  <a:pt x="205" y="65"/>
                </a:cubicBezTo>
                <a:cubicBezTo>
                  <a:pt x="210" y="78"/>
                  <a:pt x="213" y="92"/>
                  <a:pt x="213" y="106"/>
                </a:cubicBezTo>
                <a:close/>
              </a:path>
            </a:pathLst>
          </a:custGeom>
          <a:solidFill>
            <a:srgbClr val="17212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FFFFFF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47" name=""/>
          <p:cNvSpPr txBox="1"/>
          <p:nvPr/>
        </p:nvSpPr>
        <p:spPr>
          <a:xfrm>
            <a:off x="911880" y="3012120"/>
            <a:ext cx="11089620" cy="258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02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入出力の成功例だけでは、能力を獲得したか判断できない。共通の基準で定量評価する。</a:t>
            </a:r>
            <a:endParaRPr lang="en-US" sz="202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48" name=""/>
          <p:cNvSpPr txBox="1"/>
          <p:nvPr/>
        </p:nvSpPr>
        <p:spPr>
          <a:xfrm>
            <a:off x="911880" y="3516840"/>
            <a:ext cx="11089620" cy="258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02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正誤を検証できる課題では、評価基準を明確にしやすい。小規模モデルでも改善を確かめら</a:t>
            </a:r>
            <a:endParaRPr lang="en-US" sz="202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49" name=""/>
          <p:cNvSpPr/>
          <p:nvPr/>
        </p:nvSpPr>
        <p:spPr>
          <a:xfrm>
            <a:off x="695160" y="4514760"/>
            <a:ext cx="76680" cy="76320"/>
          </a:xfrm>
          <a:custGeom>
            <a:avLst/>
            <a:gdLst/>
            <a:ahLst/>
            <a:rect l="0" t="0" r="r" b="b"/>
            <a:pathLst>
              <a:path w="213" h="212">
                <a:moveTo>
                  <a:pt x="213" y="107"/>
                </a:moveTo>
                <a:cubicBezTo>
                  <a:pt x="213" y="121"/>
                  <a:pt x="210" y="134"/>
                  <a:pt x="205" y="147"/>
                </a:cubicBezTo>
                <a:cubicBezTo>
                  <a:pt x="199" y="160"/>
                  <a:pt x="192" y="171"/>
                  <a:pt x="182" y="181"/>
                </a:cubicBezTo>
                <a:cubicBezTo>
                  <a:pt x="172" y="191"/>
                  <a:pt x="160" y="199"/>
                  <a:pt x="147" y="204"/>
                </a:cubicBezTo>
                <a:cubicBezTo>
                  <a:pt x="134" y="210"/>
                  <a:pt x="121" y="212"/>
                  <a:pt x="107" y="212"/>
                </a:cubicBezTo>
                <a:cubicBezTo>
                  <a:pt x="93" y="212"/>
                  <a:pt x="79" y="210"/>
                  <a:pt x="65" y="204"/>
                </a:cubicBezTo>
                <a:cubicBezTo>
                  <a:pt x="52" y="199"/>
                  <a:pt x="41" y="191"/>
                  <a:pt x="31" y="181"/>
                </a:cubicBezTo>
                <a:cubicBezTo>
                  <a:pt x="21" y="171"/>
                  <a:pt x="13" y="160"/>
                  <a:pt x="8" y="147"/>
                </a:cubicBezTo>
                <a:cubicBezTo>
                  <a:pt x="3" y="134"/>
                  <a:pt x="0" y="121"/>
                  <a:pt x="0" y="107"/>
                </a:cubicBezTo>
                <a:cubicBezTo>
                  <a:pt x="0" y="93"/>
                  <a:pt x="3" y="79"/>
                  <a:pt x="8" y="66"/>
                </a:cubicBezTo>
                <a:cubicBezTo>
                  <a:pt x="13" y="53"/>
                  <a:pt x="21" y="42"/>
                  <a:pt x="31" y="32"/>
                </a:cubicBezTo>
                <a:cubicBezTo>
                  <a:pt x="41" y="22"/>
                  <a:pt x="52" y="13"/>
                  <a:pt x="65" y="8"/>
                </a:cubicBezTo>
                <a:cubicBezTo>
                  <a:pt x="79" y="2"/>
                  <a:pt x="93" y="0"/>
                  <a:pt x="107" y="0"/>
                </a:cubicBezTo>
                <a:cubicBezTo>
                  <a:pt x="121" y="0"/>
                  <a:pt x="134" y="2"/>
                  <a:pt x="147" y="8"/>
                </a:cubicBezTo>
                <a:cubicBezTo>
                  <a:pt x="160" y="13"/>
                  <a:pt x="172" y="22"/>
                  <a:pt x="182" y="32"/>
                </a:cubicBezTo>
                <a:cubicBezTo>
                  <a:pt x="192" y="42"/>
                  <a:pt x="199" y="53"/>
                  <a:pt x="205" y="66"/>
                </a:cubicBezTo>
                <a:cubicBezTo>
                  <a:pt x="210" y="79"/>
                  <a:pt x="213" y="93"/>
                  <a:pt x="213" y="107"/>
                </a:cubicBezTo>
                <a:close/>
              </a:path>
            </a:pathLst>
          </a:custGeom>
          <a:solidFill>
            <a:srgbClr val="17212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FFFFFF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50" name=""/>
          <p:cNvSpPr txBox="1"/>
          <p:nvPr/>
        </p:nvSpPr>
        <p:spPr>
          <a:xfrm>
            <a:off x="911880" y="3898080"/>
            <a:ext cx="889272" cy="258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02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れる。</a:t>
            </a:r>
            <a:endParaRPr lang="en-US" sz="202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51" name=""/>
          <p:cNvSpPr txBox="1"/>
          <p:nvPr/>
        </p:nvSpPr>
        <p:spPr>
          <a:xfrm>
            <a:off x="911880" y="4402800"/>
            <a:ext cx="9182520" cy="258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02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得点だけでなく、どの条件で成功し、どの条件で失敗するかを見る。</a:t>
            </a:r>
            <a:endParaRPr lang="en-US" sz="202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52" name=""/>
          <p:cNvSpPr txBox="1"/>
          <p:nvPr/>
        </p:nvSpPr>
        <p:spPr>
          <a:xfrm>
            <a:off x="590400" y="4955400"/>
            <a:ext cx="11411100" cy="258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02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今回なら、</a:t>
            </a:r>
            <a:r>
              <a:rPr lang="en-US" sz="20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2</a:t>
            </a:r>
            <a:r>
              <a:rPr lang="ja-JP" sz="20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・</a:t>
            </a:r>
            <a:r>
              <a:rPr lang="en-US" sz="20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3</a:t>
            </a:r>
            <a:r>
              <a:rPr lang="ja-JP" sz="20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操作での高得点と、</a:t>
            </a:r>
            <a:r>
              <a:rPr lang="en-US" sz="20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4</a:t>
            </a:r>
            <a:r>
              <a:rPr lang="ja-JP" sz="20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操作で残る誤り</a:t>
            </a:r>
            <a:r>
              <a:rPr lang="ja-JP" sz="202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が、次の分析対象を教えてくれる。</a:t>
            </a:r>
            <a:endParaRPr lang="en-US" sz="202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53" name=""/>
          <p:cNvSpPr txBox="1"/>
          <p:nvPr/>
        </p:nvSpPr>
        <p:spPr>
          <a:xfrm>
            <a:off x="11705400" y="6466680"/>
            <a:ext cx="2318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Hiragino Sans"/>
                <a:ea typeface="Hiragino Sans"/>
              </a:rPr>
              <a:t>45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5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5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57" name=""/>
          <p:cNvSpPr txBox="1"/>
          <p:nvPr/>
        </p:nvSpPr>
        <p:spPr>
          <a:xfrm>
            <a:off x="590400" y="1662840"/>
            <a:ext cx="7062012" cy="36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8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自分の研究でベンチマークを作るには</a:t>
            </a:r>
            <a:endParaRPr lang="en-US" sz="28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58" name=""/>
          <p:cNvSpPr txBox="1"/>
          <p:nvPr/>
        </p:nvSpPr>
        <p:spPr>
          <a:xfrm>
            <a:off x="595440" y="2488320"/>
            <a:ext cx="11406060" cy="258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202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1. </a:t>
            </a:r>
            <a:r>
              <a:rPr lang="ja-JP" sz="20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測りたい能力を先に決める。</a:t>
            </a:r>
            <a:r>
              <a:rPr lang="en-US" sz="202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 例：既知の操作を、新しい組み合わせで実行できるか。</a:t>
            </a:r>
            <a:endParaRPr lang="en-US" sz="202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59" name=""/>
          <p:cNvSpPr txBox="1"/>
          <p:nvPr/>
        </p:nvSpPr>
        <p:spPr>
          <a:xfrm>
            <a:off x="595440" y="2983680"/>
            <a:ext cx="10534230" cy="258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202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2. </a:t>
            </a:r>
            <a:r>
              <a:rPr lang="ja-JP" sz="20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目的に沿って課題と正解基準を作る。</a:t>
            </a:r>
            <a:r>
              <a:rPr lang="en-US" sz="202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 何を変え、何を固定するかを決める。</a:t>
            </a:r>
            <a:endParaRPr lang="en-US" sz="202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60" name=""/>
          <p:cNvSpPr txBox="1"/>
          <p:nvPr/>
        </p:nvSpPr>
        <p:spPr>
          <a:xfrm>
            <a:off x="595440" y="3488400"/>
            <a:ext cx="10534230" cy="258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202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3. </a:t>
            </a:r>
            <a:r>
              <a:rPr lang="ja-JP" sz="20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共通条件で測り、成功と失敗を分析する。</a:t>
            </a:r>
            <a:r>
              <a:rPr lang="en-US" sz="202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 作成手順と比較条件も記録する。</a:t>
            </a:r>
            <a:endParaRPr lang="en-US" sz="202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61" name=""/>
          <p:cNvSpPr txBox="1"/>
          <p:nvPr/>
        </p:nvSpPr>
        <p:spPr>
          <a:xfrm>
            <a:off x="594720" y="3983760"/>
            <a:ext cx="11406780" cy="258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202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4. </a:t>
            </a:r>
            <a:r>
              <a:rPr lang="ja-JP" sz="20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高得点で差が見えなくなったら、評価の役割を見直す。</a:t>
            </a:r>
            <a:r>
              <a:rPr lang="en-US" sz="202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 元の結果を残し、次に測る能力を定</a:t>
            </a:r>
            <a:endParaRPr lang="en-US" sz="202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62" name=""/>
          <p:cNvSpPr txBox="1"/>
          <p:nvPr/>
        </p:nvSpPr>
        <p:spPr>
          <a:xfrm>
            <a:off x="911880" y="4374360"/>
            <a:ext cx="889272" cy="258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02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める。</a:t>
            </a:r>
            <a:endParaRPr lang="en-US" sz="202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63" name=""/>
          <p:cNvSpPr txBox="1"/>
          <p:nvPr/>
        </p:nvSpPr>
        <p:spPr>
          <a:xfrm>
            <a:off x="590400" y="4926600"/>
            <a:ext cx="10367388" cy="258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0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得点を上げる研究と、能力向上を観測できる評価を作る研究を、両方考える。</a:t>
            </a:r>
            <a:endParaRPr lang="en-US" sz="202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64" name=""/>
          <p:cNvSpPr txBox="1"/>
          <p:nvPr/>
        </p:nvSpPr>
        <p:spPr>
          <a:xfrm>
            <a:off x="11705400" y="6466680"/>
            <a:ext cx="2318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Hiragino Sans"/>
                <a:ea typeface="Hiragino Sans"/>
              </a:rPr>
              <a:t>46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6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6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68" name=""/>
          <p:cNvSpPr/>
          <p:nvPr/>
        </p:nvSpPr>
        <p:spPr>
          <a:xfrm>
            <a:off x="695160" y="3038400"/>
            <a:ext cx="76680" cy="76320"/>
          </a:xfrm>
          <a:custGeom>
            <a:avLst/>
            <a:gdLst/>
            <a:ahLst/>
            <a:rect l="0" t="0" r="r" b="b"/>
            <a:pathLst>
              <a:path w="213" h="212">
                <a:moveTo>
                  <a:pt x="213" y="107"/>
                </a:moveTo>
                <a:cubicBezTo>
                  <a:pt x="213" y="121"/>
                  <a:pt x="210" y="134"/>
                  <a:pt x="205" y="147"/>
                </a:cubicBezTo>
                <a:cubicBezTo>
                  <a:pt x="199" y="160"/>
                  <a:pt x="192" y="171"/>
                  <a:pt x="182" y="181"/>
                </a:cubicBezTo>
                <a:cubicBezTo>
                  <a:pt x="172" y="191"/>
                  <a:pt x="160" y="199"/>
                  <a:pt x="147" y="204"/>
                </a:cubicBezTo>
                <a:cubicBezTo>
                  <a:pt x="134" y="210"/>
                  <a:pt x="121" y="212"/>
                  <a:pt x="107" y="212"/>
                </a:cubicBezTo>
                <a:cubicBezTo>
                  <a:pt x="93" y="212"/>
                  <a:pt x="79" y="210"/>
                  <a:pt x="65" y="204"/>
                </a:cubicBezTo>
                <a:cubicBezTo>
                  <a:pt x="52" y="199"/>
                  <a:pt x="41" y="191"/>
                  <a:pt x="31" y="181"/>
                </a:cubicBezTo>
                <a:cubicBezTo>
                  <a:pt x="21" y="171"/>
                  <a:pt x="13" y="160"/>
                  <a:pt x="8" y="147"/>
                </a:cubicBezTo>
                <a:cubicBezTo>
                  <a:pt x="3" y="134"/>
                  <a:pt x="0" y="121"/>
                  <a:pt x="0" y="107"/>
                </a:cubicBez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9" y="2"/>
                  <a:pt x="93" y="0"/>
                  <a:pt x="107" y="0"/>
                </a:cubicBezTo>
                <a:cubicBezTo>
                  <a:pt x="121" y="0"/>
                  <a:pt x="134" y="2"/>
                  <a:pt x="147" y="8"/>
                </a:cubicBezTo>
                <a:cubicBezTo>
                  <a:pt x="160" y="13"/>
                  <a:pt x="172" y="21"/>
                  <a:pt x="182" y="31"/>
                </a:cubicBezTo>
                <a:cubicBezTo>
                  <a:pt x="192" y="41"/>
                  <a:pt x="199" y="52"/>
                  <a:pt x="205" y="65"/>
                </a:cubicBezTo>
                <a:cubicBezTo>
                  <a:pt x="210" y="78"/>
                  <a:pt x="213" y="92"/>
                  <a:pt x="213" y="107"/>
                </a:cubicBezTo>
                <a:close/>
              </a:path>
            </a:pathLst>
          </a:custGeom>
          <a:solidFill>
            <a:srgbClr val="17212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FFFFFF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69" name=""/>
          <p:cNvSpPr txBox="1"/>
          <p:nvPr/>
        </p:nvSpPr>
        <p:spPr>
          <a:xfrm>
            <a:off x="590400" y="2110320"/>
            <a:ext cx="3739248" cy="36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8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この結果が示す範囲</a:t>
            </a:r>
            <a:endParaRPr lang="en-US" sz="28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70" name=""/>
          <p:cNvSpPr/>
          <p:nvPr/>
        </p:nvSpPr>
        <p:spPr>
          <a:xfrm>
            <a:off x="695160" y="354312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6"/>
                </a:moveTo>
                <a:cubicBezTo>
                  <a:pt x="213" y="120"/>
                  <a:pt x="210" y="133"/>
                  <a:pt x="205" y="146"/>
                </a:cubicBezTo>
                <a:cubicBezTo>
                  <a:pt x="199" y="159"/>
                  <a:pt x="192" y="171"/>
                  <a:pt x="182" y="182"/>
                </a:cubicBezTo>
                <a:cubicBezTo>
                  <a:pt x="172" y="192"/>
                  <a:pt x="160" y="199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5" y="205"/>
                </a:cubicBezTo>
                <a:cubicBezTo>
                  <a:pt x="52" y="199"/>
                  <a:pt x="41" y="192"/>
                  <a:pt x="31" y="182"/>
                </a:cubicBezTo>
                <a:cubicBezTo>
                  <a:pt x="21" y="171"/>
                  <a:pt x="13" y="159"/>
                  <a:pt x="8" y="146"/>
                </a:cubicBezTo>
                <a:cubicBezTo>
                  <a:pt x="3" y="133"/>
                  <a:pt x="0" y="120"/>
                  <a:pt x="0" y="106"/>
                </a:cubicBez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3"/>
                  <a:pt x="172" y="21"/>
                  <a:pt x="182" y="31"/>
                </a:cubicBezTo>
                <a:cubicBezTo>
                  <a:pt x="192" y="41"/>
                  <a:pt x="199" y="52"/>
                  <a:pt x="205" y="65"/>
                </a:cubicBezTo>
                <a:cubicBezTo>
                  <a:pt x="210" y="78"/>
                  <a:pt x="213" y="92"/>
                  <a:pt x="213" y="106"/>
                </a:cubicBezTo>
                <a:close/>
              </a:path>
            </a:pathLst>
          </a:custGeom>
          <a:solidFill>
            <a:srgbClr val="17212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FFFFFF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71" name=""/>
          <p:cNvSpPr txBox="1"/>
          <p:nvPr/>
        </p:nvSpPr>
        <p:spPr>
          <a:xfrm>
            <a:off x="911880" y="2926440"/>
            <a:ext cx="11089620" cy="258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02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訓練は</a:t>
            </a:r>
            <a:r>
              <a:rPr lang="en-US" sz="202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24</a:t>
            </a:r>
            <a:r>
              <a:rPr lang="ja-JP" sz="202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操作を最大</a:t>
            </a:r>
            <a:r>
              <a:rPr lang="en-US" sz="202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3</a:t>
            </a:r>
            <a:r>
              <a:rPr lang="ja-JP" sz="202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つ組み合わせるコード生成。追加評価では</a:t>
            </a:r>
            <a:r>
              <a:rPr lang="en-US" sz="202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4</a:t>
            </a:r>
            <a:r>
              <a:rPr lang="ja-JP" sz="202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操作まで調べた。</a:t>
            </a:r>
            <a:endParaRPr lang="en-US" sz="202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72" name=""/>
          <p:cNvSpPr/>
          <p:nvPr/>
        </p:nvSpPr>
        <p:spPr>
          <a:xfrm>
            <a:off x="695160" y="4038480"/>
            <a:ext cx="76680" cy="76320"/>
          </a:xfrm>
          <a:custGeom>
            <a:avLst/>
            <a:gdLst/>
            <a:ahLst/>
            <a:rect l="0" t="0" r="r" b="b"/>
            <a:pathLst>
              <a:path w="213" h="212">
                <a:moveTo>
                  <a:pt x="213" y="107"/>
                </a:moveTo>
                <a:cubicBezTo>
                  <a:pt x="213" y="121"/>
                  <a:pt x="210" y="134"/>
                  <a:pt x="205" y="147"/>
                </a:cubicBezTo>
                <a:cubicBezTo>
                  <a:pt x="199" y="160"/>
                  <a:pt x="192" y="172"/>
                  <a:pt x="182" y="182"/>
                </a:cubicBezTo>
                <a:cubicBezTo>
                  <a:pt x="172" y="191"/>
                  <a:pt x="160" y="199"/>
                  <a:pt x="147" y="204"/>
                </a:cubicBezTo>
                <a:cubicBezTo>
                  <a:pt x="134" y="210"/>
                  <a:pt x="121" y="212"/>
                  <a:pt x="107" y="212"/>
                </a:cubicBezTo>
                <a:cubicBezTo>
                  <a:pt x="93" y="212"/>
                  <a:pt x="79" y="210"/>
                  <a:pt x="65" y="204"/>
                </a:cubicBezTo>
                <a:cubicBezTo>
                  <a:pt x="52" y="199"/>
                  <a:pt x="41" y="191"/>
                  <a:pt x="31" y="182"/>
                </a:cubicBezTo>
                <a:cubicBezTo>
                  <a:pt x="21" y="172"/>
                  <a:pt x="13" y="160"/>
                  <a:pt x="8" y="147"/>
                </a:cubicBezTo>
                <a:cubicBezTo>
                  <a:pt x="3" y="134"/>
                  <a:pt x="0" y="121"/>
                  <a:pt x="0" y="107"/>
                </a:cubicBezTo>
                <a:cubicBezTo>
                  <a:pt x="0" y="93"/>
                  <a:pt x="3" y="79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3"/>
                  <a:pt x="172" y="21"/>
                  <a:pt x="182" y="31"/>
                </a:cubicBezTo>
                <a:cubicBezTo>
                  <a:pt x="192" y="41"/>
                  <a:pt x="199" y="52"/>
                  <a:pt x="205" y="65"/>
                </a:cubicBezTo>
                <a:cubicBezTo>
                  <a:pt x="210" y="79"/>
                  <a:pt x="213" y="93"/>
                  <a:pt x="213" y="107"/>
                </a:cubicBezTo>
                <a:close/>
              </a:path>
            </a:pathLst>
          </a:custGeom>
          <a:solidFill>
            <a:srgbClr val="17212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FFFFFF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73" name=""/>
          <p:cNvSpPr txBox="1"/>
          <p:nvPr/>
        </p:nvSpPr>
        <p:spPr>
          <a:xfrm>
            <a:off x="911880" y="3431160"/>
            <a:ext cx="8092044" cy="258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02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冒頭変更の比較は</a:t>
            </a:r>
            <a:r>
              <a:rPr lang="en-US" sz="202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14</a:t>
            </a:r>
            <a:r>
              <a:rPr lang="ja-JP" sz="202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操作。日本語能力全体の測定ではない。</a:t>
            </a:r>
            <a:endParaRPr lang="en-US" sz="202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74" name=""/>
          <p:cNvSpPr txBox="1"/>
          <p:nvPr/>
        </p:nvSpPr>
        <p:spPr>
          <a:xfrm>
            <a:off x="911880" y="3926520"/>
            <a:ext cx="7998066" cy="258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02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学習は一つの乱数設定。繰り返し実験のばらつきは未確認。</a:t>
            </a:r>
            <a:endParaRPr lang="en-US" sz="202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75" name=""/>
          <p:cNvSpPr txBox="1"/>
          <p:nvPr/>
        </p:nvSpPr>
        <p:spPr>
          <a:xfrm>
            <a:off x="590400" y="4488480"/>
            <a:ext cx="8886510" cy="258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02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今後は文型の偏りを減らした教材で、表現への強さを再評価する。</a:t>
            </a:r>
            <a:endParaRPr lang="en-US" sz="202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76" name=""/>
          <p:cNvSpPr txBox="1"/>
          <p:nvPr/>
        </p:nvSpPr>
        <p:spPr>
          <a:xfrm>
            <a:off x="11705400" y="6466680"/>
            <a:ext cx="2318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Hiragino Sans"/>
                <a:ea typeface="Hiragino Sans"/>
              </a:rPr>
              <a:t>47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7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7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80" name=""/>
          <p:cNvSpPr/>
          <p:nvPr/>
        </p:nvSpPr>
        <p:spPr>
          <a:xfrm>
            <a:off x="599760" y="3447720"/>
            <a:ext cx="5048640" cy="476640"/>
          </a:xfrm>
          <a:custGeom>
            <a:avLst/>
            <a:gdLst/>
            <a:ahLst/>
            <a:rect l="0" t="0" r="r" b="b"/>
            <a:pathLst>
              <a:path w="14024" h="1324">
                <a:moveTo>
                  <a:pt x="0" y="0"/>
                </a:moveTo>
                <a:lnTo>
                  <a:pt x="14024" y="0"/>
                </a:lnTo>
                <a:lnTo>
                  <a:pt x="14024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81" name=""/>
          <p:cNvSpPr/>
          <p:nvPr/>
        </p:nvSpPr>
        <p:spPr>
          <a:xfrm>
            <a:off x="5648040" y="3447720"/>
            <a:ext cx="5953680" cy="476640"/>
          </a:xfrm>
          <a:custGeom>
            <a:avLst/>
            <a:gdLst/>
            <a:ahLst/>
            <a:rect l="0" t="0" r="r" b="b"/>
            <a:pathLst>
              <a:path w="16538" h="1324">
                <a:moveTo>
                  <a:pt x="0" y="0"/>
                </a:moveTo>
                <a:lnTo>
                  <a:pt x="16538" y="0"/>
                </a:lnTo>
                <a:lnTo>
                  <a:pt x="16538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82" name=""/>
          <p:cNvSpPr/>
          <p:nvPr/>
        </p:nvSpPr>
        <p:spPr>
          <a:xfrm>
            <a:off x="599760" y="3447720"/>
            <a:ext cx="5048640" cy="476640"/>
          </a:xfrm>
          <a:custGeom>
            <a:avLst/>
            <a:gdLst/>
            <a:ahLst/>
            <a:rect l="0" t="0" r="r" b="b"/>
            <a:pathLst>
              <a:path w="14024" h="1324">
                <a:moveTo>
                  <a:pt x="0" y="0"/>
                </a:moveTo>
                <a:lnTo>
                  <a:pt x="14024" y="0"/>
                </a:lnTo>
                <a:lnTo>
                  <a:pt x="14024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83" name=""/>
          <p:cNvSpPr/>
          <p:nvPr/>
        </p:nvSpPr>
        <p:spPr>
          <a:xfrm>
            <a:off x="5648040" y="3447720"/>
            <a:ext cx="5953680" cy="476640"/>
          </a:xfrm>
          <a:custGeom>
            <a:avLst/>
            <a:gdLst/>
            <a:ahLst/>
            <a:rect l="0" t="0" r="r" b="b"/>
            <a:pathLst>
              <a:path w="16538" h="1324">
                <a:moveTo>
                  <a:pt x="0" y="0"/>
                </a:moveTo>
                <a:lnTo>
                  <a:pt x="16538" y="0"/>
                </a:lnTo>
                <a:lnTo>
                  <a:pt x="16538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EAF3F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84" name=""/>
          <p:cNvSpPr/>
          <p:nvPr/>
        </p:nvSpPr>
        <p:spPr>
          <a:xfrm>
            <a:off x="599760" y="3924000"/>
            <a:ext cx="5048640" cy="486360"/>
          </a:xfrm>
          <a:custGeom>
            <a:avLst/>
            <a:gdLst/>
            <a:ahLst/>
            <a:rect l="0" t="0" r="r" b="b"/>
            <a:pathLst>
              <a:path w="14024" h="1351">
                <a:moveTo>
                  <a:pt x="0" y="0"/>
                </a:moveTo>
                <a:lnTo>
                  <a:pt x="14024" y="0"/>
                </a:lnTo>
                <a:lnTo>
                  <a:pt x="14024" y="1351"/>
                </a:lnTo>
                <a:lnTo>
                  <a:pt x="0" y="135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85" name=""/>
          <p:cNvSpPr/>
          <p:nvPr/>
        </p:nvSpPr>
        <p:spPr>
          <a:xfrm>
            <a:off x="5648040" y="3924000"/>
            <a:ext cx="5953680" cy="486360"/>
          </a:xfrm>
          <a:custGeom>
            <a:avLst/>
            <a:gdLst/>
            <a:ahLst/>
            <a:rect l="0" t="0" r="r" b="b"/>
            <a:pathLst>
              <a:path w="16538" h="1351">
                <a:moveTo>
                  <a:pt x="0" y="0"/>
                </a:moveTo>
                <a:lnTo>
                  <a:pt x="16538" y="0"/>
                </a:lnTo>
                <a:lnTo>
                  <a:pt x="16538" y="1351"/>
                </a:lnTo>
                <a:lnTo>
                  <a:pt x="0" y="135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86" name=""/>
          <p:cNvSpPr/>
          <p:nvPr/>
        </p:nvSpPr>
        <p:spPr>
          <a:xfrm>
            <a:off x="599760" y="4410000"/>
            <a:ext cx="5048640" cy="476640"/>
          </a:xfrm>
          <a:custGeom>
            <a:avLst/>
            <a:gdLst/>
            <a:ahLst/>
            <a:rect l="0" t="0" r="r" b="b"/>
            <a:pathLst>
              <a:path w="14024" h="1324">
                <a:moveTo>
                  <a:pt x="0" y="0"/>
                </a:moveTo>
                <a:lnTo>
                  <a:pt x="14024" y="0"/>
                </a:lnTo>
                <a:lnTo>
                  <a:pt x="14024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87" name=""/>
          <p:cNvSpPr/>
          <p:nvPr/>
        </p:nvSpPr>
        <p:spPr>
          <a:xfrm>
            <a:off x="5648040" y="4410000"/>
            <a:ext cx="5953680" cy="476640"/>
          </a:xfrm>
          <a:custGeom>
            <a:avLst/>
            <a:gdLst/>
            <a:ahLst/>
            <a:rect l="0" t="0" r="r" b="b"/>
            <a:pathLst>
              <a:path w="16538" h="1324">
                <a:moveTo>
                  <a:pt x="0" y="0"/>
                </a:moveTo>
                <a:lnTo>
                  <a:pt x="16538" y="0"/>
                </a:lnTo>
                <a:lnTo>
                  <a:pt x="16538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88" name=""/>
          <p:cNvSpPr/>
          <p:nvPr/>
        </p:nvSpPr>
        <p:spPr>
          <a:xfrm>
            <a:off x="599760" y="4886280"/>
            <a:ext cx="5048640" cy="486000"/>
          </a:xfrm>
          <a:custGeom>
            <a:avLst/>
            <a:gdLst/>
            <a:ahLst/>
            <a:rect l="0" t="0" r="r" b="b"/>
            <a:pathLst>
              <a:path w="14024" h="1350">
                <a:moveTo>
                  <a:pt x="0" y="0"/>
                </a:moveTo>
                <a:lnTo>
                  <a:pt x="14024" y="0"/>
                </a:lnTo>
                <a:lnTo>
                  <a:pt x="14024" y="1350"/>
                </a:lnTo>
                <a:lnTo>
                  <a:pt x="0" y="13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89" name=""/>
          <p:cNvSpPr/>
          <p:nvPr/>
        </p:nvSpPr>
        <p:spPr>
          <a:xfrm>
            <a:off x="5648040" y="4886280"/>
            <a:ext cx="5953680" cy="486000"/>
          </a:xfrm>
          <a:custGeom>
            <a:avLst/>
            <a:gdLst/>
            <a:ahLst/>
            <a:rect l="0" t="0" r="r" b="b"/>
            <a:pathLst>
              <a:path w="16538" h="1350">
                <a:moveTo>
                  <a:pt x="0" y="0"/>
                </a:moveTo>
                <a:lnTo>
                  <a:pt x="16538" y="0"/>
                </a:lnTo>
                <a:lnTo>
                  <a:pt x="16538" y="1350"/>
                </a:lnTo>
                <a:lnTo>
                  <a:pt x="0" y="13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90" name=""/>
          <p:cNvSpPr/>
          <p:nvPr/>
        </p:nvSpPr>
        <p:spPr>
          <a:xfrm>
            <a:off x="590400" y="3438360"/>
            <a:ext cx="9720" cy="495720"/>
          </a:xfrm>
          <a:custGeom>
            <a:avLst/>
            <a:gdLst/>
            <a:ahLst/>
            <a:rect l="0" t="0" r="r" b="b"/>
            <a:pathLst>
              <a:path w="27" h="1377">
                <a:moveTo>
                  <a:pt x="0" y="0"/>
                </a:moveTo>
                <a:lnTo>
                  <a:pt x="27" y="0"/>
                </a:lnTo>
                <a:lnTo>
                  <a:pt x="27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91" name=""/>
          <p:cNvSpPr/>
          <p:nvPr/>
        </p:nvSpPr>
        <p:spPr>
          <a:xfrm>
            <a:off x="590400" y="3438360"/>
            <a:ext cx="5058000" cy="9720"/>
          </a:xfrm>
          <a:custGeom>
            <a:avLst/>
            <a:gdLst/>
            <a:ahLst/>
            <a:rect l="0" t="0" r="r" b="b"/>
            <a:pathLst>
              <a:path w="14050" h="27">
                <a:moveTo>
                  <a:pt x="0" y="0"/>
                </a:moveTo>
                <a:lnTo>
                  <a:pt x="14050" y="0"/>
                </a:lnTo>
                <a:lnTo>
                  <a:pt x="1405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92" name=""/>
          <p:cNvSpPr/>
          <p:nvPr/>
        </p:nvSpPr>
        <p:spPr>
          <a:xfrm>
            <a:off x="5638680" y="3438360"/>
            <a:ext cx="9720" cy="495720"/>
          </a:xfrm>
          <a:custGeom>
            <a:avLst/>
            <a:gdLst/>
            <a:ahLst/>
            <a:rect l="0" t="0" r="r" b="b"/>
            <a:pathLst>
              <a:path w="27" h="1377">
                <a:moveTo>
                  <a:pt x="0" y="0"/>
                </a:moveTo>
                <a:lnTo>
                  <a:pt x="27" y="0"/>
                </a:lnTo>
                <a:lnTo>
                  <a:pt x="27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93" name=""/>
          <p:cNvSpPr/>
          <p:nvPr/>
        </p:nvSpPr>
        <p:spPr>
          <a:xfrm>
            <a:off x="5648040" y="3438360"/>
            <a:ext cx="5953680" cy="9720"/>
          </a:xfrm>
          <a:custGeom>
            <a:avLst/>
            <a:gdLst/>
            <a:ahLst/>
            <a:rect l="0" t="0" r="r" b="b"/>
            <a:pathLst>
              <a:path w="16538" h="27">
                <a:moveTo>
                  <a:pt x="0" y="0"/>
                </a:moveTo>
                <a:lnTo>
                  <a:pt x="16538" y="0"/>
                </a:lnTo>
                <a:lnTo>
                  <a:pt x="1653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94" name=""/>
          <p:cNvSpPr/>
          <p:nvPr/>
        </p:nvSpPr>
        <p:spPr>
          <a:xfrm>
            <a:off x="11591640" y="3438360"/>
            <a:ext cx="10080" cy="495720"/>
          </a:xfrm>
          <a:custGeom>
            <a:avLst/>
            <a:gdLst/>
            <a:ahLst/>
            <a:rect l="0" t="0" r="r" b="b"/>
            <a:pathLst>
              <a:path w="28" h="1377">
                <a:moveTo>
                  <a:pt x="0" y="0"/>
                </a:moveTo>
                <a:lnTo>
                  <a:pt x="28" y="0"/>
                </a:lnTo>
                <a:lnTo>
                  <a:pt x="28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95" name=""/>
          <p:cNvSpPr/>
          <p:nvPr/>
        </p:nvSpPr>
        <p:spPr>
          <a:xfrm>
            <a:off x="590400" y="3924000"/>
            <a:ext cx="5058000" cy="10080"/>
          </a:xfrm>
          <a:custGeom>
            <a:avLst/>
            <a:gdLst/>
            <a:ahLst/>
            <a:rect l="0" t="0" r="r" b="b"/>
            <a:pathLst>
              <a:path w="14050" h="28">
                <a:moveTo>
                  <a:pt x="0" y="0"/>
                </a:moveTo>
                <a:lnTo>
                  <a:pt x="14050" y="0"/>
                </a:lnTo>
                <a:lnTo>
                  <a:pt x="1405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96" name=""/>
          <p:cNvSpPr/>
          <p:nvPr/>
        </p:nvSpPr>
        <p:spPr>
          <a:xfrm>
            <a:off x="5648040" y="3924000"/>
            <a:ext cx="5953680" cy="10080"/>
          </a:xfrm>
          <a:custGeom>
            <a:avLst/>
            <a:gdLst/>
            <a:ahLst/>
            <a:rect l="0" t="0" r="r" b="b"/>
            <a:pathLst>
              <a:path w="16538" h="28">
                <a:moveTo>
                  <a:pt x="0" y="0"/>
                </a:moveTo>
                <a:lnTo>
                  <a:pt x="16538" y="0"/>
                </a:lnTo>
                <a:lnTo>
                  <a:pt x="1653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97" name=""/>
          <p:cNvSpPr/>
          <p:nvPr/>
        </p:nvSpPr>
        <p:spPr>
          <a:xfrm>
            <a:off x="590400" y="3933720"/>
            <a:ext cx="9720" cy="476640"/>
          </a:xfrm>
          <a:custGeom>
            <a:avLst/>
            <a:gdLst/>
            <a:ahLst/>
            <a:rect l="0" t="0" r="r" b="b"/>
            <a:pathLst>
              <a:path w="27" h="1324">
                <a:moveTo>
                  <a:pt x="0" y="0"/>
                </a:moveTo>
                <a:lnTo>
                  <a:pt x="27" y="0"/>
                </a:lnTo>
                <a:lnTo>
                  <a:pt x="27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98" name=""/>
          <p:cNvSpPr/>
          <p:nvPr/>
        </p:nvSpPr>
        <p:spPr>
          <a:xfrm>
            <a:off x="5638680" y="3933720"/>
            <a:ext cx="9720" cy="476640"/>
          </a:xfrm>
          <a:custGeom>
            <a:avLst/>
            <a:gdLst/>
            <a:ahLst/>
            <a:rect l="0" t="0" r="r" b="b"/>
            <a:pathLst>
              <a:path w="27" h="1324">
                <a:moveTo>
                  <a:pt x="0" y="0"/>
                </a:moveTo>
                <a:lnTo>
                  <a:pt x="27" y="0"/>
                </a:lnTo>
                <a:lnTo>
                  <a:pt x="27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099" name=""/>
          <p:cNvSpPr/>
          <p:nvPr/>
        </p:nvSpPr>
        <p:spPr>
          <a:xfrm>
            <a:off x="11591640" y="3933720"/>
            <a:ext cx="10080" cy="476640"/>
          </a:xfrm>
          <a:custGeom>
            <a:avLst/>
            <a:gdLst/>
            <a:ahLst/>
            <a:rect l="0" t="0" r="r" b="b"/>
            <a:pathLst>
              <a:path w="28" h="1324">
                <a:moveTo>
                  <a:pt x="0" y="0"/>
                </a:moveTo>
                <a:lnTo>
                  <a:pt x="28" y="0"/>
                </a:lnTo>
                <a:lnTo>
                  <a:pt x="28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00" name=""/>
          <p:cNvSpPr/>
          <p:nvPr/>
        </p:nvSpPr>
        <p:spPr>
          <a:xfrm>
            <a:off x="590400" y="4410000"/>
            <a:ext cx="9720" cy="486000"/>
          </a:xfrm>
          <a:custGeom>
            <a:avLst/>
            <a:gdLst/>
            <a:ahLst/>
            <a:rect l="0" t="0" r="r" b="b"/>
            <a:pathLst>
              <a:path w="27" h="1350">
                <a:moveTo>
                  <a:pt x="0" y="0"/>
                </a:moveTo>
                <a:lnTo>
                  <a:pt x="27" y="0"/>
                </a:lnTo>
                <a:lnTo>
                  <a:pt x="27" y="1350"/>
                </a:lnTo>
                <a:lnTo>
                  <a:pt x="0" y="135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01" name=""/>
          <p:cNvSpPr/>
          <p:nvPr/>
        </p:nvSpPr>
        <p:spPr>
          <a:xfrm>
            <a:off x="590400" y="4400280"/>
            <a:ext cx="5058000" cy="10080"/>
          </a:xfrm>
          <a:custGeom>
            <a:avLst/>
            <a:gdLst/>
            <a:ahLst/>
            <a:rect l="0" t="0" r="r" b="b"/>
            <a:pathLst>
              <a:path w="14050" h="28">
                <a:moveTo>
                  <a:pt x="0" y="0"/>
                </a:moveTo>
                <a:lnTo>
                  <a:pt x="14050" y="0"/>
                </a:lnTo>
                <a:lnTo>
                  <a:pt x="1405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02" name=""/>
          <p:cNvSpPr/>
          <p:nvPr/>
        </p:nvSpPr>
        <p:spPr>
          <a:xfrm>
            <a:off x="5638680" y="4410000"/>
            <a:ext cx="9720" cy="486000"/>
          </a:xfrm>
          <a:custGeom>
            <a:avLst/>
            <a:gdLst/>
            <a:ahLst/>
            <a:rect l="0" t="0" r="r" b="b"/>
            <a:pathLst>
              <a:path w="27" h="1350">
                <a:moveTo>
                  <a:pt x="0" y="0"/>
                </a:moveTo>
                <a:lnTo>
                  <a:pt x="27" y="0"/>
                </a:lnTo>
                <a:lnTo>
                  <a:pt x="27" y="1350"/>
                </a:lnTo>
                <a:lnTo>
                  <a:pt x="0" y="135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03" name=""/>
          <p:cNvSpPr/>
          <p:nvPr/>
        </p:nvSpPr>
        <p:spPr>
          <a:xfrm>
            <a:off x="5648040" y="4400280"/>
            <a:ext cx="5953680" cy="10080"/>
          </a:xfrm>
          <a:custGeom>
            <a:avLst/>
            <a:gdLst/>
            <a:ahLst/>
            <a:rect l="0" t="0" r="r" b="b"/>
            <a:pathLst>
              <a:path w="16538" h="28">
                <a:moveTo>
                  <a:pt x="0" y="0"/>
                </a:moveTo>
                <a:lnTo>
                  <a:pt x="16538" y="0"/>
                </a:lnTo>
                <a:lnTo>
                  <a:pt x="1653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04" name=""/>
          <p:cNvSpPr/>
          <p:nvPr/>
        </p:nvSpPr>
        <p:spPr>
          <a:xfrm>
            <a:off x="11591640" y="4410000"/>
            <a:ext cx="10080" cy="486000"/>
          </a:xfrm>
          <a:custGeom>
            <a:avLst/>
            <a:gdLst/>
            <a:ahLst/>
            <a:rect l="0" t="0" r="r" b="b"/>
            <a:pathLst>
              <a:path w="28" h="1350">
                <a:moveTo>
                  <a:pt x="0" y="0"/>
                </a:moveTo>
                <a:lnTo>
                  <a:pt x="28" y="0"/>
                </a:lnTo>
                <a:lnTo>
                  <a:pt x="28" y="1350"/>
                </a:lnTo>
                <a:lnTo>
                  <a:pt x="0" y="135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05" name=""/>
          <p:cNvSpPr/>
          <p:nvPr/>
        </p:nvSpPr>
        <p:spPr>
          <a:xfrm>
            <a:off x="590400" y="4895640"/>
            <a:ext cx="9720" cy="476640"/>
          </a:xfrm>
          <a:custGeom>
            <a:avLst/>
            <a:gdLst/>
            <a:ahLst/>
            <a:rect l="0" t="0" r="r" b="b"/>
            <a:pathLst>
              <a:path w="27" h="1324">
                <a:moveTo>
                  <a:pt x="0" y="0"/>
                </a:moveTo>
                <a:lnTo>
                  <a:pt x="27" y="0"/>
                </a:lnTo>
                <a:lnTo>
                  <a:pt x="27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06" name=""/>
          <p:cNvSpPr/>
          <p:nvPr/>
        </p:nvSpPr>
        <p:spPr>
          <a:xfrm>
            <a:off x="590400" y="4886280"/>
            <a:ext cx="5058000" cy="9720"/>
          </a:xfrm>
          <a:custGeom>
            <a:avLst/>
            <a:gdLst/>
            <a:ahLst/>
            <a:rect l="0" t="0" r="r" b="b"/>
            <a:pathLst>
              <a:path w="14050" h="27">
                <a:moveTo>
                  <a:pt x="0" y="0"/>
                </a:moveTo>
                <a:lnTo>
                  <a:pt x="14050" y="0"/>
                </a:lnTo>
                <a:lnTo>
                  <a:pt x="1405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07" name=""/>
          <p:cNvSpPr/>
          <p:nvPr/>
        </p:nvSpPr>
        <p:spPr>
          <a:xfrm>
            <a:off x="5638680" y="4895640"/>
            <a:ext cx="9720" cy="476640"/>
          </a:xfrm>
          <a:custGeom>
            <a:avLst/>
            <a:gdLst/>
            <a:ahLst/>
            <a:rect l="0" t="0" r="r" b="b"/>
            <a:pathLst>
              <a:path w="27" h="1324">
                <a:moveTo>
                  <a:pt x="0" y="0"/>
                </a:moveTo>
                <a:lnTo>
                  <a:pt x="27" y="0"/>
                </a:lnTo>
                <a:lnTo>
                  <a:pt x="27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08" name=""/>
          <p:cNvSpPr/>
          <p:nvPr/>
        </p:nvSpPr>
        <p:spPr>
          <a:xfrm>
            <a:off x="5648040" y="4886280"/>
            <a:ext cx="5953680" cy="9720"/>
          </a:xfrm>
          <a:custGeom>
            <a:avLst/>
            <a:gdLst/>
            <a:ahLst/>
            <a:rect l="0" t="0" r="r" b="b"/>
            <a:pathLst>
              <a:path w="16538" h="27">
                <a:moveTo>
                  <a:pt x="0" y="0"/>
                </a:moveTo>
                <a:lnTo>
                  <a:pt x="16538" y="0"/>
                </a:lnTo>
                <a:lnTo>
                  <a:pt x="1653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09" name=""/>
          <p:cNvSpPr/>
          <p:nvPr/>
        </p:nvSpPr>
        <p:spPr>
          <a:xfrm>
            <a:off x="11591640" y="4895640"/>
            <a:ext cx="10080" cy="476640"/>
          </a:xfrm>
          <a:custGeom>
            <a:avLst/>
            <a:gdLst/>
            <a:ahLst/>
            <a:rect l="0" t="0" r="r" b="b"/>
            <a:pathLst>
              <a:path w="28" h="1324">
                <a:moveTo>
                  <a:pt x="0" y="0"/>
                </a:moveTo>
                <a:lnTo>
                  <a:pt x="28" y="0"/>
                </a:lnTo>
                <a:lnTo>
                  <a:pt x="28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10" name=""/>
          <p:cNvSpPr/>
          <p:nvPr/>
        </p:nvSpPr>
        <p:spPr>
          <a:xfrm>
            <a:off x="590400" y="5362560"/>
            <a:ext cx="5058000" cy="9720"/>
          </a:xfrm>
          <a:custGeom>
            <a:avLst/>
            <a:gdLst/>
            <a:ahLst/>
            <a:rect l="0" t="0" r="r" b="b"/>
            <a:pathLst>
              <a:path w="14050" h="27">
                <a:moveTo>
                  <a:pt x="0" y="0"/>
                </a:moveTo>
                <a:lnTo>
                  <a:pt x="14050" y="0"/>
                </a:lnTo>
                <a:lnTo>
                  <a:pt x="1405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11" name=""/>
          <p:cNvSpPr/>
          <p:nvPr/>
        </p:nvSpPr>
        <p:spPr>
          <a:xfrm>
            <a:off x="5648040" y="5362560"/>
            <a:ext cx="5953680" cy="9720"/>
          </a:xfrm>
          <a:custGeom>
            <a:avLst/>
            <a:gdLst/>
            <a:ahLst/>
            <a:rect l="0" t="0" r="r" b="b"/>
            <a:pathLst>
              <a:path w="16538" h="27">
                <a:moveTo>
                  <a:pt x="0" y="0"/>
                </a:moveTo>
                <a:lnTo>
                  <a:pt x="16538" y="0"/>
                </a:lnTo>
                <a:lnTo>
                  <a:pt x="1653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US" sz="24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12" name=""/>
          <p:cNvSpPr txBox="1"/>
          <p:nvPr/>
        </p:nvSpPr>
        <p:spPr>
          <a:xfrm>
            <a:off x="590400" y="1548360"/>
            <a:ext cx="3463524" cy="36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8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まとめと</a:t>
            </a:r>
            <a:r>
              <a:rPr lang="en-US" sz="28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Web</a:t>
            </a:r>
            <a:r>
              <a:rPr lang="ja-JP" sz="285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デモ</a:t>
            </a:r>
            <a:endParaRPr lang="en-US" sz="285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13" name=""/>
          <p:cNvSpPr txBox="1"/>
          <p:nvPr/>
        </p:nvSpPr>
        <p:spPr>
          <a:xfrm>
            <a:off x="590400" y="2364480"/>
            <a:ext cx="8954820" cy="258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0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限定したコード生成は、小さなモデルでも</a:t>
            </a:r>
            <a:r>
              <a:rPr lang="en-US" sz="20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1 epoch</a:t>
            </a:r>
            <a:r>
              <a:rPr lang="ja-JP" sz="20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で学習できた。</a:t>
            </a:r>
            <a:endParaRPr lang="en-US" sz="202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14" name=""/>
          <p:cNvSpPr txBox="1"/>
          <p:nvPr/>
        </p:nvSpPr>
        <p:spPr>
          <a:xfrm>
            <a:off x="590400" y="2926440"/>
            <a:ext cx="11411100" cy="258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202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表現を変えた場合の性能と、操作を組み合わせる能力は、分けて確かめる必要がある。</a:t>
            </a:r>
            <a:endParaRPr lang="en-US" sz="202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15" name=""/>
          <p:cNvSpPr txBox="1"/>
          <p:nvPr/>
        </p:nvSpPr>
        <p:spPr>
          <a:xfrm>
            <a:off x="723960" y="3562200"/>
            <a:ext cx="1367856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7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デモの流れ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16" name=""/>
          <p:cNvSpPr txBox="1"/>
          <p:nvPr/>
        </p:nvSpPr>
        <p:spPr>
          <a:xfrm>
            <a:off x="5775120" y="3562200"/>
            <a:ext cx="547722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70" b="1" u="none" strike="noStrike">
                <a:solidFill>
                  <a:srgbClr val="245F8B"/>
                </a:solidFill>
                <a:effectLst/>
                <a:uFillTx/>
                <a:latin typeface="Hiragino Sans"/>
                <a:ea typeface="Hiragino Sans"/>
              </a:rPr>
              <a:t>役割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17" name=""/>
          <p:cNvSpPr txBox="1"/>
          <p:nvPr/>
        </p:nvSpPr>
        <p:spPr>
          <a:xfrm>
            <a:off x="723960" y="4048200"/>
            <a:ext cx="2825964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① 自由な日本語を入力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18" name=""/>
          <p:cNvSpPr txBox="1"/>
          <p:nvPr/>
        </p:nvSpPr>
        <p:spPr>
          <a:xfrm>
            <a:off x="5775120" y="4048200"/>
            <a:ext cx="2734884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作りたい処理を伝える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19" name=""/>
          <p:cNvSpPr txBox="1"/>
          <p:nvPr/>
        </p:nvSpPr>
        <p:spPr>
          <a:xfrm>
            <a:off x="723960" y="4524480"/>
            <a:ext cx="3646098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② 補助モデルで文型を整える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20" name=""/>
          <p:cNvSpPr txBox="1"/>
          <p:nvPr/>
        </p:nvSpPr>
        <p:spPr>
          <a:xfrm>
            <a:off x="5775120" y="4524480"/>
            <a:ext cx="3555018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ja-JP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対象の操作と表現にそろえる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21" name=""/>
          <p:cNvSpPr txBox="1"/>
          <p:nvPr/>
        </p:nvSpPr>
        <p:spPr>
          <a:xfrm>
            <a:off x="723960" y="5010120"/>
            <a:ext cx="3372858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③ 指示を確認して生成する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22" name=""/>
          <p:cNvSpPr txBox="1"/>
          <p:nvPr/>
        </p:nvSpPr>
        <p:spPr>
          <a:xfrm>
            <a:off x="5775120" y="5010120"/>
            <a:ext cx="4318020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Boku-nano</a:t>
            </a:r>
            <a:r>
              <a:rPr lang="ja-JP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が</a:t>
            </a:r>
            <a:r>
              <a:rPr lang="en-US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Python</a:t>
            </a:r>
            <a:r>
              <a:rPr lang="ja-JP" sz="1870" b="0" u="none" strike="noStrike">
                <a:solidFill>
                  <a:srgbClr val="17212B"/>
                </a:solidFill>
                <a:effectLst/>
                <a:uFillTx/>
                <a:latin typeface="Hiragino Sans"/>
                <a:ea typeface="Hiragino Sans"/>
              </a:rPr>
              <a:t>コードを作る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  <p:sp>
        <p:nvSpPr>
          <p:cNvPr id="2123" name=""/>
          <p:cNvSpPr txBox="1"/>
          <p:nvPr/>
        </p:nvSpPr>
        <p:spPr>
          <a:xfrm>
            <a:off x="11705400" y="6466680"/>
            <a:ext cx="2318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p>
            <a:pPr/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Hiragino Sans"/>
                <a:ea typeface="Hiragino Sans"/>
              </a:rPr>
              <a:t>48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Hiragino Maru Gothic Pro W4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LibreOffice/26.8.0.3$MacOSX_AARCH64 LibreOffice_project/bce0998afefdbc355585ca324285661a2170ba77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ja-JP</dc:language>
  <cp:lastModifiedBy/>
  <cp:revision>0</cp:revision>
  <dc:subject/>
  <dc:title/>
</cp:coreProperties>
</file>