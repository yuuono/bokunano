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37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19200" y="2309400"/>
            <a:ext cx="3807972" cy="59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4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Boku-nano</a:t>
            </a:r>
            <a:endParaRPr lang="en-US" sz="4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19200" y="3651120"/>
            <a:ext cx="1130220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70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制限された日本語から</a:t>
            </a:r>
            <a:r>
              <a:rPr lang="en-US" sz="270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Python</a:t>
            </a:r>
            <a:r>
              <a:rPr lang="ja-JP" sz="270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の関数を生成する小型言語モデル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19200" y="4127400"/>
            <a:ext cx="1693674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70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（</a:t>
            </a:r>
            <a:r>
              <a:rPr lang="en-US" sz="270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SLM</a:t>
            </a:r>
            <a:r>
              <a:rPr lang="ja-JP" sz="270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" name=""/>
          <p:cNvSpPr/>
          <p:nvPr/>
        </p:nvSpPr>
        <p:spPr>
          <a:xfrm>
            <a:off x="590400" y="6572160"/>
            <a:ext cx="11011320" cy="285840"/>
          </a:xfrm>
          <a:custGeom>
            <a:avLst/>
            <a:gdLst/>
            <a:ahLst/>
            <a:rect l="0" t="0" r="r" b="b"/>
            <a:pathLst>
              <a:path w="30587" h="794">
                <a:moveTo>
                  <a:pt x="0" y="79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30296" y="0"/>
                </a:lnTo>
                <a:cubicBezTo>
                  <a:pt x="30315" y="0"/>
                  <a:pt x="30334" y="2"/>
                  <a:pt x="30352" y="5"/>
                </a:cubicBezTo>
                <a:cubicBezTo>
                  <a:pt x="30371" y="9"/>
                  <a:pt x="30389" y="15"/>
                  <a:pt x="30407" y="22"/>
                </a:cubicBezTo>
                <a:cubicBezTo>
                  <a:pt x="30425" y="29"/>
                  <a:pt x="30442" y="38"/>
                  <a:pt x="30457" y="49"/>
                </a:cubicBezTo>
                <a:cubicBezTo>
                  <a:pt x="30473" y="59"/>
                  <a:pt x="30488" y="71"/>
                  <a:pt x="30502" y="85"/>
                </a:cubicBezTo>
                <a:cubicBezTo>
                  <a:pt x="30515" y="99"/>
                  <a:pt x="30527" y="113"/>
                  <a:pt x="30538" y="129"/>
                </a:cubicBezTo>
                <a:cubicBezTo>
                  <a:pt x="30548" y="145"/>
                  <a:pt x="30557" y="162"/>
                  <a:pt x="30565" y="179"/>
                </a:cubicBezTo>
                <a:cubicBezTo>
                  <a:pt x="30572" y="197"/>
                  <a:pt x="30577" y="215"/>
                  <a:pt x="30581" y="234"/>
                </a:cubicBezTo>
                <a:cubicBezTo>
                  <a:pt x="30585" y="253"/>
                  <a:pt x="30587" y="272"/>
                  <a:pt x="30587" y="291"/>
                </a:cubicBezTo>
                <a:lnTo>
                  <a:pt x="30587" y="794"/>
                </a:lnTo>
                <a:lnTo>
                  <a:pt x="0" y="794"/>
                </a:lnTo>
                <a:close/>
              </a:path>
            </a:pathLst>
          </a:custGeom>
          <a:solidFill>
            <a:srgbClr val="F4F6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90400" y="497160"/>
            <a:ext cx="114111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62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Boku-nano</a:t>
            </a:r>
            <a:r>
              <a:rPr lang="ja-JP" sz="262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：制限された日本語から</a:t>
            </a:r>
            <a:r>
              <a:rPr lang="en-US" sz="262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Python</a:t>
            </a:r>
            <a:r>
              <a:rPr lang="ja-JP" sz="262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の関数を生成する小型言語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90400" y="916200"/>
            <a:ext cx="2799468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62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モデル（</a:t>
            </a:r>
            <a:r>
              <a:rPr lang="en-US" sz="262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SLM</a:t>
            </a:r>
            <a:r>
              <a:rPr lang="ja-JP" sz="262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90400" y="1487520"/>
            <a:ext cx="634455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13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種類の整数リスト操作を扱う、小型言語モデルをフルスクラッチ学習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90400" y="1974240"/>
            <a:ext cx="835038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1" u="none" strike="noStrike">
                <a:solidFill>
                  <a:srgbClr val="334155"/>
                </a:solidFill>
                <a:effectLst/>
                <a:uFillTx/>
                <a:latin typeface="Hiragino Sans"/>
                <a:ea typeface="Hiragino Sans"/>
              </a:rPr>
              <a:t>使うとき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90400" y="4384080"/>
            <a:ext cx="1669248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1" u="none" strike="noStrike">
                <a:solidFill>
                  <a:srgbClr val="334155"/>
                </a:solidFill>
                <a:effectLst/>
                <a:uFillTx/>
                <a:latin typeface="Hiragino Sans"/>
                <a:ea typeface="Hiragino Sans"/>
              </a:rPr>
              <a:t>作り方と確かめ方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" name=""/>
          <p:cNvSpPr/>
          <p:nvPr/>
        </p:nvSpPr>
        <p:spPr>
          <a:xfrm>
            <a:off x="590400" y="2352600"/>
            <a:ext cx="3353040" cy="1752840"/>
          </a:xfrm>
          <a:custGeom>
            <a:avLst/>
            <a:gdLst/>
            <a:ahLst/>
            <a:rect l="0" t="0" r="r" b="b"/>
            <a:pathLst>
              <a:path w="9314" h="4869">
                <a:moveTo>
                  <a:pt x="0" y="4499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7" y="206"/>
                  <a:pt x="49" y="185"/>
                  <a:pt x="62" y="164"/>
                </a:cubicBezTo>
                <a:cubicBezTo>
                  <a:pt x="76" y="144"/>
                  <a:pt x="91" y="125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0" y="0"/>
                </a:cubicBezTo>
                <a:lnTo>
                  <a:pt x="8944" y="0"/>
                </a:lnTo>
                <a:cubicBezTo>
                  <a:pt x="8968" y="0"/>
                  <a:pt x="8992" y="2"/>
                  <a:pt x="9016" y="7"/>
                </a:cubicBezTo>
                <a:cubicBezTo>
                  <a:pt x="9040" y="12"/>
                  <a:pt x="9063" y="19"/>
                  <a:pt x="9086" y="28"/>
                </a:cubicBezTo>
                <a:cubicBezTo>
                  <a:pt x="9108" y="37"/>
                  <a:pt x="9129" y="49"/>
                  <a:pt x="9150" y="62"/>
                </a:cubicBezTo>
                <a:cubicBezTo>
                  <a:pt x="9170" y="76"/>
                  <a:pt x="9189" y="91"/>
                  <a:pt x="9206" y="108"/>
                </a:cubicBezTo>
                <a:cubicBezTo>
                  <a:pt x="9223" y="125"/>
                  <a:pt x="9238" y="144"/>
                  <a:pt x="9252" y="164"/>
                </a:cubicBezTo>
                <a:cubicBezTo>
                  <a:pt x="9265" y="185"/>
                  <a:pt x="9277" y="206"/>
                  <a:pt x="9286" y="228"/>
                </a:cubicBezTo>
                <a:cubicBezTo>
                  <a:pt x="9295" y="251"/>
                  <a:pt x="9302" y="274"/>
                  <a:pt x="9307" y="298"/>
                </a:cubicBezTo>
                <a:cubicBezTo>
                  <a:pt x="9312" y="322"/>
                  <a:pt x="9314" y="346"/>
                  <a:pt x="9314" y="370"/>
                </a:cubicBezTo>
                <a:lnTo>
                  <a:pt x="9314" y="4499"/>
                </a:lnTo>
                <a:cubicBezTo>
                  <a:pt x="9314" y="4523"/>
                  <a:pt x="9312" y="4547"/>
                  <a:pt x="9307" y="4571"/>
                </a:cubicBezTo>
                <a:cubicBezTo>
                  <a:pt x="9302" y="4595"/>
                  <a:pt x="9295" y="4618"/>
                  <a:pt x="9286" y="4640"/>
                </a:cubicBezTo>
                <a:cubicBezTo>
                  <a:pt x="9277" y="4663"/>
                  <a:pt x="9265" y="4684"/>
                  <a:pt x="9252" y="4704"/>
                </a:cubicBezTo>
                <a:cubicBezTo>
                  <a:pt x="9238" y="4725"/>
                  <a:pt x="9223" y="4743"/>
                  <a:pt x="9206" y="4761"/>
                </a:cubicBezTo>
                <a:cubicBezTo>
                  <a:pt x="9189" y="4778"/>
                  <a:pt x="9170" y="4793"/>
                  <a:pt x="9150" y="4807"/>
                </a:cubicBezTo>
                <a:cubicBezTo>
                  <a:pt x="9129" y="4820"/>
                  <a:pt x="9108" y="4832"/>
                  <a:pt x="9086" y="4841"/>
                </a:cubicBezTo>
                <a:cubicBezTo>
                  <a:pt x="9063" y="4850"/>
                  <a:pt x="9040" y="4857"/>
                  <a:pt x="9016" y="4862"/>
                </a:cubicBezTo>
                <a:cubicBezTo>
                  <a:pt x="8992" y="4867"/>
                  <a:pt x="8968" y="4869"/>
                  <a:pt x="8944" y="4869"/>
                </a:cubicBezTo>
                <a:lnTo>
                  <a:pt x="370" y="4869"/>
                </a:lnTo>
                <a:cubicBezTo>
                  <a:pt x="346" y="4869"/>
                  <a:pt x="322" y="4867"/>
                  <a:pt x="298" y="4862"/>
                </a:cubicBezTo>
                <a:cubicBezTo>
                  <a:pt x="274" y="4857"/>
                  <a:pt x="251" y="4850"/>
                  <a:pt x="229" y="4841"/>
                </a:cubicBezTo>
                <a:cubicBezTo>
                  <a:pt x="206" y="4832"/>
                  <a:pt x="185" y="4820"/>
                  <a:pt x="165" y="4807"/>
                </a:cubicBezTo>
                <a:cubicBezTo>
                  <a:pt x="144" y="4793"/>
                  <a:pt x="126" y="4778"/>
                  <a:pt x="108" y="4761"/>
                </a:cubicBezTo>
                <a:cubicBezTo>
                  <a:pt x="91" y="4743"/>
                  <a:pt x="76" y="4725"/>
                  <a:pt x="62" y="4704"/>
                </a:cubicBezTo>
                <a:cubicBezTo>
                  <a:pt x="49" y="4684"/>
                  <a:pt x="37" y="4663"/>
                  <a:pt x="28" y="4640"/>
                </a:cubicBezTo>
                <a:cubicBezTo>
                  <a:pt x="19" y="4618"/>
                  <a:pt x="12" y="4595"/>
                  <a:pt x="7" y="4571"/>
                </a:cubicBezTo>
                <a:cubicBezTo>
                  <a:pt x="2" y="4547"/>
                  <a:pt x="0" y="4523"/>
                  <a:pt x="0" y="4499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62120" y="6693120"/>
            <a:ext cx="112393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評価結果は「</a:t>
            </a:r>
            <a:r>
              <a:rPr lang="en-US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操作・最大</a:t>
            </a:r>
            <a:r>
              <a:rPr lang="en-US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操作」という限定された範囲でのものです。</a:t>
            </a:r>
            <a:r>
              <a:rPr lang="en-US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Web</a:t>
            </a:r>
            <a:r>
              <a:rPr lang="ja-JP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デモの自由な日本語入力は、別モデルで決められた文型に整えてから </a:t>
            </a:r>
            <a:r>
              <a:rPr lang="en-US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-nano </a:t>
            </a:r>
            <a:r>
              <a:rPr lang="ja-JP" sz="1050" b="0" u="none" strike="noStrike">
                <a:solidFill>
                  <a:srgbClr val="46566A"/>
                </a:solidFill>
                <a:effectLst/>
                <a:uFillTx/>
                <a:latin typeface="Hiragino Sans"/>
                <a:ea typeface="Hiragino Sans"/>
              </a:rPr>
              <a:t>に渡します。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81200" y="2529000"/>
            <a:ext cx="1684566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① 日本語の指示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81200" y="2905560"/>
            <a:ext cx="1562436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整数リスト</a:t>
            </a:r>
            <a:r>
              <a:rPr lang="en-US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xs </a:t>
            </a:r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から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81200" y="3134160"/>
            <a:ext cx="1487088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偶数だけを残し、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81200" y="3372120"/>
            <a:ext cx="1717272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各要素に </a:t>
            </a:r>
            <a:r>
              <a:rPr lang="en-US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 </a:t>
            </a:r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を加える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81200" y="3610440"/>
            <a:ext cx="1646478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solve </a:t>
            </a:r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関数を書いて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81200" y="3797280"/>
            <a:ext cx="19830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決められた操作・文型の範囲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" name=""/>
          <p:cNvSpPr/>
          <p:nvPr/>
        </p:nvSpPr>
        <p:spPr>
          <a:xfrm>
            <a:off x="4419360" y="2352600"/>
            <a:ext cx="3353040" cy="1752840"/>
          </a:xfrm>
          <a:custGeom>
            <a:avLst/>
            <a:gdLst/>
            <a:ahLst/>
            <a:rect l="0" t="0" r="r" b="b"/>
            <a:pathLst>
              <a:path w="9314" h="4869">
                <a:moveTo>
                  <a:pt x="0" y="4499"/>
                </a:moveTo>
                <a:lnTo>
                  <a:pt x="0" y="370"/>
                </a:lnTo>
                <a:cubicBezTo>
                  <a:pt x="0" y="346"/>
                  <a:pt x="3" y="322"/>
                  <a:pt x="7" y="298"/>
                </a:cubicBezTo>
                <a:cubicBezTo>
                  <a:pt x="12" y="274"/>
                  <a:pt x="19" y="251"/>
                  <a:pt x="28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1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1" y="0"/>
                </a:cubicBezTo>
                <a:lnTo>
                  <a:pt x="8944" y="0"/>
                </a:lnTo>
                <a:cubicBezTo>
                  <a:pt x="8968" y="0"/>
                  <a:pt x="8992" y="2"/>
                  <a:pt x="9016" y="7"/>
                </a:cubicBezTo>
                <a:cubicBezTo>
                  <a:pt x="9040" y="12"/>
                  <a:pt x="9063" y="19"/>
                  <a:pt x="9086" y="28"/>
                </a:cubicBezTo>
                <a:cubicBezTo>
                  <a:pt x="9108" y="37"/>
                  <a:pt x="9130" y="49"/>
                  <a:pt x="9150" y="62"/>
                </a:cubicBezTo>
                <a:cubicBezTo>
                  <a:pt x="9170" y="76"/>
                  <a:pt x="9189" y="91"/>
                  <a:pt x="9206" y="108"/>
                </a:cubicBezTo>
                <a:cubicBezTo>
                  <a:pt x="9223" y="125"/>
                  <a:pt x="9239" y="144"/>
                  <a:pt x="9252" y="164"/>
                </a:cubicBezTo>
                <a:cubicBezTo>
                  <a:pt x="9266" y="185"/>
                  <a:pt x="9277" y="206"/>
                  <a:pt x="9286" y="228"/>
                </a:cubicBezTo>
                <a:cubicBezTo>
                  <a:pt x="9296" y="251"/>
                  <a:pt x="9303" y="274"/>
                  <a:pt x="9307" y="298"/>
                </a:cubicBezTo>
                <a:cubicBezTo>
                  <a:pt x="9312" y="322"/>
                  <a:pt x="9314" y="346"/>
                  <a:pt x="9314" y="370"/>
                </a:cubicBezTo>
                <a:lnTo>
                  <a:pt x="9314" y="4499"/>
                </a:lnTo>
                <a:cubicBezTo>
                  <a:pt x="9314" y="4523"/>
                  <a:pt x="9312" y="4547"/>
                  <a:pt x="9307" y="4571"/>
                </a:cubicBezTo>
                <a:cubicBezTo>
                  <a:pt x="9303" y="4595"/>
                  <a:pt x="9296" y="4618"/>
                  <a:pt x="9286" y="4640"/>
                </a:cubicBezTo>
                <a:cubicBezTo>
                  <a:pt x="9277" y="4663"/>
                  <a:pt x="9266" y="4684"/>
                  <a:pt x="9252" y="4704"/>
                </a:cubicBezTo>
                <a:cubicBezTo>
                  <a:pt x="9239" y="4725"/>
                  <a:pt x="9223" y="4743"/>
                  <a:pt x="9206" y="4761"/>
                </a:cubicBezTo>
                <a:cubicBezTo>
                  <a:pt x="9189" y="4778"/>
                  <a:pt x="9170" y="4793"/>
                  <a:pt x="9150" y="4807"/>
                </a:cubicBezTo>
                <a:cubicBezTo>
                  <a:pt x="9130" y="4820"/>
                  <a:pt x="9108" y="4832"/>
                  <a:pt x="9086" y="4841"/>
                </a:cubicBezTo>
                <a:cubicBezTo>
                  <a:pt x="9063" y="4850"/>
                  <a:pt x="9040" y="4857"/>
                  <a:pt x="9016" y="4862"/>
                </a:cubicBezTo>
                <a:cubicBezTo>
                  <a:pt x="8992" y="4867"/>
                  <a:pt x="8968" y="4869"/>
                  <a:pt x="8944" y="4869"/>
                </a:cubicBezTo>
                <a:lnTo>
                  <a:pt x="371" y="4869"/>
                </a:lnTo>
                <a:cubicBezTo>
                  <a:pt x="346" y="4869"/>
                  <a:pt x="322" y="4867"/>
                  <a:pt x="298" y="4862"/>
                </a:cubicBezTo>
                <a:cubicBezTo>
                  <a:pt x="274" y="4857"/>
                  <a:pt x="251" y="4850"/>
                  <a:pt x="229" y="4841"/>
                </a:cubicBezTo>
                <a:cubicBezTo>
                  <a:pt x="206" y="4832"/>
                  <a:pt x="185" y="4820"/>
                  <a:pt x="165" y="4807"/>
                </a:cubicBezTo>
                <a:cubicBezTo>
                  <a:pt x="145" y="4793"/>
                  <a:pt x="126" y="4778"/>
                  <a:pt x="109" y="4761"/>
                </a:cubicBezTo>
                <a:cubicBezTo>
                  <a:pt x="91" y="4743"/>
                  <a:pt x="76" y="4725"/>
                  <a:pt x="63" y="4704"/>
                </a:cubicBezTo>
                <a:cubicBezTo>
                  <a:pt x="49" y="4684"/>
                  <a:pt x="38" y="4663"/>
                  <a:pt x="28" y="4640"/>
                </a:cubicBezTo>
                <a:cubicBezTo>
                  <a:pt x="19" y="4618"/>
                  <a:pt x="12" y="4595"/>
                  <a:pt x="7" y="4571"/>
                </a:cubicBezTo>
                <a:cubicBezTo>
                  <a:pt x="3" y="4547"/>
                  <a:pt x="0" y="4523"/>
                  <a:pt x="0" y="4499"/>
                </a:cubicBezTo>
                <a:close/>
              </a:path>
            </a:pathLst>
          </a:custGeom>
          <a:solidFill>
            <a:srgbClr val="E9E7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057560" y="3093120"/>
            <a:ext cx="340722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320" b="0" u="none" strike="noStrike">
                <a:solidFill>
                  <a:srgbClr val="45556A"/>
                </a:solidFill>
                <a:effectLst/>
                <a:uFillTx/>
                <a:latin typeface="Hiragino Sans"/>
                <a:ea typeface="Hiragino Sans"/>
              </a:rPr>
              <a:t>→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610160" y="2529000"/>
            <a:ext cx="1595556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② Boku-nano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610160" y="2905560"/>
            <a:ext cx="1411326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 </a:t>
            </a:r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パラメータ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610160" y="3210480"/>
            <a:ext cx="2446326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Decoder-only Transformer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610160" y="3797280"/>
            <a:ext cx="1830708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指示を読み、コードを生成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" name=""/>
          <p:cNvSpPr/>
          <p:nvPr/>
        </p:nvSpPr>
        <p:spPr>
          <a:xfrm>
            <a:off x="8248320" y="2352600"/>
            <a:ext cx="3353400" cy="1752840"/>
          </a:xfrm>
          <a:custGeom>
            <a:avLst/>
            <a:gdLst/>
            <a:ahLst/>
            <a:rect l="0" t="0" r="r" b="b"/>
            <a:pathLst>
              <a:path w="9315" h="4869">
                <a:moveTo>
                  <a:pt x="0" y="4499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2" y="2"/>
                  <a:pt x="347" y="0"/>
                  <a:pt x="372" y="0"/>
                </a:cubicBezTo>
                <a:lnTo>
                  <a:pt x="8944" y="0"/>
                </a:lnTo>
                <a:cubicBezTo>
                  <a:pt x="8969" y="0"/>
                  <a:pt x="8993" y="2"/>
                  <a:pt x="9017" y="7"/>
                </a:cubicBezTo>
                <a:cubicBezTo>
                  <a:pt x="9040" y="12"/>
                  <a:pt x="9064" y="19"/>
                  <a:pt x="9086" y="28"/>
                </a:cubicBezTo>
                <a:cubicBezTo>
                  <a:pt x="9109" y="37"/>
                  <a:pt x="9130" y="49"/>
                  <a:pt x="9150" y="62"/>
                </a:cubicBezTo>
                <a:cubicBezTo>
                  <a:pt x="9170" y="76"/>
                  <a:pt x="9189" y="91"/>
                  <a:pt x="9206" y="108"/>
                </a:cubicBezTo>
                <a:cubicBezTo>
                  <a:pt x="9223" y="125"/>
                  <a:pt x="9239" y="144"/>
                  <a:pt x="9252" y="164"/>
                </a:cubicBezTo>
                <a:cubicBezTo>
                  <a:pt x="9266" y="185"/>
                  <a:pt x="9277" y="206"/>
                  <a:pt x="9287" y="228"/>
                </a:cubicBezTo>
                <a:cubicBezTo>
                  <a:pt x="9296" y="251"/>
                  <a:pt x="9303" y="274"/>
                  <a:pt x="9308" y="298"/>
                </a:cubicBezTo>
                <a:cubicBezTo>
                  <a:pt x="9312" y="322"/>
                  <a:pt x="9315" y="346"/>
                  <a:pt x="9315" y="370"/>
                </a:cubicBezTo>
                <a:lnTo>
                  <a:pt x="9315" y="4499"/>
                </a:lnTo>
                <a:cubicBezTo>
                  <a:pt x="9315" y="4523"/>
                  <a:pt x="9312" y="4547"/>
                  <a:pt x="9308" y="4571"/>
                </a:cubicBezTo>
                <a:cubicBezTo>
                  <a:pt x="9303" y="4595"/>
                  <a:pt x="9296" y="4618"/>
                  <a:pt x="9287" y="4640"/>
                </a:cubicBezTo>
                <a:cubicBezTo>
                  <a:pt x="9277" y="4663"/>
                  <a:pt x="9266" y="4684"/>
                  <a:pt x="9252" y="4704"/>
                </a:cubicBezTo>
                <a:cubicBezTo>
                  <a:pt x="9239" y="4725"/>
                  <a:pt x="9223" y="4743"/>
                  <a:pt x="9206" y="4761"/>
                </a:cubicBezTo>
                <a:cubicBezTo>
                  <a:pt x="9189" y="4778"/>
                  <a:pt x="9170" y="4793"/>
                  <a:pt x="9150" y="4807"/>
                </a:cubicBezTo>
                <a:cubicBezTo>
                  <a:pt x="9130" y="4820"/>
                  <a:pt x="9109" y="4832"/>
                  <a:pt x="9086" y="4841"/>
                </a:cubicBezTo>
                <a:cubicBezTo>
                  <a:pt x="9064" y="4850"/>
                  <a:pt x="9040" y="4857"/>
                  <a:pt x="9017" y="4862"/>
                </a:cubicBezTo>
                <a:cubicBezTo>
                  <a:pt x="8993" y="4867"/>
                  <a:pt x="8969" y="4869"/>
                  <a:pt x="8944" y="4869"/>
                </a:cubicBezTo>
                <a:lnTo>
                  <a:pt x="372" y="4869"/>
                </a:lnTo>
                <a:cubicBezTo>
                  <a:pt x="347" y="4869"/>
                  <a:pt x="322" y="4867"/>
                  <a:pt x="299" y="4862"/>
                </a:cubicBezTo>
                <a:cubicBezTo>
                  <a:pt x="275" y="4857"/>
                  <a:pt x="252" y="4850"/>
                  <a:pt x="229" y="4841"/>
                </a:cubicBezTo>
                <a:cubicBezTo>
                  <a:pt x="207" y="4832"/>
                  <a:pt x="185" y="4820"/>
                  <a:pt x="165" y="4807"/>
                </a:cubicBezTo>
                <a:cubicBezTo>
                  <a:pt x="145" y="4793"/>
                  <a:pt x="126" y="4778"/>
                  <a:pt x="109" y="4761"/>
                </a:cubicBezTo>
                <a:cubicBezTo>
                  <a:pt x="92" y="4743"/>
                  <a:pt x="76" y="4725"/>
                  <a:pt x="63" y="4704"/>
                </a:cubicBezTo>
                <a:cubicBezTo>
                  <a:pt x="49" y="4684"/>
                  <a:pt x="38" y="4663"/>
                  <a:pt x="29" y="4640"/>
                </a:cubicBezTo>
                <a:cubicBezTo>
                  <a:pt x="19" y="4618"/>
                  <a:pt x="12" y="4595"/>
                  <a:pt x="8" y="4571"/>
                </a:cubicBezTo>
                <a:cubicBezTo>
                  <a:pt x="3" y="4547"/>
                  <a:pt x="0" y="4523"/>
                  <a:pt x="0" y="4499"/>
                </a:cubicBezTo>
                <a:close/>
              </a:path>
            </a:pathLst>
          </a:custGeom>
          <a:solidFill>
            <a:srgbClr val="E9F5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886520" y="3093120"/>
            <a:ext cx="340722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320" b="0" u="none" strike="noStrike">
                <a:solidFill>
                  <a:srgbClr val="45556A"/>
                </a:solidFill>
                <a:effectLst/>
                <a:uFillTx/>
                <a:latin typeface="Hiragino Sans"/>
                <a:ea typeface="Hiragino Sans"/>
              </a:rPr>
              <a:t>→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439120" y="2529000"/>
            <a:ext cx="1912266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③ Python </a:t>
            </a:r>
            <a:r>
              <a:rPr lang="ja-JP" sz="158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の関数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496360" y="2915280"/>
            <a:ext cx="168705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130" b="0" u="none" strike="noStrike">
                <a:solidFill>
                  <a:srgbClr val="17212B"/>
                </a:solidFill>
                <a:effectLst/>
                <a:uFillTx/>
                <a:latin typeface="Menlo"/>
                <a:ea typeface="Menlo"/>
              </a:rPr>
              <a:t>def solve(xs, k):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496360" y="3210840"/>
            <a:ext cx="2480274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130" b="0" u="none" strike="noStrike">
                <a:solidFill>
                  <a:srgbClr val="17212B"/>
                </a:solidFill>
                <a:effectLst/>
                <a:uFillTx/>
                <a:latin typeface="Menlo"/>
                <a:ea typeface="Menlo"/>
              </a:rPr>
              <a:t>return [x + k for x in xs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" name=""/>
          <p:cNvSpPr/>
          <p:nvPr/>
        </p:nvSpPr>
        <p:spPr>
          <a:xfrm>
            <a:off x="590400" y="5095800"/>
            <a:ext cx="11011320" cy="38520"/>
          </a:xfrm>
          <a:custGeom>
            <a:avLst/>
            <a:gdLst/>
            <a:ahLst/>
            <a:rect l="0" t="0" r="r" b="b"/>
            <a:pathLst>
              <a:path w="30587" h="107">
                <a:moveTo>
                  <a:pt x="0" y="0"/>
                </a:moveTo>
                <a:lnTo>
                  <a:pt x="30587" y="0"/>
                </a:lnTo>
                <a:lnTo>
                  <a:pt x="3058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CED7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496360" y="3420360"/>
            <a:ext cx="1389384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130" b="0" u="none" strike="noStrike">
                <a:solidFill>
                  <a:srgbClr val="17212B"/>
                </a:solidFill>
                <a:effectLst/>
                <a:uFillTx/>
                <a:latin typeface="Menlo"/>
                <a:ea typeface="Menlo"/>
              </a:rPr>
              <a:t>if x % 2 == 0]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66720" y="5423400"/>
            <a:ext cx="109627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意味を定義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66720" y="5762880"/>
            <a:ext cx="1482534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操作を最大</a:t>
            </a:r>
            <a:r>
              <a:rPr lang="en-US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つ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" name=""/>
          <p:cNvSpPr/>
          <p:nvPr/>
        </p:nvSpPr>
        <p:spPr>
          <a:xfrm>
            <a:off x="1609560" y="491472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4" y="701"/>
                  <a:pt x="1084" y="736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4" y="975"/>
                  <a:pt x="896" y="998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4"/>
                  <a:pt x="665" y="1102"/>
                </a:cubicBezTo>
                <a:cubicBezTo>
                  <a:pt x="629" y="1109"/>
                  <a:pt x="593" y="1112"/>
                  <a:pt x="557" y="1112"/>
                </a:cubicBezTo>
                <a:cubicBezTo>
                  <a:pt x="519" y="1112"/>
                  <a:pt x="483" y="1109"/>
                  <a:pt x="447" y="1102"/>
                </a:cubicBezTo>
                <a:cubicBezTo>
                  <a:pt x="411" y="1094"/>
                  <a:pt x="377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7" y="998"/>
                  <a:pt x="188" y="975"/>
                  <a:pt x="163" y="950"/>
                </a:cubicBezTo>
                <a:cubicBezTo>
                  <a:pt x="137" y="924"/>
                  <a:pt x="114" y="896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6"/>
                  <a:pt x="18" y="701"/>
                  <a:pt x="11" y="665"/>
                </a:cubicBezTo>
                <a:cubicBezTo>
                  <a:pt x="4" y="629"/>
                  <a:pt x="0" y="593"/>
                  <a:pt x="0" y="557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8" y="378"/>
                  <a:pt x="42" y="344"/>
                </a:cubicBezTo>
                <a:cubicBezTo>
                  <a:pt x="56" y="310"/>
                  <a:pt x="73" y="278"/>
                  <a:pt x="94" y="248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7"/>
                  <a:pt x="217" y="114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7" y="28"/>
                  <a:pt x="411" y="18"/>
                  <a:pt x="447" y="11"/>
                </a:cubicBezTo>
                <a:cubicBezTo>
                  <a:pt x="483" y="4"/>
                  <a:pt x="519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8"/>
                  <a:pt x="769" y="42"/>
                </a:cubicBezTo>
                <a:cubicBezTo>
                  <a:pt x="803" y="56"/>
                  <a:pt x="835" y="73"/>
                  <a:pt x="865" y="94"/>
                </a:cubicBezTo>
                <a:cubicBezTo>
                  <a:pt x="896" y="114"/>
                  <a:pt x="924" y="137"/>
                  <a:pt x="949" y="163"/>
                </a:cubicBezTo>
                <a:cubicBezTo>
                  <a:pt x="975" y="189"/>
                  <a:pt x="998" y="217"/>
                  <a:pt x="1019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8"/>
                  <a:pt x="1094" y="412"/>
                  <a:pt x="1102" y="448"/>
                </a:cubicBezTo>
                <a:cubicBezTo>
                  <a:pt x="1109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2877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66720" y="6054840"/>
            <a:ext cx="1830708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順序も含めて組み合わせる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735920" y="5006880"/>
            <a:ext cx="2405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467160" y="5423400"/>
            <a:ext cx="109627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教材を作る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467160" y="5762880"/>
            <a:ext cx="2044332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日本語指示と正解コード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" name=""/>
          <p:cNvSpPr/>
          <p:nvPr/>
        </p:nvSpPr>
        <p:spPr>
          <a:xfrm>
            <a:off x="4410000" y="491472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8" y="629"/>
                  <a:pt x="1101" y="665"/>
                </a:cubicBezTo>
                <a:cubicBezTo>
                  <a:pt x="1094" y="701"/>
                  <a:pt x="1084" y="736"/>
                  <a:pt x="1070" y="769"/>
                </a:cubicBezTo>
                <a:cubicBezTo>
                  <a:pt x="1056" y="803"/>
                  <a:pt x="1039" y="835"/>
                  <a:pt x="1018" y="865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3" y="975"/>
                  <a:pt x="895" y="998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5" y="1084"/>
                  <a:pt x="701" y="1094"/>
                  <a:pt x="665" y="1102"/>
                </a:cubicBezTo>
                <a:cubicBezTo>
                  <a:pt x="629" y="1109"/>
                  <a:pt x="593" y="1112"/>
                  <a:pt x="556" y="1112"/>
                </a:cubicBezTo>
                <a:cubicBezTo>
                  <a:pt x="519" y="1112"/>
                  <a:pt x="483" y="1109"/>
                  <a:pt x="447" y="1102"/>
                </a:cubicBezTo>
                <a:cubicBezTo>
                  <a:pt x="411" y="1094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8"/>
                  <a:pt x="188" y="975"/>
                  <a:pt x="162" y="950"/>
                </a:cubicBezTo>
                <a:cubicBezTo>
                  <a:pt x="137" y="924"/>
                  <a:pt x="114" y="896"/>
                  <a:pt x="93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6"/>
                  <a:pt x="18" y="701"/>
                  <a:pt x="10" y="665"/>
                </a:cubicBezTo>
                <a:cubicBezTo>
                  <a:pt x="3" y="629"/>
                  <a:pt x="0" y="593"/>
                  <a:pt x="0" y="557"/>
                </a:cubicBezTo>
                <a:cubicBezTo>
                  <a:pt x="0" y="520"/>
                  <a:pt x="3" y="484"/>
                  <a:pt x="10" y="448"/>
                </a:cubicBezTo>
                <a:cubicBezTo>
                  <a:pt x="18" y="412"/>
                  <a:pt x="28" y="378"/>
                  <a:pt x="42" y="344"/>
                </a:cubicBezTo>
                <a:cubicBezTo>
                  <a:pt x="56" y="310"/>
                  <a:pt x="73" y="278"/>
                  <a:pt x="93" y="248"/>
                </a:cubicBezTo>
                <a:cubicBezTo>
                  <a:pt x="114" y="217"/>
                  <a:pt x="137" y="189"/>
                  <a:pt x="162" y="163"/>
                </a:cubicBezTo>
                <a:cubicBezTo>
                  <a:pt x="188" y="137"/>
                  <a:pt x="216" y="114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6" y="28"/>
                  <a:pt x="411" y="18"/>
                  <a:pt x="447" y="11"/>
                </a:cubicBezTo>
                <a:cubicBezTo>
                  <a:pt x="483" y="4"/>
                  <a:pt x="519" y="0"/>
                  <a:pt x="556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5" y="28"/>
                  <a:pt x="769" y="42"/>
                </a:cubicBezTo>
                <a:cubicBezTo>
                  <a:pt x="803" y="56"/>
                  <a:pt x="835" y="73"/>
                  <a:pt x="865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8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8"/>
                  <a:pt x="1094" y="412"/>
                  <a:pt x="1101" y="448"/>
                </a:cubicBezTo>
                <a:cubicBezTo>
                  <a:pt x="1108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2877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467160" y="6054840"/>
            <a:ext cx="1603836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訓練データ </a:t>
            </a:r>
            <a:r>
              <a:rPr lang="en-US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192,900</a:t>
            </a:r>
            <a:r>
              <a:rPr lang="ja-JP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536360" y="5006880"/>
            <a:ext cx="2405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267600" y="5423400"/>
            <a:ext cx="131527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モデルを学習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267600" y="5762880"/>
            <a:ext cx="2044332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トークナイザもモデルも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" name=""/>
          <p:cNvSpPr/>
          <p:nvPr/>
        </p:nvSpPr>
        <p:spPr>
          <a:xfrm>
            <a:off x="7210080" y="4914720"/>
            <a:ext cx="400680" cy="400320"/>
          </a:xfrm>
          <a:custGeom>
            <a:avLst/>
            <a:gdLst/>
            <a:ahLst/>
            <a:rect l="0" t="0" r="r" b="b"/>
            <a:pathLst>
              <a:path w="1113" h="1112">
                <a:moveTo>
                  <a:pt x="1113" y="557"/>
                </a:moveTo>
                <a:cubicBezTo>
                  <a:pt x="1113" y="593"/>
                  <a:pt x="1109" y="629"/>
                  <a:pt x="1102" y="665"/>
                </a:cubicBezTo>
                <a:cubicBezTo>
                  <a:pt x="1095" y="701"/>
                  <a:pt x="1084" y="736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9" y="896"/>
                  <a:pt x="976" y="924"/>
                  <a:pt x="950" y="950"/>
                </a:cubicBezTo>
                <a:cubicBezTo>
                  <a:pt x="924" y="975"/>
                  <a:pt x="896" y="998"/>
                  <a:pt x="866" y="1019"/>
                </a:cubicBezTo>
                <a:cubicBezTo>
                  <a:pt x="835" y="1039"/>
                  <a:pt x="803" y="1056"/>
                  <a:pt x="770" y="1070"/>
                </a:cubicBezTo>
                <a:cubicBezTo>
                  <a:pt x="736" y="1084"/>
                  <a:pt x="701" y="1094"/>
                  <a:pt x="665" y="1102"/>
                </a:cubicBezTo>
                <a:cubicBezTo>
                  <a:pt x="630" y="1109"/>
                  <a:pt x="594" y="1112"/>
                  <a:pt x="557" y="1112"/>
                </a:cubicBezTo>
                <a:cubicBezTo>
                  <a:pt x="520" y="1112"/>
                  <a:pt x="483" y="1109"/>
                  <a:pt x="448" y="1102"/>
                </a:cubicBezTo>
                <a:cubicBezTo>
                  <a:pt x="412" y="1094"/>
                  <a:pt x="377" y="1084"/>
                  <a:pt x="343" y="1070"/>
                </a:cubicBezTo>
                <a:cubicBezTo>
                  <a:pt x="310" y="1056"/>
                  <a:pt x="278" y="1039"/>
                  <a:pt x="247" y="1019"/>
                </a:cubicBezTo>
                <a:cubicBezTo>
                  <a:pt x="217" y="998"/>
                  <a:pt x="189" y="975"/>
                  <a:pt x="163" y="950"/>
                </a:cubicBezTo>
                <a:cubicBezTo>
                  <a:pt x="137" y="924"/>
                  <a:pt x="114" y="896"/>
                  <a:pt x="94" y="865"/>
                </a:cubicBezTo>
                <a:cubicBezTo>
                  <a:pt x="74" y="835"/>
                  <a:pt x="57" y="803"/>
                  <a:pt x="43" y="769"/>
                </a:cubicBezTo>
                <a:cubicBezTo>
                  <a:pt x="29" y="736"/>
                  <a:pt x="18" y="701"/>
                  <a:pt x="11" y="665"/>
                </a:cubicBezTo>
                <a:cubicBezTo>
                  <a:pt x="4" y="629"/>
                  <a:pt x="0" y="593"/>
                  <a:pt x="0" y="557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9" y="137"/>
                  <a:pt x="217" y="114"/>
                  <a:pt x="247" y="94"/>
                </a:cubicBezTo>
                <a:cubicBezTo>
                  <a:pt x="278" y="73"/>
                  <a:pt x="310" y="56"/>
                  <a:pt x="343" y="42"/>
                </a:cubicBezTo>
                <a:cubicBezTo>
                  <a:pt x="377" y="28"/>
                  <a:pt x="412" y="18"/>
                  <a:pt x="448" y="11"/>
                </a:cubicBezTo>
                <a:cubicBezTo>
                  <a:pt x="483" y="4"/>
                  <a:pt x="520" y="0"/>
                  <a:pt x="557" y="0"/>
                </a:cubicBezTo>
                <a:cubicBezTo>
                  <a:pt x="594" y="0"/>
                  <a:pt x="630" y="4"/>
                  <a:pt x="665" y="11"/>
                </a:cubicBezTo>
                <a:cubicBezTo>
                  <a:pt x="701" y="18"/>
                  <a:pt x="736" y="28"/>
                  <a:pt x="770" y="42"/>
                </a:cubicBezTo>
                <a:cubicBezTo>
                  <a:pt x="803" y="56"/>
                  <a:pt x="835" y="73"/>
                  <a:pt x="866" y="94"/>
                </a:cubicBezTo>
                <a:cubicBezTo>
                  <a:pt x="896" y="114"/>
                  <a:pt x="924" y="137"/>
                  <a:pt x="950" y="163"/>
                </a:cubicBezTo>
                <a:cubicBezTo>
                  <a:pt x="976" y="189"/>
                  <a:pt x="999" y="217"/>
                  <a:pt x="1019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8"/>
                  <a:pt x="1095" y="412"/>
                  <a:pt x="1102" y="448"/>
                </a:cubicBezTo>
                <a:cubicBezTo>
                  <a:pt x="1109" y="484"/>
                  <a:pt x="1113" y="520"/>
                  <a:pt x="1113" y="557"/>
                </a:cubicBezTo>
                <a:close/>
              </a:path>
            </a:pathLst>
          </a:custGeom>
          <a:solidFill>
            <a:srgbClr val="745D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267600" y="6054840"/>
            <a:ext cx="1677942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既存の重みを使わず学習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336800" y="5006880"/>
            <a:ext cx="2405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067680" y="5423400"/>
            <a:ext cx="131527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実行して評価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067680" y="5762880"/>
            <a:ext cx="2044332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28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生成コードの動作を確認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" name=""/>
          <p:cNvSpPr/>
          <p:nvPr/>
        </p:nvSpPr>
        <p:spPr>
          <a:xfrm>
            <a:off x="10010520" y="491472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5" y="701"/>
                  <a:pt x="1084" y="736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9" y="896"/>
                  <a:pt x="976" y="924"/>
                  <a:pt x="950" y="950"/>
                </a:cubicBezTo>
                <a:cubicBezTo>
                  <a:pt x="924" y="975"/>
                  <a:pt x="896" y="998"/>
                  <a:pt x="866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4"/>
                  <a:pt x="665" y="1102"/>
                </a:cubicBezTo>
                <a:cubicBezTo>
                  <a:pt x="629" y="1109"/>
                  <a:pt x="593" y="1112"/>
                  <a:pt x="557" y="1112"/>
                </a:cubicBezTo>
                <a:cubicBezTo>
                  <a:pt x="519" y="1112"/>
                  <a:pt x="483" y="1109"/>
                  <a:pt x="447" y="1102"/>
                </a:cubicBezTo>
                <a:cubicBezTo>
                  <a:pt x="412" y="1094"/>
                  <a:pt x="377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7" y="998"/>
                  <a:pt x="189" y="975"/>
                  <a:pt x="163" y="950"/>
                </a:cubicBezTo>
                <a:cubicBezTo>
                  <a:pt x="137" y="924"/>
                  <a:pt x="114" y="896"/>
                  <a:pt x="94" y="865"/>
                </a:cubicBezTo>
                <a:cubicBezTo>
                  <a:pt x="74" y="835"/>
                  <a:pt x="56" y="803"/>
                  <a:pt x="42" y="769"/>
                </a:cubicBezTo>
                <a:cubicBezTo>
                  <a:pt x="29" y="736"/>
                  <a:pt x="18" y="701"/>
                  <a:pt x="11" y="665"/>
                </a:cubicBezTo>
                <a:cubicBezTo>
                  <a:pt x="4" y="629"/>
                  <a:pt x="0" y="593"/>
                  <a:pt x="0" y="557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9" y="378"/>
                  <a:pt x="42" y="344"/>
                </a:cubicBezTo>
                <a:cubicBezTo>
                  <a:pt x="56" y="310"/>
                  <a:pt x="74" y="278"/>
                  <a:pt x="94" y="248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9" y="137"/>
                  <a:pt x="217" y="114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7" y="28"/>
                  <a:pt x="412" y="18"/>
                  <a:pt x="447" y="11"/>
                </a:cubicBezTo>
                <a:cubicBezTo>
                  <a:pt x="483" y="4"/>
                  <a:pt x="519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8"/>
                  <a:pt x="769" y="42"/>
                </a:cubicBezTo>
                <a:cubicBezTo>
                  <a:pt x="803" y="56"/>
                  <a:pt x="835" y="73"/>
                  <a:pt x="866" y="94"/>
                </a:cubicBezTo>
                <a:cubicBezTo>
                  <a:pt x="896" y="114"/>
                  <a:pt x="924" y="137"/>
                  <a:pt x="950" y="163"/>
                </a:cubicBezTo>
                <a:cubicBezTo>
                  <a:pt x="976" y="189"/>
                  <a:pt x="999" y="217"/>
                  <a:pt x="1019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8"/>
                  <a:pt x="1095" y="412"/>
                  <a:pt x="1102" y="448"/>
                </a:cubicBezTo>
                <a:cubicBezTo>
                  <a:pt x="1109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3B94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067680" y="6054840"/>
            <a:ext cx="1759086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84,180 / 84,550</a:t>
            </a:r>
            <a:r>
              <a:rPr lang="ja-JP" sz="105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問 合格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137240" y="5006880"/>
            <a:ext cx="2405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Hiragino Sans"/>
                <a:ea typeface="Hiragino Sans"/>
              </a:rPr>
              <a:t>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80620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" name=""/>
          <p:cNvSpPr/>
          <p:nvPr/>
        </p:nvSpPr>
        <p:spPr>
          <a:xfrm>
            <a:off x="590400" y="2333520"/>
            <a:ext cx="5277240" cy="695520"/>
          </a:xfrm>
          <a:custGeom>
            <a:avLst/>
            <a:gdLst/>
            <a:ahLst/>
            <a:rect l="0" t="0" r="r" b="b"/>
            <a:pathLst>
              <a:path w="14659" h="1932">
                <a:moveTo>
                  <a:pt x="0" y="0"/>
                </a:moveTo>
                <a:lnTo>
                  <a:pt x="14659" y="0"/>
                </a:lnTo>
                <a:lnTo>
                  <a:pt x="14659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" name=""/>
          <p:cNvSpPr/>
          <p:nvPr/>
        </p:nvSpPr>
        <p:spPr>
          <a:xfrm>
            <a:off x="6019560" y="2333520"/>
            <a:ext cx="5277240" cy="695520"/>
          </a:xfrm>
          <a:custGeom>
            <a:avLst/>
            <a:gdLst/>
            <a:ahLst/>
            <a:rect l="0" t="0" r="r" b="b"/>
            <a:pathLst>
              <a:path w="14659" h="1932">
                <a:moveTo>
                  <a:pt x="0" y="0"/>
                </a:moveTo>
                <a:lnTo>
                  <a:pt x="14659" y="0"/>
                </a:lnTo>
                <a:lnTo>
                  <a:pt x="14659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" name=""/>
          <p:cNvSpPr/>
          <p:nvPr/>
        </p:nvSpPr>
        <p:spPr>
          <a:xfrm>
            <a:off x="590400" y="2333520"/>
            <a:ext cx="5277240" cy="695520"/>
          </a:xfrm>
          <a:custGeom>
            <a:avLst/>
            <a:gdLst/>
            <a:ahLst/>
            <a:rect l="0" t="0" r="r" b="b"/>
            <a:pathLst>
              <a:path w="14659" h="1932">
                <a:moveTo>
                  <a:pt x="0" y="0"/>
                </a:moveTo>
                <a:lnTo>
                  <a:pt x="14659" y="0"/>
                </a:lnTo>
                <a:lnTo>
                  <a:pt x="14659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" name=""/>
          <p:cNvSpPr/>
          <p:nvPr/>
        </p:nvSpPr>
        <p:spPr>
          <a:xfrm>
            <a:off x="595080" y="2338200"/>
            <a:ext cx="5267880" cy="686160"/>
          </a:xfrm>
          <a:custGeom>
            <a:avLst/>
            <a:gdLst/>
            <a:ahLst/>
            <a:rect l="0" t="0" r="r" b="b"/>
            <a:pathLst>
              <a:path w="14633" h="1906">
                <a:moveTo>
                  <a:pt x="0" y="0"/>
                </a:moveTo>
                <a:lnTo>
                  <a:pt x="14633" y="0"/>
                </a:lnTo>
                <a:lnTo>
                  <a:pt x="14633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" name=""/>
          <p:cNvSpPr/>
          <p:nvPr/>
        </p:nvSpPr>
        <p:spPr>
          <a:xfrm>
            <a:off x="6019560" y="2333520"/>
            <a:ext cx="5277240" cy="695520"/>
          </a:xfrm>
          <a:custGeom>
            <a:avLst/>
            <a:gdLst/>
            <a:ahLst/>
            <a:rect l="0" t="0" r="r" b="b"/>
            <a:pathLst>
              <a:path w="14659" h="1932">
                <a:moveTo>
                  <a:pt x="0" y="0"/>
                </a:moveTo>
                <a:lnTo>
                  <a:pt x="14659" y="0"/>
                </a:lnTo>
                <a:lnTo>
                  <a:pt x="14659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E9F5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" name=""/>
          <p:cNvSpPr/>
          <p:nvPr/>
        </p:nvSpPr>
        <p:spPr>
          <a:xfrm>
            <a:off x="6024240" y="2338200"/>
            <a:ext cx="5267880" cy="686160"/>
          </a:xfrm>
          <a:custGeom>
            <a:avLst/>
            <a:gdLst/>
            <a:ahLst/>
            <a:rect l="0" t="0" r="r" b="b"/>
            <a:pathLst>
              <a:path w="14633" h="1906">
                <a:moveTo>
                  <a:pt x="0" y="0"/>
                </a:moveTo>
                <a:lnTo>
                  <a:pt x="14633" y="0"/>
                </a:lnTo>
                <a:lnTo>
                  <a:pt x="14633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" name=""/>
          <p:cNvSpPr/>
          <p:nvPr/>
        </p:nvSpPr>
        <p:spPr>
          <a:xfrm>
            <a:off x="590400" y="3028680"/>
            <a:ext cx="5277240" cy="600480"/>
          </a:xfrm>
          <a:custGeom>
            <a:avLst/>
            <a:gdLst/>
            <a:ahLst/>
            <a:rect l="0" t="0" r="r" b="b"/>
            <a:pathLst>
              <a:path w="14659" h="1668">
                <a:moveTo>
                  <a:pt x="0" y="0"/>
                </a:moveTo>
                <a:lnTo>
                  <a:pt x="14659" y="0"/>
                </a:lnTo>
                <a:lnTo>
                  <a:pt x="14659" y="1668"/>
                </a:lnTo>
                <a:lnTo>
                  <a:pt x="0" y="16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" name=""/>
          <p:cNvSpPr/>
          <p:nvPr/>
        </p:nvSpPr>
        <p:spPr>
          <a:xfrm>
            <a:off x="6019560" y="3028680"/>
            <a:ext cx="5277240" cy="600480"/>
          </a:xfrm>
          <a:custGeom>
            <a:avLst/>
            <a:gdLst/>
            <a:ahLst/>
            <a:rect l="0" t="0" r="r" b="b"/>
            <a:pathLst>
              <a:path w="14659" h="1668">
                <a:moveTo>
                  <a:pt x="0" y="0"/>
                </a:moveTo>
                <a:lnTo>
                  <a:pt x="14659" y="0"/>
                </a:lnTo>
                <a:lnTo>
                  <a:pt x="14659" y="1668"/>
                </a:lnTo>
                <a:lnTo>
                  <a:pt x="0" y="16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" name=""/>
          <p:cNvSpPr/>
          <p:nvPr/>
        </p:nvSpPr>
        <p:spPr>
          <a:xfrm>
            <a:off x="590400" y="3028680"/>
            <a:ext cx="5277240" cy="600480"/>
          </a:xfrm>
          <a:custGeom>
            <a:avLst/>
            <a:gdLst/>
            <a:ahLst/>
            <a:rect l="0" t="0" r="r" b="b"/>
            <a:pathLst>
              <a:path w="14659" h="1668">
                <a:moveTo>
                  <a:pt x="0" y="0"/>
                </a:moveTo>
                <a:lnTo>
                  <a:pt x="14659" y="0"/>
                </a:lnTo>
                <a:lnTo>
                  <a:pt x="14659" y="1668"/>
                </a:lnTo>
                <a:lnTo>
                  <a:pt x="0" y="1668"/>
                </a:lnTo>
                <a:lnTo>
                  <a:pt x="0" y="0"/>
                </a:lnTo>
                <a:close/>
              </a:path>
            </a:pathLst>
          </a:custGeom>
          <a:solidFill>
            <a:srgbClr val="F1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" name=""/>
          <p:cNvSpPr/>
          <p:nvPr/>
        </p:nvSpPr>
        <p:spPr>
          <a:xfrm>
            <a:off x="595080" y="3033360"/>
            <a:ext cx="5267880" cy="591120"/>
          </a:xfrm>
          <a:custGeom>
            <a:avLst/>
            <a:gdLst/>
            <a:ahLst/>
            <a:rect l="0" t="0" r="r" b="b"/>
            <a:pathLst>
              <a:path w="14633" h="1642">
                <a:moveTo>
                  <a:pt x="0" y="0"/>
                </a:moveTo>
                <a:lnTo>
                  <a:pt x="14633" y="0"/>
                </a:lnTo>
                <a:lnTo>
                  <a:pt x="14633" y="1642"/>
                </a:lnTo>
                <a:lnTo>
                  <a:pt x="0" y="1642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" name=""/>
          <p:cNvSpPr/>
          <p:nvPr/>
        </p:nvSpPr>
        <p:spPr>
          <a:xfrm>
            <a:off x="6019560" y="3028680"/>
            <a:ext cx="5277240" cy="600480"/>
          </a:xfrm>
          <a:custGeom>
            <a:avLst/>
            <a:gdLst/>
            <a:ahLst/>
            <a:rect l="0" t="0" r="r" b="b"/>
            <a:pathLst>
              <a:path w="14659" h="1668">
                <a:moveTo>
                  <a:pt x="0" y="0"/>
                </a:moveTo>
                <a:lnTo>
                  <a:pt x="14659" y="0"/>
                </a:lnTo>
                <a:lnTo>
                  <a:pt x="14659" y="1668"/>
                </a:lnTo>
                <a:lnTo>
                  <a:pt x="0" y="1668"/>
                </a:lnTo>
                <a:lnTo>
                  <a:pt x="0" y="0"/>
                </a:lnTo>
                <a:close/>
              </a:path>
            </a:pathLst>
          </a:custGeom>
          <a:solidFill>
            <a:srgbClr val="F1F8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" name=""/>
          <p:cNvSpPr/>
          <p:nvPr/>
        </p:nvSpPr>
        <p:spPr>
          <a:xfrm>
            <a:off x="6024240" y="3033360"/>
            <a:ext cx="5267880" cy="591120"/>
          </a:xfrm>
          <a:custGeom>
            <a:avLst/>
            <a:gdLst/>
            <a:ahLst/>
            <a:rect l="0" t="0" r="r" b="b"/>
            <a:pathLst>
              <a:path w="14633" h="1642">
                <a:moveTo>
                  <a:pt x="0" y="0"/>
                </a:moveTo>
                <a:lnTo>
                  <a:pt x="14633" y="0"/>
                </a:lnTo>
                <a:lnTo>
                  <a:pt x="14633" y="1642"/>
                </a:lnTo>
                <a:lnTo>
                  <a:pt x="0" y="1642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" name=""/>
          <p:cNvSpPr/>
          <p:nvPr/>
        </p:nvSpPr>
        <p:spPr>
          <a:xfrm>
            <a:off x="590400" y="3628800"/>
            <a:ext cx="5277240" cy="609840"/>
          </a:xfrm>
          <a:custGeom>
            <a:avLst/>
            <a:gdLst/>
            <a:ahLst/>
            <a:rect l="0" t="0" r="r" b="b"/>
            <a:pathLst>
              <a:path w="14659" h="1694">
                <a:moveTo>
                  <a:pt x="0" y="0"/>
                </a:moveTo>
                <a:lnTo>
                  <a:pt x="14659" y="0"/>
                </a:lnTo>
                <a:lnTo>
                  <a:pt x="14659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" name=""/>
          <p:cNvSpPr/>
          <p:nvPr/>
        </p:nvSpPr>
        <p:spPr>
          <a:xfrm>
            <a:off x="6019560" y="3628800"/>
            <a:ext cx="5277240" cy="609840"/>
          </a:xfrm>
          <a:custGeom>
            <a:avLst/>
            <a:gdLst/>
            <a:ahLst/>
            <a:rect l="0" t="0" r="r" b="b"/>
            <a:pathLst>
              <a:path w="14659" h="1694">
                <a:moveTo>
                  <a:pt x="0" y="0"/>
                </a:moveTo>
                <a:lnTo>
                  <a:pt x="14659" y="0"/>
                </a:lnTo>
                <a:lnTo>
                  <a:pt x="14659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" name=""/>
          <p:cNvSpPr/>
          <p:nvPr/>
        </p:nvSpPr>
        <p:spPr>
          <a:xfrm>
            <a:off x="590400" y="3628800"/>
            <a:ext cx="5277240" cy="609840"/>
          </a:xfrm>
          <a:custGeom>
            <a:avLst/>
            <a:gdLst/>
            <a:ahLst/>
            <a:rect l="0" t="0" r="r" b="b"/>
            <a:pathLst>
              <a:path w="14659" h="1694">
                <a:moveTo>
                  <a:pt x="0" y="0"/>
                </a:moveTo>
                <a:lnTo>
                  <a:pt x="14659" y="0"/>
                </a:lnTo>
                <a:lnTo>
                  <a:pt x="14659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>
            <a:srgbClr val="F1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" name=""/>
          <p:cNvSpPr/>
          <p:nvPr/>
        </p:nvSpPr>
        <p:spPr>
          <a:xfrm>
            <a:off x="595080" y="3633480"/>
            <a:ext cx="5267880" cy="600480"/>
          </a:xfrm>
          <a:custGeom>
            <a:avLst/>
            <a:gdLst/>
            <a:ahLst/>
            <a:rect l="0" t="0" r="r" b="b"/>
            <a:pathLst>
              <a:path w="14633" h="1668">
                <a:moveTo>
                  <a:pt x="0" y="0"/>
                </a:moveTo>
                <a:lnTo>
                  <a:pt x="14633" y="0"/>
                </a:lnTo>
                <a:lnTo>
                  <a:pt x="14633" y="1668"/>
                </a:lnTo>
                <a:lnTo>
                  <a:pt x="0" y="1668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" name=""/>
          <p:cNvSpPr/>
          <p:nvPr/>
        </p:nvSpPr>
        <p:spPr>
          <a:xfrm>
            <a:off x="6019560" y="3628800"/>
            <a:ext cx="5277240" cy="609840"/>
          </a:xfrm>
          <a:custGeom>
            <a:avLst/>
            <a:gdLst/>
            <a:ahLst/>
            <a:rect l="0" t="0" r="r" b="b"/>
            <a:pathLst>
              <a:path w="14659" h="1694">
                <a:moveTo>
                  <a:pt x="0" y="0"/>
                </a:moveTo>
                <a:lnTo>
                  <a:pt x="14659" y="0"/>
                </a:lnTo>
                <a:lnTo>
                  <a:pt x="14659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>
            <a:srgbClr val="F1F8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" name=""/>
          <p:cNvSpPr/>
          <p:nvPr/>
        </p:nvSpPr>
        <p:spPr>
          <a:xfrm>
            <a:off x="6024240" y="3633480"/>
            <a:ext cx="5267880" cy="600480"/>
          </a:xfrm>
          <a:custGeom>
            <a:avLst/>
            <a:gdLst/>
            <a:ahLst/>
            <a:rect l="0" t="0" r="r" b="b"/>
            <a:pathLst>
              <a:path w="14633" h="1668">
                <a:moveTo>
                  <a:pt x="0" y="0"/>
                </a:moveTo>
                <a:lnTo>
                  <a:pt x="14633" y="0"/>
                </a:lnTo>
                <a:lnTo>
                  <a:pt x="14633" y="1668"/>
                </a:lnTo>
                <a:lnTo>
                  <a:pt x="0" y="1668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90400" y="977040"/>
            <a:ext cx="2077866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課題と狙い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90400" y="1813320"/>
            <a:ext cx="778527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抽出や順序の変更など、</a:t>
            </a:r>
            <a:r>
              <a:rPr lang="ja-JP" sz="21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対象を</a:t>
            </a:r>
            <a:r>
              <a:rPr lang="en-US" sz="21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21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種類の操作に限定</a:t>
            </a:r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する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90560" y="2545560"/>
            <a:ext cx="1481706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範囲を絞る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19720" y="2545560"/>
            <a:ext cx="177813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327C50"/>
                </a:solidFill>
                <a:effectLst/>
                <a:uFillTx/>
                <a:latin typeface="Hiragino Sans"/>
                <a:ea typeface="Hiragino Sans"/>
              </a:rPr>
              <a:t>目指すモデル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90560" y="3209760"/>
            <a:ext cx="437515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あらかじめ定めた整数リストの操作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219720" y="3209760"/>
            <a:ext cx="464880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学生一人でもフルスクラッチで作れる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90560" y="3809880"/>
            <a:ext cx="382867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操作を組み合わせて処理を表す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219720" y="3809880"/>
            <a:ext cx="336168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小規模言語モデル（</a:t>
            </a:r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SLM</a:t>
            </a:r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90400" y="4557600"/>
            <a:ext cx="2538648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70" b="1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別の用途への応用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90400" y="5213520"/>
            <a:ext cx="5214744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関数の組み合わせで表せる処理なら、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90400" y="5613480"/>
            <a:ext cx="815994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同じ考え方を </a:t>
            </a:r>
            <a:r>
              <a:rPr lang="en-US" sz="21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NPC</a:t>
            </a:r>
            <a:r>
              <a:rPr lang="ja-JP" sz="21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の挙動などにも応用できる可能性</a:t>
            </a:r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がある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85840" y="239760"/>
            <a:ext cx="122378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1.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課題と狙い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80620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" name=""/>
          <p:cNvSpPr/>
          <p:nvPr/>
        </p:nvSpPr>
        <p:spPr>
          <a:xfrm>
            <a:off x="595080" y="2728800"/>
            <a:ext cx="11001960" cy="2229120"/>
          </a:xfrm>
          <a:custGeom>
            <a:avLst/>
            <a:gdLst/>
            <a:ahLst/>
            <a:rect l="0" t="0" r="r" b="b"/>
            <a:pathLst>
              <a:path w="30561" h="6192">
                <a:moveTo>
                  <a:pt x="0" y="604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5" y="0"/>
                  <a:pt x="30434" y="1"/>
                  <a:pt x="30443" y="3"/>
                </a:cubicBezTo>
                <a:cubicBezTo>
                  <a:pt x="30453" y="4"/>
                  <a:pt x="30462" y="7"/>
                  <a:pt x="30471" y="11"/>
                </a:cubicBezTo>
                <a:cubicBezTo>
                  <a:pt x="30480" y="15"/>
                  <a:pt x="30488" y="19"/>
                  <a:pt x="30496" y="24"/>
                </a:cubicBezTo>
                <a:cubicBezTo>
                  <a:pt x="30504" y="30"/>
                  <a:pt x="30511" y="36"/>
                  <a:pt x="30518" y="42"/>
                </a:cubicBezTo>
                <a:cubicBezTo>
                  <a:pt x="30525" y="49"/>
                  <a:pt x="30531" y="57"/>
                  <a:pt x="30536" y="64"/>
                </a:cubicBezTo>
                <a:cubicBezTo>
                  <a:pt x="30541" y="72"/>
                  <a:pt x="30546" y="81"/>
                  <a:pt x="30549" y="90"/>
                </a:cubicBezTo>
                <a:cubicBezTo>
                  <a:pt x="30553" y="98"/>
                  <a:pt x="30556" y="108"/>
                  <a:pt x="30558" y="117"/>
                </a:cubicBezTo>
                <a:cubicBezTo>
                  <a:pt x="30560" y="126"/>
                  <a:pt x="30561" y="136"/>
                  <a:pt x="30561" y="145"/>
                </a:cubicBezTo>
                <a:lnTo>
                  <a:pt x="30561" y="6047"/>
                </a:lnTo>
                <a:cubicBezTo>
                  <a:pt x="30561" y="6056"/>
                  <a:pt x="30560" y="6066"/>
                  <a:pt x="30558" y="6075"/>
                </a:cubicBezTo>
                <a:cubicBezTo>
                  <a:pt x="30556" y="6084"/>
                  <a:pt x="30553" y="6093"/>
                  <a:pt x="30549" y="6102"/>
                </a:cubicBezTo>
                <a:cubicBezTo>
                  <a:pt x="30546" y="6111"/>
                  <a:pt x="30541" y="6119"/>
                  <a:pt x="30536" y="6127"/>
                </a:cubicBezTo>
                <a:cubicBezTo>
                  <a:pt x="30531" y="6135"/>
                  <a:pt x="30525" y="6143"/>
                  <a:pt x="30518" y="6149"/>
                </a:cubicBezTo>
                <a:cubicBezTo>
                  <a:pt x="30511" y="6156"/>
                  <a:pt x="30504" y="6162"/>
                  <a:pt x="30496" y="6168"/>
                </a:cubicBezTo>
                <a:cubicBezTo>
                  <a:pt x="30488" y="6173"/>
                  <a:pt x="30480" y="6177"/>
                  <a:pt x="30471" y="6181"/>
                </a:cubicBezTo>
                <a:cubicBezTo>
                  <a:pt x="30462" y="6185"/>
                  <a:pt x="30453" y="6187"/>
                  <a:pt x="30443" y="6189"/>
                </a:cubicBezTo>
                <a:cubicBezTo>
                  <a:pt x="30434" y="6191"/>
                  <a:pt x="30425" y="6192"/>
                  <a:pt x="30415" y="6192"/>
                </a:cubicBezTo>
                <a:lnTo>
                  <a:pt x="146" y="6192"/>
                </a:lnTo>
                <a:cubicBezTo>
                  <a:pt x="136" y="6192"/>
                  <a:pt x="127" y="6191"/>
                  <a:pt x="117" y="6189"/>
                </a:cubicBezTo>
                <a:cubicBezTo>
                  <a:pt x="108" y="6187"/>
                  <a:pt x="99" y="6185"/>
                  <a:pt x="90" y="6181"/>
                </a:cubicBezTo>
                <a:cubicBezTo>
                  <a:pt x="81" y="6177"/>
                  <a:pt x="73" y="6173"/>
                  <a:pt x="65" y="6168"/>
                </a:cubicBezTo>
                <a:cubicBezTo>
                  <a:pt x="57" y="6162"/>
                  <a:pt x="50" y="6156"/>
                  <a:pt x="43" y="6149"/>
                </a:cubicBezTo>
                <a:cubicBezTo>
                  <a:pt x="36" y="6143"/>
                  <a:pt x="30" y="6135"/>
                  <a:pt x="25" y="6127"/>
                </a:cubicBezTo>
                <a:cubicBezTo>
                  <a:pt x="19" y="6119"/>
                  <a:pt x="15" y="6111"/>
                  <a:pt x="11" y="6102"/>
                </a:cubicBezTo>
                <a:cubicBezTo>
                  <a:pt x="8" y="6093"/>
                  <a:pt x="5" y="6084"/>
                  <a:pt x="3" y="6075"/>
                </a:cubicBezTo>
                <a:cubicBezTo>
                  <a:pt x="1" y="6066"/>
                  <a:pt x="0" y="6056"/>
                  <a:pt x="0" y="6047"/>
                </a:cubicBez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" name=""/>
          <p:cNvSpPr/>
          <p:nvPr/>
        </p:nvSpPr>
        <p:spPr>
          <a:xfrm>
            <a:off x="595080" y="2728800"/>
            <a:ext cx="11001960" cy="2229120"/>
          </a:xfrm>
          <a:custGeom>
            <a:avLst/>
            <a:gdLst/>
            <a:ahLst/>
            <a:rect l="0" t="0" r="r" b="b"/>
            <a:pathLst>
              <a:path w="30561" h="6192">
                <a:moveTo>
                  <a:pt x="0" y="604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5" y="0"/>
                  <a:pt x="30434" y="1"/>
                  <a:pt x="30443" y="3"/>
                </a:cubicBezTo>
                <a:cubicBezTo>
                  <a:pt x="30453" y="4"/>
                  <a:pt x="30462" y="7"/>
                  <a:pt x="30471" y="11"/>
                </a:cubicBezTo>
                <a:cubicBezTo>
                  <a:pt x="30480" y="15"/>
                  <a:pt x="30488" y="19"/>
                  <a:pt x="30496" y="24"/>
                </a:cubicBezTo>
                <a:cubicBezTo>
                  <a:pt x="30504" y="30"/>
                  <a:pt x="30511" y="36"/>
                  <a:pt x="30518" y="42"/>
                </a:cubicBezTo>
                <a:cubicBezTo>
                  <a:pt x="30525" y="49"/>
                  <a:pt x="30531" y="57"/>
                  <a:pt x="30536" y="64"/>
                </a:cubicBezTo>
                <a:cubicBezTo>
                  <a:pt x="30541" y="72"/>
                  <a:pt x="30546" y="81"/>
                  <a:pt x="30549" y="90"/>
                </a:cubicBezTo>
                <a:cubicBezTo>
                  <a:pt x="30553" y="98"/>
                  <a:pt x="30556" y="108"/>
                  <a:pt x="30558" y="117"/>
                </a:cubicBezTo>
                <a:cubicBezTo>
                  <a:pt x="30560" y="126"/>
                  <a:pt x="30561" y="136"/>
                  <a:pt x="30561" y="145"/>
                </a:cubicBezTo>
                <a:lnTo>
                  <a:pt x="30561" y="6047"/>
                </a:lnTo>
                <a:cubicBezTo>
                  <a:pt x="30561" y="6056"/>
                  <a:pt x="30560" y="6066"/>
                  <a:pt x="30558" y="6075"/>
                </a:cubicBezTo>
                <a:cubicBezTo>
                  <a:pt x="30556" y="6084"/>
                  <a:pt x="30553" y="6093"/>
                  <a:pt x="30549" y="6102"/>
                </a:cubicBezTo>
                <a:cubicBezTo>
                  <a:pt x="30546" y="6111"/>
                  <a:pt x="30541" y="6119"/>
                  <a:pt x="30536" y="6127"/>
                </a:cubicBezTo>
                <a:cubicBezTo>
                  <a:pt x="30531" y="6135"/>
                  <a:pt x="30525" y="6143"/>
                  <a:pt x="30518" y="6149"/>
                </a:cubicBezTo>
                <a:cubicBezTo>
                  <a:pt x="30511" y="6156"/>
                  <a:pt x="30504" y="6162"/>
                  <a:pt x="30496" y="6168"/>
                </a:cubicBezTo>
                <a:cubicBezTo>
                  <a:pt x="30488" y="6173"/>
                  <a:pt x="30480" y="6177"/>
                  <a:pt x="30471" y="6181"/>
                </a:cubicBezTo>
                <a:cubicBezTo>
                  <a:pt x="30462" y="6185"/>
                  <a:pt x="30453" y="6187"/>
                  <a:pt x="30443" y="6189"/>
                </a:cubicBezTo>
                <a:cubicBezTo>
                  <a:pt x="30434" y="6191"/>
                  <a:pt x="30425" y="6192"/>
                  <a:pt x="30415" y="6192"/>
                </a:cubicBezTo>
                <a:lnTo>
                  <a:pt x="146" y="6192"/>
                </a:lnTo>
                <a:cubicBezTo>
                  <a:pt x="136" y="6192"/>
                  <a:pt x="127" y="6191"/>
                  <a:pt x="117" y="6189"/>
                </a:cubicBezTo>
                <a:cubicBezTo>
                  <a:pt x="108" y="6187"/>
                  <a:pt x="99" y="6185"/>
                  <a:pt x="90" y="6181"/>
                </a:cubicBezTo>
                <a:cubicBezTo>
                  <a:pt x="81" y="6177"/>
                  <a:pt x="73" y="6173"/>
                  <a:pt x="65" y="6168"/>
                </a:cubicBezTo>
                <a:cubicBezTo>
                  <a:pt x="57" y="6162"/>
                  <a:pt x="50" y="6156"/>
                  <a:pt x="43" y="6149"/>
                </a:cubicBezTo>
                <a:cubicBezTo>
                  <a:pt x="36" y="6143"/>
                  <a:pt x="30" y="6135"/>
                  <a:pt x="25" y="6127"/>
                </a:cubicBezTo>
                <a:cubicBezTo>
                  <a:pt x="19" y="6119"/>
                  <a:pt x="15" y="6111"/>
                  <a:pt x="11" y="6102"/>
                </a:cubicBezTo>
                <a:cubicBezTo>
                  <a:pt x="8" y="6093"/>
                  <a:pt x="5" y="6084"/>
                  <a:pt x="3" y="6075"/>
                </a:cubicBezTo>
                <a:cubicBezTo>
                  <a:pt x="1" y="6066"/>
                  <a:pt x="0" y="6056"/>
                  <a:pt x="0" y="6047"/>
                </a:cubicBezTo>
                <a:close/>
              </a:path>
            </a:pathLst>
          </a:custGeom>
          <a:noFill/>
          <a:ln w="9360">
            <a:solidFill>
              <a:srgbClr val="D8E1E9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90400" y="1405440"/>
            <a:ext cx="3391074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意味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AST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の具体例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90400" y="2221560"/>
            <a:ext cx="6404994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日本語：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偶数だけを残して、各要素に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を加える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09640" y="2911320"/>
            <a:ext cx="25171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{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09640" y="3225600"/>
            <a:ext cx="227989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729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"sequence"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[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09640" y="3549600"/>
            <a:ext cx="379927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{</a:t>
            </a:r>
            <a:r>
              <a:rPr lang="en-US" sz="1729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"filter"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[</a:t>
            </a:r>
            <a:r>
              <a:rPr lang="en-US" sz="1729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"even"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]},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09640" y="3863880"/>
            <a:ext cx="334346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{</a:t>
            </a:r>
            <a:r>
              <a:rPr lang="en-US" sz="1729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"map"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[</a:t>
            </a:r>
            <a:r>
              <a:rPr lang="en-US" sz="1729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"add_k"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]}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09640" y="4178160"/>
            <a:ext cx="45664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09640" y="4502160"/>
            <a:ext cx="25171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}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590400" y="5193360"/>
            <a:ext cx="6884406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偶数の抽出 → 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を加える、という処理の順序を保存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85840" y="239760"/>
            <a:ext cx="2794086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2.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学習を成立させるための工夫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180548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90400" y="500760"/>
            <a:ext cx="8790876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意味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AST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から訓練データを自動生成・検証する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" name=""/>
          <p:cNvSpPr/>
          <p:nvPr/>
        </p:nvSpPr>
        <p:spPr>
          <a:xfrm>
            <a:off x="2990520" y="1180800"/>
            <a:ext cx="6210720" cy="1191240"/>
          </a:xfrm>
          <a:custGeom>
            <a:avLst/>
            <a:gdLst/>
            <a:ahLst/>
            <a:rect l="0" t="0" r="r" b="b"/>
            <a:pathLst>
              <a:path w="17252" h="3309">
                <a:moveTo>
                  <a:pt x="0" y="3123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17067" y="0"/>
                </a:lnTo>
                <a:cubicBezTo>
                  <a:pt x="17079" y="0"/>
                  <a:pt x="17091" y="2"/>
                  <a:pt x="17103" y="4"/>
                </a:cubicBezTo>
                <a:cubicBezTo>
                  <a:pt x="17115" y="6"/>
                  <a:pt x="17127" y="10"/>
                  <a:pt x="17138" y="14"/>
                </a:cubicBezTo>
                <a:cubicBezTo>
                  <a:pt x="17149" y="19"/>
                  <a:pt x="17160" y="25"/>
                  <a:pt x="17170" y="32"/>
                </a:cubicBezTo>
                <a:cubicBezTo>
                  <a:pt x="17180" y="38"/>
                  <a:pt x="17189" y="46"/>
                  <a:pt x="17198" y="55"/>
                </a:cubicBezTo>
                <a:cubicBezTo>
                  <a:pt x="17207" y="63"/>
                  <a:pt x="17214" y="73"/>
                  <a:pt x="17221" y="83"/>
                </a:cubicBezTo>
                <a:cubicBezTo>
                  <a:pt x="17228" y="93"/>
                  <a:pt x="17233" y="103"/>
                  <a:pt x="17238" y="115"/>
                </a:cubicBezTo>
                <a:cubicBezTo>
                  <a:pt x="17243" y="126"/>
                  <a:pt x="17246" y="137"/>
                  <a:pt x="17249" y="149"/>
                </a:cubicBezTo>
                <a:cubicBezTo>
                  <a:pt x="17251" y="161"/>
                  <a:pt x="17252" y="173"/>
                  <a:pt x="17252" y="186"/>
                </a:cubicBezTo>
                <a:lnTo>
                  <a:pt x="17252" y="3123"/>
                </a:lnTo>
                <a:cubicBezTo>
                  <a:pt x="17252" y="3136"/>
                  <a:pt x="17251" y="3148"/>
                  <a:pt x="17249" y="3160"/>
                </a:cubicBezTo>
                <a:cubicBezTo>
                  <a:pt x="17246" y="3171"/>
                  <a:pt x="17243" y="3183"/>
                  <a:pt x="17238" y="3194"/>
                </a:cubicBezTo>
                <a:cubicBezTo>
                  <a:pt x="17233" y="3206"/>
                  <a:pt x="17228" y="3216"/>
                  <a:pt x="17221" y="3226"/>
                </a:cubicBezTo>
                <a:cubicBezTo>
                  <a:pt x="17214" y="3236"/>
                  <a:pt x="17207" y="3246"/>
                  <a:pt x="17198" y="3254"/>
                </a:cubicBezTo>
                <a:cubicBezTo>
                  <a:pt x="17189" y="3263"/>
                  <a:pt x="17180" y="3271"/>
                  <a:pt x="17170" y="3277"/>
                </a:cubicBezTo>
                <a:cubicBezTo>
                  <a:pt x="17160" y="3284"/>
                  <a:pt x="17149" y="3290"/>
                  <a:pt x="17138" y="3295"/>
                </a:cubicBezTo>
                <a:cubicBezTo>
                  <a:pt x="17127" y="3299"/>
                  <a:pt x="17115" y="3303"/>
                  <a:pt x="17103" y="3305"/>
                </a:cubicBezTo>
                <a:cubicBezTo>
                  <a:pt x="17091" y="3307"/>
                  <a:pt x="17079" y="3309"/>
                  <a:pt x="17067" y="3309"/>
                </a:cubicBezTo>
                <a:lnTo>
                  <a:pt x="186" y="3309"/>
                </a:lnTo>
                <a:cubicBezTo>
                  <a:pt x="173" y="3309"/>
                  <a:pt x="161" y="3307"/>
                  <a:pt x="149" y="3305"/>
                </a:cubicBezTo>
                <a:cubicBezTo>
                  <a:pt x="138" y="3303"/>
                  <a:pt x="126" y="3299"/>
                  <a:pt x="115" y="3295"/>
                </a:cubicBezTo>
                <a:cubicBezTo>
                  <a:pt x="104" y="3290"/>
                  <a:pt x="93" y="3284"/>
                  <a:pt x="83" y="3277"/>
                </a:cubicBezTo>
                <a:cubicBezTo>
                  <a:pt x="73" y="3271"/>
                  <a:pt x="63" y="3263"/>
                  <a:pt x="55" y="3254"/>
                </a:cubicBezTo>
                <a:cubicBezTo>
                  <a:pt x="46" y="3246"/>
                  <a:pt x="38" y="3236"/>
                  <a:pt x="32" y="3226"/>
                </a:cubicBezTo>
                <a:cubicBezTo>
                  <a:pt x="25" y="3216"/>
                  <a:pt x="19" y="3206"/>
                  <a:pt x="15" y="3194"/>
                </a:cubicBezTo>
                <a:cubicBezTo>
                  <a:pt x="10" y="3183"/>
                  <a:pt x="6" y="3171"/>
                  <a:pt x="4" y="3160"/>
                </a:cubicBezTo>
                <a:cubicBezTo>
                  <a:pt x="2" y="3148"/>
                  <a:pt x="0" y="3136"/>
                  <a:pt x="0" y="3123"/>
                </a:cubicBezTo>
                <a:close/>
              </a:path>
            </a:pathLst>
          </a:custGeom>
          <a:solidFill>
            <a:srgbClr val="F0EC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" name=""/>
          <p:cNvSpPr/>
          <p:nvPr/>
        </p:nvSpPr>
        <p:spPr>
          <a:xfrm>
            <a:off x="2990520" y="1180800"/>
            <a:ext cx="6210720" cy="1191240"/>
          </a:xfrm>
          <a:custGeom>
            <a:avLst/>
            <a:gdLst/>
            <a:ahLst/>
            <a:rect l="0" t="0" r="r" b="b"/>
            <a:pathLst>
              <a:path w="17252" h="3309">
                <a:moveTo>
                  <a:pt x="0" y="3123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17067" y="0"/>
                </a:lnTo>
                <a:cubicBezTo>
                  <a:pt x="17079" y="0"/>
                  <a:pt x="17091" y="2"/>
                  <a:pt x="17103" y="4"/>
                </a:cubicBezTo>
                <a:cubicBezTo>
                  <a:pt x="17115" y="6"/>
                  <a:pt x="17127" y="10"/>
                  <a:pt x="17138" y="14"/>
                </a:cubicBezTo>
                <a:cubicBezTo>
                  <a:pt x="17149" y="19"/>
                  <a:pt x="17160" y="25"/>
                  <a:pt x="17170" y="32"/>
                </a:cubicBezTo>
                <a:cubicBezTo>
                  <a:pt x="17180" y="38"/>
                  <a:pt x="17189" y="46"/>
                  <a:pt x="17198" y="55"/>
                </a:cubicBezTo>
                <a:cubicBezTo>
                  <a:pt x="17207" y="63"/>
                  <a:pt x="17214" y="73"/>
                  <a:pt x="17221" y="83"/>
                </a:cubicBezTo>
                <a:cubicBezTo>
                  <a:pt x="17228" y="93"/>
                  <a:pt x="17233" y="103"/>
                  <a:pt x="17238" y="115"/>
                </a:cubicBezTo>
                <a:cubicBezTo>
                  <a:pt x="17243" y="126"/>
                  <a:pt x="17246" y="137"/>
                  <a:pt x="17249" y="149"/>
                </a:cubicBezTo>
                <a:cubicBezTo>
                  <a:pt x="17251" y="161"/>
                  <a:pt x="17252" y="173"/>
                  <a:pt x="17252" y="186"/>
                </a:cubicBezTo>
                <a:lnTo>
                  <a:pt x="17252" y="3123"/>
                </a:lnTo>
                <a:cubicBezTo>
                  <a:pt x="17252" y="3136"/>
                  <a:pt x="17251" y="3148"/>
                  <a:pt x="17249" y="3160"/>
                </a:cubicBezTo>
                <a:cubicBezTo>
                  <a:pt x="17246" y="3171"/>
                  <a:pt x="17243" y="3183"/>
                  <a:pt x="17238" y="3194"/>
                </a:cubicBezTo>
                <a:cubicBezTo>
                  <a:pt x="17233" y="3206"/>
                  <a:pt x="17228" y="3216"/>
                  <a:pt x="17221" y="3226"/>
                </a:cubicBezTo>
                <a:cubicBezTo>
                  <a:pt x="17214" y="3236"/>
                  <a:pt x="17207" y="3246"/>
                  <a:pt x="17198" y="3254"/>
                </a:cubicBezTo>
                <a:cubicBezTo>
                  <a:pt x="17189" y="3263"/>
                  <a:pt x="17180" y="3271"/>
                  <a:pt x="17170" y="3277"/>
                </a:cubicBezTo>
                <a:cubicBezTo>
                  <a:pt x="17160" y="3284"/>
                  <a:pt x="17149" y="3290"/>
                  <a:pt x="17138" y="3295"/>
                </a:cubicBezTo>
                <a:cubicBezTo>
                  <a:pt x="17127" y="3299"/>
                  <a:pt x="17115" y="3303"/>
                  <a:pt x="17103" y="3305"/>
                </a:cubicBezTo>
                <a:cubicBezTo>
                  <a:pt x="17091" y="3307"/>
                  <a:pt x="17079" y="3309"/>
                  <a:pt x="17067" y="3309"/>
                </a:cubicBezTo>
                <a:lnTo>
                  <a:pt x="186" y="3309"/>
                </a:lnTo>
                <a:cubicBezTo>
                  <a:pt x="173" y="3309"/>
                  <a:pt x="161" y="3307"/>
                  <a:pt x="149" y="3305"/>
                </a:cubicBezTo>
                <a:cubicBezTo>
                  <a:pt x="138" y="3303"/>
                  <a:pt x="126" y="3299"/>
                  <a:pt x="115" y="3295"/>
                </a:cubicBezTo>
                <a:cubicBezTo>
                  <a:pt x="104" y="3290"/>
                  <a:pt x="93" y="3284"/>
                  <a:pt x="83" y="3277"/>
                </a:cubicBezTo>
                <a:cubicBezTo>
                  <a:pt x="73" y="3271"/>
                  <a:pt x="63" y="3263"/>
                  <a:pt x="55" y="3254"/>
                </a:cubicBezTo>
                <a:cubicBezTo>
                  <a:pt x="46" y="3246"/>
                  <a:pt x="38" y="3236"/>
                  <a:pt x="32" y="3226"/>
                </a:cubicBezTo>
                <a:cubicBezTo>
                  <a:pt x="25" y="3216"/>
                  <a:pt x="19" y="3206"/>
                  <a:pt x="15" y="3194"/>
                </a:cubicBezTo>
                <a:cubicBezTo>
                  <a:pt x="10" y="3183"/>
                  <a:pt x="6" y="3171"/>
                  <a:pt x="4" y="3160"/>
                </a:cubicBezTo>
                <a:cubicBezTo>
                  <a:pt x="2" y="3148"/>
                  <a:pt x="0" y="3136"/>
                  <a:pt x="0" y="3123"/>
                </a:cubicBezTo>
                <a:close/>
              </a:path>
            </a:pathLst>
          </a:custGeom>
          <a:noFill/>
          <a:ln w="18720">
            <a:solidFill>
              <a:srgbClr val="8A79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85840" y="239760"/>
            <a:ext cx="2794086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2.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学習を成立させるための工夫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654080" y="1302480"/>
            <a:ext cx="3322764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685098"/>
                </a:solidFill>
                <a:effectLst/>
                <a:uFillTx/>
                <a:latin typeface="Hiragino Sans"/>
                <a:ea typeface="Hiragino Sans"/>
              </a:rPr>
              <a:t>共通の処理の定義：意味</a:t>
            </a:r>
            <a:r>
              <a:rPr lang="en-US" sz="1729" b="1" u="none" strike="noStrike">
                <a:solidFill>
                  <a:srgbClr val="685098"/>
                </a:solidFill>
                <a:effectLst/>
                <a:uFillTx/>
                <a:latin typeface="Hiragino Sans"/>
                <a:ea typeface="Hiragino Sans"/>
              </a:rPr>
              <a:t>AST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191040" y="1622160"/>
            <a:ext cx="1655172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{</a:t>
            </a:r>
            <a:r>
              <a:rPr lang="en-US" sz="135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"sequence"</a:t>
            </a:r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[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191040" y="1841040"/>
            <a:ext cx="49638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{</a:t>
            </a:r>
            <a:r>
              <a:rPr lang="en-US" sz="135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"filter"</a:t>
            </a:r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[</a:t>
            </a:r>
            <a:r>
              <a:rPr lang="en-US" sz="135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"even"</a:t>
            </a:r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]}, {</a:t>
            </a:r>
            <a:r>
              <a:rPr lang="en-US" sz="135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"map"</a:t>
            </a:r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[</a:t>
            </a:r>
            <a:r>
              <a:rPr lang="en-US" sz="135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"add_k"</a:t>
            </a:r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]}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" name=""/>
          <p:cNvSpPr/>
          <p:nvPr/>
        </p:nvSpPr>
        <p:spPr>
          <a:xfrm>
            <a:off x="6095880" y="2381040"/>
            <a:ext cx="28800" cy="209880"/>
          </a:xfrm>
          <a:custGeom>
            <a:avLst/>
            <a:gdLst/>
            <a:ahLst/>
            <a:rect l="0" t="0" r="r" b="b"/>
            <a:pathLst>
              <a:path w="80" h="583">
                <a:moveTo>
                  <a:pt x="0" y="0"/>
                </a:moveTo>
                <a:lnTo>
                  <a:pt x="80" y="0"/>
                </a:lnTo>
                <a:lnTo>
                  <a:pt x="80" y="583"/>
                </a:lnTo>
                <a:lnTo>
                  <a:pt x="0" y="583"/>
                </a:lnTo>
                <a:lnTo>
                  <a:pt x="0" y="0"/>
                </a:lnTo>
                <a:close/>
              </a:path>
            </a:pathLst>
          </a:custGeom>
          <a:solidFill>
            <a:srgbClr val="69778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" name=""/>
          <p:cNvSpPr/>
          <p:nvPr/>
        </p:nvSpPr>
        <p:spPr>
          <a:xfrm>
            <a:off x="3247920" y="2590560"/>
            <a:ext cx="5696280" cy="29160"/>
          </a:xfrm>
          <a:custGeom>
            <a:avLst/>
            <a:gdLst/>
            <a:ahLst/>
            <a:rect l="0" t="0" r="r" b="b"/>
            <a:pathLst>
              <a:path w="15823" h="81">
                <a:moveTo>
                  <a:pt x="0" y="0"/>
                </a:moveTo>
                <a:lnTo>
                  <a:pt x="15823" y="0"/>
                </a:lnTo>
                <a:lnTo>
                  <a:pt x="1582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69778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" name=""/>
          <p:cNvSpPr/>
          <p:nvPr/>
        </p:nvSpPr>
        <p:spPr>
          <a:xfrm>
            <a:off x="595080" y="2881080"/>
            <a:ext cx="5305680" cy="3638880"/>
          </a:xfrm>
          <a:custGeom>
            <a:avLst/>
            <a:gdLst/>
            <a:ahLst/>
            <a:rect l="0" t="0" r="r" b="b"/>
            <a:pathLst>
              <a:path w="14738" h="10108">
                <a:moveTo>
                  <a:pt x="0" y="9910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7"/>
                  <a:pt x="58" y="58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4540" y="0"/>
                </a:lnTo>
                <a:cubicBezTo>
                  <a:pt x="14553" y="0"/>
                  <a:pt x="14566" y="1"/>
                  <a:pt x="14579" y="4"/>
                </a:cubicBezTo>
                <a:cubicBezTo>
                  <a:pt x="14591" y="7"/>
                  <a:pt x="14604" y="10"/>
                  <a:pt x="14616" y="15"/>
                </a:cubicBezTo>
                <a:cubicBezTo>
                  <a:pt x="14628" y="20"/>
                  <a:pt x="14639" y="26"/>
                  <a:pt x="14650" y="34"/>
                </a:cubicBezTo>
                <a:cubicBezTo>
                  <a:pt x="14661" y="41"/>
                  <a:pt x="14671" y="49"/>
                  <a:pt x="14680" y="58"/>
                </a:cubicBezTo>
                <a:cubicBezTo>
                  <a:pt x="14690" y="67"/>
                  <a:pt x="14698" y="78"/>
                  <a:pt x="14705" y="88"/>
                </a:cubicBezTo>
                <a:cubicBezTo>
                  <a:pt x="14712" y="99"/>
                  <a:pt x="14718" y="111"/>
                  <a:pt x="14723" y="123"/>
                </a:cubicBezTo>
                <a:cubicBezTo>
                  <a:pt x="14728" y="135"/>
                  <a:pt x="14732" y="147"/>
                  <a:pt x="14735" y="160"/>
                </a:cubicBezTo>
                <a:cubicBezTo>
                  <a:pt x="14737" y="173"/>
                  <a:pt x="14738" y="186"/>
                  <a:pt x="14738" y="199"/>
                </a:cubicBezTo>
                <a:lnTo>
                  <a:pt x="14738" y="9910"/>
                </a:lnTo>
                <a:cubicBezTo>
                  <a:pt x="14738" y="9923"/>
                  <a:pt x="14737" y="9936"/>
                  <a:pt x="14735" y="9949"/>
                </a:cubicBezTo>
                <a:cubicBezTo>
                  <a:pt x="14732" y="9961"/>
                  <a:pt x="14728" y="9974"/>
                  <a:pt x="14723" y="9986"/>
                </a:cubicBezTo>
                <a:cubicBezTo>
                  <a:pt x="14718" y="9998"/>
                  <a:pt x="14712" y="10009"/>
                  <a:pt x="14705" y="10020"/>
                </a:cubicBezTo>
                <a:cubicBezTo>
                  <a:pt x="14698" y="10031"/>
                  <a:pt x="14690" y="10041"/>
                  <a:pt x="14680" y="10050"/>
                </a:cubicBezTo>
                <a:cubicBezTo>
                  <a:pt x="14671" y="10059"/>
                  <a:pt x="14661" y="10068"/>
                  <a:pt x="14650" y="10075"/>
                </a:cubicBezTo>
                <a:cubicBezTo>
                  <a:pt x="14639" y="10082"/>
                  <a:pt x="14628" y="10088"/>
                  <a:pt x="14616" y="10093"/>
                </a:cubicBezTo>
                <a:cubicBezTo>
                  <a:pt x="14604" y="10098"/>
                  <a:pt x="14591" y="10102"/>
                  <a:pt x="14579" y="10104"/>
                </a:cubicBezTo>
                <a:cubicBezTo>
                  <a:pt x="14566" y="10107"/>
                  <a:pt x="14553" y="10108"/>
                  <a:pt x="14540" y="10108"/>
                </a:cubicBezTo>
                <a:lnTo>
                  <a:pt x="199" y="10108"/>
                </a:lnTo>
                <a:cubicBezTo>
                  <a:pt x="186" y="10108"/>
                  <a:pt x="173" y="10107"/>
                  <a:pt x="160" y="10104"/>
                </a:cubicBezTo>
                <a:cubicBezTo>
                  <a:pt x="147" y="10102"/>
                  <a:pt x="135" y="10098"/>
                  <a:pt x="123" y="10093"/>
                </a:cubicBezTo>
                <a:cubicBezTo>
                  <a:pt x="111" y="10088"/>
                  <a:pt x="99" y="10082"/>
                  <a:pt x="88" y="10075"/>
                </a:cubicBezTo>
                <a:cubicBezTo>
                  <a:pt x="78" y="10068"/>
                  <a:pt x="67" y="10059"/>
                  <a:pt x="58" y="10050"/>
                </a:cubicBezTo>
                <a:cubicBezTo>
                  <a:pt x="49" y="10041"/>
                  <a:pt x="41" y="10031"/>
                  <a:pt x="34" y="10020"/>
                </a:cubicBezTo>
                <a:cubicBezTo>
                  <a:pt x="26" y="10009"/>
                  <a:pt x="20" y="9998"/>
                  <a:pt x="15" y="9986"/>
                </a:cubicBezTo>
                <a:cubicBezTo>
                  <a:pt x="10" y="9974"/>
                  <a:pt x="7" y="9961"/>
                  <a:pt x="4" y="9949"/>
                </a:cubicBezTo>
                <a:cubicBezTo>
                  <a:pt x="1" y="9936"/>
                  <a:pt x="0" y="9923"/>
                  <a:pt x="0" y="9910"/>
                </a:cubicBezTo>
                <a:close/>
              </a:path>
            </a:pathLst>
          </a:custGeom>
          <a:solidFill>
            <a:srgbClr val="EDF5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" name=""/>
          <p:cNvSpPr/>
          <p:nvPr/>
        </p:nvSpPr>
        <p:spPr>
          <a:xfrm>
            <a:off x="595080" y="2881080"/>
            <a:ext cx="5305680" cy="3638880"/>
          </a:xfrm>
          <a:custGeom>
            <a:avLst/>
            <a:gdLst/>
            <a:ahLst/>
            <a:rect l="0" t="0" r="r" b="b"/>
            <a:pathLst>
              <a:path w="14738" h="10108">
                <a:moveTo>
                  <a:pt x="0" y="9910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7"/>
                  <a:pt x="58" y="58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4540" y="0"/>
                </a:lnTo>
                <a:cubicBezTo>
                  <a:pt x="14553" y="0"/>
                  <a:pt x="14566" y="1"/>
                  <a:pt x="14579" y="4"/>
                </a:cubicBezTo>
                <a:cubicBezTo>
                  <a:pt x="14591" y="7"/>
                  <a:pt x="14604" y="10"/>
                  <a:pt x="14616" y="15"/>
                </a:cubicBezTo>
                <a:cubicBezTo>
                  <a:pt x="14628" y="20"/>
                  <a:pt x="14639" y="26"/>
                  <a:pt x="14650" y="34"/>
                </a:cubicBezTo>
                <a:cubicBezTo>
                  <a:pt x="14661" y="41"/>
                  <a:pt x="14671" y="49"/>
                  <a:pt x="14680" y="58"/>
                </a:cubicBezTo>
                <a:cubicBezTo>
                  <a:pt x="14690" y="67"/>
                  <a:pt x="14698" y="78"/>
                  <a:pt x="14705" y="88"/>
                </a:cubicBezTo>
                <a:cubicBezTo>
                  <a:pt x="14712" y="99"/>
                  <a:pt x="14718" y="111"/>
                  <a:pt x="14723" y="123"/>
                </a:cubicBezTo>
                <a:cubicBezTo>
                  <a:pt x="14728" y="135"/>
                  <a:pt x="14732" y="147"/>
                  <a:pt x="14735" y="160"/>
                </a:cubicBezTo>
                <a:cubicBezTo>
                  <a:pt x="14737" y="173"/>
                  <a:pt x="14738" y="186"/>
                  <a:pt x="14738" y="199"/>
                </a:cubicBezTo>
                <a:lnTo>
                  <a:pt x="14738" y="9910"/>
                </a:lnTo>
                <a:cubicBezTo>
                  <a:pt x="14738" y="9923"/>
                  <a:pt x="14737" y="9936"/>
                  <a:pt x="14735" y="9949"/>
                </a:cubicBezTo>
                <a:cubicBezTo>
                  <a:pt x="14732" y="9961"/>
                  <a:pt x="14728" y="9974"/>
                  <a:pt x="14723" y="9986"/>
                </a:cubicBezTo>
                <a:cubicBezTo>
                  <a:pt x="14718" y="9998"/>
                  <a:pt x="14712" y="10009"/>
                  <a:pt x="14705" y="10020"/>
                </a:cubicBezTo>
                <a:cubicBezTo>
                  <a:pt x="14698" y="10031"/>
                  <a:pt x="14690" y="10041"/>
                  <a:pt x="14680" y="10050"/>
                </a:cubicBezTo>
                <a:cubicBezTo>
                  <a:pt x="14671" y="10059"/>
                  <a:pt x="14661" y="10068"/>
                  <a:pt x="14650" y="10075"/>
                </a:cubicBezTo>
                <a:cubicBezTo>
                  <a:pt x="14639" y="10082"/>
                  <a:pt x="14628" y="10088"/>
                  <a:pt x="14616" y="10093"/>
                </a:cubicBezTo>
                <a:cubicBezTo>
                  <a:pt x="14604" y="10098"/>
                  <a:pt x="14591" y="10102"/>
                  <a:pt x="14579" y="10104"/>
                </a:cubicBezTo>
                <a:cubicBezTo>
                  <a:pt x="14566" y="10107"/>
                  <a:pt x="14553" y="10108"/>
                  <a:pt x="14540" y="10108"/>
                </a:cubicBezTo>
                <a:lnTo>
                  <a:pt x="199" y="10108"/>
                </a:lnTo>
                <a:cubicBezTo>
                  <a:pt x="186" y="10108"/>
                  <a:pt x="173" y="10107"/>
                  <a:pt x="160" y="10104"/>
                </a:cubicBezTo>
                <a:cubicBezTo>
                  <a:pt x="147" y="10102"/>
                  <a:pt x="135" y="10098"/>
                  <a:pt x="123" y="10093"/>
                </a:cubicBezTo>
                <a:cubicBezTo>
                  <a:pt x="111" y="10088"/>
                  <a:pt x="99" y="10082"/>
                  <a:pt x="88" y="10075"/>
                </a:cubicBezTo>
                <a:cubicBezTo>
                  <a:pt x="78" y="10068"/>
                  <a:pt x="67" y="10059"/>
                  <a:pt x="58" y="10050"/>
                </a:cubicBezTo>
                <a:cubicBezTo>
                  <a:pt x="49" y="10041"/>
                  <a:pt x="41" y="10031"/>
                  <a:pt x="34" y="10020"/>
                </a:cubicBezTo>
                <a:cubicBezTo>
                  <a:pt x="26" y="10009"/>
                  <a:pt x="20" y="9998"/>
                  <a:pt x="15" y="9986"/>
                </a:cubicBezTo>
                <a:cubicBezTo>
                  <a:pt x="10" y="9974"/>
                  <a:pt x="7" y="9961"/>
                  <a:pt x="4" y="9949"/>
                </a:cubicBezTo>
                <a:cubicBezTo>
                  <a:pt x="1" y="9936"/>
                  <a:pt x="0" y="9923"/>
                  <a:pt x="0" y="9910"/>
                </a:cubicBezTo>
                <a:close/>
              </a:path>
            </a:pathLst>
          </a:custGeom>
          <a:noFill/>
          <a:ln w="9360">
            <a:solidFill>
              <a:srgbClr val="9EBED7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" name=""/>
          <p:cNvSpPr/>
          <p:nvPr/>
        </p:nvSpPr>
        <p:spPr>
          <a:xfrm>
            <a:off x="790560" y="4867200"/>
            <a:ext cx="4915080" cy="9720"/>
          </a:xfrm>
          <a:custGeom>
            <a:avLst/>
            <a:gdLst/>
            <a:ahLst/>
            <a:rect l="0" t="0" r="r" b="b"/>
            <a:pathLst>
              <a:path w="13653" h="27">
                <a:moveTo>
                  <a:pt x="0" y="0"/>
                </a:moveTo>
                <a:lnTo>
                  <a:pt x="13653" y="0"/>
                </a:lnTo>
                <a:lnTo>
                  <a:pt x="13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7CD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191040" y="2050560"/>
            <a:ext cx="237222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]}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90560" y="3046680"/>
            <a:ext cx="18410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日本語の指示文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90560" y="3480480"/>
            <a:ext cx="109627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生成の手順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90560" y="3844800"/>
            <a:ext cx="406009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Qwen</a:t>
            </a:r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で各操作の日本語表現を生成。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" name=""/>
          <p:cNvSpPr/>
          <p:nvPr/>
        </p:nvSpPr>
        <p:spPr>
          <a:xfrm>
            <a:off x="790560" y="4466880"/>
            <a:ext cx="1476720" cy="295920"/>
          </a:xfrm>
          <a:custGeom>
            <a:avLst/>
            <a:gdLst/>
            <a:ahLst/>
            <a:rect l="0" t="0" r="r" b="b"/>
            <a:pathLst>
              <a:path w="4102" h="822">
                <a:moveTo>
                  <a:pt x="0" y="66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3942" y="0"/>
                </a:lnTo>
                <a:cubicBezTo>
                  <a:pt x="3952" y="0"/>
                  <a:pt x="3964" y="1"/>
                  <a:pt x="3974" y="4"/>
                </a:cubicBezTo>
                <a:cubicBezTo>
                  <a:pt x="3984" y="6"/>
                  <a:pt x="3994" y="9"/>
                  <a:pt x="4004" y="13"/>
                </a:cubicBezTo>
                <a:cubicBezTo>
                  <a:pt x="4013" y="17"/>
                  <a:pt x="4022" y="21"/>
                  <a:pt x="4031" y="27"/>
                </a:cubicBezTo>
                <a:cubicBezTo>
                  <a:pt x="4040" y="33"/>
                  <a:pt x="4048" y="40"/>
                  <a:pt x="4055" y="47"/>
                </a:cubicBezTo>
                <a:cubicBezTo>
                  <a:pt x="4062" y="54"/>
                  <a:pt x="4069" y="62"/>
                  <a:pt x="4075" y="71"/>
                </a:cubicBezTo>
                <a:cubicBezTo>
                  <a:pt x="4081" y="80"/>
                  <a:pt x="4086" y="89"/>
                  <a:pt x="4089" y="98"/>
                </a:cubicBezTo>
                <a:cubicBezTo>
                  <a:pt x="4093" y="108"/>
                  <a:pt x="4096" y="118"/>
                  <a:pt x="4099" y="128"/>
                </a:cubicBezTo>
                <a:cubicBezTo>
                  <a:pt x="4101" y="138"/>
                  <a:pt x="4102" y="149"/>
                  <a:pt x="4102" y="159"/>
                </a:cubicBezTo>
                <a:lnTo>
                  <a:pt x="4102" y="663"/>
                </a:lnTo>
                <a:cubicBezTo>
                  <a:pt x="4102" y="673"/>
                  <a:pt x="4101" y="684"/>
                  <a:pt x="4099" y="694"/>
                </a:cubicBezTo>
                <a:cubicBezTo>
                  <a:pt x="4096" y="704"/>
                  <a:pt x="4093" y="714"/>
                  <a:pt x="4089" y="724"/>
                </a:cubicBezTo>
                <a:cubicBezTo>
                  <a:pt x="4086" y="733"/>
                  <a:pt x="4081" y="742"/>
                  <a:pt x="4075" y="751"/>
                </a:cubicBezTo>
                <a:cubicBezTo>
                  <a:pt x="4069" y="760"/>
                  <a:pt x="4062" y="768"/>
                  <a:pt x="4055" y="775"/>
                </a:cubicBezTo>
                <a:cubicBezTo>
                  <a:pt x="4048" y="783"/>
                  <a:pt x="4040" y="789"/>
                  <a:pt x="4031" y="795"/>
                </a:cubicBezTo>
                <a:cubicBezTo>
                  <a:pt x="4022" y="801"/>
                  <a:pt x="4013" y="806"/>
                  <a:pt x="4004" y="810"/>
                </a:cubicBezTo>
                <a:cubicBezTo>
                  <a:pt x="3994" y="814"/>
                  <a:pt x="3984" y="817"/>
                  <a:pt x="3974" y="819"/>
                </a:cubicBezTo>
                <a:cubicBezTo>
                  <a:pt x="3964" y="821"/>
                  <a:pt x="3952" y="822"/>
                  <a:pt x="3942" y="822"/>
                </a:cubicBezTo>
                <a:lnTo>
                  <a:pt x="158" y="822"/>
                </a:lnTo>
                <a:cubicBezTo>
                  <a:pt x="148" y="822"/>
                  <a:pt x="138" y="821"/>
                  <a:pt x="127" y="819"/>
                </a:cubicBezTo>
                <a:cubicBezTo>
                  <a:pt x="117" y="817"/>
                  <a:pt x="107" y="814"/>
                  <a:pt x="98" y="810"/>
                </a:cubicBezTo>
                <a:cubicBezTo>
                  <a:pt x="88" y="806"/>
                  <a:pt x="79" y="801"/>
                  <a:pt x="70" y="795"/>
                </a:cubicBezTo>
                <a:cubicBezTo>
                  <a:pt x="61" y="789"/>
                  <a:pt x="53" y="783"/>
                  <a:pt x="46" y="775"/>
                </a:cubicBezTo>
                <a:cubicBezTo>
                  <a:pt x="39" y="768"/>
                  <a:pt x="32" y="760"/>
                  <a:pt x="26" y="751"/>
                </a:cubicBezTo>
                <a:cubicBezTo>
                  <a:pt x="21" y="742"/>
                  <a:pt x="16" y="733"/>
                  <a:pt x="12" y="724"/>
                </a:cubicBezTo>
                <a:cubicBezTo>
                  <a:pt x="8" y="714"/>
                  <a:pt x="5" y="704"/>
                  <a:pt x="3" y="694"/>
                </a:cubicBezTo>
                <a:cubicBezTo>
                  <a:pt x="1" y="684"/>
                  <a:pt x="0" y="673"/>
                  <a:pt x="0" y="663"/>
                </a:cubicBezTo>
                <a:close/>
              </a:path>
            </a:pathLst>
          </a:custGeom>
          <a:solidFill>
            <a:srgbClr val="EEF3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90560" y="4168440"/>
            <a:ext cx="385889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AST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の順に結合し、テンプレートの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864360" y="4504320"/>
            <a:ext cx="1533042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450" b="0" u="none" strike="noStrike">
                <a:solidFill>
                  <a:srgbClr val="17212B"/>
                </a:solidFill>
                <a:effectLst/>
                <a:uFillTx/>
                <a:latin typeface="Menlo"/>
                <a:ea typeface="Menlo"/>
              </a:rPr>
              <a:t>{operations}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270160" y="4492440"/>
            <a:ext cx="28822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をルールベースで埋める。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90560" y="5033160"/>
            <a:ext cx="6582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生成例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90560" y="5387760"/>
            <a:ext cx="375787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整数リスト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と整数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を受け取り、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90560" y="5702040"/>
            <a:ext cx="398061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偶数だけを残し、各要素に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を加える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90560" y="6016320"/>
            <a:ext cx="324865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solve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関数を書いてください。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" name=""/>
          <p:cNvSpPr/>
          <p:nvPr/>
        </p:nvSpPr>
        <p:spPr>
          <a:xfrm>
            <a:off x="6291000" y="2881080"/>
            <a:ext cx="5306040" cy="3638880"/>
          </a:xfrm>
          <a:custGeom>
            <a:avLst/>
            <a:gdLst/>
            <a:ahLst/>
            <a:rect l="0" t="0" r="r" b="b"/>
            <a:pathLst>
              <a:path w="14739" h="10108">
                <a:moveTo>
                  <a:pt x="0" y="9910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7"/>
                  <a:pt x="58" y="58"/>
                </a:cubicBezTo>
                <a:cubicBezTo>
                  <a:pt x="68" y="49"/>
                  <a:pt x="78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4540" y="0"/>
                </a:lnTo>
                <a:cubicBezTo>
                  <a:pt x="14553" y="0"/>
                  <a:pt x="14566" y="1"/>
                  <a:pt x="14579" y="4"/>
                </a:cubicBezTo>
                <a:cubicBezTo>
                  <a:pt x="14592" y="7"/>
                  <a:pt x="14604" y="10"/>
                  <a:pt x="14616" y="15"/>
                </a:cubicBezTo>
                <a:cubicBezTo>
                  <a:pt x="14628" y="20"/>
                  <a:pt x="14639" y="26"/>
                  <a:pt x="14650" y="34"/>
                </a:cubicBezTo>
                <a:cubicBezTo>
                  <a:pt x="14661" y="41"/>
                  <a:pt x="14671" y="49"/>
                  <a:pt x="14680" y="58"/>
                </a:cubicBezTo>
                <a:cubicBezTo>
                  <a:pt x="14690" y="67"/>
                  <a:pt x="14698" y="78"/>
                  <a:pt x="14705" y="88"/>
                </a:cubicBezTo>
                <a:cubicBezTo>
                  <a:pt x="14712" y="99"/>
                  <a:pt x="14718" y="111"/>
                  <a:pt x="14723" y="123"/>
                </a:cubicBezTo>
                <a:cubicBezTo>
                  <a:pt x="14728" y="135"/>
                  <a:pt x="14732" y="147"/>
                  <a:pt x="14735" y="160"/>
                </a:cubicBezTo>
                <a:cubicBezTo>
                  <a:pt x="14737" y="173"/>
                  <a:pt x="14739" y="186"/>
                  <a:pt x="14739" y="199"/>
                </a:cubicBezTo>
                <a:lnTo>
                  <a:pt x="14739" y="9910"/>
                </a:lnTo>
                <a:cubicBezTo>
                  <a:pt x="14739" y="9923"/>
                  <a:pt x="14737" y="9936"/>
                  <a:pt x="14735" y="9949"/>
                </a:cubicBezTo>
                <a:cubicBezTo>
                  <a:pt x="14732" y="9961"/>
                  <a:pt x="14728" y="9974"/>
                  <a:pt x="14723" y="9986"/>
                </a:cubicBezTo>
                <a:cubicBezTo>
                  <a:pt x="14718" y="9998"/>
                  <a:pt x="14712" y="10009"/>
                  <a:pt x="14705" y="10020"/>
                </a:cubicBezTo>
                <a:cubicBezTo>
                  <a:pt x="14698" y="10031"/>
                  <a:pt x="14690" y="10041"/>
                  <a:pt x="14680" y="10050"/>
                </a:cubicBezTo>
                <a:cubicBezTo>
                  <a:pt x="14671" y="10059"/>
                  <a:pt x="14661" y="10068"/>
                  <a:pt x="14650" y="10075"/>
                </a:cubicBezTo>
                <a:cubicBezTo>
                  <a:pt x="14639" y="10082"/>
                  <a:pt x="14628" y="10088"/>
                  <a:pt x="14616" y="10093"/>
                </a:cubicBezTo>
                <a:cubicBezTo>
                  <a:pt x="14604" y="10098"/>
                  <a:pt x="14592" y="10102"/>
                  <a:pt x="14579" y="10104"/>
                </a:cubicBezTo>
                <a:cubicBezTo>
                  <a:pt x="14566" y="10107"/>
                  <a:pt x="14553" y="10108"/>
                  <a:pt x="14540" y="10108"/>
                </a:cubicBezTo>
                <a:lnTo>
                  <a:pt x="199" y="10108"/>
                </a:lnTo>
                <a:cubicBezTo>
                  <a:pt x="186" y="10108"/>
                  <a:pt x="173" y="10107"/>
                  <a:pt x="160" y="10104"/>
                </a:cubicBezTo>
                <a:cubicBezTo>
                  <a:pt x="147" y="10102"/>
                  <a:pt x="135" y="10098"/>
                  <a:pt x="123" y="10093"/>
                </a:cubicBezTo>
                <a:cubicBezTo>
                  <a:pt x="111" y="10088"/>
                  <a:pt x="99" y="10082"/>
                  <a:pt x="88" y="10075"/>
                </a:cubicBezTo>
                <a:cubicBezTo>
                  <a:pt x="78" y="10068"/>
                  <a:pt x="68" y="10059"/>
                  <a:pt x="58" y="10050"/>
                </a:cubicBezTo>
                <a:cubicBezTo>
                  <a:pt x="49" y="10041"/>
                  <a:pt x="41" y="10031"/>
                  <a:pt x="34" y="10020"/>
                </a:cubicBezTo>
                <a:cubicBezTo>
                  <a:pt x="26" y="10009"/>
                  <a:pt x="20" y="9998"/>
                  <a:pt x="15" y="9986"/>
                </a:cubicBezTo>
                <a:cubicBezTo>
                  <a:pt x="10" y="9974"/>
                  <a:pt x="7" y="9961"/>
                  <a:pt x="4" y="9949"/>
                </a:cubicBezTo>
                <a:cubicBezTo>
                  <a:pt x="1" y="9936"/>
                  <a:pt x="0" y="9923"/>
                  <a:pt x="0" y="9910"/>
                </a:cubicBezTo>
                <a:close/>
              </a:path>
            </a:pathLst>
          </a:custGeom>
          <a:solidFill>
            <a:srgbClr val="EEF7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" name=""/>
          <p:cNvSpPr/>
          <p:nvPr/>
        </p:nvSpPr>
        <p:spPr>
          <a:xfrm>
            <a:off x="6291000" y="2881080"/>
            <a:ext cx="5306040" cy="3638880"/>
          </a:xfrm>
          <a:custGeom>
            <a:avLst/>
            <a:gdLst/>
            <a:ahLst/>
            <a:rect l="0" t="0" r="r" b="b"/>
            <a:pathLst>
              <a:path w="14739" h="10108">
                <a:moveTo>
                  <a:pt x="0" y="9910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7"/>
                  <a:pt x="58" y="58"/>
                </a:cubicBezTo>
                <a:cubicBezTo>
                  <a:pt x="68" y="49"/>
                  <a:pt x="78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4540" y="0"/>
                </a:lnTo>
                <a:cubicBezTo>
                  <a:pt x="14553" y="0"/>
                  <a:pt x="14566" y="1"/>
                  <a:pt x="14579" y="4"/>
                </a:cubicBezTo>
                <a:cubicBezTo>
                  <a:pt x="14592" y="7"/>
                  <a:pt x="14604" y="10"/>
                  <a:pt x="14616" y="15"/>
                </a:cubicBezTo>
                <a:cubicBezTo>
                  <a:pt x="14628" y="20"/>
                  <a:pt x="14639" y="26"/>
                  <a:pt x="14650" y="34"/>
                </a:cubicBezTo>
                <a:cubicBezTo>
                  <a:pt x="14661" y="41"/>
                  <a:pt x="14671" y="49"/>
                  <a:pt x="14680" y="58"/>
                </a:cubicBezTo>
                <a:cubicBezTo>
                  <a:pt x="14690" y="67"/>
                  <a:pt x="14698" y="78"/>
                  <a:pt x="14705" y="88"/>
                </a:cubicBezTo>
                <a:cubicBezTo>
                  <a:pt x="14712" y="99"/>
                  <a:pt x="14718" y="111"/>
                  <a:pt x="14723" y="123"/>
                </a:cubicBezTo>
                <a:cubicBezTo>
                  <a:pt x="14728" y="135"/>
                  <a:pt x="14732" y="147"/>
                  <a:pt x="14735" y="160"/>
                </a:cubicBezTo>
                <a:cubicBezTo>
                  <a:pt x="14737" y="173"/>
                  <a:pt x="14739" y="186"/>
                  <a:pt x="14739" y="199"/>
                </a:cubicBezTo>
                <a:lnTo>
                  <a:pt x="14739" y="9910"/>
                </a:lnTo>
                <a:cubicBezTo>
                  <a:pt x="14739" y="9923"/>
                  <a:pt x="14737" y="9936"/>
                  <a:pt x="14735" y="9949"/>
                </a:cubicBezTo>
                <a:cubicBezTo>
                  <a:pt x="14732" y="9961"/>
                  <a:pt x="14728" y="9974"/>
                  <a:pt x="14723" y="9986"/>
                </a:cubicBezTo>
                <a:cubicBezTo>
                  <a:pt x="14718" y="9998"/>
                  <a:pt x="14712" y="10009"/>
                  <a:pt x="14705" y="10020"/>
                </a:cubicBezTo>
                <a:cubicBezTo>
                  <a:pt x="14698" y="10031"/>
                  <a:pt x="14690" y="10041"/>
                  <a:pt x="14680" y="10050"/>
                </a:cubicBezTo>
                <a:cubicBezTo>
                  <a:pt x="14671" y="10059"/>
                  <a:pt x="14661" y="10068"/>
                  <a:pt x="14650" y="10075"/>
                </a:cubicBezTo>
                <a:cubicBezTo>
                  <a:pt x="14639" y="10082"/>
                  <a:pt x="14628" y="10088"/>
                  <a:pt x="14616" y="10093"/>
                </a:cubicBezTo>
                <a:cubicBezTo>
                  <a:pt x="14604" y="10098"/>
                  <a:pt x="14592" y="10102"/>
                  <a:pt x="14579" y="10104"/>
                </a:cubicBezTo>
                <a:cubicBezTo>
                  <a:pt x="14566" y="10107"/>
                  <a:pt x="14553" y="10108"/>
                  <a:pt x="14540" y="10108"/>
                </a:cubicBezTo>
                <a:lnTo>
                  <a:pt x="199" y="10108"/>
                </a:lnTo>
                <a:cubicBezTo>
                  <a:pt x="186" y="10108"/>
                  <a:pt x="173" y="10107"/>
                  <a:pt x="160" y="10104"/>
                </a:cubicBezTo>
                <a:cubicBezTo>
                  <a:pt x="147" y="10102"/>
                  <a:pt x="135" y="10098"/>
                  <a:pt x="123" y="10093"/>
                </a:cubicBezTo>
                <a:cubicBezTo>
                  <a:pt x="111" y="10088"/>
                  <a:pt x="99" y="10082"/>
                  <a:pt x="88" y="10075"/>
                </a:cubicBezTo>
                <a:cubicBezTo>
                  <a:pt x="78" y="10068"/>
                  <a:pt x="68" y="10059"/>
                  <a:pt x="58" y="10050"/>
                </a:cubicBezTo>
                <a:cubicBezTo>
                  <a:pt x="49" y="10041"/>
                  <a:pt x="41" y="10031"/>
                  <a:pt x="34" y="10020"/>
                </a:cubicBezTo>
                <a:cubicBezTo>
                  <a:pt x="26" y="10009"/>
                  <a:pt x="20" y="9998"/>
                  <a:pt x="15" y="9986"/>
                </a:cubicBezTo>
                <a:cubicBezTo>
                  <a:pt x="10" y="9974"/>
                  <a:pt x="7" y="9961"/>
                  <a:pt x="4" y="9949"/>
                </a:cubicBezTo>
                <a:cubicBezTo>
                  <a:pt x="1" y="9936"/>
                  <a:pt x="0" y="9923"/>
                  <a:pt x="0" y="9910"/>
                </a:cubicBezTo>
                <a:close/>
              </a:path>
            </a:pathLst>
          </a:custGeom>
          <a:noFill/>
          <a:ln w="9360">
            <a:solidFill>
              <a:srgbClr val="91B99E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" name=""/>
          <p:cNvSpPr/>
          <p:nvPr/>
        </p:nvSpPr>
        <p:spPr>
          <a:xfrm>
            <a:off x="6486480" y="4867200"/>
            <a:ext cx="4915080" cy="9720"/>
          </a:xfrm>
          <a:custGeom>
            <a:avLst/>
            <a:gdLst/>
            <a:ahLst/>
            <a:rect l="0" t="0" r="r" b="b"/>
            <a:pathLst>
              <a:path w="13653" h="27">
                <a:moveTo>
                  <a:pt x="0" y="0"/>
                </a:moveTo>
                <a:lnTo>
                  <a:pt x="13653" y="0"/>
                </a:lnTo>
                <a:lnTo>
                  <a:pt x="13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4D1B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105000" y="2520000"/>
            <a:ext cx="41607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0" u="none" strike="noStrike">
                <a:solidFill>
                  <a:srgbClr val="697786"/>
                </a:solidFill>
                <a:effectLst/>
                <a:uFillTx/>
                <a:latin typeface="Hiragino Sans"/>
                <a:ea typeface="Hiragino Sans"/>
              </a:rPr>
              <a:t>↓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486480" y="3046680"/>
            <a:ext cx="306567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327C50"/>
                </a:solidFill>
                <a:effectLst/>
                <a:uFillTx/>
                <a:latin typeface="Hiragino Sans"/>
                <a:ea typeface="Hiragino Sans"/>
              </a:rPr>
              <a:t>検証済みの</a:t>
            </a:r>
            <a:r>
              <a:rPr lang="en-US" sz="1800" b="1" u="none" strike="noStrike">
                <a:solidFill>
                  <a:srgbClr val="327C50"/>
                </a:solidFill>
                <a:effectLst/>
                <a:uFillTx/>
                <a:latin typeface="Hiragino Sans"/>
                <a:ea typeface="Hiragino Sans"/>
              </a:rPr>
              <a:t>Python</a:t>
            </a:r>
            <a:r>
              <a:rPr lang="ja-JP" sz="1800" b="1" u="none" strike="noStrike">
                <a:solidFill>
                  <a:srgbClr val="327C50"/>
                </a:solidFill>
                <a:effectLst/>
                <a:uFillTx/>
                <a:latin typeface="Hiragino Sans"/>
                <a:ea typeface="Hiragino Sans"/>
              </a:rPr>
              <a:t>コード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486480" y="3480480"/>
            <a:ext cx="109627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生成の手順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486480" y="3844800"/>
            <a:ext cx="4039812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AST</a:t>
            </a:r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の操作を</a:t>
            </a:r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Python</a:t>
            </a:r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コードへ変換。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486480" y="4168440"/>
            <a:ext cx="28822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構文を確認し、実行結果を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486480" y="4492440"/>
            <a:ext cx="432257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参照インタプリタの期待値と照合する。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486480" y="5033160"/>
            <a:ext cx="6582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00" b="1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生成例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486480" y="5367600"/>
            <a:ext cx="235069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580" b="0" u="none" strike="noStrike">
                <a:solidFill>
                  <a:srgbClr val="6639BA"/>
                </a:solidFill>
                <a:effectLst/>
                <a:uFillTx/>
                <a:latin typeface="Menlo"/>
                <a:ea typeface="Menlo"/>
              </a:rPr>
              <a:t>solve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(xs, k):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486480" y="5672160"/>
            <a:ext cx="4010004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58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return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[x + k </a:t>
            </a:r>
            <a:r>
              <a:rPr lang="en-US" sz="158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for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 </a:t>
            </a:r>
            <a:r>
              <a:rPr lang="en-US" sz="158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486480" y="5967360"/>
            <a:ext cx="3595176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    </a:t>
            </a:r>
            <a:r>
              <a:rPr lang="en-US" sz="158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if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 % </a:t>
            </a:r>
            <a:r>
              <a:rPr lang="en-US" sz="158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2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== </a:t>
            </a:r>
            <a:r>
              <a:rPr lang="en-US" sz="158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8800920" y="2520000"/>
            <a:ext cx="41607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0" u="none" strike="noStrike">
                <a:solidFill>
                  <a:srgbClr val="697786"/>
                </a:solidFill>
                <a:effectLst/>
                <a:uFillTx/>
                <a:latin typeface="Hiragino Sans"/>
                <a:ea typeface="Hiragino Sans"/>
              </a:rPr>
              <a:t>↓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180620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8" name=""/>
          <p:cNvSpPr/>
          <p:nvPr/>
        </p:nvSpPr>
        <p:spPr>
          <a:xfrm>
            <a:off x="599760" y="2390760"/>
            <a:ext cx="3486600" cy="466920"/>
          </a:xfrm>
          <a:custGeom>
            <a:avLst/>
            <a:gdLst/>
            <a:ahLst/>
            <a:rect l="0" t="0" r="r" b="b"/>
            <a:pathLst>
              <a:path w="9685" h="1297">
                <a:moveTo>
                  <a:pt x="0" y="0"/>
                </a:moveTo>
                <a:lnTo>
                  <a:pt x="9685" y="0"/>
                </a:lnTo>
                <a:lnTo>
                  <a:pt x="968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9" name=""/>
          <p:cNvSpPr/>
          <p:nvPr/>
        </p:nvSpPr>
        <p:spPr>
          <a:xfrm>
            <a:off x="4086000" y="2390760"/>
            <a:ext cx="1419480" cy="466920"/>
          </a:xfrm>
          <a:custGeom>
            <a:avLst/>
            <a:gdLst/>
            <a:ahLst/>
            <a:rect l="0" t="0" r="r" b="b"/>
            <a:pathLst>
              <a:path w="3943" h="1297">
                <a:moveTo>
                  <a:pt x="0" y="0"/>
                </a:moveTo>
                <a:lnTo>
                  <a:pt x="3943" y="0"/>
                </a:lnTo>
                <a:lnTo>
                  <a:pt x="394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0" name=""/>
          <p:cNvSpPr/>
          <p:nvPr/>
        </p:nvSpPr>
        <p:spPr>
          <a:xfrm>
            <a:off x="5505120" y="2390760"/>
            <a:ext cx="6096600" cy="466920"/>
          </a:xfrm>
          <a:custGeom>
            <a:avLst/>
            <a:gdLst/>
            <a:ahLst/>
            <a:rect l="0" t="0" r="r" b="b"/>
            <a:pathLst>
              <a:path w="16935" h="1297">
                <a:moveTo>
                  <a:pt x="0" y="0"/>
                </a:moveTo>
                <a:lnTo>
                  <a:pt x="16935" y="0"/>
                </a:lnTo>
                <a:lnTo>
                  <a:pt x="1693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1" name=""/>
          <p:cNvSpPr/>
          <p:nvPr/>
        </p:nvSpPr>
        <p:spPr>
          <a:xfrm>
            <a:off x="599760" y="2390760"/>
            <a:ext cx="3486600" cy="466920"/>
          </a:xfrm>
          <a:custGeom>
            <a:avLst/>
            <a:gdLst/>
            <a:ahLst/>
            <a:rect l="0" t="0" r="r" b="b"/>
            <a:pathLst>
              <a:path w="9685" h="1297">
                <a:moveTo>
                  <a:pt x="0" y="0"/>
                </a:moveTo>
                <a:lnTo>
                  <a:pt x="9685" y="0"/>
                </a:lnTo>
                <a:lnTo>
                  <a:pt x="968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2" name=""/>
          <p:cNvSpPr/>
          <p:nvPr/>
        </p:nvSpPr>
        <p:spPr>
          <a:xfrm>
            <a:off x="4086000" y="2390760"/>
            <a:ext cx="1419480" cy="466920"/>
          </a:xfrm>
          <a:custGeom>
            <a:avLst/>
            <a:gdLst/>
            <a:ahLst/>
            <a:rect l="0" t="0" r="r" b="b"/>
            <a:pathLst>
              <a:path w="3943" h="1297">
                <a:moveTo>
                  <a:pt x="0" y="0"/>
                </a:moveTo>
                <a:lnTo>
                  <a:pt x="3943" y="0"/>
                </a:lnTo>
                <a:lnTo>
                  <a:pt x="394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3" name=""/>
          <p:cNvSpPr/>
          <p:nvPr/>
        </p:nvSpPr>
        <p:spPr>
          <a:xfrm>
            <a:off x="5505120" y="2390760"/>
            <a:ext cx="6096600" cy="466920"/>
          </a:xfrm>
          <a:custGeom>
            <a:avLst/>
            <a:gdLst/>
            <a:ahLst/>
            <a:rect l="0" t="0" r="r" b="b"/>
            <a:pathLst>
              <a:path w="16935" h="1297">
                <a:moveTo>
                  <a:pt x="0" y="0"/>
                </a:moveTo>
                <a:lnTo>
                  <a:pt x="16935" y="0"/>
                </a:lnTo>
                <a:lnTo>
                  <a:pt x="1693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4" name=""/>
          <p:cNvSpPr/>
          <p:nvPr/>
        </p:nvSpPr>
        <p:spPr>
          <a:xfrm>
            <a:off x="599760" y="2857320"/>
            <a:ext cx="3486600" cy="466920"/>
          </a:xfrm>
          <a:custGeom>
            <a:avLst/>
            <a:gdLst/>
            <a:ahLst/>
            <a:rect l="0" t="0" r="r" b="b"/>
            <a:pathLst>
              <a:path w="9685" h="1297">
                <a:moveTo>
                  <a:pt x="0" y="0"/>
                </a:moveTo>
                <a:lnTo>
                  <a:pt x="9685" y="0"/>
                </a:lnTo>
                <a:lnTo>
                  <a:pt x="968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5" name=""/>
          <p:cNvSpPr/>
          <p:nvPr/>
        </p:nvSpPr>
        <p:spPr>
          <a:xfrm>
            <a:off x="4086000" y="2857320"/>
            <a:ext cx="1419480" cy="466920"/>
          </a:xfrm>
          <a:custGeom>
            <a:avLst/>
            <a:gdLst/>
            <a:ahLst/>
            <a:rect l="0" t="0" r="r" b="b"/>
            <a:pathLst>
              <a:path w="3943" h="1297">
                <a:moveTo>
                  <a:pt x="0" y="0"/>
                </a:moveTo>
                <a:lnTo>
                  <a:pt x="3943" y="0"/>
                </a:lnTo>
                <a:lnTo>
                  <a:pt x="394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6" name=""/>
          <p:cNvSpPr/>
          <p:nvPr/>
        </p:nvSpPr>
        <p:spPr>
          <a:xfrm>
            <a:off x="5505120" y="2857320"/>
            <a:ext cx="6096600" cy="466920"/>
          </a:xfrm>
          <a:custGeom>
            <a:avLst/>
            <a:gdLst/>
            <a:ahLst/>
            <a:rect l="0" t="0" r="r" b="b"/>
            <a:pathLst>
              <a:path w="16935" h="1297">
                <a:moveTo>
                  <a:pt x="0" y="0"/>
                </a:moveTo>
                <a:lnTo>
                  <a:pt x="16935" y="0"/>
                </a:lnTo>
                <a:lnTo>
                  <a:pt x="1693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7" name=""/>
          <p:cNvSpPr/>
          <p:nvPr/>
        </p:nvSpPr>
        <p:spPr>
          <a:xfrm>
            <a:off x="599760" y="3323880"/>
            <a:ext cx="3486600" cy="467280"/>
          </a:xfrm>
          <a:custGeom>
            <a:avLst/>
            <a:gdLst/>
            <a:ahLst/>
            <a:rect l="0" t="0" r="r" b="b"/>
            <a:pathLst>
              <a:path w="9685" h="1298">
                <a:moveTo>
                  <a:pt x="0" y="0"/>
                </a:moveTo>
                <a:lnTo>
                  <a:pt x="9685" y="0"/>
                </a:lnTo>
                <a:lnTo>
                  <a:pt x="9685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8" name=""/>
          <p:cNvSpPr/>
          <p:nvPr/>
        </p:nvSpPr>
        <p:spPr>
          <a:xfrm>
            <a:off x="4086000" y="3323880"/>
            <a:ext cx="1419480" cy="467280"/>
          </a:xfrm>
          <a:custGeom>
            <a:avLst/>
            <a:gdLst/>
            <a:ahLst/>
            <a:rect l="0" t="0" r="r" b="b"/>
            <a:pathLst>
              <a:path w="3943" h="1298">
                <a:moveTo>
                  <a:pt x="0" y="0"/>
                </a:moveTo>
                <a:lnTo>
                  <a:pt x="3943" y="0"/>
                </a:lnTo>
                <a:lnTo>
                  <a:pt x="394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69" name=""/>
          <p:cNvSpPr/>
          <p:nvPr/>
        </p:nvSpPr>
        <p:spPr>
          <a:xfrm>
            <a:off x="5505120" y="3323880"/>
            <a:ext cx="6096600" cy="467280"/>
          </a:xfrm>
          <a:custGeom>
            <a:avLst/>
            <a:gdLst/>
            <a:ahLst/>
            <a:rect l="0" t="0" r="r" b="b"/>
            <a:pathLst>
              <a:path w="16935" h="1298">
                <a:moveTo>
                  <a:pt x="0" y="0"/>
                </a:moveTo>
                <a:lnTo>
                  <a:pt x="16935" y="0"/>
                </a:lnTo>
                <a:lnTo>
                  <a:pt x="16935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0" name=""/>
          <p:cNvSpPr/>
          <p:nvPr/>
        </p:nvSpPr>
        <p:spPr>
          <a:xfrm>
            <a:off x="599760" y="3790800"/>
            <a:ext cx="3486600" cy="466920"/>
          </a:xfrm>
          <a:custGeom>
            <a:avLst/>
            <a:gdLst/>
            <a:ahLst/>
            <a:rect l="0" t="0" r="r" b="b"/>
            <a:pathLst>
              <a:path w="9685" h="1297">
                <a:moveTo>
                  <a:pt x="0" y="0"/>
                </a:moveTo>
                <a:lnTo>
                  <a:pt x="9685" y="0"/>
                </a:lnTo>
                <a:lnTo>
                  <a:pt x="968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1" name=""/>
          <p:cNvSpPr/>
          <p:nvPr/>
        </p:nvSpPr>
        <p:spPr>
          <a:xfrm>
            <a:off x="4086000" y="3790800"/>
            <a:ext cx="1419480" cy="466920"/>
          </a:xfrm>
          <a:custGeom>
            <a:avLst/>
            <a:gdLst/>
            <a:ahLst/>
            <a:rect l="0" t="0" r="r" b="b"/>
            <a:pathLst>
              <a:path w="3943" h="1297">
                <a:moveTo>
                  <a:pt x="0" y="0"/>
                </a:moveTo>
                <a:lnTo>
                  <a:pt x="3943" y="0"/>
                </a:lnTo>
                <a:lnTo>
                  <a:pt x="394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2" name=""/>
          <p:cNvSpPr/>
          <p:nvPr/>
        </p:nvSpPr>
        <p:spPr>
          <a:xfrm>
            <a:off x="5505120" y="3790800"/>
            <a:ext cx="6096600" cy="466920"/>
          </a:xfrm>
          <a:custGeom>
            <a:avLst/>
            <a:gdLst/>
            <a:ahLst/>
            <a:rect l="0" t="0" r="r" b="b"/>
            <a:pathLst>
              <a:path w="16935" h="1297">
                <a:moveTo>
                  <a:pt x="0" y="0"/>
                </a:moveTo>
                <a:lnTo>
                  <a:pt x="16935" y="0"/>
                </a:lnTo>
                <a:lnTo>
                  <a:pt x="1693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3" name=""/>
          <p:cNvSpPr/>
          <p:nvPr/>
        </p:nvSpPr>
        <p:spPr>
          <a:xfrm>
            <a:off x="599760" y="4257360"/>
            <a:ext cx="3486600" cy="467280"/>
          </a:xfrm>
          <a:custGeom>
            <a:avLst/>
            <a:gdLst/>
            <a:ahLst/>
            <a:rect l="0" t="0" r="r" b="b"/>
            <a:pathLst>
              <a:path w="9685" h="1298">
                <a:moveTo>
                  <a:pt x="0" y="0"/>
                </a:moveTo>
                <a:lnTo>
                  <a:pt x="9685" y="0"/>
                </a:lnTo>
                <a:lnTo>
                  <a:pt x="9685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4" name=""/>
          <p:cNvSpPr/>
          <p:nvPr/>
        </p:nvSpPr>
        <p:spPr>
          <a:xfrm>
            <a:off x="4086000" y="4257360"/>
            <a:ext cx="1419480" cy="467280"/>
          </a:xfrm>
          <a:custGeom>
            <a:avLst/>
            <a:gdLst/>
            <a:ahLst/>
            <a:rect l="0" t="0" r="r" b="b"/>
            <a:pathLst>
              <a:path w="3943" h="1298">
                <a:moveTo>
                  <a:pt x="0" y="0"/>
                </a:moveTo>
                <a:lnTo>
                  <a:pt x="3943" y="0"/>
                </a:lnTo>
                <a:lnTo>
                  <a:pt x="394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5" name=""/>
          <p:cNvSpPr/>
          <p:nvPr/>
        </p:nvSpPr>
        <p:spPr>
          <a:xfrm>
            <a:off x="5505120" y="4257360"/>
            <a:ext cx="6096600" cy="467280"/>
          </a:xfrm>
          <a:custGeom>
            <a:avLst/>
            <a:gdLst/>
            <a:ahLst/>
            <a:rect l="0" t="0" r="r" b="b"/>
            <a:pathLst>
              <a:path w="16935" h="1298">
                <a:moveTo>
                  <a:pt x="0" y="0"/>
                </a:moveTo>
                <a:lnTo>
                  <a:pt x="16935" y="0"/>
                </a:lnTo>
                <a:lnTo>
                  <a:pt x="16935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6" name=""/>
          <p:cNvSpPr/>
          <p:nvPr/>
        </p:nvSpPr>
        <p:spPr>
          <a:xfrm>
            <a:off x="590400" y="23810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7" name=""/>
          <p:cNvSpPr/>
          <p:nvPr/>
        </p:nvSpPr>
        <p:spPr>
          <a:xfrm>
            <a:off x="590400" y="2381040"/>
            <a:ext cx="3495960" cy="10080"/>
          </a:xfrm>
          <a:custGeom>
            <a:avLst/>
            <a:gdLst/>
            <a:ahLst/>
            <a:rect l="0" t="0" r="r" b="b"/>
            <a:pathLst>
              <a:path w="9711" h="28">
                <a:moveTo>
                  <a:pt x="0" y="0"/>
                </a:moveTo>
                <a:lnTo>
                  <a:pt x="9711" y="0"/>
                </a:lnTo>
                <a:lnTo>
                  <a:pt x="9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8" name=""/>
          <p:cNvSpPr/>
          <p:nvPr/>
        </p:nvSpPr>
        <p:spPr>
          <a:xfrm>
            <a:off x="4076640" y="23810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79" name=""/>
          <p:cNvSpPr/>
          <p:nvPr/>
        </p:nvSpPr>
        <p:spPr>
          <a:xfrm>
            <a:off x="4086000" y="238104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0" name=""/>
          <p:cNvSpPr/>
          <p:nvPr/>
        </p:nvSpPr>
        <p:spPr>
          <a:xfrm>
            <a:off x="5495760" y="23810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1" name=""/>
          <p:cNvSpPr/>
          <p:nvPr/>
        </p:nvSpPr>
        <p:spPr>
          <a:xfrm>
            <a:off x="5505120" y="2381040"/>
            <a:ext cx="6096600" cy="10080"/>
          </a:xfrm>
          <a:custGeom>
            <a:avLst/>
            <a:gdLst/>
            <a:ahLst/>
            <a:rect l="0" t="0" r="r" b="b"/>
            <a:pathLst>
              <a:path w="16935" h="28">
                <a:moveTo>
                  <a:pt x="0" y="0"/>
                </a:moveTo>
                <a:lnTo>
                  <a:pt x="16935" y="0"/>
                </a:lnTo>
                <a:lnTo>
                  <a:pt x="169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2" name=""/>
          <p:cNvSpPr/>
          <p:nvPr/>
        </p:nvSpPr>
        <p:spPr>
          <a:xfrm>
            <a:off x="11591640" y="23810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3" name=""/>
          <p:cNvSpPr/>
          <p:nvPr/>
        </p:nvSpPr>
        <p:spPr>
          <a:xfrm>
            <a:off x="590400" y="2847960"/>
            <a:ext cx="3495960" cy="9720"/>
          </a:xfrm>
          <a:custGeom>
            <a:avLst/>
            <a:gdLst/>
            <a:ahLst/>
            <a:rect l="0" t="0" r="r" b="b"/>
            <a:pathLst>
              <a:path w="9711" h="27">
                <a:moveTo>
                  <a:pt x="0" y="0"/>
                </a:moveTo>
                <a:lnTo>
                  <a:pt x="9711" y="0"/>
                </a:lnTo>
                <a:lnTo>
                  <a:pt x="9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4" name=""/>
          <p:cNvSpPr/>
          <p:nvPr/>
        </p:nvSpPr>
        <p:spPr>
          <a:xfrm>
            <a:off x="4086000" y="284796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5" name=""/>
          <p:cNvSpPr/>
          <p:nvPr/>
        </p:nvSpPr>
        <p:spPr>
          <a:xfrm>
            <a:off x="5505120" y="2847960"/>
            <a:ext cx="6096600" cy="9720"/>
          </a:xfrm>
          <a:custGeom>
            <a:avLst/>
            <a:gdLst/>
            <a:ahLst/>
            <a:rect l="0" t="0" r="r" b="b"/>
            <a:pathLst>
              <a:path w="16935" h="27">
                <a:moveTo>
                  <a:pt x="0" y="0"/>
                </a:moveTo>
                <a:lnTo>
                  <a:pt x="16935" y="0"/>
                </a:lnTo>
                <a:lnTo>
                  <a:pt x="169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6" name=""/>
          <p:cNvSpPr/>
          <p:nvPr/>
        </p:nvSpPr>
        <p:spPr>
          <a:xfrm>
            <a:off x="590400" y="285732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7" name=""/>
          <p:cNvSpPr/>
          <p:nvPr/>
        </p:nvSpPr>
        <p:spPr>
          <a:xfrm>
            <a:off x="4076640" y="285732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8" name=""/>
          <p:cNvSpPr/>
          <p:nvPr/>
        </p:nvSpPr>
        <p:spPr>
          <a:xfrm>
            <a:off x="5495760" y="285732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89" name=""/>
          <p:cNvSpPr/>
          <p:nvPr/>
        </p:nvSpPr>
        <p:spPr>
          <a:xfrm>
            <a:off x="11591640" y="285732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0" name=""/>
          <p:cNvSpPr/>
          <p:nvPr/>
        </p:nvSpPr>
        <p:spPr>
          <a:xfrm>
            <a:off x="590400" y="332388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1" name=""/>
          <p:cNvSpPr/>
          <p:nvPr/>
        </p:nvSpPr>
        <p:spPr>
          <a:xfrm>
            <a:off x="590400" y="3314520"/>
            <a:ext cx="3495960" cy="9720"/>
          </a:xfrm>
          <a:custGeom>
            <a:avLst/>
            <a:gdLst/>
            <a:ahLst/>
            <a:rect l="0" t="0" r="r" b="b"/>
            <a:pathLst>
              <a:path w="9711" h="27">
                <a:moveTo>
                  <a:pt x="0" y="0"/>
                </a:moveTo>
                <a:lnTo>
                  <a:pt x="9711" y="0"/>
                </a:lnTo>
                <a:lnTo>
                  <a:pt x="9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2" name=""/>
          <p:cNvSpPr/>
          <p:nvPr/>
        </p:nvSpPr>
        <p:spPr>
          <a:xfrm>
            <a:off x="4076640" y="332388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3" name=""/>
          <p:cNvSpPr/>
          <p:nvPr/>
        </p:nvSpPr>
        <p:spPr>
          <a:xfrm>
            <a:off x="4086000" y="331452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4" name=""/>
          <p:cNvSpPr/>
          <p:nvPr/>
        </p:nvSpPr>
        <p:spPr>
          <a:xfrm>
            <a:off x="5495760" y="332388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5" name=""/>
          <p:cNvSpPr/>
          <p:nvPr/>
        </p:nvSpPr>
        <p:spPr>
          <a:xfrm>
            <a:off x="5505120" y="3314520"/>
            <a:ext cx="6096600" cy="9720"/>
          </a:xfrm>
          <a:custGeom>
            <a:avLst/>
            <a:gdLst/>
            <a:ahLst/>
            <a:rect l="0" t="0" r="r" b="b"/>
            <a:pathLst>
              <a:path w="16935" h="27">
                <a:moveTo>
                  <a:pt x="0" y="0"/>
                </a:moveTo>
                <a:lnTo>
                  <a:pt x="16935" y="0"/>
                </a:lnTo>
                <a:lnTo>
                  <a:pt x="169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6" name=""/>
          <p:cNvSpPr/>
          <p:nvPr/>
        </p:nvSpPr>
        <p:spPr>
          <a:xfrm>
            <a:off x="11591640" y="332388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7" name=""/>
          <p:cNvSpPr/>
          <p:nvPr/>
        </p:nvSpPr>
        <p:spPr>
          <a:xfrm>
            <a:off x="590400" y="379080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8" name=""/>
          <p:cNvSpPr/>
          <p:nvPr/>
        </p:nvSpPr>
        <p:spPr>
          <a:xfrm>
            <a:off x="590400" y="3781080"/>
            <a:ext cx="3495960" cy="10080"/>
          </a:xfrm>
          <a:custGeom>
            <a:avLst/>
            <a:gdLst/>
            <a:ahLst/>
            <a:rect l="0" t="0" r="r" b="b"/>
            <a:pathLst>
              <a:path w="9711" h="28">
                <a:moveTo>
                  <a:pt x="0" y="0"/>
                </a:moveTo>
                <a:lnTo>
                  <a:pt x="9711" y="0"/>
                </a:lnTo>
                <a:lnTo>
                  <a:pt x="9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99" name=""/>
          <p:cNvSpPr/>
          <p:nvPr/>
        </p:nvSpPr>
        <p:spPr>
          <a:xfrm>
            <a:off x="4076640" y="379080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0" name=""/>
          <p:cNvSpPr/>
          <p:nvPr/>
        </p:nvSpPr>
        <p:spPr>
          <a:xfrm>
            <a:off x="4086000" y="378108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1" name=""/>
          <p:cNvSpPr/>
          <p:nvPr/>
        </p:nvSpPr>
        <p:spPr>
          <a:xfrm>
            <a:off x="5495760" y="379080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2" name=""/>
          <p:cNvSpPr/>
          <p:nvPr/>
        </p:nvSpPr>
        <p:spPr>
          <a:xfrm>
            <a:off x="5505120" y="3781080"/>
            <a:ext cx="6096600" cy="10080"/>
          </a:xfrm>
          <a:custGeom>
            <a:avLst/>
            <a:gdLst/>
            <a:ahLst/>
            <a:rect l="0" t="0" r="r" b="b"/>
            <a:pathLst>
              <a:path w="16935" h="28">
                <a:moveTo>
                  <a:pt x="0" y="0"/>
                </a:moveTo>
                <a:lnTo>
                  <a:pt x="16935" y="0"/>
                </a:lnTo>
                <a:lnTo>
                  <a:pt x="169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3" name=""/>
          <p:cNvSpPr/>
          <p:nvPr/>
        </p:nvSpPr>
        <p:spPr>
          <a:xfrm>
            <a:off x="11591640" y="379080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4" name=""/>
          <p:cNvSpPr/>
          <p:nvPr/>
        </p:nvSpPr>
        <p:spPr>
          <a:xfrm>
            <a:off x="590400" y="42573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5" name=""/>
          <p:cNvSpPr/>
          <p:nvPr/>
        </p:nvSpPr>
        <p:spPr>
          <a:xfrm>
            <a:off x="590400" y="4248000"/>
            <a:ext cx="3495960" cy="9720"/>
          </a:xfrm>
          <a:custGeom>
            <a:avLst/>
            <a:gdLst/>
            <a:ahLst/>
            <a:rect l="0" t="0" r="r" b="b"/>
            <a:pathLst>
              <a:path w="9711" h="27">
                <a:moveTo>
                  <a:pt x="0" y="0"/>
                </a:moveTo>
                <a:lnTo>
                  <a:pt x="9711" y="0"/>
                </a:lnTo>
                <a:lnTo>
                  <a:pt x="9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6" name=""/>
          <p:cNvSpPr/>
          <p:nvPr/>
        </p:nvSpPr>
        <p:spPr>
          <a:xfrm>
            <a:off x="4076640" y="42573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7" name=""/>
          <p:cNvSpPr/>
          <p:nvPr/>
        </p:nvSpPr>
        <p:spPr>
          <a:xfrm>
            <a:off x="4086000" y="424800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8" name=""/>
          <p:cNvSpPr/>
          <p:nvPr/>
        </p:nvSpPr>
        <p:spPr>
          <a:xfrm>
            <a:off x="5495760" y="42573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09" name=""/>
          <p:cNvSpPr/>
          <p:nvPr/>
        </p:nvSpPr>
        <p:spPr>
          <a:xfrm>
            <a:off x="5505120" y="4248000"/>
            <a:ext cx="6096600" cy="9720"/>
          </a:xfrm>
          <a:custGeom>
            <a:avLst/>
            <a:gdLst/>
            <a:ahLst/>
            <a:rect l="0" t="0" r="r" b="b"/>
            <a:pathLst>
              <a:path w="16935" h="27">
                <a:moveTo>
                  <a:pt x="0" y="0"/>
                </a:moveTo>
                <a:lnTo>
                  <a:pt x="16935" y="0"/>
                </a:lnTo>
                <a:lnTo>
                  <a:pt x="169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0" name=""/>
          <p:cNvSpPr/>
          <p:nvPr/>
        </p:nvSpPr>
        <p:spPr>
          <a:xfrm>
            <a:off x="11591640" y="425736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1" name=""/>
          <p:cNvSpPr/>
          <p:nvPr/>
        </p:nvSpPr>
        <p:spPr>
          <a:xfrm>
            <a:off x="590400" y="4714560"/>
            <a:ext cx="3495960" cy="10080"/>
          </a:xfrm>
          <a:custGeom>
            <a:avLst/>
            <a:gdLst/>
            <a:ahLst/>
            <a:rect l="0" t="0" r="r" b="b"/>
            <a:pathLst>
              <a:path w="9711" h="28">
                <a:moveTo>
                  <a:pt x="0" y="0"/>
                </a:moveTo>
                <a:lnTo>
                  <a:pt x="9711" y="0"/>
                </a:lnTo>
                <a:lnTo>
                  <a:pt x="9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2" name=""/>
          <p:cNvSpPr/>
          <p:nvPr/>
        </p:nvSpPr>
        <p:spPr>
          <a:xfrm>
            <a:off x="4086000" y="471456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3" name=""/>
          <p:cNvSpPr/>
          <p:nvPr/>
        </p:nvSpPr>
        <p:spPr>
          <a:xfrm>
            <a:off x="5505120" y="4714560"/>
            <a:ext cx="6096600" cy="10080"/>
          </a:xfrm>
          <a:custGeom>
            <a:avLst/>
            <a:gdLst/>
            <a:ahLst/>
            <a:rect l="0" t="0" r="r" b="b"/>
            <a:pathLst>
              <a:path w="16935" h="28">
                <a:moveTo>
                  <a:pt x="0" y="0"/>
                </a:moveTo>
                <a:lnTo>
                  <a:pt x="16935" y="0"/>
                </a:lnTo>
                <a:lnTo>
                  <a:pt x="169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90400" y="1614960"/>
            <a:ext cx="4728294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扱う範囲は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種類の操作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723960" y="2503800"/>
            <a:ext cx="52660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種類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687200" y="2503800"/>
            <a:ext cx="113974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操作数 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23960" y="2970720"/>
            <a:ext cx="236683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条件に合う数を残す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072760" y="2970720"/>
            <a:ext cx="346104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630400" y="2970720"/>
            <a:ext cx="43581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偶数、奇数、正の値、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より大きい値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723960" y="3437280"/>
            <a:ext cx="236683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一つずつ値を変える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222880" y="3437280"/>
            <a:ext cx="26247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630400" y="3437280"/>
            <a:ext cx="37421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を加える、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倍、絶対値、二乗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23960" y="3904200"/>
            <a:ext cx="157816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順序を変える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222880" y="3904200"/>
            <a:ext cx="26247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630400" y="3904200"/>
            <a:ext cx="368128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昇順、降順、現在の順序の反転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23960" y="4370760"/>
            <a:ext cx="18410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一部を取り出す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222880" y="4370760"/>
            <a:ext cx="26247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630400" y="4370760"/>
            <a:ext cx="336747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先頭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個、末尾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個、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個おき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90400" y="4974480"/>
            <a:ext cx="761014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最大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操作を組み合わせる、限定されたコード生成課題。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180620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4" name=""/>
          <p:cNvSpPr/>
          <p:nvPr/>
        </p:nvSpPr>
        <p:spPr>
          <a:xfrm>
            <a:off x="599760" y="2352600"/>
            <a:ext cx="2791440" cy="476640"/>
          </a:xfrm>
          <a:custGeom>
            <a:avLst/>
            <a:gdLst/>
            <a:ahLst/>
            <a:rect l="0" t="0" r="r" b="b"/>
            <a:pathLst>
              <a:path w="7754" h="1324">
                <a:moveTo>
                  <a:pt x="0" y="0"/>
                </a:moveTo>
                <a:lnTo>
                  <a:pt x="7754" y="0"/>
                </a:lnTo>
                <a:lnTo>
                  <a:pt x="775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5" name=""/>
          <p:cNvSpPr/>
          <p:nvPr/>
        </p:nvSpPr>
        <p:spPr>
          <a:xfrm>
            <a:off x="3390840" y="2352600"/>
            <a:ext cx="2695680" cy="476640"/>
          </a:xfrm>
          <a:custGeom>
            <a:avLst/>
            <a:gdLst/>
            <a:ahLst/>
            <a:rect l="0" t="0" r="r" b="b"/>
            <a:pathLst>
              <a:path w="7488" h="1324">
                <a:moveTo>
                  <a:pt x="0" y="0"/>
                </a:moveTo>
                <a:lnTo>
                  <a:pt x="7488" y="0"/>
                </a:lnTo>
                <a:lnTo>
                  <a:pt x="748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6" name=""/>
          <p:cNvSpPr/>
          <p:nvPr/>
        </p:nvSpPr>
        <p:spPr>
          <a:xfrm>
            <a:off x="6086160" y="2352600"/>
            <a:ext cx="5515560" cy="476640"/>
          </a:xfrm>
          <a:custGeom>
            <a:avLst/>
            <a:gdLst/>
            <a:ahLst/>
            <a:rect l="0" t="0" r="r" b="b"/>
            <a:pathLst>
              <a:path w="15321" h="1324">
                <a:moveTo>
                  <a:pt x="0" y="0"/>
                </a:moveTo>
                <a:lnTo>
                  <a:pt x="15321" y="0"/>
                </a:lnTo>
                <a:lnTo>
                  <a:pt x="1532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7" name=""/>
          <p:cNvSpPr/>
          <p:nvPr/>
        </p:nvSpPr>
        <p:spPr>
          <a:xfrm>
            <a:off x="599760" y="2352600"/>
            <a:ext cx="2791440" cy="476640"/>
          </a:xfrm>
          <a:custGeom>
            <a:avLst/>
            <a:gdLst/>
            <a:ahLst/>
            <a:rect l="0" t="0" r="r" b="b"/>
            <a:pathLst>
              <a:path w="7754" h="1324">
                <a:moveTo>
                  <a:pt x="0" y="0"/>
                </a:moveTo>
                <a:lnTo>
                  <a:pt x="7754" y="0"/>
                </a:lnTo>
                <a:lnTo>
                  <a:pt x="775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8" name=""/>
          <p:cNvSpPr/>
          <p:nvPr/>
        </p:nvSpPr>
        <p:spPr>
          <a:xfrm>
            <a:off x="3390840" y="2352600"/>
            <a:ext cx="2695680" cy="476640"/>
          </a:xfrm>
          <a:custGeom>
            <a:avLst/>
            <a:gdLst/>
            <a:ahLst/>
            <a:rect l="0" t="0" r="r" b="b"/>
            <a:pathLst>
              <a:path w="7488" h="1324">
                <a:moveTo>
                  <a:pt x="0" y="0"/>
                </a:moveTo>
                <a:lnTo>
                  <a:pt x="7488" y="0"/>
                </a:lnTo>
                <a:lnTo>
                  <a:pt x="748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39" name=""/>
          <p:cNvSpPr/>
          <p:nvPr/>
        </p:nvSpPr>
        <p:spPr>
          <a:xfrm>
            <a:off x="6086160" y="2352600"/>
            <a:ext cx="5515560" cy="476640"/>
          </a:xfrm>
          <a:custGeom>
            <a:avLst/>
            <a:gdLst/>
            <a:ahLst/>
            <a:rect l="0" t="0" r="r" b="b"/>
            <a:pathLst>
              <a:path w="15321" h="1324">
                <a:moveTo>
                  <a:pt x="0" y="0"/>
                </a:moveTo>
                <a:lnTo>
                  <a:pt x="15321" y="0"/>
                </a:lnTo>
                <a:lnTo>
                  <a:pt x="1532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0" name=""/>
          <p:cNvSpPr/>
          <p:nvPr/>
        </p:nvSpPr>
        <p:spPr>
          <a:xfrm>
            <a:off x="599760" y="2828880"/>
            <a:ext cx="2791440" cy="486000"/>
          </a:xfrm>
          <a:custGeom>
            <a:avLst/>
            <a:gdLst/>
            <a:ahLst/>
            <a:rect l="0" t="0" r="r" b="b"/>
            <a:pathLst>
              <a:path w="7754" h="1350">
                <a:moveTo>
                  <a:pt x="0" y="0"/>
                </a:moveTo>
                <a:lnTo>
                  <a:pt x="7754" y="0"/>
                </a:lnTo>
                <a:lnTo>
                  <a:pt x="775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1" name=""/>
          <p:cNvSpPr/>
          <p:nvPr/>
        </p:nvSpPr>
        <p:spPr>
          <a:xfrm>
            <a:off x="3390840" y="2828880"/>
            <a:ext cx="2695680" cy="486000"/>
          </a:xfrm>
          <a:custGeom>
            <a:avLst/>
            <a:gdLst/>
            <a:ahLst/>
            <a:rect l="0" t="0" r="r" b="b"/>
            <a:pathLst>
              <a:path w="7488" h="1350">
                <a:moveTo>
                  <a:pt x="0" y="0"/>
                </a:moveTo>
                <a:lnTo>
                  <a:pt x="7488" y="0"/>
                </a:lnTo>
                <a:lnTo>
                  <a:pt x="748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2" name=""/>
          <p:cNvSpPr/>
          <p:nvPr/>
        </p:nvSpPr>
        <p:spPr>
          <a:xfrm>
            <a:off x="6086160" y="2828880"/>
            <a:ext cx="5515560" cy="486000"/>
          </a:xfrm>
          <a:custGeom>
            <a:avLst/>
            <a:gdLst/>
            <a:ahLst/>
            <a:rect l="0" t="0" r="r" b="b"/>
            <a:pathLst>
              <a:path w="15321" h="1350">
                <a:moveTo>
                  <a:pt x="0" y="0"/>
                </a:moveTo>
                <a:lnTo>
                  <a:pt x="15321" y="0"/>
                </a:lnTo>
                <a:lnTo>
                  <a:pt x="1532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3" name=""/>
          <p:cNvSpPr/>
          <p:nvPr/>
        </p:nvSpPr>
        <p:spPr>
          <a:xfrm>
            <a:off x="599760" y="3314520"/>
            <a:ext cx="2791440" cy="476640"/>
          </a:xfrm>
          <a:custGeom>
            <a:avLst/>
            <a:gdLst/>
            <a:ahLst/>
            <a:rect l="0" t="0" r="r" b="b"/>
            <a:pathLst>
              <a:path w="7754" h="1324">
                <a:moveTo>
                  <a:pt x="0" y="0"/>
                </a:moveTo>
                <a:lnTo>
                  <a:pt x="7754" y="0"/>
                </a:lnTo>
                <a:lnTo>
                  <a:pt x="775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4" name=""/>
          <p:cNvSpPr/>
          <p:nvPr/>
        </p:nvSpPr>
        <p:spPr>
          <a:xfrm>
            <a:off x="3390840" y="3314520"/>
            <a:ext cx="2695680" cy="476640"/>
          </a:xfrm>
          <a:custGeom>
            <a:avLst/>
            <a:gdLst/>
            <a:ahLst/>
            <a:rect l="0" t="0" r="r" b="b"/>
            <a:pathLst>
              <a:path w="7488" h="1324">
                <a:moveTo>
                  <a:pt x="0" y="0"/>
                </a:moveTo>
                <a:lnTo>
                  <a:pt x="7488" y="0"/>
                </a:lnTo>
                <a:lnTo>
                  <a:pt x="748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5" name=""/>
          <p:cNvSpPr/>
          <p:nvPr/>
        </p:nvSpPr>
        <p:spPr>
          <a:xfrm>
            <a:off x="6086160" y="3314520"/>
            <a:ext cx="5515560" cy="476640"/>
          </a:xfrm>
          <a:custGeom>
            <a:avLst/>
            <a:gdLst/>
            <a:ahLst/>
            <a:rect l="0" t="0" r="r" b="b"/>
            <a:pathLst>
              <a:path w="15321" h="1324">
                <a:moveTo>
                  <a:pt x="0" y="0"/>
                </a:moveTo>
                <a:lnTo>
                  <a:pt x="15321" y="0"/>
                </a:lnTo>
                <a:lnTo>
                  <a:pt x="1532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6" name=""/>
          <p:cNvSpPr/>
          <p:nvPr/>
        </p:nvSpPr>
        <p:spPr>
          <a:xfrm>
            <a:off x="599760" y="3790800"/>
            <a:ext cx="2791440" cy="486000"/>
          </a:xfrm>
          <a:custGeom>
            <a:avLst/>
            <a:gdLst/>
            <a:ahLst/>
            <a:rect l="0" t="0" r="r" b="b"/>
            <a:pathLst>
              <a:path w="7754" h="1350">
                <a:moveTo>
                  <a:pt x="0" y="0"/>
                </a:moveTo>
                <a:lnTo>
                  <a:pt x="7754" y="0"/>
                </a:lnTo>
                <a:lnTo>
                  <a:pt x="775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7" name=""/>
          <p:cNvSpPr/>
          <p:nvPr/>
        </p:nvSpPr>
        <p:spPr>
          <a:xfrm>
            <a:off x="3390840" y="3790800"/>
            <a:ext cx="2695680" cy="486000"/>
          </a:xfrm>
          <a:custGeom>
            <a:avLst/>
            <a:gdLst/>
            <a:ahLst/>
            <a:rect l="0" t="0" r="r" b="b"/>
            <a:pathLst>
              <a:path w="7488" h="1350">
                <a:moveTo>
                  <a:pt x="0" y="0"/>
                </a:moveTo>
                <a:lnTo>
                  <a:pt x="7488" y="0"/>
                </a:lnTo>
                <a:lnTo>
                  <a:pt x="748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8" name=""/>
          <p:cNvSpPr/>
          <p:nvPr/>
        </p:nvSpPr>
        <p:spPr>
          <a:xfrm>
            <a:off x="6086160" y="3790800"/>
            <a:ext cx="5515560" cy="486000"/>
          </a:xfrm>
          <a:custGeom>
            <a:avLst/>
            <a:gdLst/>
            <a:ahLst/>
            <a:rect l="0" t="0" r="r" b="b"/>
            <a:pathLst>
              <a:path w="15321" h="1350">
                <a:moveTo>
                  <a:pt x="0" y="0"/>
                </a:moveTo>
                <a:lnTo>
                  <a:pt x="15321" y="0"/>
                </a:lnTo>
                <a:lnTo>
                  <a:pt x="1532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49" name=""/>
          <p:cNvSpPr/>
          <p:nvPr/>
        </p:nvSpPr>
        <p:spPr>
          <a:xfrm>
            <a:off x="599760" y="4276440"/>
            <a:ext cx="2791440" cy="476640"/>
          </a:xfrm>
          <a:custGeom>
            <a:avLst/>
            <a:gdLst/>
            <a:ahLst/>
            <a:rect l="0" t="0" r="r" b="b"/>
            <a:pathLst>
              <a:path w="7754" h="1324">
                <a:moveTo>
                  <a:pt x="0" y="0"/>
                </a:moveTo>
                <a:lnTo>
                  <a:pt x="7754" y="0"/>
                </a:lnTo>
                <a:lnTo>
                  <a:pt x="775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0" name=""/>
          <p:cNvSpPr/>
          <p:nvPr/>
        </p:nvSpPr>
        <p:spPr>
          <a:xfrm>
            <a:off x="3390840" y="4276440"/>
            <a:ext cx="2695680" cy="476640"/>
          </a:xfrm>
          <a:custGeom>
            <a:avLst/>
            <a:gdLst/>
            <a:ahLst/>
            <a:rect l="0" t="0" r="r" b="b"/>
            <a:pathLst>
              <a:path w="7488" h="1324">
                <a:moveTo>
                  <a:pt x="0" y="0"/>
                </a:moveTo>
                <a:lnTo>
                  <a:pt x="7488" y="0"/>
                </a:lnTo>
                <a:lnTo>
                  <a:pt x="748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1" name=""/>
          <p:cNvSpPr/>
          <p:nvPr/>
        </p:nvSpPr>
        <p:spPr>
          <a:xfrm>
            <a:off x="6086160" y="4276440"/>
            <a:ext cx="5515560" cy="476640"/>
          </a:xfrm>
          <a:custGeom>
            <a:avLst/>
            <a:gdLst/>
            <a:ahLst/>
            <a:rect l="0" t="0" r="r" b="b"/>
            <a:pathLst>
              <a:path w="15321" h="1324">
                <a:moveTo>
                  <a:pt x="0" y="0"/>
                </a:moveTo>
                <a:lnTo>
                  <a:pt x="15321" y="0"/>
                </a:lnTo>
                <a:lnTo>
                  <a:pt x="1532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2" name=""/>
          <p:cNvSpPr/>
          <p:nvPr/>
        </p:nvSpPr>
        <p:spPr>
          <a:xfrm>
            <a:off x="590400" y="23428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3" name=""/>
          <p:cNvSpPr/>
          <p:nvPr/>
        </p:nvSpPr>
        <p:spPr>
          <a:xfrm>
            <a:off x="590400" y="2342880"/>
            <a:ext cx="2810160" cy="10080"/>
          </a:xfrm>
          <a:custGeom>
            <a:avLst/>
            <a:gdLst/>
            <a:ahLst/>
            <a:rect l="0" t="0" r="r" b="b"/>
            <a:pathLst>
              <a:path w="7806" h="28">
                <a:moveTo>
                  <a:pt x="0" y="0"/>
                </a:moveTo>
                <a:lnTo>
                  <a:pt x="7806" y="0"/>
                </a:lnTo>
                <a:lnTo>
                  <a:pt x="7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4" name=""/>
          <p:cNvSpPr/>
          <p:nvPr/>
        </p:nvSpPr>
        <p:spPr>
          <a:xfrm>
            <a:off x="3390840" y="23428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5" name=""/>
          <p:cNvSpPr/>
          <p:nvPr/>
        </p:nvSpPr>
        <p:spPr>
          <a:xfrm>
            <a:off x="3400200" y="2342880"/>
            <a:ext cx="2696040" cy="10080"/>
          </a:xfrm>
          <a:custGeom>
            <a:avLst/>
            <a:gdLst/>
            <a:ahLst/>
            <a:rect l="0" t="0" r="r" b="b"/>
            <a:pathLst>
              <a:path w="7489" h="28">
                <a:moveTo>
                  <a:pt x="0" y="0"/>
                </a:moveTo>
                <a:lnTo>
                  <a:pt x="7489" y="0"/>
                </a:lnTo>
                <a:lnTo>
                  <a:pt x="7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6" name=""/>
          <p:cNvSpPr/>
          <p:nvPr/>
        </p:nvSpPr>
        <p:spPr>
          <a:xfrm>
            <a:off x="6086160" y="23428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7" name=""/>
          <p:cNvSpPr/>
          <p:nvPr/>
        </p:nvSpPr>
        <p:spPr>
          <a:xfrm>
            <a:off x="6095880" y="2342880"/>
            <a:ext cx="5505840" cy="10080"/>
          </a:xfrm>
          <a:custGeom>
            <a:avLst/>
            <a:gdLst/>
            <a:ahLst/>
            <a:rect l="0" t="0" r="r" b="b"/>
            <a:pathLst>
              <a:path w="15294" h="28">
                <a:moveTo>
                  <a:pt x="0" y="0"/>
                </a:moveTo>
                <a:lnTo>
                  <a:pt x="15294" y="0"/>
                </a:lnTo>
                <a:lnTo>
                  <a:pt x="15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8" name=""/>
          <p:cNvSpPr/>
          <p:nvPr/>
        </p:nvSpPr>
        <p:spPr>
          <a:xfrm>
            <a:off x="11591640" y="23428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59" name=""/>
          <p:cNvSpPr/>
          <p:nvPr/>
        </p:nvSpPr>
        <p:spPr>
          <a:xfrm>
            <a:off x="590400" y="2828880"/>
            <a:ext cx="2810160" cy="9720"/>
          </a:xfrm>
          <a:custGeom>
            <a:avLst/>
            <a:gdLst/>
            <a:ahLst/>
            <a:rect l="0" t="0" r="r" b="b"/>
            <a:pathLst>
              <a:path w="7806" h="27">
                <a:moveTo>
                  <a:pt x="0" y="0"/>
                </a:moveTo>
                <a:lnTo>
                  <a:pt x="7806" y="0"/>
                </a:lnTo>
                <a:lnTo>
                  <a:pt x="7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0" name=""/>
          <p:cNvSpPr/>
          <p:nvPr/>
        </p:nvSpPr>
        <p:spPr>
          <a:xfrm>
            <a:off x="3400200" y="282888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1" name=""/>
          <p:cNvSpPr/>
          <p:nvPr/>
        </p:nvSpPr>
        <p:spPr>
          <a:xfrm>
            <a:off x="6095880" y="2828880"/>
            <a:ext cx="5505840" cy="9720"/>
          </a:xfrm>
          <a:custGeom>
            <a:avLst/>
            <a:gdLst/>
            <a:ahLst/>
            <a:rect l="0" t="0" r="r" b="b"/>
            <a:pathLst>
              <a:path w="15294" h="27">
                <a:moveTo>
                  <a:pt x="0" y="0"/>
                </a:moveTo>
                <a:lnTo>
                  <a:pt x="15294" y="0"/>
                </a:lnTo>
                <a:lnTo>
                  <a:pt x="15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2" name=""/>
          <p:cNvSpPr/>
          <p:nvPr/>
        </p:nvSpPr>
        <p:spPr>
          <a:xfrm>
            <a:off x="590400" y="28382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3" name=""/>
          <p:cNvSpPr/>
          <p:nvPr/>
        </p:nvSpPr>
        <p:spPr>
          <a:xfrm>
            <a:off x="3390840" y="28382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4" name=""/>
          <p:cNvSpPr/>
          <p:nvPr/>
        </p:nvSpPr>
        <p:spPr>
          <a:xfrm>
            <a:off x="6086160" y="28382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5" name=""/>
          <p:cNvSpPr/>
          <p:nvPr/>
        </p:nvSpPr>
        <p:spPr>
          <a:xfrm>
            <a:off x="11591640" y="28382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6" name=""/>
          <p:cNvSpPr/>
          <p:nvPr/>
        </p:nvSpPr>
        <p:spPr>
          <a:xfrm>
            <a:off x="590400" y="33145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7" name=""/>
          <p:cNvSpPr/>
          <p:nvPr/>
        </p:nvSpPr>
        <p:spPr>
          <a:xfrm>
            <a:off x="590400" y="3305160"/>
            <a:ext cx="2810160" cy="9720"/>
          </a:xfrm>
          <a:custGeom>
            <a:avLst/>
            <a:gdLst/>
            <a:ahLst/>
            <a:rect l="0" t="0" r="r" b="b"/>
            <a:pathLst>
              <a:path w="7806" h="27">
                <a:moveTo>
                  <a:pt x="0" y="0"/>
                </a:moveTo>
                <a:lnTo>
                  <a:pt x="7806" y="0"/>
                </a:lnTo>
                <a:lnTo>
                  <a:pt x="7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8" name=""/>
          <p:cNvSpPr/>
          <p:nvPr/>
        </p:nvSpPr>
        <p:spPr>
          <a:xfrm>
            <a:off x="3390840" y="331452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69" name=""/>
          <p:cNvSpPr/>
          <p:nvPr/>
        </p:nvSpPr>
        <p:spPr>
          <a:xfrm>
            <a:off x="3400200" y="330516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0" name=""/>
          <p:cNvSpPr/>
          <p:nvPr/>
        </p:nvSpPr>
        <p:spPr>
          <a:xfrm>
            <a:off x="6086160" y="331452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1" name=""/>
          <p:cNvSpPr/>
          <p:nvPr/>
        </p:nvSpPr>
        <p:spPr>
          <a:xfrm>
            <a:off x="6095880" y="3305160"/>
            <a:ext cx="5505840" cy="9720"/>
          </a:xfrm>
          <a:custGeom>
            <a:avLst/>
            <a:gdLst/>
            <a:ahLst/>
            <a:rect l="0" t="0" r="r" b="b"/>
            <a:pathLst>
              <a:path w="15294" h="27">
                <a:moveTo>
                  <a:pt x="0" y="0"/>
                </a:moveTo>
                <a:lnTo>
                  <a:pt x="15294" y="0"/>
                </a:lnTo>
                <a:lnTo>
                  <a:pt x="15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2" name=""/>
          <p:cNvSpPr/>
          <p:nvPr/>
        </p:nvSpPr>
        <p:spPr>
          <a:xfrm>
            <a:off x="11591640" y="331452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3" name=""/>
          <p:cNvSpPr/>
          <p:nvPr/>
        </p:nvSpPr>
        <p:spPr>
          <a:xfrm>
            <a:off x="590400" y="380016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4" name=""/>
          <p:cNvSpPr/>
          <p:nvPr/>
        </p:nvSpPr>
        <p:spPr>
          <a:xfrm>
            <a:off x="590400" y="3790800"/>
            <a:ext cx="2810160" cy="9720"/>
          </a:xfrm>
          <a:custGeom>
            <a:avLst/>
            <a:gdLst/>
            <a:ahLst/>
            <a:rect l="0" t="0" r="r" b="b"/>
            <a:pathLst>
              <a:path w="7806" h="27">
                <a:moveTo>
                  <a:pt x="0" y="0"/>
                </a:moveTo>
                <a:lnTo>
                  <a:pt x="7806" y="0"/>
                </a:lnTo>
                <a:lnTo>
                  <a:pt x="7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5" name=""/>
          <p:cNvSpPr/>
          <p:nvPr/>
        </p:nvSpPr>
        <p:spPr>
          <a:xfrm>
            <a:off x="3390840" y="380016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6" name=""/>
          <p:cNvSpPr/>
          <p:nvPr/>
        </p:nvSpPr>
        <p:spPr>
          <a:xfrm>
            <a:off x="3400200" y="379080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7" name=""/>
          <p:cNvSpPr/>
          <p:nvPr/>
        </p:nvSpPr>
        <p:spPr>
          <a:xfrm>
            <a:off x="6086160" y="380016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8" name=""/>
          <p:cNvSpPr/>
          <p:nvPr/>
        </p:nvSpPr>
        <p:spPr>
          <a:xfrm>
            <a:off x="6095880" y="3790800"/>
            <a:ext cx="5505840" cy="9720"/>
          </a:xfrm>
          <a:custGeom>
            <a:avLst/>
            <a:gdLst/>
            <a:ahLst/>
            <a:rect l="0" t="0" r="r" b="b"/>
            <a:pathLst>
              <a:path w="15294" h="27">
                <a:moveTo>
                  <a:pt x="0" y="0"/>
                </a:moveTo>
                <a:lnTo>
                  <a:pt x="15294" y="0"/>
                </a:lnTo>
                <a:lnTo>
                  <a:pt x="15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79" name=""/>
          <p:cNvSpPr/>
          <p:nvPr/>
        </p:nvSpPr>
        <p:spPr>
          <a:xfrm>
            <a:off x="11591640" y="380016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0" name=""/>
          <p:cNvSpPr/>
          <p:nvPr/>
        </p:nvSpPr>
        <p:spPr>
          <a:xfrm>
            <a:off x="590400" y="427644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1" name=""/>
          <p:cNvSpPr/>
          <p:nvPr/>
        </p:nvSpPr>
        <p:spPr>
          <a:xfrm>
            <a:off x="590400" y="4267080"/>
            <a:ext cx="2810160" cy="9720"/>
          </a:xfrm>
          <a:custGeom>
            <a:avLst/>
            <a:gdLst/>
            <a:ahLst/>
            <a:rect l="0" t="0" r="r" b="b"/>
            <a:pathLst>
              <a:path w="7806" h="27">
                <a:moveTo>
                  <a:pt x="0" y="0"/>
                </a:moveTo>
                <a:lnTo>
                  <a:pt x="7806" y="0"/>
                </a:lnTo>
                <a:lnTo>
                  <a:pt x="7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2" name=""/>
          <p:cNvSpPr/>
          <p:nvPr/>
        </p:nvSpPr>
        <p:spPr>
          <a:xfrm>
            <a:off x="3390840" y="427644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3" name=""/>
          <p:cNvSpPr/>
          <p:nvPr/>
        </p:nvSpPr>
        <p:spPr>
          <a:xfrm>
            <a:off x="3400200" y="4267080"/>
            <a:ext cx="2696040" cy="9720"/>
          </a:xfrm>
          <a:custGeom>
            <a:avLst/>
            <a:gdLst/>
            <a:ah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4" name=""/>
          <p:cNvSpPr/>
          <p:nvPr/>
        </p:nvSpPr>
        <p:spPr>
          <a:xfrm>
            <a:off x="6086160" y="427644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5" name=""/>
          <p:cNvSpPr/>
          <p:nvPr/>
        </p:nvSpPr>
        <p:spPr>
          <a:xfrm>
            <a:off x="6095880" y="4267080"/>
            <a:ext cx="5505840" cy="9720"/>
          </a:xfrm>
          <a:custGeom>
            <a:avLst/>
            <a:gdLst/>
            <a:ahLst/>
            <a:rect l="0" t="0" r="r" b="b"/>
            <a:pathLst>
              <a:path w="15294" h="27">
                <a:moveTo>
                  <a:pt x="0" y="0"/>
                </a:moveTo>
                <a:lnTo>
                  <a:pt x="15294" y="0"/>
                </a:lnTo>
                <a:lnTo>
                  <a:pt x="15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6" name=""/>
          <p:cNvSpPr/>
          <p:nvPr/>
        </p:nvSpPr>
        <p:spPr>
          <a:xfrm>
            <a:off x="11591640" y="427644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7" name=""/>
          <p:cNvSpPr/>
          <p:nvPr/>
        </p:nvSpPr>
        <p:spPr>
          <a:xfrm>
            <a:off x="590400" y="4752720"/>
            <a:ext cx="2810160" cy="10080"/>
          </a:xfrm>
          <a:custGeom>
            <a:avLst/>
            <a:gdLst/>
            <a:ahLst/>
            <a:rect l="0" t="0" r="r" b="b"/>
            <a:pathLst>
              <a:path w="7806" h="28">
                <a:moveTo>
                  <a:pt x="0" y="0"/>
                </a:moveTo>
                <a:lnTo>
                  <a:pt x="7806" y="0"/>
                </a:lnTo>
                <a:lnTo>
                  <a:pt x="7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8" name=""/>
          <p:cNvSpPr/>
          <p:nvPr/>
        </p:nvSpPr>
        <p:spPr>
          <a:xfrm>
            <a:off x="3400200" y="4752720"/>
            <a:ext cx="2696040" cy="10080"/>
          </a:xfrm>
          <a:custGeom>
            <a:avLst/>
            <a:gdLst/>
            <a:ahLst/>
            <a:rect l="0" t="0" r="r" b="b"/>
            <a:pathLst>
              <a:path w="7489" h="28">
                <a:moveTo>
                  <a:pt x="0" y="0"/>
                </a:moveTo>
                <a:lnTo>
                  <a:pt x="7489" y="0"/>
                </a:lnTo>
                <a:lnTo>
                  <a:pt x="7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89" name=""/>
          <p:cNvSpPr/>
          <p:nvPr/>
        </p:nvSpPr>
        <p:spPr>
          <a:xfrm>
            <a:off x="6095880" y="4752720"/>
            <a:ext cx="5505840" cy="10080"/>
          </a:xfrm>
          <a:custGeom>
            <a:avLst/>
            <a:gdLst/>
            <a:ahLst/>
            <a:rect l="0" t="0" r="r" b="b"/>
            <a:pathLst>
              <a:path w="15294" h="28">
                <a:moveTo>
                  <a:pt x="0" y="0"/>
                </a:moveTo>
                <a:lnTo>
                  <a:pt x="15294" y="0"/>
                </a:lnTo>
                <a:lnTo>
                  <a:pt x="15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90400" y="1586520"/>
            <a:ext cx="706201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同じ意味から、日本語とコードを作る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23960" y="2467080"/>
            <a:ext cx="54772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段階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3521160" y="2467080"/>
            <a:ext cx="109461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作るもの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6219720" y="2467080"/>
            <a:ext cx="27406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23960" y="2952720"/>
            <a:ext cx="200583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① 意味を決める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3521160" y="2952720"/>
            <a:ext cx="218799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操作と順序の記録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6219720" y="2952720"/>
            <a:ext cx="398599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偶数を残す。その後、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を加える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23960" y="3429000"/>
            <a:ext cx="173217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② 指示を作る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521160" y="3429000"/>
            <a:ext cx="164109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日本語の説明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6219720" y="3429000"/>
            <a:ext cx="480612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偶数だけを残して、各要素に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を加える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23960" y="3914640"/>
            <a:ext cx="173217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③ 正解を作る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3521160" y="3914640"/>
            <a:ext cx="176902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Python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コード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219720" y="3914640"/>
            <a:ext cx="397233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指示どおりに処理する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solve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関数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723960" y="4390920"/>
            <a:ext cx="227907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④ 動作を確認する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521160" y="4390920"/>
            <a:ext cx="218799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入力と出力の比較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219720" y="4390920"/>
            <a:ext cx="355501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参照実装と結果が一致するか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90400" y="5012280"/>
            <a:ext cx="562833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指示と正解を、一つの意味に対応付ける。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180620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1" name=""/>
          <p:cNvSpPr/>
          <p:nvPr/>
        </p:nvSpPr>
        <p:spPr>
          <a:xfrm>
            <a:off x="599760" y="2676240"/>
            <a:ext cx="2495880" cy="467280"/>
          </a:xfrm>
          <a:custGeom>
            <a:avLst/>
            <a:gdLst/>
            <a:ahLst/>
            <a:rect l="0" t="0" r="r" b="b"/>
            <a:pathLst>
              <a:path w="6933" h="1298">
                <a:moveTo>
                  <a:pt x="0" y="0"/>
                </a:moveTo>
                <a:lnTo>
                  <a:pt x="6933" y="0"/>
                </a:lnTo>
                <a:lnTo>
                  <a:pt x="693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2" name=""/>
          <p:cNvSpPr/>
          <p:nvPr/>
        </p:nvSpPr>
        <p:spPr>
          <a:xfrm>
            <a:off x="3095280" y="2676240"/>
            <a:ext cx="5505840" cy="467280"/>
          </a:xfrm>
          <a:custGeom>
            <a:avLst/>
            <a:gdLst/>
            <a:ahLst/>
            <a:rect l="0" t="0" r="r" b="b"/>
            <a:pathLst>
              <a:path w="15294" h="1298">
                <a:moveTo>
                  <a:pt x="0" y="0"/>
                </a:moveTo>
                <a:lnTo>
                  <a:pt x="15294" y="0"/>
                </a:lnTo>
                <a:lnTo>
                  <a:pt x="1529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3" name=""/>
          <p:cNvSpPr/>
          <p:nvPr/>
        </p:nvSpPr>
        <p:spPr>
          <a:xfrm>
            <a:off x="8600760" y="2676240"/>
            <a:ext cx="3000960" cy="467280"/>
          </a:xfrm>
          <a:custGeom>
            <a:avLst/>
            <a:gdLst/>
            <a:ahLst/>
            <a:rect l="0" t="0" r="r" b="b"/>
            <a:pathLst>
              <a:path w="8336" h="1298">
                <a:moveTo>
                  <a:pt x="0" y="0"/>
                </a:moveTo>
                <a:lnTo>
                  <a:pt x="8336" y="0"/>
                </a:lnTo>
                <a:lnTo>
                  <a:pt x="8336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4" name=""/>
          <p:cNvSpPr/>
          <p:nvPr/>
        </p:nvSpPr>
        <p:spPr>
          <a:xfrm>
            <a:off x="599760" y="2676240"/>
            <a:ext cx="2495880" cy="467280"/>
          </a:xfrm>
          <a:custGeom>
            <a:avLst/>
            <a:gdLst/>
            <a:ahLst/>
            <a:rect l="0" t="0" r="r" b="b"/>
            <a:pathLst>
              <a:path w="6933" h="1298">
                <a:moveTo>
                  <a:pt x="0" y="0"/>
                </a:moveTo>
                <a:lnTo>
                  <a:pt x="6933" y="0"/>
                </a:lnTo>
                <a:lnTo>
                  <a:pt x="693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5" name=""/>
          <p:cNvSpPr/>
          <p:nvPr/>
        </p:nvSpPr>
        <p:spPr>
          <a:xfrm>
            <a:off x="3095280" y="2676240"/>
            <a:ext cx="5505840" cy="467280"/>
          </a:xfrm>
          <a:custGeom>
            <a:avLst/>
            <a:gdLst/>
            <a:ahLst/>
            <a:rect l="0" t="0" r="r" b="b"/>
            <a:pathLst>
              <a:path w="15294" h="1298">
                <a:moveTo>
                  <a:pt x="0" y="0"/>
                </a:moveTo>
                <a:lnTo>
                  <a:pt x="15294" y="0"/>
                </a:lnTo>
                <a:lnTo>
                  <a:pt x="1529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6" name=""/>
          <p:cNvSpPr/>
          <p:nvPr/>
        </p:nvSpPr>
        <p:spPr>
          <a:xfrm>
            <a:off x="8600760" y="2676240"/>
            <a:ext cx="3000960" cy="467280"/>
          </a:xfrm>
          <a:custGeom>
            <a:avLst/>
            <a:gdLst/>
            <a:ahLst/>
            <a:rect l="0" t="0" r="r" b="b"/>
            <a:pathLst>
              <a:path w="8336" h="1298">
                <a:moveTo>
                  <a:pt x="0" y="0"/>
                </a:moveTo>
                <a:lnTo>
                  <a:pt x="8336" y="0"/>
                </a:lnTo>
                <a:lnTo>
                  <a:pt x="8336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7" name=""/>
          <p:cNvSpPr/>
          <p:nvPr/>
        </p:nvSpPr>
        <p:spPr>
          <a:xfrm>
            <a:off x="599760" y="3143160"/>
            <a:ext cx="2495880" cy="466920"/>
          </a:xfrm>
          <a:custGeom>
            <a:avLst/>
            <a:gdLst/>
            <a:ahLst/>
            <a:rect l="0" t="0" r="r" b="b"/>
            <a:pathLst>
              <a:path w="6933" h="1297">
                <a:moveTo>
                  <a:pt x="0" y="0"/>
                </a:moveTo>
                <a:lnTo>
                  <a:pt x="6933" y="0"/>
                </a:lnTo>
                <a:lnTo>
                  <a:pt x="693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8" name=""/>
          <p:cNvSpPr/>
          <p:nvPr/>
        </p:nvSpPr>
        <p:spPr>
          <a:xfrm>
            <a:off x="3095280" y="3143160"/>
            <a:ext cx="5505840" cy="466920"/>
          </a:xfrm>
          <a:custGeom>
            <a:avLst/>
            <a:gdLst/>
            <a:ahLst/>
            <a:rect l="0" t="0" r="r" b="b"/>
            <a:pathLst>
              <a:path w="15294" h="1297">
                <a:moveTo>
                  <a:pt x="0" y="0"/>
                </a:moveTo>
                <a:lnTo>
                  <a:pt x="15294" y="0"/>
                </a:lnTo>
                <a:lnTo>
                  <a:pt x="1529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19" name=""/>
          <p:cNvSpPr/>
          <p:nvPr/>
        </p:nvSpPr>
        <p:spPr>
          <a:xfrm>
            <a:off x="8600760" y="3143160"/>
            <a:ext cx="3000960" cy="466920"/>
          </a:xfrm>
          <a:custGeom>
            <a:avLst/>
            <a:gdLst/>
            <a:ahLst/>
            <a:rect l="0" t="0" r="r" b="b"/>
            <a:pathLst>
              <a:path w="8336" h="1297">
                <a:moveTo>
                  <a:pt x="0" y="0"/>
                </a:moveTo>
                <a:lnTo>
                  <a:pt x="8336" y="0"/>
                </a:lnTo>
                <a:lnTo>
                  <a:pt x="8336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0" name=""/>
          <p:cNvSpPr/>
          <p:nvPr/>
        </p:nvSpPr>
        <p:spPr>
          <a:xfrm>
            <a:off x="599760" y="3609720"/>
            <a:ext cx="2495880" cy="467280"/>
          </a:xfrm>
          <a:custGeom>
            <a:avLst/>
            <a:gdLst/>
            <a:ahLst/>
            <a:rect l="0" t="0" r="r" b="b"/>
            <a:pathLst>
              <a:path w="6933" h="1298">
                <a:moveTo>
                  <a:pt x="0" y="0"/>
                </a:moveTo>
                <a:lnTo>
                  <a:pt x="6933" y="0"/>
                </a:lnTo>
                <a:lnTo>
                  <a:pt x="693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1" name=""/>
          <p:cNvSpPr/>
          <p:nvPr/>
        </p:nvSpPr>
        <p:spPr>
          <a:xfrm>
            <a:off x="3095280" y="3609720"/>
            <a:ext cx="5505840" cy="467280"/>
          </a:xfrm>
          <a:custGeom>
            <a:avLst/>
            <a:gdLst/>
            <a:ahLst/>
            <a:rect l="0" t="0" r="r" b="b"/>
            <a:pathLst>
              <a:path w="15294" h="1298">
                <a:moveTo>
                  <a:pt x="0" y="0"/>
                </a:moveTo>
                <a:lnTo>
                  <a:pt x="15294" y="0"/>
                </a:lnTo>
                <a:lnTo>
                  <a:pt x="1529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2" name=""/>
          <p:cNvSpPr/>
          <p:nvPr/>
        </p:nvSpPr>
        <p:spPr>
          <a:xfrm>
            <a:off x="8600760" y="3609720"/>
            <a:ext cx="3000960" cy="467280"/>
          </a:xfrm>
          <a:custGeom>
            <a:avLst/>
            <a:gdLst/>
            <a:ahLst/>
            <a:rect l="0" t="0" r="r" b="b"/>
            <a:pathLst>
              <a:path w="8336" h="1298">
                <a:moveTo>
                  <a:pt x="0" y="0"/>
                </a:moveTo>
                <a:lnTo>
                  <a:pt x="8336" y="0"/>
                </a:lnTo>
                <a:lnTo>
                  <a:pt x="8336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3" name=""/>
          <p:cNvSpPr/>
          <p:nvPr/>
        </p:nvSpPr>
        <p:spPr>
          <a:xfrm>
            <a:off x="599760" y="4076640"/>
            <a:ext cx="2495880" cy="466920"/>
          </a:xfrm>
          <a:custGeom>
            <a:avLst/>
            <a:gdLst/>
            <a:ahLst/>
            <a:rect l="0" t="0" r="r" b="b"/>
            <a:pathLst>
              <a:path w="6933" h="1297">
                <a:moveTo>
                  <a:pt x="0" y="0"/>
                </a:moveTo>
                <a:lnTo>
                  <a:pt x="6933" y="0"/>
                </a:lnTo>
                <a:lnTo>
                  <a:pt x="693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4" name=""/>
          <p:cNvSpPr/>
          <p:nvPr/>
        </p:nvSpPr>
        <p:spPr>
          <a:xfrm>
            <a:off x="3095280" y="4076640"/>
            <a:ext cx="5505840" cy="466920"/>
          </a:xfrm>
          <a:custGeom>
            <a:avLst/>
            <a:gdLst/>
            <a:ahLst/>
            <a:rect l="0" t="0" r="r" b="b"/>
            <a:pathLst>
              <a:path w="15294" h="1297">
                <a:moveTo>
                  <a:pt x="0" y="0"/>
                </a:moveTo>
                <a:lnTo>
                  <a:pt x="15294" y="0"/>
                </a:lnTo>
                <a:lnTo>
                  <a:pt x="1529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5" name=""/>
          <p:cNvSpPr/>
          <p:nvPr/>
        </p:nvSpPr>
        <p:spPr>
          <a:xfrm>
            <a:off x="8600760" y="4076640"/>
            <a:ext cx="3000960" cy="466920"/>
          </a:xfrm>
          <a:custGeom>
            <a:avLst/>
            <a:gdLst/>
            <a:ahLst/>
            <a:rect l="0" t="0" r="r" b="b"/>
            <a:pathLst>
              <a:path w="8336" h="1297">
                <a:moveTo>
                  <a:pt x="0" y="0"/>
                </a:moveTo>
                <a:lnTo>
                  <a:pt x="8336" y="0"/>
                </a:lnTo>
                <a:lnTo>
                  <a:pt x="8336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6" name=""/>
          <p:cNvSpPr/>
          <p:nvPr/>
        </p:nvSpPr>
        <p:spPr>
          <a:xfrm>
            <a:off x="599760" y="4543200"/>
            <a:ext cx="2495880" cy="467280"/>
          </a:xfrm>
          <a:custGeom>
            <a:avLst/>
            <a:gdLst/>
            <a:ahLst/>
            <a:rect l="0" t="0" r="r" b="b"/>
            <a:pathLst>
              <a:path w="6933" h="1298">
                <a:moveTo>
                  <a:pt x="0" y="0"/>
                </a:moveTo>
                <a:lnTo>
                  <a:pt x="6933" y="0"/>
                </a:lnTo>
                <a:lnTo>
                  <a:pt x="693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7" name=""/>
          <p:cNvSpPr/>
          <p:nvPr/>
        </p:nvSpPr>
        <p:spPr>
          <a:xfrm>
            <a:off x="3095280" y="4543200"/>
            <a:ext cx="5505840" cy="467280"/>
          </a:xfrm>
          <a:custGeom>
            <a:avLst/>
            <a:gdLst/>
            <a:ahLst/>
            <a:rect l="0" t="0" r="r" b="b"/>
            <a:pathLst>
              <a:path w="15294" h="1298">
                <a:moveTo>
                  <a:pt x="0" y="0"/>
                </a:moveTo>
                <a:lnTo>
                  <a:pt x="15294" y="0"/>
                </a:lnTo>
                <a:lnTo>
                  <a:pt x="1529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8" name=""/>
          <p:cNvSpPr/>
          <p:nvPr/>
        </p:nvSpPr>
        <p:spPr>
          <a:xfrm>
            <a:off x="8600760" y="4543200"/>
            <a:ext cx="3000960" cy="467280"/>
          </a:xfrm>
          <a:custGeom>
            <a:avLst/>
            <a:gdLst/>
            <a:ahLst/>
            <a:rect l="0" t="0" r="r" b="b"/>
            <a:pathLst>
              <a:path w="8336" h="1298">
                <a:moveTo>
                  <a:pt x="0" y="0"/>
                </a:moveTo>
                <a:lnTo>
                  <a:pt x="8336" y="0"/>
                </a:lnTo>
                <a:lnTo>
                  <a:pt x="8336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29" name=""/>
          <p:cNvSpPr/>
          <p:nvPr/>
        </p:nvSpPr>
        <p:spPr>
          <a:xfrm>
            <a:off x="590400" y="26668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0" name=""/>
          <p:cNvSpPr/>
          <p:nvPr/>
        </p:nvSpPr>
        <p:spPr>
          <a:xfrm>
            <a:off x="590400" y="266688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1" name=""/>
          <p:cNvSpPr/>
          <p:nvPr/>
        </p:nvSpPr>
        <p:spPr>
          <a:xfrm>
            <a:off x="3095280" y="2666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2" name=""/>
          <p:cNvSpPr/>
          <p:nvPr/>
        </p:nvSpPr>
        <p:spPr>
          <a:xfrm>
            <a:off x="3105000" y="2666880"/>
            <a:ext cx="5505840" cy="9720"/>
          </a:xfrm>
          <a:custGeom>
            <a:avLst/>
            <a:gdLst/>
            <a:ahLst/>
            <a:rect l="0" t="0" r="r" b="b"/>
            <a:pathLst>
              <a:path w="15294" h="27">
                <a:moveTo>
                  <a:pt x="0" y="0"/>
                </a:moveTo>
                <a:lnTo>
                  <a:pt x="15294" y="0"/>
                </a:lnTo>
                <a:lnTo>
                  <a:pt x="15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3" name=""/>
          <p:cNvSpPr/>
          <p:nvPr/>
        </p:nvSpPr>
        <p:spPr>
          <a:xfrm>
            <a:off x="8600760" y="2666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4" name=""/>
          <p:cNvSpPr/>
          <p:nvPr/>
        </p:nvSpPr>
        <p:spPr>
          <a:xfrm>
            <a:off x="8610480" y="266688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5" name=""/>
          <p:cNvSpPr/>
          <p:nvPr/>
        </p:nvSpPr>
        <p:spPr>
          <a:xfrm>
            <a:off x="11591640" y="2666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6" name=""/>
          <p:cNvSpPr/>
          <p:nvPr/>
        </p:nvSpPr>
        <p:spPr>
          <a:xfrm>
            <a:off x="590400" y="313344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7" name=""/>
          <p:cNvSpPr/>
          <p:nvPr/>
        </p:nvSpPr>
        <p:spPr>
          <a:xfrm>
            <a:off x="3105000" y="3133440"/>
            <a:ext cx="5505840" cy="10080"/>
          </a:xfrm>
          <a:custGeom>
            <a:avLst/>
            <a:gdLst/>
            <a:ahLst/>
            <a:rect l="0" t="0" r="r" b="b"/>
            <a:pathLst>
              <a:path w="15294" h="28">
                <a:moveTo>
                  <a:pt x="0" y="0"/>
                </a:moveTo>
                <a:lnTo>
                  <a:pt x="15294" y="0"/>
                </a:lnTo>
                <a:lnTo>
                  <a:pt x="15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8" name=""/>
          <p:cNvSpPr/>
          <p:nvPr/>
        </p:nvSpPr>
        <p:spPr>
          <a:xfrm>
            <a:off x="8610480" y="313344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39" name=""/>
          <p:cNvSpPr/>
          <p:nvPr/>
        </p:nvSpPr>
        <p:spPr>
          <a:xfrm>
            <a:off x="590400" y="314316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0" name=""/>
          <p:cNvSpPr/>
          <p:nvPr/>
        </p:nvSpPr>
        <p:spPr>
          <a:xfrm>
            <a:off x="3095280" y="31431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1" name=""/>
          <p:cNvSpPr/>
          <p:nvPr/>
        </p:nvSpPr>
        <p:spPr>
          <a:xfrm>
            <a:off x="8600760" y="31431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2" name=""/>
          <p:cNvSpPr/>
          <p:nvPr/>
        </p:nvSpPr>
        <p:spPr>
          <a:xfrm>
            <a:off x="11591640" y="31431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3" name=""/>
          <p:cNvSpPr/>
          <p:nvPr/>
        </p:nvSpPr>
        <p:spPr>
          <a:xfrm>
            <a:off x="590400" y="36097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4" name=""/>
          <p:cNvSpPr/>
          <p:nvPr/>
        </p:nvSpPr>
        <p:spPr>
          <a:xfrm>
            <a:off x="590400" y="360036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5" name=""/>
          <p:cNvSpPr/>
          <p:nvPr/>
        </p:nvSpPr>
        <p:spPr>
          <a:xfrm>
            <a:off x="309528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6" name=""/>
          <p:cNvSpPr/>
          <p:nvPr/>
        </p:nvSpPr>
        <p:spPr>
          <a:xfrm>
            <a:off x="3105000" y="3600360"/>
            <a:ext cx="5505840" cy="9720"/>
          </a:xfrm>
          <a:custGeom>
            <a:avLst/>
            <a:gdLst/>
            <a:ahLst/>
            <a:rect l="0" t="0" r="r" b="b"/>
            <a:pathLst>
              <a:path w="15294" h="27">
                <a:moveTo>
                  <a:pt x="0" y="0"/>
                </a:moveTo>
                <a:lnTo>
                  <a:pt x="15294" y="0"/>
                </a:lnTo>
                <a:lnTo>
                  <a:pt x="15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7" name=""/>
          <p:cNvSpPr/>
          <p:nvPr/>
        </p:nvSpPr>
        <p:spPr>
          <a:xfrm>
            <a:off x="860076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8" name=""/>
          <p:cNvSpPr/>
          <p:nvPr/>
        </p:nvSpPr>
        <p:spPr>
          <a:xfrm>
            <a:off x="8610480" y="360036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49" name=""/>
          <p:cNvSpPr/>
          <p:nvPr/>
        </p:nvSpPr>
        <p:spPr>
          <a:xfrm>
            <a:off x="1159164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0" name=""/>
          <p:cNvSpPr/>
          <p:nvPr/>
        </p:nvSpPr>
        <p:spPr>
          <a:xfrm>
            <a:off x="590400" y="40766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1" name=""/>
          <p:cNvSpPr/>
          <p:nvPr/>
        </p:nvSpPr>
        <p:spPr>
          <a:xfrm>
            <a:off x="590400" y="406692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2" name=""/>
          <p:cNvSpPr/>
          <p:nvPr/>
        </p:nvSpPr>
        <p:spPr>
          <a:xfrm>
            <a:off x="3095280" y="40766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3" name=""/>
          <p:cNvSpPr/>
          <p:nvPr/>
        </p:nvSpPr>
        <p:spPr>
          <a:xfrm>
            <a:off x="3105000" y="4066920"/>
            <a:ext cx="5505840" cy="10080"/>
          </a:xfrm>
          <a:custGeom>
            <a:avLst/>
            <a:gdLst/>
            <a:ahLst/>
            <a:rect l="0" t="0" r="r" b="b"/>
            <a:pathLst>
              <a:path w="15294" h="28">
                <a:moveTo>
                  <a:pt x="0" y="0"/>
                </a:moveTo>
                <a:lnTo>
                  <a:pt x="15294" y="0"/>
                </a:lnTo>
                <a:lnTo>
                  <a:pt x="15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4" name=""/>
          <p:cNvSpPr/>
          <p:nvPr/>
        </p:nvSpPr>
        <p:spPr>
          <a:xfrm>
            <a:off x="8600760" y="40766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5" name=""/>
          <p:cNvSpPr/>
          <p:nvPr/>
        </p:nvSpPr>
        <p:spPr>
          <a:xfrm>
            <a:off x="8610480" y="406692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6" name=""/>
          <p:cNvSpPr/>
          <p:nvPr/>
        </p:nvSpPr>
        <p:spPr>
          <a:xfrm>
            <a:off x="11591640" y="40766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7" name=""/>
          <p:cNvSpPr/>
          <p:nvPr/>
        </p:nvSpPr>
        <p:spPr>
          <a:xfrm>
            <a:off x="590400" y="454320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8" name=""/>
          <p:cNvSpPr/>
          <p:nvPr/>
        </p:nvSpPr>
        <p:spPr>
          <a:xfrm>
            <a:off x="590400" y="453384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59" name=""/>
          <p:cNvSpPr/>
          <p:nvPr/>
        </p:nvSpPr>
        <p:spPr>
          <a:xfrm>
            <a:off x="3095280" y="454320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0" name=""/>
          <p:cNvSpPr/>
          <p:nvPr/>
        </p:nvSpPr>
        <p:spPr>
          <a:xfrm>
            <a:off x="3105000" y="4533840"/>
            <a:ext cx="5505840" cy="9720"/>
          </a:xfrm>
          <a:custGeom>
            <a:avLst/>
            <a:gdLst/>
            <a:ahLst/>
            <a:rect l="0" t="0" r="r" b="b"/>
            <a:pathLst>
              <a:path w="15294" h="27">
                <a:moveTo>
                  <a:pt x="0" y="0"/>
                </a:moveTo>
                <a:lnTo>
                  <a:pt x="15294" y="0"/>
                </a:lnTo>
                <a:lnTo>
                  <a:pt x="15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1" name=""/>
          <p:cNvSpPr/>
          <p:nvPr/>
        </p:nvSpPr>
        <p:spPr>
          <a:xfrm>
            <a:off x="8600760" y="454320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2" name=""/>
          <p:cNvSpPr/>
          <p:nvPr/>
        </p:nvSpPr>
        <p:spPr>
          <a:xfrm>
            <a:off x="8610480" y="453384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3" name=""/>
          <p:cNvSpPr/>
          <p:nvPr/>
        </p:nvSpPr>
        <p:spPr>
          <a:xfrm>
            <a:off x="11591640" y="454320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4" name=""/>
          <p:cNvSpPr/>
          <p:nvPr/>
        </p:nvSpPr>
        <p:spPr>
          <a:xfrm>
            <a:off x="590400" y="500040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5" name=""/>
          <p:cNvSpPr/>
          <p:nvPr/>
        </p:nvSpPr>
        <p:spPr>
          <a:xfrm>
            <a:off x="3105000" y="5000400"/>
            <a:ext cx="5505840" cy="10080"/>
          </a:xfrm>
          <a:custGeom>
            <a:avLst/>
            <a:gdLst/>
            <a:ahLst/>
            <a:rect l="0" t="0" r="r" b="b"/>
            <a:pathLst>
              <a:path w="15294" h="28">
                <a:moveTo>
                  <a:pt x="0" y="0"/>
                </a:moveTo>
                <a:lnTo>
                  <a:pt x="15294" y="0"/>
                </a:lnTo>
                <a:lnTo>
                  <a:pt x="15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6" name=""/>
          <p:cNvSpPr/>
          <p:nvPr/>
        </p:nvSpPr>
        <p:spPr>
          <a:xfrm>
            <a:off x="8610480" y="500040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90400" y="1329480"/>
            <a:ext cx="61106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操作の組み合わせは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12,720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種類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590400" y="2154960"/>
            <a:ext cx="651718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同じ操作を繰り返さず、順序を区別して数える。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723960" y="2789640"/>
            <a:ext cx="105238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操作の数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226320" y="2789640"/>
            <a:ext cx="7894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数え方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0325160" y="2789640"/>
            <a:ext cx="13152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意味の種類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723960" y="325656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3226320" y="3256560"/>
            <a:ext cx="3473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1166840" y="3256560"/>
            <a:ext cx="3473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723960" y="372312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3226320" y="3723120"/>
            <a:ext cx="104038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 × 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1017440" y="3723120"/>
            <a:ext cx="51915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552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723960" y="418968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226320" y="4189680"/>
            <a:ext cx="173341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 × 23 × 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0660320" y="4189680"/>
            <a:ext cx="92943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12,144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23960" y="4656600"/>
            <a:ext cx="52660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合計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226320" y="4656600"/>
            <a:ext cx="266947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 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＋ 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552 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＋ 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12,144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0620000" y="4656600"/>
            <a:ext cx="9757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12,720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590400" y="5259960"/>
            <a:ext cx="651718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同じ操作の繰り返しは、別のテストで確かめる。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180620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89" name=""/>
          <p:cNvSpPr/>
          <p:nvPr/>
        </p:nvSpPr>
        <p:spPr>
          <a:xfrm>
            <a:off x="599760" y="2342880"/>
            <a:ext cx="3905640" cy="467280"/>
          </a:xfrm>
          <a:custGeom>
            <a:avLst/>
            <a:gdLst/>
            <a:ahLst/>
            <a:rect l="0" t="0" r="r" b="b"/>
            <a:pathLst>
              <a:path w="10849" h="1298">
                <a:moveTo>
                  <a:pt x="0" y="0"/>
                </a:moveTo>
                <a:lnTo>
                  <a:pt x="10849" y="0"/>
                </a:lnTo>
                <a:lnTo>
                  <a:pt x="10849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0" name=""/>
          <p:cNvSpPr/>
          <p:nvPr/>
        </p:nvSpPr>
        <p:spPr>
          <a:xfrm>
            <a:off x="4505040" y="2342880"/>
            <a:ext cx="7096680" cy="467280"/>
          </a:xfrm>
          <a:custGeom>
            <a:avLst/>
            <a:gdLst/>
            <a:ahLst/>
            <a:rect l="0" t="0" r="r" b="b"/>
            <a:pathLst>
              <a:path w="19713" h="1298">
                <a:moveTo>
                  <a:pt x="0" y="0"/>
                </a:moveTo>
                <a:lnTo>
                  <a:pt x="19713" y="0"/>
                </a:lnTo>
                <a:lnTo>
                  <a:pt x="1971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1" name=""/>
          <p:cNvSpPr/>
          <p:nvPr/>
        </p:nvSpPr>
        <p:spPr>
          <a:xfrm>
            <a:off x="599760" y="2342880"/>
            <a:ext cx="3905640" cy="467280"/>
          </a:xfrm>
          <a:custGeom>
            <a:avLst/>
            <a:gdLst/>
            <a:ahLst/>
            <a:rect l="0" t="0" r="r" b="b"/>
            <a:pathLst>
              <a:path w="10849" h="1298">
                <a:moveTo>
                  <a:pt x="0" y="0"/>
                </a:moveTo>
                <a:lnTo>
                  <a:pt x="10849" y="0"/>
                </a:lnTo>
                <a:lnTo>
                  <a:pt x="10849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2" name=""/>
          <p:cNvSpPr/>
          <p:nvPr/>
        </p:nvSpPr>
        <p:spPr>
          <a:xfrm>
            <a:off x="4505040" y="2342880"/>
            <a:ext cx="7096680" cy="467280"/>
          </a:xfrm>
          <a:custGeom>
            <a:avLst/>
            <a:gdLst/>
            <a:ahLst/>
            <a:rect l="0" t="0" r="r" b="b"/>
            <a:pathLst>
              <a:path w="19713" h="1298">
                <a:moveTo>
                  <a:pt x="0" y="0"/>
                </a:moveTo>
                <a:lnTo>
                  <a:pt x="19713" y="0"/>
                </a:lnTo>
                <a:lnTo>
                  <a:pt x="1971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3" name=""/>
          <p:cNvSpPr/>
          <p:nvPr/>
        </p:nvSpPr>
        <p:spPr>
          <a:xfrm>
            <a:off x="599760" y="2809800"/>
            <a:ext cx="3905640" cy="466920"/>
          </a:xfrm>
          <a:custGeom>
            <a:avLst/>
            <a:gdLst/>
            <a:ahLst/>
            <a:rect l="0" t="0" r="r" b="b"/>
            <a:pathLst>
              <a:path w="10849" h="1297">
                <a:moveTo>
                  <a:pt x="0" y="0"/>
                </a:moveTo>
                <a:lnTo>
                  <a:pt x="10849" y="0"/>
                </a:lnTo>
                <a:lnTo>
                  <a:pt x="10849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4" name=""/>
          <p:cNvSpPr/>
          <p:nvPr/>
        </p:nvSpPr>
        <p:spPr>
          <a:xfrm>
            <a:off x="4505040" y="2809800"/>
            <a:ext cx="7096680" cy="466920"/>
          </a:xfrm>
          <a:custGeom>
            <a:avLst/>
            <a:gdLst/>
            <a:ahLst/>
            <a:rect l="0" t="0" r="r" b="b"/>
            <a:pathLst>
              <a:path w="19713" h="1297">
                <a:moveTo>
                  <a:pt x="0" y="0"/>
                </a:moveTo>
                <a:lnTo>
                  <a:pt x="19713" y="0"/>
                </a:lnTo>
                <a:lnTo>
                  <a:pt x="1971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5" name=""/>
          <p:cNvSpPr/>
          <p:nvPr/>
        </p:nvSpPr>
        <p:spPr>
          <a:xfrm>
            <a:off x="599760" y="3276360"/>
            <a:ext cx="3905640" cy="467280"/>
          </a:xfrm>
          <a:custGeom>
            <a:avLst/>
            <a:gdLst/>
            <a:ahLst/>
            <a:rect l="0" t="0" r="r" b="b"/>
            <a:pathLst>
              <a:path w="10849" h="1298">
                <a:moveTo>
                  <a:pt x="0" y="0"/>
                </a:moveTo>
                <a:lnTo>
                  <a:pt x="10849" y="0"/>
                </a:lnTo>
                <a:lnTo>
                  <a:pt x="10849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6" name=""/>
          <p:cNvSpPr/>
          <p:nvPr/>
        </p:nvSpPr>
        <p:spPr>
          <a:xfrm>
            <a:off x="4505040" y="3276360"/>
            <a:ext cx="7096680" cy="467280"/>
          </a:xfrm>
          <a:custGeom>
            <a:avLst/>
            <a:gdLst/>
            <a:ahLst/>
            <a:rect l="0" t="0" r="r" b="b"/>
            <a:pathLst>
              <a:path w="19713" h="1298">
                <a:moveTo>
                  <a:pt x="0" y="0"/>
                </a:moveTo>
                <a:lnTo>
                  <a:pt x="19713" y="0"/>
                </a:lnTo>
                <a:lnTo>
                  <a:pt x="19713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7" name=""/>
          <p:cNvSpPr/>
          <p:nvPr/>
        </p:nvSpPr>
        <p:spPr>
          <a:xfrm>
            <a:off x="599760" y="3743280"/>
            <a:ext cx="3905640" cy="466920"/>
          </a:xfrm>
          <a:custGeom>
            <a:avLst/>
            <a:gdLst/>
            <a:ahLst/>
            <a:rect l="0" t="0" r="r" b="b"/>
            <a:pathLst>
              <a:path w="10849" h="1297">
                <a:moveTo>
                  <a:pt x="0" y="0"/>
                </a:moveTo>
                <a:lnTo>
                  <a:pt x="10849" y="0"/>
                </a:lnTo>
                <a:lnTo>
                  <a:pt x="10849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8" name=""/>
          <p:cNvSpPr/>
          <p:nvPr/>
        </p:nvSpPr>
        <p:spPr>
          <a:xfrm>
            <a:off x="4505040" y="3743280"/>
            <a:ext cx="7096680" cy="466920"/>
          </a:xfrm>
          <a:custGeom>
            <a:avLst/>
            <a:gdLst/>
            <a:ahLst/>
            <a:rect l="0" t="0" r="r" b="b"/>
            <a:pathLst>
              <a:path w="19713" h="1297">
                <a:moveTo>
                  <a:pt x="0" y="0"/>
                </a:moveTo>
                <a:lnTo>
                  <a:pt x="19713" y="0"/>
                </a:lnTo>
                <a:lnTo>
                  <a:pt x="19713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399" name=""/>
          <p:cNvSpPr/>
          <p:nvPr/>
        </p:nvSpPr>
        <p:spPr>
          <a:xfrm>
            <a:off x="590400" y="23335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0" name=""/>
          <p:cNvSpPr/>
          <p:nvPr/>
        </p:nvSpPr>
        <p:spPr>
          <a:xfrm>
            <a:off x="590400" y="233352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1" name=""/>
          <p:cNvSpPr/>
          <p:nvPr/>
        </p:nvSpPr>
        <p:spPr>
          <a:xfrm>
            <a:off x="4495680" y="23335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2" name=""/>
          <p:cNvSpPr/>
          <p:nvPr/>
        </p:nvSpPr>
        <p:spPr>
          <a:xfrm>
            <a:off x="4505040" y="2333520"/>
            <a:ext cx="7096680" cy="9720"/>
          </a:xfrm>
          <a:custGeom>
            <a:avLst/>
            <a:gdLst/>
            <a:ahLst/>
            <a:rect l="0" t="0" r="r" b="b"/>
            <a:pathLst>
              <a:path w="19713" h="27">
                <a:moveTo>
                  <a:pt x="0" y="0"/>
                </a:moveTo>
                <a:lnTo>
                  <a:pt x="19713" y="0"/>
                </a:lnTo>
                <a:lnTo>
                  <a:pt x="197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3" name=""/>
          <p:cNvSpPr/>
          <p:nvPr/>
        </p:nvSpPr>
        <p:spPr>
          <a:xfrm>
            <a:off x="11591640" y="233352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4" name=""/>
          <p:cNvSpPr/>
          <p:nvPr/>
        </p:nvSpPr>
        <p:spPr>
          <a:xfrm>
            <a:off x="590400" y="280008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5" name=""/>
          <p:cNvSpPr/>
          <p:nvPr/>
        </p:nvSpPr>
        <p:spPr>
          <a:xfrm>
            <a:off x="4505040" y="2800080"/>
            <a:ext cx="7096680" cy="10080"/>
          </a:xfrm>
          <a:custGeom>
            <a:avLst/>
            <a:gdLst/>
            <a:ahLst/>
            <a:rect l="0" t="0" r="r" b="b"/>
            <a:pathLst>
              <a:path w="19713" h="28">
                <a:moveTo>
                  <a:pt x="0" y="0"/>
                </a:moveTo>
                <a:lnTo>
                  <a:pt x="19713" y="0"/>
                </a:lnTo>
                <a:lnTo>
                  <a:pt x="197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6" name=""/>
          <p:cNvSpPr/>
          <p:nvPr/>
        </p:nvSpPr>
        <p:spPr>
          <a:xfrm>
            <a:off x="590400" y="280980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7" name=""/>
          <p:cNvSpPr/>
          <p:nvPr/>
        </p:nvSpPr>
        <p:spPr>
          <a:xfrm>
            <a:off x="4495680" y="280980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8" name=""/>
          <p:cNvSpPr/>
          <p:nvPr/>
        </p:nvSpPr>
        <p:spPr>
          <a:xfrm>
            <a:off x="11591640" y="280980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09" name=""/>
          <p:cNvSpPr/>
          <p:nvPr/>
        </p:nvSpPr>
        <p:spPr>
          <a:xfrm>
            <a:off x="590400" y="32763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0" name=""/>
          <p:cNvSpPr/>
          <p:nvPr/>
        </p:nvSpPr>
        <p:spPr>
          <a:xfrm>
            <a:off x="590400" y="326700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1" name=""/>
          <p:cNvSpPr/>
          <p:nvPr/>
        </p:nvSpPr>
        <p:spPr>
          <a:xfrm>
            <a:off x="4495680" y="32763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2" name=""/>
          <p:cNvSpPr/>
          <p:nvPr/>
        </p:nvSpPr>
        <p:spPr>
          <a:xfrm>
            <a:off x="4505040" y="3267000"/>
            <a:ext cx="7096680" cy="9720"/>
          </a:xfrm>
          <a:custGeom>
            <a:avLst/>
            <a:gdLst/>
            <a:ahLst/>
            <a:rect l="0" t="0" r="r" b="b"/>
            <a:pathLst>
              <a:path w="19713" h="27">
                <a:moveTo>
                  <a:pt x="0" y="0"/>
                </a:moveTo>
                <a:lnTo>
                  <a:pt x="19713" y="0"/>
                </a:lnTo>
                <a:lnTo>
                  <a:pt x="197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3" name=""/>
          <p:cNvSpPr/>
          <p:nvPr/>
        </p:nvSpPr>
        <p:spPr>
          <a:xfrm>
            <a:off x="11591640" y="327636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4" name=""/>
          <p:cNvSpPr/>
          <p:nvPr/>
        </p:nvSpPr>
        <p:spPr>
          <a:xfrm>
            <a:off x="590400" y="37432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5" name=""/>
          <p:cNvSpPr/>
          <p:nvPr/>
        </p:nvSpPr>
        <p:spPr>
          <a:xfrm>
            <a:off x="590400" y="373356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6" name=""/>
          <p:cNvSpPr/>
          <p:nvPr/>
        </p:nvSpPr>
        <p:spPr>
          <a:xfrm>
            <a:off x="4495680" y="37432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7" name=""/>
          <p:cNvSpPr/>
          <p:nvPr/>
        </p:nvSpPr>
        <p:spPr>
          <a:xfrm>
            <a:off x="4505040" y="3733560"/>
            <a:ext cx="7096680" cy="10080"/>
          </a:xfrm>
          <a:custGeom>
            <a:avLst/>
            <a:gdLst/>
            <a:ahLst/>
            <a:rect l="0" t="0" r="r" b="b"/>
            <a:pathLst>
              <a:path w="19713" h="28">
                <a:moveTo>
                  <a:pt x="0" y="0"/>
                </a:moveTo>
                <a:lnTo>
                  <a:pt x="19713" y="0"/>
                </a:lnTo>
                <a:lnTo>
                  <a:pt x="197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8" name=""/>
          <p:cNvSpPr/>
          <p:nvPr/>
        </p:nvSpPr>
        <p:spPr>
          <a:xfrm>
            <a:off x="11591640" y="374328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19" name=""/>
          <p:cNvSpPr/>
          <p:nvPr/>
        </p:nvSpPr>
        <p:spPr>
          <a:xfrm>
            <a:off x="590400" y="420048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0" name=""/>
          <p:cNvSpPr/>
          <p:nvPr/>
        </p:nvSpPr>
        <p:spPr>
          <a:xfrm>
            <a:off x="4505040" y="4200480"/>
            <a:ext cx="7096680" cy="9720"/>
          </a:xfrm>
          <a:custGeom>
            <a:avLst/>
            <a:gdLst/>
            <a:ahLst/>
            <a:rect l="0" t="0" r="r" b="b"/>
            <a:pathLst>
              <a:path w="19713" h="27">
                <a:moveTo>
                  <a:pt x="0" y="0"/>
                </a:moveTo>
                <a:lnTo>
                  <a:pt x="19713" y="0"/>
                </a:lnTo>
                <a:lnTo>
                  <a:pt x="197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590400" y="1576800"/>
            <a:ext cx="7477254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一つの意味に、複数の日本語を用意する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723960" y="2456280"/>
            <a:ext cx="13152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共通の意味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4629960" y="2456280"/>
            <a:ext cx="18410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指示の言い回し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723960" y="2923200"/>
            <a:ext cx="13152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偶数を残す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4629960" y="2923200"/>
            <a:ext cx="18410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偶数だけを残す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723960" y="3389760"/>
            <a:ext cx="13152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偶数を残す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4629960" y="3389760"/>
            <a:ext cx="262972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偶数の要素を取り出す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723960" y="3856320"/>
            <a:ext cx="13152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偶数を残す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4629960" y="3856320"/>
            <a:ext cx="236683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偶数の値を抽出する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590400" y="4460040"/>
            <a:ext cx="8294076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ルールと補助モデルを使い、意味を確認して教材に採用する。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590400" y="5022000"/>
            <a:ext cx="770164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訓練・検証・テストに意味を分けてから、表現を増やす。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1806200" y="6466680"/>
            <a:ext cx="174708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6" name=""/>
          <p:cNvSpPr/>
          <p:nvPr/>
        </p:nvSpPr>
        <p:spPr>
          <a:xfrm>
            <a:off x="595080" y="2643120"/>
            <a:ext cx="11001960" cy="638280"/>
          </a:xfrm>
          <a:custGeom>
            <a:avLst/>
            <a:gdLst/>
            <a:ahLst/>
            <a:rect l="0" t="0" r="r" b="b"/>
            <a:pathLst>
              <a:path w="30561" h="1773">
                <a:moveTo>
                  <a:pt x="0" y="162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5" y="0"/>
                  <a:pt x="30434" y="1"/>
                  <a:pt x="30443" y="2"/>
                </a:cubicBezTo>
                <a:cubicBezTo>
                  <a:pt x="30453" y="4"/>
                  <a:pt x="30462" y="7"/>
                  <a:pt x="30471" y="11"/>
                </a:cubicBezTo>
                <a:cubicBezTo>
                  <a:pt x="30480" y="14"/>
                  <a:pt x="30488" y="19"/>
                  <a:pt x="30496" y="24"/>
                </a:cubicBezTo>
                <a:cubicBezTo>
                  <a:pt x="30504" y="30"/>
                  <a:pt x="30511" y="36"/>
                  <a:pt x="30518" y="42"/>
                </a:cubicBezTo>
                <a:cubicBezTo>
                  <a:pt x="30525" y="49"/>
                  <a:pt x="30531" y="56"/>
                  <a:pt x="30536" y="64"/>
                </a:cubicBezTo>
                <a:cubicBezTo>
                  <a:pt x="30541" y="72"/>
                  <a:pt x="30546" y="81"/>
                  <a:pt x="30549" y="90"/>
                </a:cubicBezTo>
                <a:cubicBezTo>
                  <a:pt x="30553" y="98"/>
                  <a:pt x="30556" y="107"/>
                  <a:pt x="30558" y="117"/>
                </a:cubicBezTo>
                <a:cubicBezTo>
                  <a:pt x="30560" y="126"/>
                  <a:pt x="30561" y="136"/>
                  <a:pt x="30561" y="145"/>
                </a:cubicBezTo>
                <a:lnTo>
                  <a:pt x="30561" y="1628"/>
                </a:lnTo>
                <a:cubicBezTo>
                  <a:pt x="30561" y="1637"/>
                  <a:pt x="30560" y="1647"/>
                  <a:pt x="30558" y="1656"/>
                </a:cubicBezTo>
                <a:cubicBezTo>
                  <a:pt x="30556" y="1666"/>
                  <a:pt x="30553" y="1675"/>
                  <a:pt x="30549" y="1684"/>
                </a:cubicBezTo>
                <a:cubicBezTo>
                  <a:pt x="30546" y="1692"/>
                  <a:pt x="30541" y="1701"/>
                  <a:pt x="30536" y="1709"/>
                </a:cubicBezTo>
                <a:cubicBezTo>
                  <a:pt x="30531" y="1717"/>
                  <a:pt x="30525" y="1724"/>
                  <a:pt x="30518" y="1731"/>
                </a:cubicBezTo>
                <a:cubicBezTo>
                  <a:pt x="30511" y="1738"/>
                  <a:pt x="30504" y="1744"/>
                  <a:pt x="30496" y="1749"/>
                </a:cubicBezTo>
                <a:cubicBezTo>
                  <a:pt x="30488" y="1754"/>
                  <a:pt x="30480" y="1759"/>
                  <a:pt x="30471" y="1762"/>
                </a:cubicBezTo>
                <a:cubicBezTo>
                  <a:pt x="30462" y="1766"/>
                  <a:pt x="30453" y="1769"/>
                  <a:pt x="30443" y="1771"/>
                </a:cubicBezTo>
                <a:cubicBezTo>
                  <a:pt x="30434" y="1772"/>
                  <a:pt x="30425" y="1773"/>
                  <a:pt x="30415" y="1773"/>
                </a:cubicBezTo>
                <a:lnTo>
                  <a:pt x="146" y="1773"/>
                </a:lnTo>
                <a:cubicBezTo>
                  <a:pt x="136" y="1773"/>
                  <a:pt x="127" y="1772"/>
                  <a:pt x="117" y="1771"/>
                </a:cubicBezTo>
                <a:cubicBezTo>
                  <a:pt x="108" y="1769"/>
                  <a:pt x="99" y="1766"/>
                  <a:pt x="90" y="1762"/>
                </a:cubicBezTo>
                <a:cubicBezTo>
                  <a:pt x="81" y="1759"/>
                  <a:pt x="73" y="1754"/>
                  <a:pt x="65" y="1749"/>
                </a:cubicBezTo>
                <a:cubicBezTo>
                  <a:pt x="57" y="1744"/>
                  <a:pt x="50" y="1738"/>
                  <a:pt x="43" y="1731"/>
                </a:cubicBezTo>
                <a:cubicBezTo>
                  <a:pt x="36" y="1724"/>
                  <a:pt x="30" y="1717"/>
                  <a:pt x="25" y="1709"/>
                </a:cubicBezTo>
                <a:cubicBezTo>
                  <a:pt x="19" y="1701"/>
                  <a:pt x="15" y="1692"/>
                  <a:pt x="11" y="1684"/>
                </a:cubicBezTo>
                <a:cubicBezTo>
                  <a:pt x="8" y="1675"/>
                  <a:pt x="5" y="1666"/>
                  <a:pt x="3" y="1656"/>
                </a:cubicBezTo>
                <a:cubicBezTo>
                  <a:pt x="1" y="1647"/>
                  <a:pt x="0" y="1637"/>
                  <a:pt x="0" y="1628"/>
                </a:cubicBez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7" name=""/>
          <p:cNvSpPr/>
          <p:nvPr/>
        </p:nvSpPr>
        <p:spPr>
          <a:xfrm>
            <a:off x="595080" y="2643120"/>
            <a:ext cx="11001960" cy="638280"/>
          </a:xfrm>
          <a:custGeom>
            <a:avLst/>
            <a:gdLst/>
            <a:ahLst/>
            <a:rect l="0" t="0" r="r" b="b"/>
            <a:pathLst>
              <a:path w="30561" h="1773">
                <a:moveTo>
                  <a:pt x="0" y="162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5" y="0"/>
                  <a:pt x="30434" y="1"/>
                  <a:pt x="30443" y="2"/>
                </a:cubicBezTo>
                <a:cubicBezTo>
                  <a:pt x="30453" y="4"/>
                  <a:pt x="30462" y="7"/>
                  <a:pt x="30471" y="11"/>
                </a:cubicBezTo>
                <a:cubicBezTo>
                  <a:pt x="30480" y="14"/>
                  <a:pt x="30488" y="19"/>
                  <a:pt x="30496" y="24"/>
                </a:cubicBezTo>
                <a:cubicBezTo>
                  <a:pt x="30504" y="30"/>
                  <a:pt x="30511" y="36"/>
                  <a:pt x="30518" y="42"/>
                </a:cubicBezTo>
                <a:cubicBezTo>
                  <a:pt x="30525" y="49"/>
                  <a:pt x="30531" y="56"/>
                  <a:pt x="30536" y="64"/>
                </a:cubicBezTo>
                <a:cubicBezTo>
                  <a:pt x="30541" y="72"/>
                  <a:pt x="30546" y="81"/>
                  <a:pt x="30549" y="90"/>
                </a:cubicBezTo>
                <a:cubicBezTo>
                  <a:pt x="30553" y="98"/>
                  <a:pt x="30556" y="107"/>
                  <a:pt x="30558" y="117"/>
                </a:cubicBezTo>
                <a:cubicBezTo>
                  <a:pt x="30560" y="126"/>
                  <a:pt x="30561" y="136"/>
                  <a:pt x="30561" y="145"/>
                </a:cubicBezTo>
                <a:lnTo>
                  <a:pt x="30561" y="1628"/>
                </a:lnTo>
                <a:cubicBezTo>
                  <a:pt x="30561" y="1637"/>
                  <a:pt x="30560" y="1647"/>
                  <a:pt x="30558" y="1656"/>
                </a:cubicBezTo>
                <a:cubicBezTo>
                  <a:pt x="30556" y="1666"/>
                  <a:pt x="30553" y="1675"/>
                  <a:pt x="30549" y="1684"/>
                </a:cubicBezTo>
                <a:cubicBezTo>
                  <a:pt x="30546" y="1692"/>
                  <a:pt x="30541" y="1701"/>
                  <a:pt x="30536" y="1709"/>
                </a:cubicBezTo>
                <a:cubicBezTo>
                  <a:pt x="30531" y="1717"/>
                  <a:pt x="30525" y="1724"/>
                  <a:pt x="30518" y="1731"/>
                </a:cubicBezTo>
                <a:cubicBezTo>
                  <a:pt x="30511" y="1738"/>
                  <a:pt x="30504" y="1744"/>
                  <a:pt x="30496" y="1749"/>
                </a:cubicBezTo>
                <a:cubicBezTo>
                  <a:pt x="30488" y="1754"/>
                  <a:pt x="30480" y="1759"/>
                  <a:pt x="30471" y="1762"/>
                </a:cubicBezTo>
                <a:cubicBezTo>
                  <a:pt x="30462" y="1766"/>
                  <a:pt x="30453" y="1769"/>
                  <a:pt x="30443" y="1771"/>
                </a:cubicBezTo>
                <a:cubicBezTo>
                  <a:pt x="30434" y="1772"/>
                  <a:pt x="30425" y="1773"/>
                  <a:pt x="30415" y="1773"/>
                </a:cubicBezTo>
                <a:lnTo>
                  <a:pt x="146" y="1773"/>
                </a:lnTo>
                <a:cubicBezTo>
                  <a:pt x="136" y="1773"/>
                  <a:pt x="127" y="1772"/>
                  <a:pt x="117" y="1771"/>
                </a:cubicBezTo>
                <a:cubicBezTo>
                  <a:pt x="108" y="1769"/>
                  <a:pt x="99" y="1766"/>
                  <a:pt x="90" y="1762"/>
                </a:cubicBezTo>
                <a:cubicBezTo>
                  <a:pt x="81" y="1759"/>
                  <a:pt x="73" y="1754"/>
                  <a:pt x="65" y="1749"/>
                </a:cubicBezTo>
                <a:cubicBezTo>
                  <a:pt x="57" y="1744"/>
                  <a:pt x="50" y="1738"/>
                  <a:pt x="43" y="1731"/>
                </a:cubicBezTo>
                <a:cubicBezTo>
                  <a:pt x="36" y="1724"/>
                  <a:pt x="30" y="1717"/>
                  <a:pt x="25" y="1709"/>
                </a:cubicBezTo>
                <a:cubicBezTo>
                  <a:pt x="19" y="1701"/>
                  <a:pt x="15" y="1692"/>
                  <a:pt x="11" y="1684"/>
                </a:cubicBezTo>
                <a:cubicBezTo>
                  <a:pt x="8" y="1675"/>
                  <a:pt x="5" y="1666"/>
                  <a:pt x="3" y="1656"/>
                </a:cubicBezTo>
                <a:cubicBezTo>
                  <a:pt x="1" y="1647"/>
                  <a:pt x="0" y="1637"/>
                  <a:pt x="0" y="1628"/>
                </a:cubicBezTo>
                <a:close/>
              </a:path>
            </a:pathLst>
          </a:custGeom>
          <a:noFill/>
          <a:ln w="9360">
            <a:solidFill>
              <a:srgbClr val="D8E1E9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8" name=""/>
          <p:cNvSpPr/>
          <p:nvPr/>
        </p:nvSpPr>
        <p:spPr>
          <a:xfrm>
            <a:off x="595080" y="3443040"/>
            <a:ext cx="11001960" cy="1591200"/>
          </a:xfrm>
          <a:custGeom>
            <a:avLst/>
            <a:gdLst/>
            <a:ahLst/>
            <a:rect l="0" t="0" r="r" b="b"/>
            <a:pathLst>
              <a:path w="30561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5" y="0"/>
                  <a:pt x="30434" y="1"/>
                  <a:pt x="30443" y="3"/>
                </a:cubicBezTo>
                <a:cubicBezTo>
                  <a:pt x="30453" y="5"/>
                  <a:pt x="30462" y="8"/>
                  <a:pt x="30471" y="11"/>
                </a:cubicBezTo>
                <a:cubicBezTo>
                  <a:pt x="30480" y="15"/>
                  <a:pt x="30488" y="19"/>
                  <a:pt x="30496" y="25"/>
                </a:cubicBezTo>
                <a:cubicBezTo>
                  <a:pt x="30504" y="30"/>
                  <a:pt x="30511" y="36"/>
                  <a:pt x="30518" y="43"/>
                </a:cubicBezTo>
                <a:cubicBezTo>
                  <a:pt x="30525" y="50"/>
                  <a:pt x="30531" y="57"/>
                  <a:pt x="30536" y="65"/>
                </a:cubicBezTo>
                <a:cubicBezTo>
                  <a:pt x="30541" y="73"/>
                  <a:pt x="30546" y="81"/>
                  <a:pt x="30549" y="90"/>
                </a:cubicBezTo>
                <a:cubicBezTo>
                  <a:pt x="30553" y="99"/>
                  <a:pt x="30556" y="108"/>
                  <a:pt x="30558" y="117"/>
                </a:cubicBezTo>
                <a:cubicBezTo>
                  <a:pt x="30560" y="127"/>
                  <a:pt x="30561" y="136"/>
                  <a:pt x="30561" y="146"/>
                </a:cubicBezTo>
                <a:lnTo>
                  <a:pt x="30561" y="4274"/>
                </a:lnTo>
                <a:cubicBezTo>
                  <a:pt x="30561" y="4284"/>
                  <a:pt x="30560" y="4293"/>
                  <a:pt x="30558" y="4303"/>
                </a:cubicBezTo>
                <a:cubicBezTo>
                  <a:pt x="30556" y="4312"/>
                  <a:pt x="30553" y="4321"/>
                  <a:pt x="30549" y="4330"/>
                </a:cubicBezTo>
                <a:cubicBezTo>
                  <a:pt x="30546" y="4339"/>
                  <a:pt x="30541" y="4347"/>
                  <a:pt x="30536" y="4355"/>
                </a:cubicBezTo>
                <a:cubicBezTo>
                  <a:pt x="30531" y="4363"/>
                  <a:pt x="30525" y="4370"/>
                  <a:pt x="30518" y="4377"/>
                </a:cubicBezTo>
                <a:cubicBezTo>
                  <a:pt x="30511" y="4384"/>
                  <a:pt x="30504" y="4390"/>
                  <a:pt x="30496" y="4395"/>
                </a:cubicBezTo>
                <a:cubicBezTo>
                  <a:pt x="30488" y="4401"/>
                  <a:pt x="30480" y="4405"/>
                  <a:pt x="30471" y="4409"/>
                </a:cubicBezTo>
                <a:cubicBezTo>
                  <a:pt x="30462" y="4412"/>
                  <a:pt x="30453" y="4415"/>
                  <a:pt x="30443" y="4417"/>
                </a:cubicBezTo>
                <a:cubicBezTo>
                  <a:pt x="30434" y="4419"/>
                  <a:pt x="30425" y="4420"/>
                  <a:pt x="30415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7" y="4417"/>
                </a:cubicBezTo>
                <a:cubicBezTo>
                  <a:pt x="108" y="4415"/>
                  <a:pt x="99" y="4412"/>
                  <a:pt x="90" y="4409"/>
                </a:cubicBezTo>
                <a:cubicBezTo>
                  <a:pt x="81" y="4405"/>
                  <a:pt x="73" y="4401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0"/>
                  <a:pt x="30" y="4363"/>
                  <a:pt x="25" y="4355"/>
                </a:cubicBezTo>
                <a:cubicBezTo>
                  <a:pt x="19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39" name=""/>
          <p:cNvSpPr/>
          <p:nvPr/>
        </p:nvSpPr>
        <p:spPr>
          <a:xfrm>
            <a:off x="595080" y="3443040"/>
            <a:ext cx="11001960" cy="1591200"/>
          </a:xfrm>
          <a:custGeom>
            <a:avLst/>
            <a:gdLst/>
            <a:ahLst/>
            <a:rect l="0" t="0" r="r" b="b"/>
            <a:pathLst>
              <a:path w="30561" h="4420">
                <a:moveTo>
                  <a:pt x="0" y="427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5" y="0"/>
                  <a:pt x="30434" y="1"/>
                  <a:pt x="30443" y="3"/>
                </a:cubicBezTo>
                <a:cubicBezTo>
                  <a:pt x="30453" y="5"/>
                  <a:pt x="30462" y="8"/>
                  <a:pt x="30471" y="11"/>
                </a:cubicBezTo>
                <a:cubicBezTo>
                  <a:pt x="30480" y="15"/>
                  <a:pt x="30488" y="19"/>
                  <a:pt x="30496" y="25"/>
                </a:cubicBezTo>
                <a:cubicBezTo>
                  <a:pt x="30504" y="30"/>
                  <a:pt x="30511" y="36"/>
                  <a:pt x="30518" y="43"/>
                </a:cubicBezTo>
                <a:cubicBezTo>
                  <a:pt x="30525" y="50"/>
                  <a:pt x="30531" y="57"/>
                  <a:pt x="30536" y="65"/>
                </a:cubicBezTo>
                <a:cubicBezTo>
                  <a:pt x="30541" y="73"/>
                  <a:pt x="30546" y="81"/>
                  <a:pt x="30549" y="90"/>
                </a:cubicBezTo>
                <a:cubicBezTo>
                  <a:pt x="30553" y="99"/>
                  <a:pt x="30556" y="108"/>
                  <a:pt x="30558" y="117"/>
                </a:cubicBezTo>
                <a:cubicBezTo>
                  <a:pt x="30560" y="127"/>
                  <a:pt x="30561" y="136"/>
                  <a:pt x="30561" y="146"/>
                </a:cubicBezTo>
                <a:lnTo>
                  <a:pt x="30561" y="4274"/>
                </a:lnTo>
                <a:cubicBezTo>
                  <a:pt x="30561" y="4284"/>
                  <a:pt x="30560" y="4293"/>
                  <a:pt x="30558" y="4303"/>
                </a:cubicBezTo>
                <a:cubicBezTo>
                  <a:pt x="30556" y="4312"/>
                  <a:pt x="30553" y="4321"/>
                  <a:pt x="30549" y="4330"/>
                </a:cubicBezTo>
                <a:cubicBezTo>
                  <a:pt x="30546" y="4339"/>
                  <a:pt x="30541" y="4347"/>
                  <a:pt x="30536" y="4355"/>
                </a:cubicBezTo>
                <a:cubicBezTo>
                  <a:pt x="30531" y="4363"/>
                  <a:pt x="30525" y="4370"/>
                  <a:pt x="30518" y="4377"/>
                </a:cubicBezTo>
                <a:cubicBezTo>
                  <a:pt x="30511" y="4384"/>
                  <a:pt x="30504" y="4390"/>
                  <a:pt x="30496" y="4395"/>
                </a:cubicBezTo>
                <a:cubicBezTo>
                  <a:pt x="30488" y="4401"/>
                  <a:pt x="30480" y="4405"/>
                  <a:pt x="30471" y="4409"/>
                </a:cubicBezTo>
                <a:cubicBezTo>
                  <a:pt x="30462" y="4412"/>
                  <a:pt x="30453" y="4415"/>
                  <a:pt x="30443" y="4417"/>
                </a:cubicBezTo>
                <a:cubicBezTo>
                  <a:pt x="30434" y="4419"/>
                  <a:pt x="30425" y="4420"/>
                  <a:pt x="30415" y="4420"/>
                </a:cubicBezTo>
                <a:lnTo>
                  <a:pt x="146" y="4420"/>
                </a:lnTo>
                <a:cubicBezTo>
                  <a:pt x="136" y="4420"/>
                  <a:pt x="127" y="4419"/>
                  <a:pt x="117" y="4417"/>
                </a:cubicBezTo>
                <a:cubicBezTo>
                  <a:pt x="108" y="4415"/>
                  <a:pt x="99" y="4412"/>
                  <a:pt x="90" y="4409"/>
                </a:cubicBezTo>
                <a:cubicBezTo>
                  <a:pt x="81" y="4405"/>
                  <a:pt x="73" y="4401"/>
                  <a:pt x="65" y="4395"/>
                </a:cubicBezTo>
                <a:cubicBezTo>
                  <a:pt x="57" y="4390"/>
                  <a:pt x="50" y="4384"/>
                  <a:pt x="43" y="4377"/>
                </a:cubicBezTo>
                <a:cubicBezTo>
                  <a:pt x="36" y="4370"/>
                  <a:pt x="30" y="4363"/>
                  <a:pt x="25" y="4355"/>
                </a:cubicBezTo>
                <a:cubicBezTo>
                  <a:pt x="19" y="4347"/>
                  <a:pt x="15" y="4339"/>
                  <a:pt x="11" y="4330"/>
                </a:cubicBezTo>
                <a:cubicBezTo>
                  <a:pt x="8" y="4321"/>
                  <a:pt x="5" y="4312"/>
                  <a:pt x="3" y="4303"/>
                </a:cubicBezTo>
                <a:cubicBezTo>
                  <a:pt x="1" y="4293"/>
                  <a:pt x="0" y="4284"/>
                  <a:pt x="0" y="4274"/>
                </a:cubicBezTo>
                <a:close/>
              </a:path>
            </a:pathLst>
          </a:custGeom>
          <a:noFill/>
          <a:ln w="9360">
            <a:solidFill>
              <a:srgbClr val="D8E1E9"/>
            </a:solidFill>
            <a:miter/>
          </a:ln>
        </p:spPr>
        <p:txBody>
          <a:bodyPr lIns="4680" tIns="4680" rIns="4680" bIns="468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590400" y="1319760"/>
            <a:ext cx="6231528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コードの書き方にも変化を付ける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590400" y="2145240"/>
            <a:ext cx="5924754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どちらも「偶数だけを残す」正しい書き方。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809640" y="2825640"/>
            <a:ext cx="577447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result = [x </a:t>
            </a:r>
            <a:r>
              <a:rPr lang="en-US" sz="1729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for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 </a:t>
            </a:r>
            <a:r>
              <a:rPr lang="en-US" sz="1729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xs </a:t>
            </a:r>
            <a:r>
              <a:rPr lang="en-US" sz="1729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if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 % </a:t>
            </a:r>
            <a:r>
              <a:rPr lang="en-US" sz="1729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2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== </a:t>
            </a:r>
            <a:r>
              <a:rPr lang="en-US" sz="1729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809640" y="3625920"/>
            <a:ext cx="1672146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result = []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809640" y="3940200"/>
            <a:ext cx="182408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for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 </a:t>
            </a:r>
            <a:r>
              <a:rPr lang="en-US" sz="1729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xs: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809640" y="4263840"/>
            <a:ext cx="273571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729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if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x % </a:t>
            </a:r>
            <a:r>
              <a:rPr lang="en-US" sz="1729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2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== </a:t>
            </a:r>
            <a:r>
              <a:rPr lang="en-US" sz="1729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0</a:t>
            </a:r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809640" y="4578120"/>
            <a:ext cx="36473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result.append(x)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590400" y="5269680"/>
            <a:ext cx="710920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文字列が同じかではなく、動作が同じかを重視する。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2" name=""/>
          <p:cNvSpPr/>
          <p:nvPr/>
        </p:nvSpPr>
        <p:spPr>
          <a:xfrm>
            <a:off x="599760" y="2676240"/>
            <a:ext cx="4410720" cy="467280"/>
          </a:xfrm>
          <a:custGeom>
            <a:avLst/>
            <a:gdLst/>
            <a:ahLst/>
            <a:rect l="0" t="0" r="r" b="b"/>
            <a:pathLst>
              <a:path w="12252" h="1298">
                <a:moveTo>
                  <a:pt x="0" y="0"/>
                </a:moveTo>
                <a:lnTo>
                  <a:pt x="12252" y="0"/>
                </a:lnTo>
                <a:lnTo>
                  <a:pt x="1225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3" name=""/>
          <p:cNvSpPr/>
          <p:nvPr/>
        </p:nvSpPr>
        <p:spPr>
          <a:xfrm>
            <a:off x="5010120" y="2676240"/>
            <a:ext cx="6591600" cy="467280"/>
          </a:xfrm>
          <a:custGeom>
            <a:avLst/>
            <a:gdLst/>
            <a:ahLst/>
            <a:rect l="0" t="0" r="r" b="b"/>
            <a:pathLst>
              <a:path w="18310" h="1298">
                <a:moveTo>
                  <a:pt x="0" y="0"/>
                </a:moveTo>
                <a:lnTo>
                  <a:pt x="18310" y="0"/>
                </a:lnTo>
                <a:lnTo>
                  <a:pt x="1831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4" name=""/>
          <p:cNvSpPr/>
          <p:nvPr/>
        </p:nvSpPr>
        <p:spPr>
          <a:xfrm>
            <a:off x="599760" y="2676240"/>
            <a:ext cx="4410720" cy="467280"/>
          </a:xfrm>
          <a:custGeom>
            <a:avLst/>
            <a:gdLst/>
            <a:ahLst/>
            <a:rect l="0" t="0" r="r" b="b"/>
            <a:pathLst>
              <a:path w="12252" h="1298">
                <a:moveTo>
                  <a:pt x="0" y="0"/>
                </a:moveTo>
                <a:lnTo>
                  <a:pt x="12252" y="0"/>
                </a:lnTo>
                <a:lnTo>
                  <a:pt x="1225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5" name=""/>
          <p:cNvSpPr/>
          <p:nvPr/>
        </p:nvSpPr>
        <p:spPr>
          <a:xfrm>
            <a:off x="5010120" y="2676240"/>
            <a:ext cx="6591600" cy="467280"/>
          </a:xfrm>
          <a:custGeom>
            <a:avLst/>
            <a:gdLst/>
            <a:ahLst/>
            <a:rect l="0" t="0" r="r" b="b"/>
            <a:pathLst>
              <a:path w="18310" h="1298">
                <a:moveTo>
                  <a:pt x="0" y="0"/>
                </a:moveTo>
                <a:lnTo>
                  <a:pt x="18310" y="0"/>
                </a:lnTo>
                <a:lnTo>
                  <a:pt x="1831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6" name=""/>
          <p:cNvSpPr/>
          <p:nvPr/>
        </p:nvSpPr>
        <p:spPr>
          <a:xfrm>
            <a:off x="599760" y="3143160"/>
            <a:ext cx="4410720" cy="466920"/>
          </a:xfrm>
          <a:custGeom>
            <a:avLst/>
            <a:gdLst/>
            <a:ahLst/>
            <a:rect l="0" t="0" r="r" b="b"/>
            <a:pathLst>
              <a:path w="12252" h="1297">
                <a:moveTo>
                  <a:pt x="0" y="0"/>
                </a:moveTo>
                <a:lnTo>
                  <a:pt x="12252" y="0"/>
                </a:lnTo>
                <a:lnTo>
                  <a:pt x="1225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7" name=""/>
          <p:cNvSpPr/>
          <p:nvPr/>
        </p:nvSpPr>
        <p:spPr>
          <a:xfrm>
            <a:off x="5010120" y="3143160"/>
            <a:ext cx="6591600" cy="466920"/>
          </a:xfrm>
          <a:custGeom>
            <a:avLst/>
            <a:gdLst/>
            <a:ahLst/>
            <a:rect l="0" t="0" r="r" b="b"/>
            <a:pathLst>
              <a:path w="18310" h="1297">
                <a:moveTo>
                  <a:pt x="0" y="0"/>
                </a:moveTo>
                <a:lnTo>
                  <a:pt x="18310" y="0"/>
                </a:lnTo>
                <a:lnTo>
                  <a:pt x="1831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8" name=""/>
          <p:cNvSpPr/>
          <p:nvPr/>
        </p:nvSpPr>
        <p:spPr>
          <a:xfrm>
            <a:off x="599760" y="3609720"/>
            <a:ext cx="4410720" cy="467280"/>
          </a:xfrm>
          <a:custGeom>
            <a:avLst/>
            <a:gdLst/>
            <a:ahLst/>
            <a:rect l="0" t="0" r="r" b="b"/>
            <a:pathLst>
              <a:path w="12252" h="1298">
                <a:moveTo>
                  <a:pt x="0" y="0"/>
                </a:moveTo>
                <a:lnTo>
                  <a:pt x="12252" y="0"/>
                </a:lnTo>
                <a:lnTo>
                  <a:pt x="1225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59" name=""/>
          <p:cNvSpPr/>
          <p:nvPr/>
        </p:nvSpPr>
        <p:spPr>
          <a:xfrm>
            <a:off x="5010120" y="3609720"/>
            <a:ext cx="6591600" cy="467280"/>
          </a:xfrm>
          <a:custGeom>
            <a:avLst/>
            <a:gdLst/>
            <a:ahLst/>
            <a:rect l="0" t="0" r="r" b="b"/>
            <a:pathLst>
              <a:path w="18310" h="1298">
                <a:moveTo>
                  <a:pt x="0" y="0"/>
                </a:moveTo>
                <a:lnTo>
                  <a:pt x="18310" y="0"/>
                </a:lnTo>
                <a:lnTo>
                  <a:pt x="1831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0" name=""/>
          <p:cNvSpPr/>
          <p:nvPr/>
        </p:nvSpPr>
        <p:spPr>
          <a:xfrm>
            <a:off x="599760" y="4076640"/>
            <a:ext cx="4410720" cy="466920"/>
          </a:xfrm>
          <a:custGeom>
            <a:avLst/>
            <a:gdLst/>
            <a:ahLst/>
            <a:rect l="0" t="0" r="r" b="b"/>
            <a:pathLst>
              <a:path w="12252" h="1297">
                <a:moveTo>
                  <a:pt x="0" y="0"/>
                </a:moveTo>
                <a:lnTo>
                  <a:pt x="12252" y="0"/>
                </a:lnTo>
                <a:lnTo>
                  <a:pt x="1225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1" name=""/>
          <p:cNvSpPr/>
          <p:nvPr/>
        </p:nvSpPr>
        <p:spPr>
          <a:xfrm>
            <a:off x="5010120" y="4076640"/>
            <a:ext cx="6591600" cy="466920"/>
          </a:xfrm>
          <a:custGeom>
            <a:avLst/>
            <a:gdLst/>
            <a:ahLst/>
            <a:rect l="0" t="0" r="r" b="b"/>
            <a:pathLst>
              <a:path w="18310" h="1297">
                <a:moveTo>
                  <a:pt x="0" y="0"/>
                </a:moveTo>
                <a:lnTo>
                  <a:pt x="18310" y="0"/>
                </a:lnTo>
                <a:lnTo>
                  <a:pt x="1831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2" name=""/>
          <p:cNvSpPr/>
          <p:nvPr/>
        </p:nvSpPr>
        <p:spPr>
          <a:xfrm>
            <a:off x="599760" y="4543200"/>
            <a:ext cx="4410720" cy="467280"/>
          </a:xfrm>
          <a:custGeom>
            <a:avLst/>
            <a:gdLst/>
            <a:ahLst/>
            <a:rect l="0" t="0" r="r" b="b"/>
            <a:pathLst>
              <a:path w="12252" h="1298">
                <a:moveTo>
                  <a:pt x="0" y="0"/>
                </a:moveTo>
                <a:lnTo>
                  <a:pt x="12252" y="0"/>
                </a:lnTo>
                <a:lnTo>
                  <a:pt x="1225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3" name=""/>
          <p:cNvSpPr/>
          <p:nvPr/>
        </p:nvSpPr>
        <p:spPr>
          <a:xfrm>
            <a:off x="5010120" y="4543200"/>
            <a:ext cx="6591600" cy="467280"/>
          </a:xfrm>
          <a:custGeom>
            <a:avLst/>
            <a:gdLst/>
            <a:ahLst/>
            <a:rect l="0" t="0" r="r" b="b"/>
            <a:pathLst>
              <a:path w="18310" h="1298">
                <a:moveTo>
                  <a:pt x="0" y="0"/>
                </a:moveTo>
                <a:lnTo>
                  <a:pt x="18310" y="0"/>
                </a:lnTo>
                <a:lnTo>
                  <a:pt x="1831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4" name=""/>
          <p:cNvSpPr/>
          <p:nvPr/>
        </p:nvSpPr>
        <p:spPr>
          <a:xfrm>
            <a:off x="590400" y="26668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5" name=""/>
          <p:cNvSpPr/>
          <p:nvPr/>
        </p:nvSpPr>
        <p:spPr>
          <a:xfrm>
            <a:off x="590400" y="2666880"/>
            <a:ext cx="4429440" cy="9720"/>
          </a:xfrm>
          <a:custGeom>
            <a:avLst/>
            <a:gdLst/>
            <a:ahLst/>
            <a:rect l="0" t="0" r="r" b="b"/>
            <a:pathLst>
              <a:path w="12304" h="27">
                <a:moveTo>
                  <a:pt x="0" y="0"/>
                </a:moveTo>
                <a:lnTo>
                  <a:pt x="12304" y="0"/>
                </a:lnTo>
                <a:lnTo>
                  <a:pt x="12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6" name=""/>
          <p:cNvSpPr/>
          <p:nvPr/>
        </p:nvSpPr>
        <p:spPr>
          <a:xfrm>
            <a:off x="5010120" y="26668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7" name=""/>
          <p:cNvSpPr/>
          <p:nvPr/>
        </p:nvSpPr>
        <p:spPr>
          <a:xfrm>
            <a:off x="5019480" y="2666880"/>
            <a:ext cx="6582240" cy="9720"/>
          </a:xfrm>
          <a:custGeom>
            <a:avLst/>
            <a:gdLst/>
            <a:ahLst/>
            <a:rect l="0" t="0" r="r" b="b"/>
            <a:pathLst>
              <a:path w="18284" h="27">
                <a:moveTo>
                  <a:pt x="0" y="0"/>
                </a:moveTo>
                <a:lnTo>
                  <a:pt x="18284" y="0"/>
                </a:lnTo>
                <a:lnTo>
                  <a:pt x="182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8" name=""/>
          <p:cNvSpPr/>
          <p:nvPr/>
        </p:nvSpPr>
        <p:spPr>
          <a:xfrm>
            <a:off x="11591640" y="2666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69" name=""/>
          <p:cNvSpPr/>
          <p:nvPr/>
        </p:nvSpPr>
        <p:spPr>
          <a:xfrm>
            <a:off x="590400" y="3133440"/>
            <a:ext cx="4429440" cy="10080"/>
          </a:xfrm>
          <a:custGeom>
            <a:avLst/>
            <a:gdLst/>
            <a:ahLst/>
            <a:rect l="0" t="0" r="r" b="b"/>
            <a:pathLst>
              <a:path w="12304" h="28">
                <a:moveTo>
                  <a:pt x="0" y="0"/>
                </a:moveTo>
                <a:lnTo>
                  <a:pt x="12304" y="0"/>
                </a:lnTo>
                <a:lnTo>
                  <a:pt x="12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0" name=""/>
          <p:cNvSpPr/>
          <p:nvPr/>
        </p:nvSpPr>
        <p:spPr>
          <a:xfrm>
            <a:off x="5019480" y="3133440"/>
            <a:ext cx="6582240" cy="10080"/>
          </a:xfrm>
          <a:custGeom>
            <a:avLst/>
            <a:gdLst/>
            <a:ahLst/>
            <a:rect l="0" t="0" r="r" b="b"/>
            <a:pathLst>
              <a:path w="18284" h="28">
                <a:moveTo>
                  <a:pt x="0" y="0"/>
                </a:moveTo>
                <a:lnTo>
                  <a:pt x="18284" y="0"/>
                </a:lnTo>
                <a:lnTo>
                  <a:pt x="182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1" name=""/>
          <p:cNvSpPr/>
          <p:nvPr/>
        </p:nvSpPr>
        <p:spPr>
          <a:xfrm>
            <a:off x="590400" y="314316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2" name=""/>
          <p:cNvSpPr/>
          <p:nvPr/>
        </p:nvSpPr>
        <p:spPr>
          <a:xfrm>
            <a:off x="5010120" y="314316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3" name=""/>
          <p:cNvSpPr/>
          <p:nvPr/>
        </p:nvSpPr>
        <p:spPr>
          <a:xfrm>
            <a:off x="11591640" y="31431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4" name=""/>
          <p:cNvSpPr/>
          <p:nvPr/>
        </p:nvSpPr>
        <p:spPr>
          <a:xfrm>
            <a:off x="590400" y="36097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5" name=""/>
          <p:cNvSpPr/>
          <p:nvPr/>
        </p:nvSpPr>
        <p:spPr>
          <a:xfrm>
            <a:off x="590400" y="3600360"/>
            <a:ext cx="4429440" cy="9720"/>
          </a:xfrm>
          <a:custGeom>
            <a:avLst/>
            <a:gdLst/>
            <a:ahLst/>
            <a:rect l="0" t="0" r="r" b="b"/>
            <a:pathLst>
              <a:path w="12304" h="27">
                <a:moveTo>
                  <a:pt x="0" y="0"/>
                </a:moveTo>
                <a:lnTo>
                  <a:pt x="12304" y="0"/>
                </a:lnTo>
                <a:lnTo>
                  <a:pt x="12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6" name=""/>
          <p:cNvSpPr/>
          <p:nvPr/>
        </p:nvSpPr>
        <p:spPr>
          <a:xfrm>
            <a:off x="5010120" y="36097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7" name=""/>
          <p:cNvSpPr/>
          <p:nvPr/>
        </p:nvSpPr>
        <p:spPr>
          <a:xfrm>
            <a:off x="5019480" y="3600360"/>
            <a:ext cx="6582240" cy="9720"/>
          </a:xfrm>
          <a:custGeom>
            <a:avLst/>
            <a:gdLst/>
            <a:ahLst/>
            <a:rect l="0" t="0" r="r" b="b"/>
            <a:pathLst>
              <a:path w="18284" h="27">
                <a:moveTo>
                  <a:pt x="0" y="0"/>
                </a:moveTo>
                <a:lnTo>
                  <a:pt x="18284" y="0"/>
                </a:lnTo>
                <a:lnTo>
                  <a:pt x="182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8" name=""/>
          <p:cNvSpPr/>
          <p:nvPr/>
        </p:nvSpPr>
        <p:spPr>
          <a:xfrm>
            <a:off x="1159164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79" name=""/>
          <p:cNvSpPr/>
          <p:nvPr/>
        </p:nvSpPr>
        <p:spPr>
          <a:xfrm>
            <a:off x="590400" y="40766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0" name=""/>
          <p:cNvSpPr/>
          <p:nvPr/>
        </p:nvSpPr>
        <p:spPr>
          <a:xfrm>
            <a:off x="590400" y="4066920"/>
            <a:ext cx="4429440" cy="10080"/>
          </a:xfrm>
          <a:custGeom>
            <a:avLst/>
            <a:gdLst/>
            <a:ahLst/>
            <a:rect l="0" t="0" r="r" b="b"/>
            <a:pathLst>
              <a:path w="12304" h="28">
                <a:moveTo>
                  <a:pt x="0" y="0"/>
                </a:moveTo>
                <a:lnTo>
                  <a:pt x="12304" y="0"/>
                </a:lnTo>
                <a:lnTo>
                  <a:pt x="12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1" name=""/>
          <p:cNvSpPr/>
          <p:nvPr/>
        </p:nvSpPr>
        <p:spPr>
          <a:xfrm>
            <a:off x="5010120" y="40766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2" name=""/>
          <p:cNvSpPr/>
          <p:nvPr/>
        </p:nvSpPr>
        <p:spPr>
          <a:xfrm>
            <a:off x="5019480" y="4066920"/>
            <a:ext cx="6582240" cy="10080"/>
          </a:xfrm>
          <a:custGeom>
            <a:avLst/>
            <a:gdLst/>
            <a:ahLst/>
            <a:rect l="0" t="0" r="r" b="b"/>
            <a:pathLst>
              <a:path w="18284" h="28">
                <a:moveTo>
                  <a:pt x="0" y="0"/>
                </a:moveTo>
                <a:lnTo>
                  <a:pt x="18284" y="0"/>
                </a:lnTo>
                <a:lnTo>
                  <a:pt x="182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3" name=""/>
          <p:cNvSpPr/>
          <p:nvPr/>
        </p:nvSpPr>
        <p:spPr>
          <a:xfrm>
            <a:off x="11591640" y="40766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4" name=""/>
          <p:cNvSpPr/>
          <p:nvPr/>
        </p:nvSpPr>
        <p:spPr>
          <a:xfrm>
            <a:off x="590400" y="454320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5" name=""/>
          <p:cNvSpPr/>
          <p:nvPr/>
        </p:nvSpPr>
        <p:spPr>
          <a:xfrm>
            <a:off x="590400" y="4533840"/>
            <a:ext cx="4429440" cy="9720"/>
          </a:xfrm>
          <a:custGeom>
            <a:avLst/>
            <a:gdLst/>
            <a:ahLst/>
            <a:rect l="0" t="0" r="r" b="b"/>
            <a:pathLst>
              <a:path w="12304" h="27">
                <a:moveTo>
                  <a:pt x="0" y="0"/>
                </a:moveTo>
                <a:lnTo>
                  <a:pt x="12304" y="0"/>
                </a:lnTo>
                <a:lnTo>
                  <a:pt x="12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6" name=""/>
          <p:cNvSpPr/>
          <p:nvPr/>
        </p:nvSpPr>
        <p:spPr>
          <a:xfrm>
            <a:off x="5010120" y="454320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7" name=""/>
          <p:cNvSpPr/>
          <p:nvPr/>
        </p:nvSpPr>
        <p:spPr>
          <a:xfrm>
            <a:off x="5019480" y="4533840"/>
            <a:ext cx="6582240" cy="9720"/>
          </a:xfrm>
          <a:custGeom>
            <a:avLst/>
            <a:gdLst/>
            <a:ahLst/>
            <a:rect l="0" t="0" r="r" b="b"/>
            <a:pathLst>
              <a:path w="18284" h="27">
                <a:moveTo>
                  <a:pt x="0" y="0"/>
                </a:moveTo>
                <a:lnTo>
                  <a:pt x="18284" y="0"/>
                </a:lnTo>
                <a:lnTo>
                  <a:pt x="182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8" name=""/>
          <p:cNvSpPr/>
          <p:nvPr/>
        </p:nvSpPr>
        <p:spPr>
          <a:xfrm>
            <a:off x="11591640" y="454320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89" name=""/>
          <p:cNvSpPr/>
          <p:nvPr/>
        </p:nvSpPr>
        <p:spPr>
          <a:xfrm>
            <a:off x="590400" y="5000400"/>
            <a:ext cx="4429440" cy="10080"/>
          </a:xfrm>
          <a:custGeom>
            <a:avLst/>
            <a:gdLst/>
            <a:ahLst/>
            <a:rect l="0" t="0" r="r" b="b"/>
            <a:pathLst>
              <a:path w="12304" h="28">
                <a:moveTo>
                  <a:pt x="0" y="0"/>
                </a:moveTo>
                <a:lnTo>
                  <a:pt x="12304" y="0"/>
                </a:lnTo>
                <a:lnTo>
                  <a:pt x="12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0" name=""/>
          <p:cNvSpPr/>
          <p:nvPr/>
        </p:nvSpPr>
        <p:spPr>
          <a:xfrm>
            <a:off x="5019480" y="5000400"/>
            <a:ext cx="6582240" cy="10080"/>
          </a:xfrm>
          <a:custGeom>
            <a:avLst/>
            <a:gdLst/>
            <a:ahLst/>
            <a:rect l="0" t="0" r="r" b="b"/>
            <a:pathLst>
              <a:path w="18284" h="28">
                <a:moveTo>
                  <a:pt x="0" y="0"/>
                </a:moveTo>
                <a:lnTo>
                  <a:pt x="18284" y="0"/>
                </a:lnTo>
                <a:lnTo>
                  <a:pt x="182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90400" y="1329480"/>
            <a:ext cx="5981886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学習に使った教材は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192,900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件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590400" y="2154960"/>
            <a:ext cx="6415344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件は「日本語の指示」と「正解コード」の組。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723960" y="2789640"/>
            <a:ext cx="13152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処理の長さ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9639360" y="2789640"/>
            <a:ext cx="210394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訓練データの件数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723960" y="325656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1016720" y="3256560"/>
            <a:ext cx="519984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460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723960" y="372312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0812240" y="3723120"/>
            <a:ext cx="75472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8,680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723960" y="418968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0512000" y="4189680"/>
            <a:ext cx="110041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183,760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23960" y="4656600"/>
            <a:ext cx="52660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合計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0462320" y="4656600"/>
            <a:ext cx="115713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192,900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90400" y="5259960"/>
            <a:ext cx="690634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約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95%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が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操作の教材。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 単独操作の教材は少ない。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8" name=""/>
          <p:cNvSpPr/>
          <p:nvPr/>
        </p:nvSpPr>
        <p:spPr>
          <a:xfrm>
            <a:off x="599760" y="2847960"/>
            <a:ext cx="2162520" cy="495360"/>
          </a:xfrm>
          <a:custGeom>
            <a:avLst/>
            <a:gdLst/>
            <a:ahLst/>
            <a:rect l="0" t="0" r="r" b="b"/>
            <a:pathLst>
              <a:path w="6007" h="1376">
                <a:moveTo>
                  <a:pt x="0" y="0"/>
                </a:moveTo>
                <a:lnTo>
                  <a:pt x="6007" y="0"/>
                </a:lnTo>
                <a:lnTo>
                  <a:pt x="600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09" name=""/>
          <p:cNvSpPr/>
          <p:nvPr/>
        </p:nvSpPr>
        <p:spPr>
          <a:xfrm>
            <a:off x="2761920" y="2847960"/>
            <a:ext cx="3715200" cy="495360"/>
          </a:xfrm>
          <a:custGeom>
            <a:avLst/>
            <a:gdLst/>
            <a:ahLst/>
            <a:rect l="0" t="0" r="r" b="b"/>
            <a:pathLst>
              <a:path w="10320" h="1376">
                <a:moveTo>
                  <a:pt x="0" y="0"/>
                </a:moveTo>
                <a:lnTo>
                  <a:pt x="10320" y="0"/>
                </a:lnTo>
                <a:lnTo>
                  <a:pt x="1032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0" name=""/>
          <p:cNvSpPr/>
          <p:nvPr/>
        </p:nvSpPr>
        <p:spPr>
          <a:xfrm>
            <a:off x="6476760" y="2847960"/>
            <a:ext cx="5124960" cy="495360"/>
          </a:xfrm>
          <a:custGeom>
            <a:avLst/>
            <a:gdLst/>
            <a:ahLst/>
            <a:rect l="0" t="0" r="r" b="b"/>
            <a:pathLst>
              <a:path w="14236" h="1376">
                <a:moveTo>
                  <a:pt x="0" y="0"/>
                </a:moveTo>
                <a:lnTo>
                  <a:pt x="14236" y="0"/>
                </a:lnTo>
                <a:lnTo>
                  <a:pt x="14236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1" name=""/>
          <p:cNvSpPr/>
          <p:nvPr/>
        </p:nvSpPr>
        <p:spPr>
          <a:xfrm>
            <a:off x="599760" y="2847960"/>
            <a:ext cx="2162520" cy="495360"/>
          </a:xfrm>
          <a:custGeom>
            <a:avLst/>
            <a:gdLst/>
            <a:ahLst/>
            <a:rect l="0" t="0" r="r" b="b"/>
            <a:pathLst>
              <a:path w="6007" h="1376">
                <a:moveTo>
                  <a:pt x="0" y="0"/>
                </a:moveTo>
                <a:lnTo>
                  <a:pt x="6007" y="0"/>
                </a:lnTo>
                <a:lnTo>
                  <a:pt x="600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2" name=""/>
          <p:cNvSpPr/>
          <p:nvPr/>
        </p:nvSpPr>
        <p:spPr>
          <a:xfrm>
            <a:off x="2761920" y="2847960"/>
            <a:ext cx="3715200" cy="495360"/>
          </a:xfrm>
          <a:custGeom>
            <a:avLst/>
            <a:gdLst/>
            <a:ahLst/>
            <a:rect l="0" t="0" r="r" b="b"/>
            <a:pathLst>
              <a:path w="10320" h="1376">
                <a:moveTo>
                  <a:pt x="0" y="0"/>
                </a:moveTo>
                <a:lnTo>
                  <a:pt x="10320" y="0"/>
                </a:lnTo>
                <a:lnTo>
                  <a:pt x="1032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3" name=""/>
          <p:cNvSpPr/>
          <p:nvPr/>
        </p:nvSpPr>
        <p:spPr>
          <a:xfrm>
            <a:off x="6476760" y="2847960"/>
            <a:ext cx="5124960" cy="495360"/>
          </a:xfrm>
          <a:custGeom>
            <a:avLst/>
            <a:gdLst/>
            <a:ahLst/>
            <a:rect l="0" t="0" r="r" b="b"/>
            <a:pathLst>
              <a:path w="14236" h="1376">
                <a:moveTo>
                  <a:pt x="0" y="0"/>
                </a:moveTo>
                <a:lnTo>
                  <a:pt x="14236" y="0"/>
                </a:lnTo>
                <a:lnTo>
                  <a:pt x="14236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4" name=""/>
          <p:cNvSpPr/>
          <p:nvPr/>
        </p:nvSpPr>
        <p:spPr>
          <a:xfrm>
            <a:off x="599760" y="3342960"/>
            <a:ext cx="2162520" cy="495720"/>
          </a:xfrm>
          <a:custGeom>
            <a:avLst/>
            <a:gdLst/>
            <a:ahLst/>
            <a:rect l="0" t="0" r="r" b="b"/>
            <a:pathLst>
              <a:path w="6007" h="1377">
                <a:moveTo>
                  <a:pt x="0" y="0"/>
                </a:moveTo>
                <a:lnTo>
                  <a:pt x="6007" y="0"/>
                </a:lnTo>
                <a:lnTo>
                  <a:pt x="600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5" name=""/>
          <p:cNvSpPr/>
          <p:nvPr/>
        </p:nvSpPr>
        <p:spPr>
          <a:xfrm>
            <a:off x="2761920" y="3342960"/>
            <a:ext cx="3715200" cy="495720"/>
          </a:xfrm>
          <a:custGeom>
            <a:avLst/>
            <a:gdLst/>
            <a:ahLst/>
            <a:rect l="0" t="0" r="r" b="b"/>
            <a:pathLst>
              <a:path w="10320" h="1377">
                <a:moveTo>
                  <a:pt x="0" y="0"/>
                </a:moveTo>
                <a:lnTo>
                  <a:pt x="10320" y="0"/>
                </a:lnTo>
                <a:lnTo>
                  <a:pt x="1032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6" name=""/>
          <p:cNvSpPr/>
          <p:nvPr/>
        </p:nvSpPr>
        <p:spPr>
          <a:xfrm>
            <a:off x="6476760" y="3342960"/>
            <a:ext cx="5124960" cy="495720"/>
          </a:xfrm>
          <a:custGeom>
            <a:avLst/>
            <a:gdLst/>
            <a:ahLst/>
            <a:rect l="0" t="0" r="r" b="b"/>
            <a:pathLst>
              <a:path w="14236" h="1377">
                <a:moveTo>
                  <a:pt x="0" y="0"/>
                </a:moveTo>
                <a:lnTo>
                  <a:pt x="14236" y="0"/>
                </a:lnTo>
                <a:lnTo>
                  <a:pt x="1423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7" name=""/>
          <p:cNvSpPr/>
          <p:nvPr/>
        </p:nvSpPr>
        <p:spPr>
          <a:xfrm>
            <a:off x="599760" y="3838320"/>
            <a:ext cx="2162520" cy="495720"/>
          </a:xfrm>
          <a:custGeom>
            <a:avLst/>
            <a:gdLst/>
            <a:ahLst/>
            <a:rect l="0" t="0" r="r" b="b"/>
            <a:pathLst>
              <a:path w="6007" h="1377">
                <a:moveTo>
                  <a:pt x="0" y="0"/>
                </a:moveTo>
                <a:lnTo>
                  <a:pt x="6007" y="0"/>
                </a:lnTo>
                <a:lnTo>
                  <a:pt x="600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8" name=""/>
          <p:cNvSpPr/>
          <p:nvPr/>
        </p:nvSpPr>
        <p:spPr>
          <a:xfrm>
            <a:off x="2761920" y="3838320"/>
            <a:ext cx="3715200" cy="495720"/>
          </a:xfrm>
          <a:custGeom>
            <a:avLst/>
            <a:gdLst/>
            <a:ahLst/>
            <a:rect l="0" t="0" r="r" b="b"/>
            <a:pathLst>
              <a:path w="10320" h="1377">
                <a:moveTo>
                  <a:pt x="0" y="0"/>
                </a:moveTo>
                <a:lnTo>
                  <a:pt x="10320" y="0"/>
                </a:lnTo>
                <a:lnTo>
                  <a:pt x="1032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19" name=""/>
          <p:cNvSpPr/>
          <p:nvPr/>
        </p:nvSpPr>
        <p:spPr>
          <a:xfrm>
            <a:off x="6476760" y="3838320"/>
            <a:ext cx="5124960" cy="495720"/>
          </a:xfrm>
          <a:custGeom>
            <a:avLst/>
            <a:gdLst/>
            <a:ahLst/>
            <a:rect l="0" t="0" r="r" b="b"/>
            <a:pathLst>
              <a:path w="14236" h="1377">
                <a:moveTo>
                  <a:pt x="0" y="0"/>
                </a:moveTo>
                <a:lnTo>
                  <a:pt x="14236" y="0"/>
                </a:lnTo>
                <a:lnTo>
                  <a:pt x="1423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0" name=""/>
          <p:cNvSpPr/>
          <p:nvPr/>
        </p:nvSpPr>
        <p:spPr>
          <a:xfrm>
            <a:off x="599760" y="4333680"/>
            <a:ext cx="2162520" cy="495720"/>
          </a:xfrm>
          <a:custGeom>
            <a:avLst/>
            <a:gdLst/>
            <a:ahLst/>
            <a:rect l="0" t="0" r="r" b="b"/>
            <a:pathLst>
              <a:path w="6007" h="1377">
                <a:moveTo>
                  <a:pt x="0" y="0"/>
                </a:moveTo>
                <a:lnTo>
                  <a:pt x="6007" y="0"/>
                </a:lnTo>
                <a:lnTo>
                  <a:pt x="600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1" name=""/>
          <p:cNvSpPr/>
          <p:nvPr/>
        </p:nvSpPr>
        <p:spPr>
          <a:xfrm>
            <a:off x="2761920" y="4333680"/>
            <a:ext cx="3715200" cy="495720"/>
          </a:xfrm>
          <a:custGeom>
            <a:avLst/>
            <a:gdLst/>
            <a:ahLst/>
            <a:rect l="0" t="0" r="r" b="b"/>
            <a:pathLst>
              <a:path w="10320" h="1377">
                <a:moveTo>
                  <a:pt x="0" y="0"/>
                </a:moveTo>
                <a:lnTo>
                  <a:pt x="10320" y="0"/>
                </a:lnTo>
                <a:lnTo>
                  <a:pt x="1032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2" name=""/>
          <p:cNvSpPr/>
          <p:nvPr/>
        </p:nvSpPr>
        <p:spPr>
          <a:xfrm>
            <a:off x="6476760" y="4333680"/>
            <a:ext cx="5124960" cy="495720"/>
          </a:xfrm>
          <a:custGeom>
            <a:avLst/>
            <a:gdLst/>
            <a:ahLst/>
            <a:rect l="0" t="0" r="r" b="b"/>
            <a:pathLst>
              <a:path w="14236" h="1377">
                <a:moveTo>
                  <a:pt x="0" y="0"/>
                </a:moveTo>
                <a:lnTo>
                  <a:pt x="14236" y="0"/>
                </a:lnTo>
                <a:lnTo>
                  <a:pt x="1423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3" name=""/>
          <p:cNvSpPr/>
          <p:nvPr/>
        </p:nvSpPr>
        <p:spPr>
          <a:xfrm>
            <a:off x="590400" y="28479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4" name=""/>
          <p:cNvSpPr/>
          <p:nvPr/>
        </p:nvSpPr>
        <p:spPr>
          <a:xfrm>
            <a:off x="590400" y="2847960"/>
            <a:ext cx="2171880" cy="9720"/>
          </a:xfrm>
          <a:custGeom>
            <a:avLst/>
            <a:gdLst/>
            <a:ahLst/>
            <a:rect l="0" t="0" r="r" b="b"/>
            <a:pathLst>
              <a:path w="6033" h="27">
                <a:moveTo>
                  <a:pt x="0" y="0"/>
                </a:moveTo>
                <a:lnTo>
                  <a:pt x="6033" y="0"/>
                </a:lnTo>
                <a:lnTo>
                  <a:pt x="6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5" name=""/>
          <p:cNvSpPr/>
          <p:nvPr/>
        </p:nvSpPr>
        <p:spPr>
          <a:xfrm>
            <a:off x="2752560" y="28479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6" name=""/>
          <p:cNvSpPr/>
          <p:nvPr/>
        </p:nvSpPr>
        <p:spPr>
          <a:xfrm>
            <a:off x="2761920" y="2847960"/>
            <a:ext cx="3715200" cy="9720"/>
          </a:xfrm>
          <a:custGeom>
            <a:avLst/>
            <a:gdLst/>
            <a:ahLst/>
            <a:rect l="0" t="0" r="r" b="b"/>
            <a:pathLst>
              <a:path w="10320" h="27">
                <a:moveTo>
                  <a:pt x="0" y="0"/>
                </a:moveTo>
                <a:lnTo>
                  <a:pt x="10320" y="0"/>
                </a:lnTo>
                <a:lnTo>
                  <a:pt x="10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7" name=""/>
          <p:cNvSpPr/>
          <p:nvPr/>
        </p:nvSpPr>
        <p:spPr>
          <a:xfrm>
            <a:off x="6467400" y="284796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8" name=""/>
          <p:cNvSpPr/>
          <p:nvPr/>
        </p:nvSpPr>
        <p:spPr>
          <a:xfrm>
            <a:off x="6476760" y="2847960"/>
            <a:ext cx="5124960" cy="9720"/>
          </a:xfrm>
          <a:custGeom>
            <a:avLst/>
            <a:gdLst/>
            <a:ahLst/>
            <a:rect l="0" t="0" r="r" b="b"/>
            <a:pathLst>
              <a:path w="14236" h="27">
                <a:moveTo>
                  <a:pt x="0" y="0"/>
                </a:moveTo>
                <a:lnTo>
                  <a:pt x="14236" y="0"/>
                </a:lnTo>
                <a:lnTo>
                  <a:pt x="142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29" name=""/>
          <p:cNvSpPr/>
          <p:nvPr/>
        </p:nvSpPr>
        <p:spPr>
          <a:xfrm>
            <a:off x="11591640" y="284796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0" name=""/>
          <p:cNvSpPr/>
          <p:nvPr/>
        </p:nvSpPr>
        <p:spPr>
          <a:xfrm>
            <a:off x="590400" y="3342960"/>
            <a:ext cx="2171880" cy="10080"/>
          </a:xfrm>
          <a:custGeom>
            <a:avLst/>
            <a:gdLst/>
            <a:ahLst/>
            <a:rect l="0" t="0" r="r" b="b"/>
            <a:pathLst>
              <a:path w="6033" h="28">
                <a:moveTo>
                  <a:pt x="0" y="0"/>
                </a:moveTo>
                <a:lnTo>
                  <a:pt x="6033" y="0"/>
                </a:lnTo>
                <a:lnTo>
                  <a:pt x="6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1" name=""/>
          <p:cNvSpPr/>
          <p:nvPr/>
        </p:nvSpPr>
        <p:spPr>
          <a:xfrm>
            <a:off x="2761920" y="3342960"/>
            <a:ext cx="3715200" cy="10080"/>
          </a:xfrm>
          <a:custGeom>
            <a:avLst/>
            <a:gdLst/>
            <a:ahLst/>
            <a:rect l="0" t="0" r="r" b="b"/>
            <a:pathLst>
              <a:path w="10320" h="28">
                <a:moveTo>
                  <a:pt x="0" y="0"/>
                </a:moveTo>
                <a:lnTo>
                  <a:pt x="10320" y="0"/>
                </a:lnTo>
                <a:lnTo>
                  <a:pt x="10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2" name=""/>
          <p:cNvSpPr/>
          <p:nvPr/>
        </p:nvSpPr>
        <p:spPr>
          <a:xfrm>
            <a:off x="6476760" y="3342960"/>
            <a:ext cx="5124960" cy="10080"/>
          </a:xfrm>
          <a:custGeom>
            <a:avLst/>
            <a:gdLst/>
            <a:ahLst/>
            <a:rect l="0" t="0" r="r" b="b"/>
            <a:pathLst>
              <a:path w="14236" h="28">
                <a:moveTo>
                  <a:pt x="0" y="0"/>
                </a:moveTo>
                <a:lnTo>
                  <a:pt x="14236" y="0"/>
                </a:lnTo>
                <a:lnTo>
                  <a:pt x="142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3" name=""/>
          <p:cNvSpPr/>
          <p:nvPr/>
        </p:nvSpPr>
        <p:spPr>
          <a:xfrm>
            <a:off x="590400" y="33526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4" name=""/>
          <p:cNvSpPr/>
          <p:nvPr/>
        </p:nvSpPr>
        <p:spPr>
          <a:xfrm>
            <a:off x="2752560" y="33526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5" name=""/>
          <p:cNvSpPr/>
          <p:nvPr/>
        </p:nvSpPr>
        <p:spPr>
          <a:xfrm>
            <a:off x="6467400" y="33526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6" name=""/>
          <p:cNvSpPr/>
          <p:nvPr/>
        </p:nvSpPr>
        <p:spPr>
          <a:xfrm>
            <a:off x="11591640" y="33526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7" name=""/>
          <p:cNvSpPr/>
          <p:nvPr/>
        </p:nvSpPr>
        <p:spPr>
          <a:xfrm>
            <a:off x="590400" y="38480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8" name=""/>
          <p:cNvSpPr/>
          <p:nvPr/>
        </p:nvSpPr>
        <p:spPr>
          <a:xfrm>
            <a:off x="590400" y="3838320"/>
            <a:ext cx="2171880" cy="10080"/>
          </a:xfrm>
          <a:custGeom>
            <a:avLst/>
            <a:gdLst/>
            <a:ahLst/>
            <a:rect l="0" t="0" r="r" b="b"/>
            <a:pathLst>
              <a:path w="6033" h="28">
                <a:moveTo>
                  <a:pt x="0" y="0"/>
                </a:moveTo>
                <a:lnTo>
                  <a:pt x="6033" y="0"/>
                </a:lnTo>
                <a:lnTo>
                  <a:pt x="6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39" name=""/>
          <p:cNvSpPr/>
          <p:nvPr/>
        </p:nvSpPr>
        <p:spPr>
          <a:xfrm>
            <a:off x="2752560" y="38480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0" name=""/>
          <p:cNvSpPr/>
          <p:nvPr/>
        </p:nvSpPr>
        <p:spPr>
          <a:xfrm>
            <a:off x="2761920" y="3838320"/>
            <a:ext cx="3715200" cy="10080"/>
          </a:xfrm>
          <a:custGeom>
            <a:avLst/>
            <a:gdLst/>
            <a:ahLst/>
            <a:rect l="0" t="0" r="r" b="b"/>
            <a:pathLst>
              <a:path w="10320" h="28">
                <a:moveTo>
                  <a:pt x="0" y="0"/>
                </a:moveTo>
                <a:lnTo>
                  <a:pt x="10320" y="0"/>
                </a:lnTo>
                <a:lnTo>
                  <a:pt x="10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1" name=""/>
          <p:cNvSpPr/>
          <p:nvPr/>
        </p:nvSpPr>
        <p:spPr>
          <a:xfrm>
            <a:off x="6467400" y="38480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2" name=""/>
          <p:cNvSpPr/>
          <p:nvPr/>
        </p:nvSpPr>
        <p:spPr>
          <a:xfrm>
            <a:off x="6476760" y="3838320"/>
            <a:ext cx="5124960" cy="10080"/>
          </a:xfrm>
          <a:custGeom>
            <a:avLst/>
            <a:gdLst/>
            <a:ahLst/>
            <a:rect l="0" t="0" r="r" b="b"/>
            <a:pathLst>
              <a:path w="14236" h="28">
                <a:moveTo>
                  <a:pt x="0" y="0"/>
                </a:moveTo>
                <a:lnTo>
                  <a:pt x="14236" y="0"/>
                </a:lnTo>
                <a:lnTo>
                  <a:pt x="142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3" name=""/>
          <p:cNvSpPr/>
          <p:nvPr/>
        </p:nvSpPr>
        <p:spPr>
          <a:xfrm>
            <a:off x="11591640" y="38480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4" name=""/>
          <p:cNvSpPr/>
          <p:nvPr/>
        </p:nvSpPr>
        <p:spPr>
          <a:xfrm>
            <a:off x="590400" y="43430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5" name=""/>
          <p:cNvSpPr/>
          <p:nvPr/>
        </p:nvSpPr>
        <p:spPr>
          <a:xfrm>
            <a:off x="590400" y="4333680"/>
            <a:ext cx="2171880" cy="9720"/>
          </a:xfrm>
          <a:custGeom>
            <a:avLst/>
            <a:gdLst/>
            <a:ahLst/>
            <a:rect l="0" t="0" r="r" b="b"/>
            <a:pathLst>
              <a:path w="6033" h="27">
                <a:moveTo>
                  <a:pt x="0" y="0"/>
                </a:moveTo>
                <a:lnTo>
                  <a:pt x="6033" y="0"/>
                </a:lnTo>
                <a:lnTo>
                  <a:pt x="6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6" name=""/>
          <p:cNvSpPr/>
          <p:nvPr/>
        </p:nvSpPr>
        <p:spPr>
          <a:xfrm>
            <a:off x="2752560" y="43430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7" name=""/>
          <p:cNvSpPr/>
          <p:nvPr/>
        </p:nvSpPr>
        <p:spPr>
          <a:xfrm>
            <a:off x="2761920" y="4333680"/>
            <a:ext cx="3715200" cy="9720"/>
          </a:xfrm>
          <a:custGeom>
            <a:avLst/>
            <a:gdLst/>
            <a:ahLst/>
            <a:rect l="0" t="0" r="r" b="b"/>
            <a:pathLst>
              <a:path w="10320" h="27">
                <a:moveTo>
                  <a:pt x="0" y="0"/>
                </a:moveTo>
                <a:lnTo>
                  <a:pt x="10320" y="0"/>
                </a:lnTo>
                <a:lnTo>
                  <a:pt x="10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8" name=""/>
          <p:cNvSpPr/>
          <p:nvPr/>
        </p:nvSpPr>
        <p:spPr>
          <a:xfrm>
            <a:off x="6467400" y="43430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49" name=""/>
          <p:cNvSpPr/>
          <p:nvPr/>
        </p:nvSpPr>
        <p:spPr>
          <a:xfrm>
            <a:off x="6476760" y="4333680"/>
            <a:ext cx="5124960" cy="9720"/>
          </a:xfrm>
          <a:custGeom>
            <a:avLst/>
            <a:gdLst/>
            <a:ahLst/>
            <a:rect l="0" t="0" r="r" b="b"/>
            <a:pathLst>
              <a:path w="14236" h="27">
                <a:moveTo>
                  <a:pt x="0" y="0"/>
                </a:moveTo>
                <a:lnTo>
                  <a:pt x="14236" y="0"/>
                </a:lnTo>
                <a:lnTo>
                  <a:pt x="142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0" name=""/>
          <p:cNvSpPr/>
          <p:nvPr/>
        </p:nvSpPr>
        <p:spPr>
          <a:xfrm>
            <a:off x="11591640" y="43430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1" name=""/>
          <p:cNvSpPr/>
          <p:nvPr/>
        </p:nvSpPr>
        <p:spPr>
          <a:xfrm>
            <a:off x="590400" y="4829040"/>
            <a:ext cx="2171880" cy="9720"/>
          </a:xfrm>
          <a:custGeom>
            <a:avLst/>
            <a:gdLst/>
            <a:ahLst/>
            <a:rect l="0" t="0" r="r" b="b"/>
            <a:pathLst>
              <a:path w="6033" h="27">
                <a:moveTo>
                  <a:pt x="0" y="0"/>
                </a:moveTo>
                <a:lnTo>
                  <a:pt x="6033" y="0"/>
                </a:lnTo>
                <a:lnTo>
                  <a:pt x="6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2" name=""/>
          <p:cNvSpPr/>
          <p:nvPr/>
        </p:nvSpPr>
        <p:spPr>
          <a:xfrm>
            <a:off x="2761920" y="4829040"/>
            <a:ext cx="3715200" cy="9720"/>
          </a:xfrm>
          <a:custGeom>
            <a:avLst/>
            <a:gdLst/>
            <a:ahLst/>
            <a:rect l="0" t="0" r="r" b="b"/>
            <a:pathLst>
              <a:path w="10320" h="27">
                <a:moveTo>
                  <a:pt x="0" y="0"/>
                </a:moveTo>
                <a:lnTo>
                  <a:pt x="10320" y="0"/>
                </a:lnTo>
                <a:lnTo>
                  <a:pt x="10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3" name=""/>
          <p:cNvSpPr/>
          <p:nvPr/>
        </p:nvSpPr>
        <p:spPr>
          <a:xfrm>
            <a:off x="6476760" y="4829040"/>
            <a:ext cx="5124960" cy="9720"/>
          </a:xfrm>
          <a:custGeom>
            <a:avLst/>
            <a:gdLst/>
            <a:ahLst/>
            <a:rect l="0" t="0" r="r" b="b"/>
            <a:pathLst>
              <a:path w="14236" h="27">
                <a:moveTo>
                  <a:pt x="0" y="0"/>
                </a:moveTo>
                <a:lnTo>
                  <a:pt x="14236" y="0"/>
                </a:lnTo>
                <a:lnTo>
                  <a:pt x="142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590400" y="1539000"/>
            <a:ext cx="715806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三つの大きさを、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で比較する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590400" y="2352600"/>
            <a:ext cx="628907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パラメータ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は、学習で調整するモデル内部の数値。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714240" y="29872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呼び名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5104080" y="2987280"/>
            <a:ext cx="272205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パラメータ数 今回の学習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714240" y="3482640"/>
            <a:ext cx="3854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5520960" y="3482640"/>
            <a:ext cx="311286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約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100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万 教材全体を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回使う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714240" y="3978000"/>
            <a:ext cx="3854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5520960" y="3978000"/>
            <a:ext cx="311286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約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500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万 教材全体を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回使う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714240" y="4473360"/>
            <a:ext cx="5431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5333040" y="4473360"/>
            <a:ext cx="332814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約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1,500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万 教材全体を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回使う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590400" y="5086440"/>
            <a:ext cx="826592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既存の学習済み重みを使わず、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Transformer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をゼロから学習する。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69" name=""/>
          <p:cNvSpPr/>
          <p:nvPr/>
        </p:nvSpPr>
        <p:spPr>
          <a:xfrm>
            <a:off x="590400" y="5190840"/>
            <a:ext cx="11011320" cy="610200"/>
          </a:xfrm>
          <a:custGeom>
            <a:avLst/>
            <a:gdLst/>
            <a:ahLst/>
            <a:rect l="0" t="0" r="r" b="b"/>
            <a:pathLst>
              <a:path w="30587" h="1695">
                <a:moveTo>
                  <a:pt x="0" y="0"/>
                </a:moveTo>
                <a:lnTo>
                  <a:pt x="30587" y="0"/>
                </a:lnTo>
                <a:lnTo>
                  <a:pt x="30587" y="1695"/>
                </a:lnTo>
                <a:lnTo>
                  <a:pt x="0" y="1695"/>
                </a:lnTo>
                <a:lnTo>
                  <a:pt x="0" y="0"/>
                </a:lnTo>
                <a:close/>
              </a:path>
            </a:pathLst>
          </a:custGeom>
          <a:solidFill>
            <a:srgbClr val="F5F3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0" name=""/>
          <p:cNvSpPr/>
          <p:nvPr/>
        </p:nvSpPr>
        <p:spPr>
          <a:xfrm>
            <a:off x="590400" y="5190840"/>
            <a:ext cx="38520" cy="610200"/>
          </a:xfrm>
          <a:custGeom>
            <a:avLst/>
            <a:gdLst/>
            <a:ahLst/>
            <a:rect l="0" t="0" r="r" b="b"/>
            <a:pathLst>
              <a:path w="107" h="1695">
                <a:moveTo>
                  <a:pt x="0" y="0"/>
                </a:moveTo>
                <a:lnTo>
                  <a:pt x="107" y="0"/>
                </a:lnTo>
                <a:lnTo>
                  <a:pt x="107" y="1695"/>
                </a:lnTo>
                <a:lnTo>
                  <a:pt x="0" y="1695"/>
                </a:lnTo>
                <a:lnTo>
                  <a:pt x="0" y="0"/>
                </a:lnTo>
                <a:close/>
              </a:path>
            </a:pathLst>
          </a:custGeom>
          <a:solidFill>
            <a:srgbClr val="745D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590400" y="698400"/>
            <a:ext cx="7887528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自己回帰：出力を次の入力に加えて繰り返す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590400" y="1428840"/>
            <a:ext cx="904093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GPT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などの言語モデルは、</a:t>
            </a:r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直前までの言葉から次を予測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して文章を作る。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857160" y="1947960"/>
            <a:ext cx="2296872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8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入力：ここまでの文章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6926040" y="1947960"/>
            <a:ext cx="1607976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8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予測するモデル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5" name=""/>
          <p:cNvSpPr/>
          <p:nvPr/>
        </p:nvSpPr>
        <p:spPr>
          <a:xfrm>
            <a:off x="866520" y="244764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1" y="27"/>
                  <a:pt x="66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lnTo>
                  <a:pt x="1933" y="0"/>
                </a:lnTo>
                <a:cubicBezTo>
                  <a:pt x="1950" y="0"/>
                  <a:pt x="1967" y="4"/>
                  <a:pt x="1983" y="10"/>
                </a:cubicBezTo>
                <a:cubicBezTo>
                  <a:pt x="1999" y="17"/>
                  <a:pt x="2014" y="27"/>
                  <a:pt x="2026" y="39"/>
                </a:cubicBezTo>
                <a:cubicBezTo>
                  <a:pt x="2039" y="51"/>
                  <a:pt x="2048" y="66"/>
                  <a:pt x="2055" y="82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6"/>
                  <a:pt x="2062" y="1703"/>
                  <a:pt x="2055" y="1719"/>
                </a:cubicBezTo>
                <a:cubicBezTo>
                  <a:pt x="2048" y="1735"/>
                  <a:pt x="2039" y="1749"/>
                  <a:pt x="2026" y="1762"/>
                </a:cubicBezTo>
                <a:cubicBezTo>
                  <a:pt x="2014" y="1774"/>
                  <a:pt x="1999" y="1784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2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4"/>
                  <a:pt x="51" y="1774"/>
                  <a:pt x="39" y="1762"/>
                </a:cubicBezTo>
                <a:cubicBezTo>
                  <a:pt x="27" y="1749"/>
                  <a:pt x="17" y="1735"/>
                  <a:pt x="10" y="1719"/>
                </a:cubicBezTo>
                <a:cubicBezTo>
                  <a:pt x="4" y="1703"/>
                  <a:pt x="0" y="1686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6" name=""/>
          <p:cNvSpPr/>
          <p:nvPr/>
        </p:nvSpPr>
        <p:spPr>
          <a:xfrm>
            <a:off x="866520" y="244764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1" y="27"/>
                  <a:pt x="66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lnTo>
                  <a:pt x="1933" y="0"/>
                </a:lnTo>
                <a:cubicBezTo>
                  <a:pt x="1950" y="0"/>
                  <a:pt x="1967" y="4"/>
                  <a:pt x="1983" y="10"/>
                </a:cubicBezTo>
                <a:cubicBezTo>
                  <a:pt x="1999" y="17"/>
                  <a:pt x="2014" y="27"/>
                  <a:pt x="2026" y="39"/>
                </a:cubicBezTo>
                <a:cubicBezTo>
                  <a:pt x="2039" y="51"/>
                  <a:pt x="2048" y="66"/>
                  <a:pt x="2055" y="82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6"/>
                  <a:pt x="2062" y="1703"/>
                  <a:pt x="2055" y="1719"/>
                </a:cubicBezTo>
                <a:cubicBezTo>
                  <a:pt x="2048" y="1735"/>
                  <a:pt x="2039" y="1749"/>
                  <a:pt x="2026" y="1762"/>
                </a:cubicBezTo>
                <a:cubicBezTo>
                  <a:pt x="2014" y="1774"/>
                  <a:pt x="1999" y="1784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2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4"/>
                  <a:pt x="51" y="1774"/>
                  <a:pt x="39" y="1762"/>
                </a:cubicBezTo>
                <a:cubicBezTo>
                  <a:pt x="27" y="1749"/>
                  <a:pt x="17" y="1735"/>
                  <a:pt x="10" y="1719"/>
                </a:cubicBezTo>
                <a:cubicBezTo>
                  <a:pt x="4" y="1703"/>
                  <a:pt x="0" y="1686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9682200" y="1947960"/>
            <a:ext cx="1607976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58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出力：次の言葉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8" name=""/>
          <p:cNvSpPr/>
          <p:nvPr/>
        </p:nvSpPr>
        <p:spPr>
          <a:xfrm>
            <a:off x="1742760" y="244764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lnTo>
                  <a:pt x="1933" y="0"/>
                </a:lnTo>
                <a:cubicBezTo>
                  <a:pt x="1950" y="0"/>
                  <a:pt x="1967" y="4"/>
                  <a:pt x="1983" y="10"/>
                </a:cubicBezTo>
                <a:cubicBezTo>
                  <a:pt x="2000" y="17"/>
                  <a:pt x="2014" y="27"/>
                  <a:pt x="2026" y="39"/>
                </a:cubicBezTo>
                <a:cubicBezTo>
                  <a:pt x="2039" y="51"/>
                  <a:pt x="2048" y="66"/>
                  <a:pt x="2055" y="82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6"/>
                  <a:pt x="2062" y="1703"/>
                  <a:pt x="2055" y="1719"/>
                </a:cubicBezTo>
                <a:cubicBezTo>
                  <a:pt x="2048" y="1735"/>
                  <a:pt x="2039" y="1749"/>
                  <a:pt x="2026" y="1762"/>
                </a:cubicBezTo>
                <a:cubicBezTo>
                  <a:pt x="2014" y="1774"/>
                  <a:pt x="2000" y="1784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3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4"/>
                  <a:pt x="52" y="1774"/>
                  <a:pt x="39" y="1762"/>
                </a:cubicBezTo>
                <a:cubicBezTo>
                  <a:pt x="27" y="1749"/>
                  <a:pt x="17" y="1735"/>
                  <a:pt x="10" y="1719"/>
                </a:cubicBezTo>
                <a:cubicBezTo>
                  <a:pt x="4" y="1703"/>
                  <a:pt x="0" y="1686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79" name=""/>
          <p:cNvSpPr/>
          <p:nvPr/>
        </p:nvSpPr>
        <p:spPr>
          <a:xfrm>
            <a:off x="1742760" y="244764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lnTo>
                  <a:pt x="1933" y="0"/>
                </a:lnTo>
                <a:cubicBezTo>
                  <a:pt x="1950" y="0"/>
                  <a:pt x="1967" y="4"/>
                  <a:pt x="1983" y="10"/>
                </a:cubicBezTo>
                <a:cubicBezTo>
                  <a:pt x="2000" y="17"/>
                  <a:pt x="2014" y="27"/>
                  <a:pt x="2026" y="39"/>
                </a:cubicBezTo>
                <a:cubicBezTo>
                  <a:pt x="2039" y="51"/>
                  <a:pt x="2048" y="66"/>
                  <a:pt x="2055" y="82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6"/>
                  <a:pt x="2062" y="1703"/>
                  <a:pt x="2055" y="1719"/>
                </a:cubicBezTo>
                <a:cubicBezTo>
                  <a:pt x="2048" y="1735"/>
                  <a:pt x="2039" y="1749"/>
                  <a:pt x="2026" y="1762"/>
                </a:cubicBezTo>
                <a:cubicBezTo>
                  <a:pt x="2014" y="1774"/>
                  <a:pt x="2000" y="1784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3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4"/>
                  <a:pt x="52" y="1774"/>
                  <a:pt x="39" y="1762"/>
                </a:cubicBezTo>
                <a:cubicBezTo>
                  <a:pt x="27" y="1749"/>
                  <a:pt x="17" y="1735"/>
                  <a:pt x="10" y="1719"/>
                </a:cubicBezTo>
                <a:cubicBezTo>
                  <a:pt x="4" y="1703"/>
                  <a:pt x="0" y="1686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104840" y="264168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1" name=""/>
          <p:cNvSpPr/>
          <p:nvPr/>
        </p:nvSpPr>
        <p:spPr>
          <a:xfrm>
            <a:off x="2619360" y="244764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lnTo>
                  <a:pt x="1931" y="0"/>
                </a:lnTo>
                <a:cubicBezTo>
                  <a:pt x="1949" y="0"/>
                  <a:pt x="1965" y="4"/>
                  <a:pt x="1982" y="10"/>
                </a:cubicBezTo>
                <a:cubicBezTo>
                  <a:pt x="1998" y="17"/>
                  <a:pt x="2013" y="27"/>
                  <a:pt x="2026" y="39"/>
                </a:cubicBezTo>
                <a:cubicBezTo>
                  <a:pt x="2038" y="51"/>
                  <a:pt x="2048" y="66"/>
                  <a:pt x="2054" y="82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6"/>
                  <a:pt x="2061" y="1703"/>
                  <a:pt x="2054" y="1719"/>
                </a:cubicBezTo>
                <a:cubicBezTo>
                  <a:pt x="2048" y="1735"/>
                  <a:pt x="2038" y="1749"/>
                  <a:pt x="2026" y="1762"/>
                </a:cubicBezTo>
                <a:cubicBezTo>
                  <a:pt x="2013" y="1774"/>
                  <a:pt x="1998" y="1784"/>
                  <a:pt x="1982" y="1790"/>
                </a:cubicBezTo>
                <a:cubicBezTo>
                  <a:pt x="1965" y="1797"/>
                  <a:pt x="1949" y="1800"/>
                  <a:pt x="1931" y="1800"/>
                </a:cubicBezTo>
                <a:lnTo>
                  <a:pt x="132" y="1800"/>
                </a:lnTo>
                <a:cubicBezTo>
                  <a:pt x="114" y="1800"/>
                  <a:pt x="97" y="1797"/>
                  <a:pt x="81" y="1790"/>
                </a:cubicBezTo>
                <a:cubicBezTo>
                  <a:pt x="65" y="1784"/>
                  <a:pt x="51" y="1774"/>
                  <a:pt x="38" y="1762"/>
                </a:cubicBezTo>
                <a:cubicBezTo>
                  <a:pt x="26" y="1749"/>
                  <a:pt x="16" y="1735"/>
                  <a:pt x="10" y="1719"/>
                </a:cubicBezTo>
                <a:cubicBezTo>
                  <a:pt x="3" y="1703"/>
                  <a:pt x="0" y="1686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2" name=""/>
          <p:cNvSpPr/>
          <p:nvPr/>
        </p:nvSpPr>
        <p:spPr>
          <a:xfrm>
            <a:off x="2619360" y="244764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lnTo>
                  <a:pt x="1931" y="0"/>
                </a:lnTo>
                <a:cubicBezTo>
                  <a:pt x="1949" y="0"/>
                  <a:pt x="1965" y="4"/>
                  <a:pt x="1982" y="10"/>
                </a:cubicBezTo>
                <a:cubicBezTo>
                  <a:pt x="1998" y="17"/>
                  <a:pt x="2013" y="27"/>
                  <a:pt x="2026" y="39"/>
                </a:cubicBezTo>
                <a:cubicBezTo>
                  <a:pt x="2038" y="51"/>
                  <a:pt x="2048" y="66"/>
                  <a:pt x="2054" y="82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6"/>
                  <a:pt x="2061" y="1703"/>
                  <a:pt x="2054" y="1719"/>
                </a:cubicBezTo>
                <a:cubicBezTo>
                  <a:pt x="2048" y="1735"/>
                  <a:pt x="2038" y="1749"/>
                  <a:pt x="2026" y="1762"/>
                </a:cubicBezTo>
                <a:cubicBezTo>
                  <a:pt x="2013" y="1774"/>
                  <a:pt x="1998" y="1784"/>
                  <a:pt x="1982" y="1790"/>
                </a:cubicBezTo>
                <a:cubicBezTo>
                  <a:pt x="1965" y="1797"/>
                  <a:pt x="1949" y="1800"/>
                  <a:pt x="1931" y="1800"/>
                </a:cubicBezTo>
                <a:lnTo>
                  <a:pt x="132" y="1800"/>
                </a:lnTo>
                <a:cubicBezTo>
                  <a:pt x="114" y="1800"/>
                  <a:pt x="97" y="1797"/>
                  <a:pt x="81" y="1790"/>
                </a:cubicBezTo>
                <a:cubicBezTo>
                  <a:pt x="65" y="1784"/>
                  <a:pt x="51" y="1774"/>
                  <a:pt x="38" y="1762"/>
                </a:cubicBezTo>
                <a:cubicBezTo>
                  <a:pt x="26" y="1749"/>
                  <a:pt x="16" y="1735"/>
                  <a:pt x="10" y="1719"/>
                </a:cubicBezTo>
                <a:cubicBezTo>
                  <a:pt x="3" y="1703"/>
                  <a:pt x="0" y="1686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981080" y="264168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4" name=""/>
          <p:cNvSpPr/>
          <p:nvPr/>
        </p:nvSpPr>
        <p:spPr>
          <a:xfrm>
            <a:off x="3495600" y="244764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8" y="4"/>
                  <a:pt x="114" y="0"/>
                  <a:pt x="132" y="0"/>
                </a:cubicBezTo>
                <a:lnTo>
                  <a:pt x="1932" y="0"/>
                </a:lnTo>
                <a:cubicBezTo>
                  <a:pt x="1950" y="0"/>
                  <a:pt x="1967" y="4"/>
                  <a:pt x="1983" y="10"/>
                </a:cubicBezTo>
                <a:cubicBezTo>
                  <a:pt x="1999" y="17"/>
                  <a:pt x="2013" y="27"/>
                  <a:pt x="2026" y="39"/>
                </a:cubicBezTo>
                <a:cubicBezTo>
                  <a:pt x="2038" y="51"/>
                  <a:pt x="2048" y="66"/>
                  <a:pt x="2054" y="82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6"/>
                  <a:pt x="2061" y="1703"/>
                  <a:pt x="2054" y="1719"/>
                </a:cubicBezTo>
                <a:cubicBezTo>
                  <a:pt x="2048" y="1735"/>
                  <a:pt x="2038" y="1749"/>
                  <a:pt x="2026" y="1762"/>
                </a:cubicBezTo>
                <a:cubicBezTo>
                  <a:pt x="2013" y="1774"/>
                  <a:pt x="1999" y="1784"/>
                  <a:pt x="1983" y="1790"/>
                </a:cubicBezTo>
                <a:cubicBezTo>
                  <a:pt x="1967" y="1797"/>
                  <a:pt x="1950" y="1800"/>
                  <a:pt x="1932" y="1800"/>
                </a:cubicBezTo>
                <a:lnTo>
                  <a:pt x="132" y="1800"/>
                </a:lnTo>
                <a:cubicBezTo>
                  <a:pt x="114" y="1800"/>
                  <a:pt x="98" y="1797"/>
                  <a:pt x="81" y="1790"/>
                </a:cubicBezTo>
                <a:cubicBezTo>
                  <a:pt x="65" y="1784"/>
                  <a:pt x="51" y="1774"/>
                  <a:pt x="38" y="1762"/>
                </a:cubicBezTo>
                <a:cubicBezTo>
                  <a:pt x="26" y="1749"/>
                  <a:pt x="16" y="1735"/>
                  <a:pt x="10" y="1719"/>
                </a:cubicBezTo>
                <a:cubicBezTo>
                  <a:pt x="3" y="1703"/>
                  <a:pt x="0" y="1686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5" name=""/>
          <p:cNvSpPr/>
          <p:nvPr/>
        </p:nvSpPr>
        <p:spPr>
          <a:xfrm>
            <a:off x="3495600" y="244764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8" y="4"/>
                  <a:pt x="114" y="0"/>
                  <a:pt x="132" y="0"/>
                </a:cubicBezTo>
                <a:lnTo>
                  <a:pt x="1932" y="0"/>
                </a:lnTo>
                <a:cubicBezTo>
                  <a:pt x="1950" y="0"/>
                  <a:pt x="1967" y="4"/>
                  <a:pt x="1983" y="10"/>
                </a:cubicBezTo>
                <a:cubicBezTo>
                  <a:pt x="1999" y="17"/>
                  <a:pt x="2013" y="27"/>
                  <a:pt x="2026" y="39"/>
                </a:cubicBezTo>
                <a:cubicBezTo>
                  <a:pt x="2038" y="51"/>
                  <a:pt x="2048" y="66"/>
                  <a:pt x="2054" y="82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6"/>
                  <a:pt x="2061" y="1703"/>
                  <a:pt x="2054" y="1719"/>
                </a:cubicBezTo>
                <a:cubicBezTo>
                  <a:pt x="2048" y="1735"/>
                  <a:pt x="2038" y="1749"/>
                  <a:pt x="2026" y="1762"/>
                </a:cubicBezTo>
                <a:cubicBezTo>
                  <a:pt x="2013" y="1774"/>
                  <a:pt x="1999" y="1784"/>
                  <a:pt x="1983" y="1790"/>
                </a:cubicBezTo>
                <a:cubicBezTo>
                  <a:pt x="1967" y="1797"/>
                  <a:pt x="1950" y="1800"/>
                  <a:pt x="1932" y="1800"/>
                </a:cubicBezTo>
                <a:lnTo>
                  <a:pt x="132" y="1800"/>
                </a:lnTo>
                <a:cubicBezTo>
                  <a:pt x="114" y="1800"/>
                  <a:pt x="98" y="1797"/>
                  <a:pt x="81" y="1790"/>
                </a:cubicBezTo>
                <a:cubicBezTo>
                  <a:pt x="65" y="1784"/>
                  <a:pt x="51" y="1774"/>
                  <a:pt x="38" y="1762"/>
                </a:cubicBezTo>
                <a:cubicBezTo>
                  <a:pt x="26" y="1749"/>
                  <a:pt x="16" y="1735"/>
                  <a:pt x="10" y="1719"/>
                </a:cubicBezTo>
                <a:cubicBezTo>
                  <a:pt x="3" y="1703"/>
                  <a:pt x="0" y="1686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2857320" y="264168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3733920" y="264168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8" name=""/>
          <p:cNvSpPr/>
          <p:nvPr/>
        </p:nvSpPr>
        <p:spPr>
          <a:xfrm>
            <a:off x="6581520" y="2381040"/>
            <a:ext cx="2076840" cy="781560"/>
          </a:xfrm>
          <a:custGeom>
            <a:avLst/>
            <a:gdLst/>
            <a:ahLst/>
            <a:rect l="0" t="0" r="r" b="b"/>
            <a:pathLst>
              <a:path w="5769" h="2171">
                <a:moveTo>
                  <a:pt x="0" y="198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5584" y="0"/>
                </a:lnTo>
                <a:cubicBezTo>
                  <a:pt x="5596" y="0"/>
                  <a:pt x="5608" y="1"/>
                  <a:pt x="5620" y="4"/>
                </a:cubicBezTo>
                <a:cubicBezTo>
                  <a:pt x="5632" y="6"/>
                  <a:pt x="5644" y="10"/>
                  <a:pt x="5655" y="14"/>
                </a:cubicBezTo>
                <a:cubicBezTo>
                  <a:pt x="5666" y="19"/>
                  <a:pt x="5677" y="25"/>
                  <a:pt x="5687" y="31"/>
                </a:cubicBezTo>
                <a:cubicBezTo>
                  <a:pt x="5697" y="38"/>
                  <a:pt x="5706" y="46"/>
                  <a:pt x="5715" y="54"/>
                </a:cubicBezTo>
                <a:cubicBezTo>
                  <a:pt x="5723" y="63"/>
                  <a:pt x="5731" y="72"/>
                  <a:pt x="5738" y="82"/>
                </a:cubicBezTo>
                <a:cubicBezTo>
                  <a:pt x="5745" y="93"/>
                  <a:pt x="5750" y="103"/>
                  <a:pt x="5755" y="114"/>
                </a:cubicBezTo>
                <a:cubicBezTo>
                  <a:pt x="5760" y="126"/>
                  <a:pt x="5763" y="137"/>
                  <a:pt x="5766" y="149"/>
                </a:cubicBezTo>
                <a:cubicBezTo>
                  <a:pt x="5768" y="161"/>
                  <a:pt x="5769" y="173"/>
                  <a:pt x="5769" y="185"/>
                </a:cubicBezTo>
                <a:lnTo>
                  <a:pt x="5769" y="1985"/>
                </a:lnTo>
                <a:cubicBezTo>
                  <a:pt x="5769" y="1998"/>
                  <a:pt x="5768" y="2010"/>
                  <a:pt x="5766" y="2022"/>
                </a:cubicBezTo>
                <a:cubicBezTo>
                  <a:pt x="5763" y="2034"/>
                  <a:pt x="5760" y="2045"/>
                  <a:pt x="5755" y="2056"/>
                </a:cubicBezTo>
                <a:cubicBezTo>
                  <a:pt x="5750" y="2068"/>
                  <a:pt x="5745" y="2078"/>
                  <a:pt x="5738" y="2088"/>
                </a:cubicBezTo>
                <a:cubicBezTo>
                  <a:pt x="5731" y="2098"/>
                  <a:pt x="5723" y="2108"/>
                  <a:pt x="5715" y="2116"/>
                </a:cubicBezTo>
                <a:cubicBezTo>
                  <a:pt x="5706" y="2125"/>
                  <a:pt x="5697" y="2133"/>
                  <a:pt x="5687" y="2139"/>
                </a:cubicBezTo>
                <a:cubicBezTo>
                  <a:pt x="5677" y="2146"/>
                  <a:pt x="5666" y="2152"/>
                  <a:pt x="5655" y="2157"/>
                </a:cubicBezTo>
                <a:cubicBezTo>
                  <a:pt x="5644" y="2161"/>
                  <a:pt x="5632" y="2165"/>
                  <a:pt x="5620" y="2167"/>
                </a:cubicBezTo>
                <a:cubicBezTo>
                  <a:pt x="5608" y="2169"/>
                  <a:pt x="5596" y="2171"/>
                  <a:pt x="5584" y="2171"/>
                </a:cubicBezTo>
                <a:lnTo>
                  <a:pt x="185" y="2171"/>
                </a:lnTo>
                <a:cubicBezTo>
                  <a:pt x="173" y="2171"/>
                  <a:pt x="161" y="2169"/>
                  <a:pt x="149" y="2167"/>
                </a:cubicBezTo>
                <a:cubicBezTo>
                  <a:pt x="137" y="2165"/>
                  <a:pt x="126" y="2161"/>
                  <a:pt x="115" y="2157"/>
                </a:cubicBezTo>
                <a:cubicBezTo>
                  <a:pt x="103" y="2152"/>
                  <a:pt x="93" y="2146"/>
                  <a:pt x="83" y="2139"/>
                </a:cubicBezTo>
                <a:cubicBezTo>
                  <a:pt x="72" y="2133"/>
                  <a:pt x="63" y="2125"/>
                  <a:pt x="54" y="2116"/>
                </a:cubicBezTo>
                <a:cubicBezTo>
                  <a:pt x="46" y="2108"/>
                  <a:pt x="38" y="2098"/>
                  <a:pt x="31" y="2088"/>
                </a:cubicBezTo>
                <a:cubicBezTo>
                  <a:pt x="25" y="2078"/>
                  <a:pt x="19" y="2068"/>
                  <a:pt x="14" y="2056"/>
                </a:cubicBezTo>
                <a:cubicBezTo>
                  <a:pt x="10" y="2045"/>
                  <a:pt x="6" y="2034"/>
                  <a:pt x="4" y="2022"/>
                </a:cubicBezTo>
                <a:cubicBezTo>
                  <a:pt x="1" y="2010"/>
                  <a:pt x="0" y="1998"/>
                  <a:pt x="0" y="1985"/>
                </a:cubicBezTo>
                <a:close/>
              </a:path>
            </a:pathLst>
          </a:custGeom>
          <a:solidFill>
            <a:srgbClr val="F0EC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89" name=""/>
          <p:cNvSpPr/>
          <p:nvPr/>
        </p:nvSpPr>
        <p:spPr>
          <a:xfrm>
            <a:off x="6581520" y="2381040"/>
            <a:ext cx="2076840" cy="781560"/>
          </a:xfrm>
          <a:custGeom>
            <a:avLst/>
            <a:gdLst/>
            <a:ahLst/>
            <a:rect l="0" t="0" r="r" b="b"/>
            <a:pathLst>
              <a:path w="5769" h="2171">
                <a:moveTo>
                  <a:pt x="0" y="198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5584" y="0"/>
                </a:lnTo>
                <a:cubicBezTo>
                  <a:pt x="5596" y="0"/>
                  <a:pt x="5608" y="1"/>
                  <a:pt x="5620" y="4"/>
                </a:cubicBezTo>
                <a:cubicBezTo>
                  <a:pt x="5632" y="6"/>
                  <a:pt x="5644" y="10"/>
                  <a:pt x="5655" y="14"/>
                </a:cubicBezTo>
                <a:cubicBezTo>
                  <a:pt x="5666" y="19"/>
                  <a:pt x="5677" y="25"/>
                  <a:pt x="5687" y="31"/>
                </a:cubicBezTo>
                <a:cubicBezTo>
                  <a:pt x="5697" y="38"/>
                  <a:pt x="5706" y="46"/>
                  <a:pt x="5715" y="54"/>
                </a:cubicBezTo>
                <a:cubicBezTo>
                  <a:pt x="5723" y="63"/>
                  <a:pt x="5731" y="72"/>
                  <a:pt x="5738" y="82"/>
                </a:cubicBezTo>
                <a:cubicBezTo>
                  <a:pt x="5745" y="93"/>
                  <a:pt x="5750" y="103"/>
                  <a:pt x="5755" y="114"/>
                </a:cubicBezTo>
                <a:cubicBezTo>
                  <a:pt x="5760" y="126"/>
                  <a:pt x="5763" y="137"/>
                  <a:pt x="5766" y="149"/>
                </a:cubicBezTo>
                <a:cubicBezTo>
                  <a:pt x="5768" y="161"/>
                  <a:pt x="5769" y="173"/>
                  <a:pt x="5769" y="185"/>
                </a:cubicBezTo>
                <a:lnTo>
                  <a:pt x="5769" y="1985"/>
                </a:lnTo>
                <a:cubicBezTo>
                  <a:pt x="5769" y="1998"/>
                  <a:pt x="5768" y="2010"/>
                  <a:pt x="5766" y="2022"/>
                </a:cubicBezTo>
                <a:cubicBezTo>
                  <a:pt x="5763" y="2034"/>
                  <a:pt x="5760" y="2045"/>
                  <a:pt x="5755" y="2056"/>
                </a:cubicBezTo>
                <a:cubicBezTo>
                  <a:pt x="5750" y="2068"/>
                  <a:pt x="5745" y="2078"/>
                  <a:pt x="5738" y="2088"/>
                </a:cubicBezTo>
                <a:cubicBezTo>
                  <a:pt x="5731" y="2098"/>
                  <a:pt x="5723" y="2108"/>
                  <a:pt x="5715" y="2116"/>
                </a:cubicBezTo>
                <a:cubicBezTo>
                  <a:pt x="5706" y="2125"/>
                  <a:pt x="5697" y="2133"/>
                  <a:pt x="5687" y="2139"/>
                </a:cubicBezTo>
                <a:cubicBezTo>
                  <a:pt x="5677" y="2146"/>
                  <a:pt x="5666" y="2152"/>
                  <a:pt x="5655" y="2157"/>
                </a:cubicBezTo>
                <a:cubicBezTo>
                  <a:pt x="5644" y="2161"/>
                  <a:pt x="5632" y="2165"/>
                  <a:pt x="5620" y="2167"/>
                </a:cubicBezTo>
                <a:cubicBezTo>
                  <a:pt x="5608" y="2169"/>
                  <a:pt x="5596" y="2171"/>
                  <a:pt x="5584" y="2171"/>
                </a:cubicBezTo>
                <a:lnTo>
                  <a:pt x="185" y="2171"/>
                </a:lnTo>
                <a:cubicBezTo>
                  <a:pt x="173" y="2171"/>
                  <a:pt x="161" y="2169"/>
                  <a:pt x="149" y="2167"/>
                </a:cubicBezTo>
                <a:cubicBezTo>
                  <a:pt x="137" y="2165"/>
                  <a:pt x="126" y="2161"/>
                  <a:pt x="115" y="2157"/>
                </a:cubicBezTo>
                <a:cubicBezTo>
                  <a:pt x="103" y="2152"/>
                  <a:pt x="93" y="2146"/>
                  <a:pt x="83" y="2139"/>
                </a:cubicBezTo>
                <a:cubicBezTo>
                  <a:pt x="72" y="2133"/>
                  <a:pt x="63" y="2125"/>
                  <a:pt x="54" y="2116"/>
                </a:cubicBezTo>
                <a:cubicBezTo>
                  <a:pt x="46" y="2108"/>
                  <a:pt x="38" y="2098"/>
                  <a:pt x="31" y="2088"/>
                </a:cubicBezTo>
                <a:cubicBezTo>
                  <a:pt x="25" y="2078"/>
                  <a:pt x="19" y="2068"/>
                  <a:pt x="14" y="2056"/>
                </a:cubicBezTo>
                <a:cubicBezTo>
                  <a:pt x="10" y="2045"/>
                  <a:pt x="6" y="2034"/>
                  <a:pt x="4" y="2022"/>
                </a:cubicBezTo>
                <a:cubicBezTo>
                  <a:pt x="1" y="2010"/>
                  <a:pt x="0" y="1998"/>
                  <a:pt x="0" y="1985"/>
                </a:cubicBezTo>
                <a:close/>
              </a:path>
            </a:pathLst>
          </a:custGeom>
          <a:noFill/>
          <a:ln w="18720">
            <a:solidFill>
              <a:srgbClr val="8A79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010200" y="2586600"/>
            <a:ext cx="41607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0" u="none" strike="noStrike">
                <a:solidFill>
                  <a:srgbClr val="697786"/>
                </a:solidFill>
                <a:effectLst/>
                <a:uFillTx/>
                <a:latin typeface="Hiragino Sans"/>
                <a:ea typeface="Hiragino Sans"/>
              </a:rPr>
              <a:t>→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6959880" y="2641680"/>
            <a:ext cx="1534284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1" u="none" strike="noStrike">
                <a:solidFill>
                  <a:srgbClr val="685098"/>
                </a:solidFill>
                <a:effectLst/>
                <a:uFillTx/>
                <a:latin typeface="Hiragino Sans"/>
                <a:ea typeface="Hiragino Sans"/>
              </a:rPr>
              <a:t>言語モデル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2" name=""/>
          <p:cNvSpPr/>
          <p:nvPr/>
        </p:nvSpPr>
        <p:spPr>
          <a:xfrm>
            <a:off x="9820080" y="2400120"/>
            <a:ext cx="1124280" cy="743400"/>
          </a:xfrm>
          <a:custGeom>
            <a:avLst/>
            <a:gdLst/>
            <a:ahLst/>
            <a:rect l="0" t="0" r="r" b="b"/>
            <a:pathLst>
              <a:path w="3123" h="2065">
                <a:moveTo>
                  <a:pt x="0" y="1932"/>
                </a:moveTo>
                <a:lnTo>
                  <a:pt x="0" y="132"/>
                </a:ln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lnTo>
                  <a:pt x="2991" y="0"/>
                </a:lnTo>
                <a:cubicBezTo>
                  <a:pt x="3008" y="0"/>
                  <a:pt x="3025" y="3"/>
                  <a:pt x="3041" y="10"/>
                </a:cubicBezTo>
                <a:cubicBezTo>
                  <a:pt x="3058" y="17"/>
                  <a:pt x="3072" y="26"/>
                  <a:pt x="3084" y="39"/>
                </a:cubicBezTo>
                <a:cubicBezTo>
                  <a:pt x="3097" y="51"/>
                  <a:pt x="3106" y="65"/>
                  <a:pt x="3113" y="82"/>
                </a:cubicBezTo>
                <a:cubicBezTo>
                  <a:pt x="3120" y="98"/>
                  <a:pt x="3123" y="115"/>
                  <a:pt x="3123" y="132"/>
                </a:cubicBezTo>
                <a:lnTo>
                  <a:pt x="3123" y="1932"/>
                </a:lnTo>
                <a:cubicBezTo>
                  <a:pt x="3123" y="1950"/>
                  <a:pt x="3120" y="1967"/>
                  <a:pt x="3113" y="1983"/>
                </a:cubicBezTo>
                <a:cubicBezTo>
                  <a:pt x="3106" y="1999"/>
                  <a:pt x="3097" y="2014"/>
                  <a:pt x="3084" y="2026"/>
                </a:cubicBezTo>
                <a:cubicBezTo>
                  <a:pt x="3072" y="2038"/>
                  <a:pt x="3058" y="2048"/>
                  <a:pt x="3041" y="2055"/>
                </a:cubicBezTo>
                <a:cubicBezTo>
                  <a:pt x="3025" y="2061"/>
                  <a:pt x="3008" y="2065"/>
                  <a:pt x="2991" y="2065"/>
                </a:cubicBezTo>
                <a:lnTo>
                  <a:pt x="132" y="2065"/>
                </a:lnTo>
                <a:cubicBezTo>
                  <a:pt x="115" y="2065"/>
                  <a:pt x="98" y="2061"/>
                  <a:pt x="82" y="2055"/>
                </a:cubicBezTo>
                <a:cubicBezTo>
                  <a:pt x="65" y="2048"/>
                  <a:pt x="51" y="2038"/>
                  <a:pt x="39" y="2026"/>
                </a:cubicBezTo>
                <a:cubicBezTo>
                  <a:pt x="26" y="2014"/>
                  <a:pt x="17" y="1999"/>
                  <a:pt x="10" y="1983"/>
                </a:cubicBezTo>
                <a:cubicBezTo>
                  <a:pt x="3" y="1967"/>
                  <a:pt x="0" y="1950"/>
                  <a:pt x="0" y="1932"/>
                </a:cubicBezTo>
                <a:close/>
              </a:path>
            </a:pathLst>
          </a:custGeom>
          <a:solidFill>
            <a:srgbClr val="FFF1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3" name=""/>
          <p:cNvSpPr/>
          <p:nvPr/>
        </p:nvSpPr>
        <p:spPr>
          <a:xfrm>
            <a:off x="9820080" y="2400120"/>
            <a:ext cx="1124280" cy="743400"/>
          </a:xfrm>
          <a:custGeom>
            <a:avLst/>
            <a:gdLst/>
            <a:ahLst/>
            <a:rect l="0" t="0" r="r" b="b"/>
            <a:pathLst>
              <a:path w="3123" h="2065">
                <a:moveTo>
                  <a:pt x="0" y="1932"/>
                </a:moveTo>
                <a:lnTo>
                  <a:pt x="0" y="132"/>
                </a:ln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lnTo>
                  <a:pt x="2991" y="0"/>
                </a:lnTo>
                <a:cubicBezTo>
                  <a:pt x="3008" y="0"/>
                  <a:pt x="3025" y="3"/>
                  <a:pt x="3041" y="10"/>
                </a:cubicBezTo>
                <a:cubicBezTo>
                  <a:pt x="3058" y="17"/>
                  <a:pt x="3072" y="26"/>
                  <a:pt x="3084" y="39"/>
                </a:cubicBezTo>
                <a:cubicBezTo>
                  <a:pt x="3097" y="51"/>
                  <a:pt x="3106" y="65"/>
                  <a:pt x="3113" y="82"/>
                </a:cubicBezTo>
                <a:cubicBezTo>
                  <a:pt x="3120" y="98"/>
                  <a:pt x="3123" y="115"/>
                  <a:pt x="3123" y="132"/>
                </a:cubicBezTo>
                <a:lnTo>
                  <a:pt x="3123" y="1932"/>
                </a:lnTo>
                <a:cubicBezTo>
                  <a:pt x="3123" y="1950"/>
                  <a:pt x="3120" y="1967"/>
                  <a:pt x="3113" y="1983"/>
                </a:cubicBezTo>
                <a:cubicBezTo>
                  <a:pt x="3106" y="1999"/>
                  <a:pt x="3097" y="2014"/>
                  <a:pt x="3084" y="2026"/>
                </a:cubicBezTo>
                <a:cubicBezTo>
                  <a:pt x="3072" y="2038"/>
                  <a:pt x="3058" y="2048"/>
                  <a:pt x="3041" y="2055"/>
                </a:cubicBezTo>
                <a:cubicBezTo>
                  <a:pt x="3025" y="2061"/>
                  <a:pt x="3008" y="2065"/>
                  <a:pt x="2991" y="2065"/>
                </a:cubicBezTo>
                <a:lnTo>
                  <a:pt x="132" y="2065"/>
                </a:lnTo>
                <a:cubicBezTo>
                  <a:pt x="115" y="2065"/>
                  <a:pt x="98" y="2061"/>
                  <a:pt x="82" y="2055"/>
                </a:cubicBezTo>
                <a:cubicBezTo>
                  <a:pt x="65" y="2048"/>
                  <a:pt x="51" y="2038"/>
                  <a:pt x="39" y="2026"/>
                </a:cubicBezTo>
                <a:cubicBezTo>
                  <a:pt x="26" y="2014"/>
                  <a:pt x="17" y="1999"/>
                  <a:pt x="10" y="1983"/>
                </a:cubicBezTo>
                <a:cubicBezTo>
                  <a:pt x="3" y="1967"/>
                  <a:pt x="0" y="1950"/>
                  <a:pt x="0" y="1932"/>
                </a:cubicBezTo>
                <a:close/>
              </a:path>
            </a:pathLst>
          </a:custGeom>
          <a:noFill/>
          <a:ln w="18720">
            <a:solidFill>
              <a:srgbClr val="CF7D31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8867880" y="2586600"/>
            <a:ext cx="41607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0" u="none" strike="noStrike">
                <a:solidFill>
                  <a:srgbClr val="697786"/>
                </a:solidFill>
                <a:effectLst/>
                <a:uFillTx/>
                <a:latin typeface="Hiragino Sans"/>
                <a:ea typeface="Hiragino Sans"/>
              </a:rPr>
              <a:t>→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5" name=""/>
          <p:cNvSpPr/>
          <p:nvPr/>
        </p:nvSpPr>
        <p:spPr>
          <a:xfrm>
            <a:off x="866520" y="416232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1" y="26"/>
                  <a:pt x="66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lnTo>
                  <a:pt x="1933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1999" y="17"/>
                  <a:pt x="2014" y="26"/>
                  <a:pt x="2026" y="39"/>
                </a:cubicBezTo>
                <a:cubicBezTo>
                  <a:pt x="2039" y="51"/>
                  <a:pt x="2048" y="65"/>
                  <a:pt x="2055" y="81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5"/>
                  <a:pt x="2062" y="1702"/>
                  <a:pt x="2055" y="1718"/>
                </a:cubicBezTo>
                <a:cubicBezTo>
                  <a:pt x="2048" y="1734"/>
                  <a:pt x="2039" y="1749"/>
                  <a:pt x="2026" y="1761"/>
                </a:cubicBezTo>
                <a:cubicBezTo>
                  <a:pt x="2014" y="1774"/>
                  <a:pt x="1999" y="1783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2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3"/>
                  <a:pt x="51" y="1774"/>
                  <a:pt x="39" y="1761"/>
                </a:cubicBezTo>
                <a:cubicBezTo>
                  <a:pt x="27" y="1749"/>
                  <a:pt x="17" y="1734"/>
                  <a:pt x="10" y="1718"/>
                </a:cubicBezTo>
                <a:cubicBezTo>
                  <a:pt x="4" y="1702"/>
                  <a:pt x="0" y="1685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6" name=""/>
          <p:cNvSpPr/>
          <p:nvPr/>
        </p:nvSpPr>
        <p:spPr>
          <a:xfrm>
            <a:off x="866520" y="416232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1" y="26"/>
                  <a:pt x="66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lnTo>
                  <a:pt x="1933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1999" y="17"/>
                  <a:pt x="2014" y="26"/>
                  <a:pt x="2026" y="39"/>
                </a:cubicBezTo>
                <a:cubicBezTo>
                  <a:pt x="2039" y="51"/>
                  <a:pt x="2048" y="65"/>
                  <a:pt x="2055" y="81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5"/>
                  <a:pt x="2062" y="1702"/>
                  <a:pt x="2055" y="1718"/>
                </a:cubicBezTo>
                <a:cubicBezTo>
                  <a:pt x="2048" y="1734"/>
                  <a:pt x="2039" y="1749"/>
                  <a:pt x="2026" y="1761"/>
                </a:cubicBezTo>
                <a:cubicBezTo>
                  <a:pt x="2014" y="1774"/>
                  <a:pt x="1999" y="1783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2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3"/>
                  <a:pt x="51" y="1774"/>
                  <a:pt x="39" y="1761"/>
                </a:cubicBezTo>
                <a:cubicBezTo>
                  <a:pt x="27" y="1749"/>
                  <a:pt x="17" y="1734"/>
                  <a:pt x="10" y="1718"/>
                </a:cubicBezTo>
                <a:cubicBezTo>
                  <a:pt x="4" y="1702"/>
                  <a:pt x="0" y="1685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0096560" y="2625120"/>
            <a:ext cx="659916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250" b="1" u="none" strike="noStrike">
                <a:solidFill>
                  <a:srgbClr val="A75A15"/>
                </a:solidFill>
                <a:effectLst/>
                <a:uFillTx/>
                <a:latin typeface="Hiragino Sans"/>
                <a:ea typeface="Hiragino Sans"/>
              </a:rPr>
              <a:t>好き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8" name=""/>
          <p:cNvSpPr/>
          <p:nvPr/>
        </p:nvSpPr>
        <p:spPr>
          <a:xfrm>
            <a:off x="1742760" y="416232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lnTo>
                  <a:pt x="1933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2000" y="17"/>
                  <a:pt x="2014" y="26"/>
                  <a:pt x="2026" y="39"/>
                </a:cubicBezTo>
                <a:cubicBezTo>
                  <a:pt x="2039" y="51"/>
                  <a:pt x="2048" y="65"/>
                  <a:pt x="2055" y="81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5"/>
                  <a:pt x="2062" y="1702"/>
                  <a:pt x="2055" y="1718"/>
                </a:cubicBezTo>
                <a:cubicBezTo>
                  <a:pt x="2048" y="1734"/>
                  <a:pt x="2039" y="1749"/>
                  <a:pt x="2026" y="1761"/>
                </a:cubicBezTo>
                <a:cubicBezTo>
                  <a:pt x="2014" y="1774"/>
                  <a:pt x="2000" y="1783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3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3"/>
                  <a:pt x="52" y="1774"/>
                  <a:pt x="39" y="1761"/>
                </a:cubicBezTo>
                <a:cubicBezTo>
                  <a:pt x="27" y="1749"/>
                  <a:pt x="17" y="1734"/>
                  <a:pt x="10" y="1718"/>
                </a:cubicBezTo>
                <a:cubicBezTo>
                  <a:pt x="4" y="1702"/>
                  <a:pt x="0" y="1685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599" name=""/>
          <p:cNvSpPr/>
          <p:nvPr/>
        </p:nvSpPr>
        <p:spPr>
          <a:xfrm>
            <a:off x="1742760" y="416232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4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lnTo>
                  <a:pt x="1933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2000" y="17"/>
                  <a:pt x="2014" y="26"/>
                  <a:pt x="2026" y="39"/>
                </a:cubicBezTo>
                <a:cubicBezTo>
                  <a:pt x="2039" y="51"/>
                  <a:pt x="2048" y="65"/>
                  <a:pt x="2055" y="81"/>
                </a:cubicBezTo>
                <a:cubicBezTo>
                  <a:pt x="2062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5"/>
                  <a:pt x="2062" y="1702"/>
                  <a:pt x="2055" y="1718"/>
                </a:cubicBezTo>
                <a:cubicBezTo>
                  <a:pt x="2048" y="1734"/>
                  <a:pt x="2039" y="1749"/>
                  <a:pt x="2026" y="1761"/>
                </a:cubicBezTo>
                <a:cubicBezTo>
                  <a:pt x="2014" y="1774"/>
                  <a:pt x="2000" y="1783"/>
                  <a:pt x="1983" y="1790"/>
                </a:cubicBezTo>
                <a:cubicBezTo>
                  <a:pt x="1967" y="1797"/>
                  <a:pt x="1950" y="1800"/>
                  <a:pt x="1933" y="1800"/>
                </a:cubicBezTo>
                <a:lnTo>
                  <a:pt x="133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6" y="1783"/>
                  <a:pt x="52" y="1774"/>
                  <a:pt x="39" y="1761"/>
                </a:cubicBezTo>
                <a:cubicBezTo>
                  <a:pt x="27" y="1749"/>
                  <a:pt x="17" y="1734"/>
                  <a:pt x="10" y="1718"/>
                </a:cubicBezTo>
                <a:cubicBezTo>
                  <a:pt x="4" y="1702"/>
                  <a:pt x="0" y="1685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104840" y="435636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1" name=""/>
          <p:cNvSpPr/>
          <p:nvPr/>
        </p:nvSpPr>
        <p:spPr>
          <a:xfrm>
            <a:off x="2619360" y="416232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1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lnTo>
                  <a:pt x="1931" y="0"/>
                </a:lnTo>
                <a:cubicBezTo>
                  <a:pt x="1949" y="0"/>
                  <a:pt x="1965" y="3"/>
                  <a:pt x="1982" y="10"/>
                </a:cubicBezTo>
                <a:cubicBezTo>
                  <a:pt x="1998" y="17"/>
                  <a:pt x="2013" y="26"/>
                  <a:pt x="2026" y="39"/>
                </a:cubicBezTo>
                <a:cubicBezTo>
                  <a:pt x="2038" y="51"/>
                  <a:pt x="2048" y="65"/>
                  <a:pt x="2054" y="81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5"/>
                  <a:pt x="2061" y="1702"/>
                  <a:pt x="2054" y="1718"/>
                </a:cubicBezTo>
                <a:cubicBezTo>
                  <a:pt x="2048" y="1734"/>
                  <a:pt x="2038" y="1749"/>
                  <a:pt x="2026" y="1761"/>
                </a:cubicBezTo>
                <a:cubicBezTo>
                  <a:pt x="2013" y="1774"/>
                  <a:pt x="1998" y="1783"/>
                  <a:pt x="1982" y="1790"/>
                </a:cubicBezTo>
                <a:cubicBezTo>
                  <a:pt x="1965" y="1797"/>
                  <a:pt x="1949" y="1800"/>
                  <a:pt x="1931" y="1800"/>
                </a:cubicBezTo>
                <a:lnTo>
                  <a:pt x="132" y="1800"/>
                </a:lnTo>
                <a:cubicBezTo>
                  <a:pt x="114" y="1800"/>
                  <a:pt x="97" y="1797"/>
                  <a:pt x="81" y="1790"/>
                </a:cubicBezTo>
                <a:cubicBezTo>
                  <a:pt x="65" y="1783"/>
                  <a:pt x="51" y="1774"/>
                  <a:pt x="38" y="1761"/>
                </a:cubicBezTo>
                <a:cubicBezTo>
                  <a:pt x="26" y="1749"/>
                  <a:pt x="16" y="1734"/>
                  <a:pt x="10" y="1718"/>
                </a:cubicBezTo>
                <a:cubicBezTo>
                  <a:pt x="3" y="1702"/>
                  <a:pt x="0" y="1685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2" name=""/>
          <p:cNvSpPr/>
          <p:nvPr/>
        </p:nvSpPr>
        <p:spPr>
          <a:xfrm>
            <a:off x="2619360" y="416232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1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lnTo>
                  <a:pt x="1931" y="0"/>
                </a:lnTo>
                <a:cubicBezTo>
                  <a:pt x="1949" y="0"/>
                  <a:pt x="1965" y="3"/>
                  <a:pt x="1982" y="10"/>
                </a:cubicBezTo>
                <a:cubicBezTo>
                  <a:pt x="1998" y="17"/>
                  <a:pt x="2013" y="26"/>
                  <a:pt x="2026" y="39"/>
                </a:cubicBezTo>
                <a:cubicBezTo>
                  <a:pt x="2038" y="51"/>
                  <a:pt x="2048" y="65"/>
                  <a:pt x="2054" y="81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5"/>
                  <a:pt x="2061" y="1702"/>
                  <a:pt x="2054" y="1718"/>
                </a:cubicBezTo>
                <a:cubicBezTo>
                  <a:pt x="2048" y="1734"/>
                  <a:pt x="2038" y="1749"/>
                  <a:pt x="2026" y="1761"/>
                </a:cubicBezTo>
                <a:cubicBezTo>
                  <a:pt x="2013" y="1774"/>
                  <a:pt x="1998" y="1783"/>
                  <a:pt x="1982" y="1790"/>
                </a:cubicBezTo>
                <a:cubicBezTo>
                  <a:pt x="1965" y="1797"/>
                  <a:pt x="1949" y="1800"/>
                  <a:pt x="1931" y="1800"/>
                </a:cubicBezTo>
                <a:lnTo>
                  <a:pt x="132" y="1800"/>
                </a:lnTo>
                <a:cubicBezTo>
                  <a:pt x="114" y="1800"/>
                  <a:pt x="97" y="1797"/>
                  <a:pt x="81" y="1790"/>
                </a:cubicBezTo>
                <a:cubicBezTo>
                  <a:pt x="65" y="1783"/>
                  <a:pt x="51" y="1774"/>
                  <a:pt x="38" y="1761"/>
                </a:cubicBezTo>
                <a:cubicBezTo>
                  <a:pt x="26" y="1749"/>
                  <a:pt x="16" y="1734"/>
                  <a:pt x="10" y="1718"/>
                </a:cubicBezTo>
                <a:cubicBezTo>
                  <a:pt x="3" y="1702"/>
                  <a:pt x="0" y="1685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1981080" y="435636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4" name=""/>
          <p:cNvSpPr/>
          <p:nvPr/>
        </p:nvSpPr>
        <p:spPr>
          <a:xfrm>
            <a:off x="3495600" y="416232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1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8" y="3"/>
                  <a:pt x="114" y="0"/>
                  <a:pt x="132" y="0"/>
                </a:cubicBezTo>
                <a:lnTo>
                  <a:pt x="1932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1999" y="17"/>
                  <a:pt x="2013" y="26"/>
                  <a:pt x="2026" y="39"/>
                </a:cubicBezTo>
                <a:cubicBezTo>
                  <a:pt x="2038" y="51"/>
                  <a:pt x="2048" y="65"/>
                  <a:pt x="2054" y="81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5"/>
                  <a:pt x="2061" y="1702"/>
                  <a:pt x="2054" y="1718"/>
                </a:cubicBezTo>
                <a:cubicBezTo>
                  <a:pt x="2048" y="1734"/>
                  <a:pt x="2038" y="1749"/>
                  <a:pt x="2026" y="1761"/>
                </a:cubicBezTo>
                <a:cubicBezTo>
                  <a:pt x="2013" y="1774"/>
                  <a:pt x="1999" y="1783"/>
                  <a:pt x="1983" y="1790"/>
                </a:cubicBezTo>
                <a:cubicBezTo>
                  <a:pt x="1967" y="1797"/>
                  <a:pt x="1950" y="1800"/>
                  <a:pt x="1932" y="1800"/>
                </a:cubicBezTo>
                <a:lnTo>
                  <a:pt x="132" y="1800"/>
                </a:lnTo>
                <a:cubicBezTo>
                  <a:pt x="114" y="1800"/>
                  <a:pt x="98" y="1797"/>
                  <a:pt x="81" y="1790"/>
                </a:cubicBezTo>
                <a:cubicBezTo>
                  <a:pt x="65" y="1783"/>
                  <a:pt x="51" y="1774"/>
                  <a:pt x="38" y="1761"/>
                </a:cubicBezTo>
                <a:cubicBezTo>
                  <a:pt x="26" y="1749"/>
                  <a:pt x="16" y="1734"/>
                  <a:pt x="10" y="1718"/>
                </a:cubicBezTo>
                <a:cubicBezTo>
                  <a:pt x="3" y="1702"/>
                  <a:pt x="0" y="1685"/>
                  <a:pt x="0" y="1668"/>
                </a:cubicBez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5" name=""/>
          <p:cNvSpPr/>
          <p:nvPr/>
        </p:nvSpPr>
        <p:spPr>
          <a:xfrm>
            <a:off x="3495600" y="4162320"/>
            <a:ext cx="743040" cy="648000"/>
          </a:xfrm>
          <a:custGeom>
            <a:avLst/>
            <a:gdLst/>
            <a:ahLst/>
            <a:rect l="0" t="0" r="r" b="b"/>
            <a:pathLst>
              <a:path w="2064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1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8" y="3"/>
                  <a:pt x="114" y="0"/>
                  <a:pt x="132" y="0"/>
                </a:cubicBezTo>
                <a:lnTo>
                  <a:pt x="1932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1999" y="17"/>
                  <a:pt x="2013" y="26"/>
                  <a:pt x="2026" y="39"/>
                </a:cubicBezTo>
                <a:cubicBezTo>
                  <a:pt x="2038" y="51"/>
                  <a:pt x="2048" y="65"/>
                  <a:pt x="2054" y="81"/>
                </a:cubicBezTo>
                <a:cubicBezTo>
                  <a:pt x="2061" y="98"/>
                  <a:pt x="2064" y="115"/>
                  <a:pt x="2064" y="133"/>
                </a:cubicBezTo>
                <a:lnTo>
                  <a:pt x="2064" y="1668"/>
                </a:lnTo>
                <a:cubicBezTo>
                  <a:pt x="2064" y="1685"/>
                  <a:pt x="2061" y="1702"/>
                  <a:pt x="2054" y="1718"/>
                </a:cubicBezTo>
                <a:cubicBezTo>
                  <a:pt x="2048" y="1734"/>
                  <a:pt x="2038" y="1749"/>
                  <a:pt x="2026" y="1761"/>
                </a:cubicBezTo>
                <a:cubicBezTo>
                  <a:pt x="2013" y="1774"/>
                  <a:pt x="1999" y="1783"/>
                  <a:pt x="1983" y="1790"/>
                </a:cubicBezTo>
                <a:cubicBezTo>
                  <a:pt x="1967" y="1797"/>
                  <a:pt x="1950" y="1800"/>
                  <a:pt x="1932" y="1800"/>
                </a:cubicBezTo>
                <a:lnTo>
                  <a:pt x="132" y="1800"/>
                </a:lnTo>
                <a:cubicBezTo>
                  <a:pt x="114" y="1800"/>
                  <a:pt x="98" y="1797"/>
                  <a:pt x="81" y="1790"/>
                </a:cubicBezTo>
                <a:cubicBezTo>
                  <a:pt x="65" y="1783"/>
                  <a:pt x="51" y="1774"/>
                  <a:pt x="38" y="1761"/>
                </a:cubicBezTo>
                <a:cubicBezTo>
                  <a:pt x="26" y="1749"/>
                  <a:pt x="16" y="1734"/>
                  <a:pt x="10" y="1718"/>
                </a:cubicBezTo>
                <a:cubicBezTo>
                  <a:pt x="3" y="1702"/>
                  <a:pt x="0" y="1685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92B1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857320" y="435636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7" name=""/>
          <p:cNvSpPr/>
          <p:nvPr/>
        </p:nvSpPr>
        <p:spPr>
          <a:xfrm>
            <a:off x="4371840" y="416232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lnTo>
                  <a:pt x="1932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1999" y="17"/>
                  <a:pt x="2013" y="26"/>
                  <a:pt x="2026" y="39"/>
                </a:cubicBezTo>
                <a:cubicBezTo>
                  <a:pt x="2038" y="51"/>
                  <a:pt x="2048" y="65"/>
                  <a:pt x="2055" y="81"/>
                </a:cubicBezTo>
                <a:cubicBezTo>
                  <a:pt x="2061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5"/>
                  <a:pt x="2061" y="1702"/>
                  <a:pt x="2055" y="1718"/>
                </a:cubicBezTo>
                <a:cubicBezTo>
                  <a:pt x="2048" y="1734"/>
                  <a:pt x="2038" y="1749"/>
                  <a:pt x="2026" y="1761"/>
                </a:cubicBezTo>
                <a:cubicBezTo>
                  <a:pt x="2013" y="1774"/>
                  <a:pt x="1999" y="1783"/>
                  <a:pt x="1983" y="1790"/>
                </a:cubicBezTo>
                <a:cubicBezTo>
                  <a:pt x="1967" y="1797"/>
                  <a:pt x="1950" y="1800"/>
                  <a:pt x="1932" y="1800"/>
                </a:cubicBezTo>
                <a:lnTo>
                  <a:pt x="132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5" y="1783"/>
                  <a:pt x="51" y="1774"/>
                  <a:pt x="39" y="1761"/>
                </a:cubicBezTo>
                <a:cubicBezTo>
                  <a:pt x="26" y="1749"/>
                  <a:pt x="17" y="1734"/>
                  <a:pt x="10" y="1718"/>
                </a:cubicBezTo>
                <a:cubicBezTo>
                  <a:pt x="3" y="1702"/>
                  <a:pt x="0" y="1685"/>
                  <a:pt x="0" y="1668"/>
                </a:cubicBezTo>
                <a:close/>
              </a:path>
            </a:pathLst>
          </a:custGeom>
          <a:solidFill>
            <a:srgbClr val="FFF1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8" name=""/>
          <p:cNvSpPr/>
          <p:nvPr/>
        </p:nvSpPr>
        <p:spPr>
          <a:xfrm>
            <a:off x="4371840" y="4162320"/>
            <a:ext cx="743400" cy="648000"/>
          </a:xfrm>
          <a:custGeom>
            <a:avLst/>
            <a:gdLst/>
            <a:ahLst/>
            <a:rect l="0" t="0" r="r" b="b"/>
            <a:pathLst>
              <a:path w="2065" h="1800">
                <a:moveTo>
                  <a:pt x="0" y="1668"/>
                </a:moveTo>
                <a:lnTo>
                  <a:pt x="0" y="133"/>
                </a:ln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lnTo>
                  <a:pt x="1932" y="0"/>
                </a:lnTo>
                <a:cubicBezTo>
                  <a:pt x="1950" y="0"/>
                  <a:pt x="1967" y="3"/>
                  <a:pt x="1983" y="10"/>
                </a:cubicBezTo>
                <a:cubicBezTo>
                  <a:pt x="1999" y="17"/>
                  <a:pt x="2013" y="26"/>
                  <a:pt x="2026" y="39"/>
                </a:cubicBezTo>
                <a:cubicBezTo>
                  <a:pt x="2038" y="51"/>
                  <a:pt x="2048" y="65"/>
                  <a:pt x="2055" y="81"/>
                </a:cubicBezTo>
                <a:cubicBezTo>
                  <a:pt x="2061" y="98"/>
                  <a:pt x="2065" y="115"/>
                  <a:pt x="2065" y="133"/>
                </a:cubicBezTo>
                <a:lnTo>
                  <a:pt x="2065" y="1668"/>
                </a:lnTo>
                <a:cubicBezTo>
                  <a:pt x="2065" y="1685"/>
                  <a:pt x="2061" y="1702"/>
                  <a:pt x="2055" y="1718"/>
                </a:cubicBezTo>
                <a:cubicBezTo>
                  <a:pt x="2048" y="1734"/>
                  <a:pt x="2038" y="1749"/>
                  <a:pt x="2026" y="1761"/>
                </a:cubicBezTo>
                <a:cubicBezTo>
                  <a:pt x="2013" y="1774"/>
                  <a:pt x="1999" y="1783"/>
                  <a:pt x="1983" y="1790"/>
                </a:cubicBezTo>
                <a:cubicBezTo>
                  <a:pt x="1967" y="1797"/>
                  <a:pt x="1950" y="1800"/>
                  <a:pt x="1932" y="1800"/>
                </a:cubicBezTo>
                <a:lnTo>
                  <a:pt x="132" y="1800"/>
                </a:lnTo>
                <a:cubicBezTo>
                  <a:pt x="115" y="1800"/>
                  <a:pt x="98" y="1797"/>
                  <a:pt x="82" y="1790"/>
                </a:cubicBezTo>
                <a:cubicBezTo>
                  <a:pt x="65" y="1783"/>
                  <a:pt x="51" y="1774"/>
                  <a:pt x="39" y="1761"/>
                </a:cubicBezTo>
                <a:cubicBezTo>
                  <a:pt x="26" y="1749"/>
                  <a:pt x="17" y="1734"/>
                  <a:pt x="10" y="1718"/>
                </a:cubicBezTo>
                <a:cubicBezTo>
                  <a:pt x="3" y="1702"/>
                  <a:pt x="0" y="1685"/>
                  <a:pt x="0" y="1668"/>
                </a:cubicBezTo>
                <a:close/>
              </a:path>
            </a:pathLst>
          </a:custGeom>
          <a:noFill/>
          <a:ln w="18720">
            <a:solidFill>
              <a:srgbClr val="CF7D31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3733920" y="4356360"/>
            <a:ext cx="307602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476600" y="4356360"/>
            <a:ext cx="614376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0" u="none" strike="noStrike">
                <a:solidFill>
                  <a:srgbClr val="A75A15"/>
                </a:solidFill>
                <a:effectLst/>
                <a:uFillTx/>
                <a:latin typeface="Hiragino Sans"/>
                <a:ea typeface="Hiragino Sans"/>
              </a:rPr>
              <a:t>好き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1" name=""/>
          <p:cNvSpPr/>
          <p:nvPr/>
        </p:nvSpPr>
        <p:spPr>
          <a:xfrm>
            <a:off x="6581520" y="4095720"/>
            <a:ext cx="2076840" cy="781200"/>
          </a:xfrm>
          <a:custGeom>
            <a:avLst/>
            <a:gdLst/>
            <a:ahLst/>
            <a:rect l="0" t="0" r="r" b="b"/>
            <a:pathLst>
              <a:path w="5769" h="2170">
                <a:moveTo>
                  <a:pt x="0" y="198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5584" y="0"/>
                </a:lnTo>
                <a:cubicBezTo>
                  <a:pt x="5596" y="0"/>
                  <a:pt x="5608" y="1"/>
                  <a:pt x="5620" y="3"/>
                </a:cubicBezTo>
                <a:cubicBezTo>
                  <a:pt x="5632" y="6"/>
                  <a:pt x="5644" y="9"/>
                  <a:pt x="5655" y="14"/>
                </a:cubicBezTo>
                <a:cubicBezTo>
                  <a:pt x="5666" y="18"/>
                  <a:pt x="5677" y="24"/>
                  <a:pt x="5687" y="31"/>
                </a:cubicBezTo>
                <a:cubicBezTo>
                  <a:pt x="5697" y="38"/>
                  <a:pt x="5706" y="45"/>
                  <a:pt x="5715" y="54"/>
                </a:cubicBezTo>
                <a:cubicBezTo>
                  <a:pt x="5723" y="62"/>
                  <a:pt x="5731" y="72"/>
                  <a:pt x="5738" y="82"/>
                </a:cubicBezTo>
                <a:cubicBezTo>
                  <a:pt x="5745" y="92"/>
                  <a:pt x="5750" y="103"/>
                  <a:pt x="5755" y="114"/>
                </a:cubicBezTo>
                <a:cubicBezTo>
                  <a:pt x="5760" y="125"/>
                  <a:pt x="5763" y="137"/>
                  <a:pt x="5766" y="149"/>
                </a:cubicBezTo>
                <a:cubicBezTo>
                  <a:pt x="5768" y="161"/>
                  <a:pt x="5769" y="173"/>
                  <a:pt x="5769" y="185"/>
                </a:cubicBezTo>
                <a:lnTo>
                  <a:pt x="5769" y="1985"/>
                </a:lnTo>
                <a:cubicBezTo>
                  <a:pt x="5769" y="1997"/>
                  <a:pt x="5768" y="2009"/>
                  <a:pt x="5766" y="2021"/>
                </a:cubicBezTo>
                <a:cubicBezTo>
                  <a:pt x="5763" y="2033"/>
                  <a:pt x="5760" y="2045"/>
                  <a:pt x="5755" y="2056"/>
                </a:cubicBezTo>
                <a:cubicBezTo>
                  <a:pt x="5750" y="2067"/>
                  <a:pt x="5745" y="2078"/>
                  <a:pt x="5738" y="2088"/>
                </a:cubicBezTo>
                <a:cubicBezTo>
                  <a:pt x="5731" y="2098"/>
                  <a:pt x="5723" y="2107"/>
                  <a:pt x="5715" y="2116"/>
                </a:cubicBezTo>
                <a:cubicBezTo>
                  <a:pt x="5706" y="2125"/>
                  <a:pt x="5697" y="2132"/>
                  <a:pt x="5687" y="2139"/>
                </a:cubicBezTo>
                <a:cubicBezTo>
                  <a:pt x="5677" y="2146"/>
                  <a:pt x="5666" y="2151"/>
                  <a:pt x="5655" y="2156"/>
                </a:cubicBezTo>
                <a:cubicBezTo>
                  <a:pt x="5644" y="2161"/>
                  <a:pt x="5632" y="2164"/>
                  <a:pt x="5620" y="2167"/>
                </a:cubicBezTo>
                <a:cubicBezTo>
                  <a:pt x="5608" y="2169"/>
                  <a:pt x="5596" y="2170"/>
                  <a:pt x="5584" y="2170"/>
                </a:cubicBezTo>
                <a:lnTo>
                  <a:pt x="185" y="2170"/>
                </a:lnTo>
                <a:cubicBezTo>
                  <a:pt x="173" y="2170"/>
                  <a:pt x="161" y="2169"/>
                  <a:pt x="149" y="2167"/>
                </a:cubicBezTo>
                <a:cubicBezTo>
                  <a:pt x="137" y="2164"/>
                  <a:pt x="126" y="2161"/>
                  <a:pt x="115" y="2156"/>
                </a:cubicBezTo>
                <a:cubicBezTo>
                  <a:pt x="103" y="2151"/>
                  <a:pt x="93" y="2146"/>
                  <a:pt x="83" y="2139"/>
                </a:cubicBezTo>
                <a:cubicBezTo>
                  <a:pt x="72" y="2132"/>
                  <a:pt x="63" y="2125"/>
                  <a:pt x="54" y="2116"/>
                </a:cubicBezTo>
                <a:cubicBezTo>
                  <a:pt x="46" y="2107"/>
                  <a:pt x="38" y="2098"/>
                  <a:pt x="31" y="2088"/>
                </a:cubicBezTo>
                <a:cubicBezTo>
                  <a:pt x="25" y="2078"/>
                  <a:pt x="19" y="2067"/>
                  <a:pt x="14" y="2056"/>
                </a:cubicBezTo>
                <a:cubicBezTo>
                  <a:pt x="10" y="2045"/>
                  <a:pt x="6" y="2033"/>
                  <a:pt x="4" y="2021"/>
                </a:cubicBezTo>
                <a:cubicBezTo>
                  <a:pt x="1" y="2009"/>
                  <a:pt x="0" y="1997"/>
                  <a:pt x="0" y="1985"/>
                </a:cubicBezTo>
                <a:close/>
              </a:path>
            </a:pathLst>
          </a:custGeom>
          <a:solidFill>
            <a:srgbClr val="F0EC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2" name=""/>
          <p:cNvSpPr/>
          <p:nvPr/>
        </p:nvSpPr>
        <p:spPr>
          <a:xfrm>
            <a:off x="6581520" y="4095720"/>
            <a:ext cx="2076840" cy="781200"/>
          </a:xfrm>
          <a:custGeom>
            <a:avLst/>
            <a:gdLst/>
            <a:ahLst/>
            <a:rect l="0" t="0" r="r" b="b"/>
            <a:pathLst>
              <a:path w="5769" h="2170">
                <a:moveTo>
                  <a:pt x="0" y="198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5584" y="0"/>
                </a:lnTo>
                <a:cubicBezTo>
                  <a:pt x="5596" y="0"/>
                  <a:pt x="5608" y="1"/>
                  <a:pt x="5620" y="3"/>
                </a:cubicBezTo>
                <a:cubicBezTo>
                  <a:pt x="5632" y="6"/>
                  <a:pt x="5644" y="9"/>
                  <a:pt x="5655" y="14"/>
                </a:cubicBezTo>
                <a:cubicBezTo>
                  <a:pt x="5666" y="18"/>
                  <a:pt x="5677" y="24"/>
                  <a:pt x="5687" y="31"/>
                </a:cubicBezTo>
                <a:cubicBezTo>
                  <a:pt x="5697" y="38"/>
                  <a:pt x="5706" y="45"/>
                  <a:pt x="5715" y="54"/>
                </a:cubicBezTo>
                <a:cubicBezTo>
                  <a:pt x="5723" y="62"/>
                  <a:pt x="5731" y="72"/>
                  <a:pt x="5738" y="82"/>
                </a:cubicBezTo>
                <a:cubicBezTo>
                  <a:pt x="5745" y="92"/>
                  <a:pt x="5750" y="103"/>
                  <a:pt x="5755" y="114"/>
                </a:cubicBezTo>
                <a:cubicBezTo>
                  <a:pt x="5760" y="125"/>
                  <a:pt x="5763" y="137"/>
                  <a:pt x="5766" y="149"/>
                </a:cubicBezTo>
                <a:cubicBezTo>
                  <a:pt x="5768" y="161"/>
                  <a:pt x="5769" y="173"/>
                  <a:pt x="5769" y="185"/>
                </a:cubicBezTo>
                <a:lnTo>
                  <a:pt x="5769" y="1985"/>
                </a:lnTo>
                <a:cubicBezTo>
                  <a:pt x="5769" y="1997"/>
                  <a:pt x="5768" y="2009"/>
                  <a:pt x="5766" y="2021"/>
                </a:cubicBezTo>
                <a:cubicBezTo>
                  <a:pt x="5763" y="2033"/>
                  <a:pt x="5760" y="2045"/>
                  <a:pt x="5755" y="2056"/>
                </a:cubicBezTo>
                <a:cubicBezTo>
                  <a:pt x="5750" y="2067"/>
                  <a:pt x="5745" y="2078"/>
                  <a:pt x="5738" y="2088"/>
                </a:cubicBezTo>
                <a:cubicBezTo>
                  <a:pt x="5731" y="2098"/>
                  <a:pt x="5723" y="2107"/>
                  <a:pt x="5715" y="2116"/>
                </a:cubicBezTo>
                <a:cubicBezTo>
                  <a:pt x="5706" y="2125"/>
                  <a:pt x="5697" y="2132"/>
                  <a:pt x="5687" y="2139"/>
                </a:cubicBezTo>
                <a:cubicBezTo>
                  <a:pt x="5677" y="2146"/>
                  <a:pt x="5666" y="2151"/>
                  <a:pt x="5655" y="2156"/>
                </a:cubicBezTo>
                <a:cubicBezTo>
                  <a:pt x="5644" y="2161"/>
                  <a:pt x="5632" y="2164"/>
                  <a:pt x="5620" y="2167"/>
                </a:cubicBezTo>
                <a:cubicBezTo>
                  <a:pt x="5608" y="2169"/>
                  <a:pt x="5596" y="2170"/>
                  <a:pt x="5584" y="2170"/>
                </a:cubicBezTo>
                <a:lnTo>
                  <a:pt x="185" y="2170"/>
                </a:lnTo>
                <a:cubicBezTo>
                  <a:pt x="173" y="2170"/>
                  <a:pt x="161" y="2169"/>
                  <a:pt x="149" y="2167"/>
                </a:cubicBezTo>
                <a:cubicBezTo>
                  <a:pt x="137" y="2164"/>
                  <a:pt x="126" y="2161"/>
                  <a:pt x="115" y="2156"/>
                </a:cubicBezTo>
                <a:cubicBezTo>
                  <a:pt x="103" y="2151"/>
                  <a:pt x="93" y="2146"/>
                  <a:pt x="83" y="2139"/>
                </a:cubicBezTo>
                <a:cubicBezTo>
                  <a:pt x="72" y="2132"/>
                  <a:pt x="63" y="2125"/>
                  <a:pt x="54" y="2116"/>
                </a:cubicBezTo>
                <a:cubicBezTo>
                  <a:pt x="46" y="2107"/>
                  <a:pt x="38" y="2098"/>
                  <a:pt x="31" y="2088"/>
                </a:cubicBezTo>
                <a:cubicBezTo>
                  <a:pt x="25" y="2078"/>
                  <a:pt x="19" y="2067"/>
                  <a:pt x="14" y="2056"/>
                </a:cubicBezTo>
                <a:cubicBezTo>
                  <a:pt x="10" y="2045"/>
                  <a:pt x="6" y="2033"/>
                  <a:pt x="4" y="2021"/>
                </a:cubicBezTo>
                <a:cubicBezTo>
                  <a:pt x="1" y="2009"/>
                  <a:pt x="0" y="1997"/>
                  <a:pt x="0" y="1985"/>
                </a:cubicBezTo>
                <a:close/>
              </a:path>
            </a:pathLst>
          </a:custGeom>
          <a:noFill/>
          <a:ln w="18720">
            <a:solidFill>
              <a:srgbClr val="8A79C8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010200" y="4301280"/>
            <a:ext cx="41607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0" u="none" strike="noStrike">
                <a:solidFill>
                  <a:srgbClr val="697786"/>
                </a:solidFill>
                <a:effectLst/>
                <a:uFillTx/>
                <a:latin typeface="Hiragino Sans"/>
                <a:ea typeface="Hiragino Sans"/>
              </a:rPr>
              <a:t>→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6959880" y="4356360"/>
            <a:ext cx="1534284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100" b="1" u="none" strike="noStrike">
                <a:solidFill>
                  <a:srgbClr val="685098"/>
                </a:solidFill>
                <a:effectLst/>
                <a:uFillTx/>
                <a:latin typeface="Hiragino Sans"/>
                <a:ea typeface="Hiragino Sans"/>
              </a:rPr>
              <a:t>同じモデル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5" name=""/>
          <p:cNvSpPr/>
          <p:nvPr/>
        </p:nvSpPr>
        <p:spPr>
          <a:xfrm>
            <a:off x="9820080" y="4114440"/>
            <a:ext cx="1124280" cy="743400"/>
          </a:xfrm>
          <a:custGeom>
            <a:avLst/>
            <a:gdLst/>
            <a:ahLst/>
            <a:rect l="0" t="0" r="r" b="b"/>
            <a:pathLst>
              <a:path w="3123" h="2065">
                <a:moveTo>
                  <a:pt x="0" y="1932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2991" y="0"/>
                </a:lnTo>
                <a:cubicBezTo>
                  <a:pt x="3008" y="0"/>
                  <a:pt x="3025" y="4"/>
                  <a:pt x="3041" y="11"/>
                </a:cubicBezTo>
                <a:cubicBezTo>
                  <a:pt x="3058" y="17"/>
                  <a:pt x="3072" y="27"/>
                  <a:pt x="3084" y="39"/>
                </a:cubicBezTo>
                <a:cubicBezTo>
                  <a:pt x="3097" y="52"/>
                  <a:pt x="3106" y="66"/>
                  <a:pt x="3113" y="82"/>
                </a:cubicBezTo>
                <a:cubicBezTo>
                  <a:pt x="3120" y="98"/>
                  <a:pt x="3123" y="115"/>
                  <a:pt x="3123" y="133"/>
                </a:cubicBezTo>
                <a:lnTo>
                  <a:pt x="3123" y="1932"/>
                </a:lnTo>
                <a:cubicBezTo>
                  <a:pt x="3123" y="1949"/>
                  <a:pt x="3120" y="1966"/>
                  <a:pt x="3113" y="1984"/>
                </a:cubicBezTo>
                <a:cubicBezTo>
                  <a:pt x="3106" y="2000"/>
                  <a:pt x="3097" y="2014"/>
                  <a:pt x="3084" y="2027"/>
                </a:cubicBezTo>
                <a:cubicBezTo>
                  <a:pt x="3072" y="2039"/>
                  <a:pt x="3058" y="2048"/>
                  <a:pt x="3041" y="2055"/>
                </a:cubicBezTo>
                <a:cubicBezTo>
                  <a:pt x="3025" y="2062"/>
                  <a:pt x="3008" y="2065"/>
                  <a:pt x="2991" y="2065"/>
                </a:cubicBezTo>
                <a:lnTo>
                  <a:pt x="132" y="2065"/>
                </a:lnTo>
                <a:cubicBezTo>
                  <a:pt x="115" y="2065"/>
                  <a:pt x="98" y="2062"/>
                  <a:pt x="82" y="2055"/>
                </a:cubicBezTo>
                <a:cubicBezTo>
                  <a:pt x="65" y="2048"/>
                  <a:pt x="51" y="2039"/>
                  <a:pt x="39" y="2027"/>
                </a:cubicBezTo>
                <a:cubicBezTo>
                  <a:pt x="26" y="2014"/>
                  <a:pt x="17" y="2000"/>
                  <a:pt x="10" y="1984"/>
                </a:cubicBezTo>
                <a:cubicBezTo>
                  <a:pt x="3" y="1966"/>
                  <a:pt x="0" y="1949"/>
                  <a:pt x="0" y="1932"/>
                </a:cubicBezTo>
                <a:close/>
              </a:path>
            </a:pathLst>
          </a:custGeom>
          <a:solidFill>
            <a:srgbClr val="EDF7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6" name=""/>
          <p:cNvSpPr/>
          <p:nvPr/>
        </p:nvSpPr>
        <p:spPr>
          <a:xfrm>
            <a:off x="9820080" y="4114440"/>
            <a:ext cx="1124280" cy="743400"/>
          </a:xfrm>
          <a:custGeom>
            <a:avLst/>
            <a:gdLst/>
            <a:ahLst/>
            <a:rect l="0" t="0" r="r" b="b"/>
            <a:pathLst>
              <a:path w="3123" h="2065">
                <a:moveTo>
                  <a:pt x="0" y="1932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2991" y="0"/>
                </a:lnTo>
                <a:cubicBezTo>
                  <a:pt x="3008" y="0"/>
                  <a:pt x="3025" y="4"/>
                  <a:pt x="3041" y="11"/>
                </a:cubicBezTo>
                <a:cubicBezTo>
                  <a:pt x="3058" y="17"/>
                  <a:pt x="3072" y="27"/>
                  <a:pt x="3084" y="39"/>
                </a:cubicBezTo>
                <a:cubicBezTo>
                  <a:pt x="3097" y="52"/>
                  <a:pt x="3106" y="66"/>
                  <a:pt x="3113" y="82"/>
                </a:cubicBezTo>
                <a:cubicBezTo>
                  <a:pt x="3120" y="98"/>
                  <a:pt x="3123" y="115"/>
                  <a:pt x="3123" y="133"/>
                </a:cubicBezTo>
                <a:lnTo>
                  <a:pt x="3123" y="1932"/>
                </a:lnTo>
                <a:cubicBezTo>
                  <a:pt x="3123" y="1949"/>
                  <a:pt x="3120" y="1966"/>
                  <a:pt x="3113" y="1984"/>
                </a:cubicBezTo>
                <a:cubicBezTo>
                  <a:pt x="3106" y="2000"/>
                  <a:pt x="3097" y="2014"/>
                  <a:pt x="3084" y="2027"/>
                </a:cubicBezTo>
                <a:cubicBezTo>
                  <a:pt x="3072" y="2039"/>
                  <a:pt x="3058" y="2048"/>
                  <a:pt x="3041" y="2055"/>
                </a:cubicBezTo>
                <a:cubicBezTo>
                  <a:pt x="3025" y="2062"/>
                  <a:pt x="3008" y="2065"/>
                  <a:pt x="2991" y="2065"/>
                </a:cubicBezTo>
                <a:lnTo>
                  <a:pt x="132" y="2065"/>
                </a:lnTo>
                <a:cubicBezTo>
                  <a:pt x="115" y="2065"/>
                  <a:pt x="98" y="2062"/>
                  <a:pt x="82" y="2055"/>
                </a:cubicBezTo>
                <a:cubicBezTo>
                  <a:pt x="65" y="2048"/>
                  <a:pt x="51" y="2039"/>
                  <a:pt x="39" y="2027"/>
                </a:cubicBezTo>
                <a:cubicBezTo>
                  <a:pt x="26" y="2014"/>
                  <a:pt x="17" y="2000"/>
                  <a:pt x="10" y="1984"/>
                </a:cubicBezTo>
                <a:cubicBezTo>
                  <a:pt x="3" y="1966"/>
                  <a:pt x="0" y="1949"/>
                  <a:pt x="0" y="1932"/>
                </a:cubicBezTo>
                <a:close/>
              </a:path>
            </a:pathLst>
          </a:custGeom>
          <a:noFill/>
          <a:ln w="18720">
            <a:solidFill>
              <a:srgbClr val="78A785"/>
            </a:solidFill>
            <a:miter/>
          </a:ln>
        </p:spPr>
        <p:txBody>
          <a:bodyPr lIns="9360" tIns="9360" rIns="9360" bIns="936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8867880" y="4301280"/>
            <a:ext cx="41607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0" u="none" strike="noStrike">
                <a:solidFill>
                  <a:srgbClr val="697786"/>
                </a:solidFill>
                <a:effectLst/>
                <a:uFillTx/>
                <a:latin typeface="Hiragino Sans"/>
                <a:ea typeface="Hiragino Sans"/>
              </a:rPr>
              <a:t>→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0096560" y="4339440"/>
            <a:ext cx="659916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250" b="1" u="none" strike="noStrike">
                <a:solidFill>
                  <a:srgbClr val="327C50"/>
                </a:solidFill>
                <a:effectLst/>
                <a:uFillTx/>
                <a:latin typeface="Hiragino Sans"/>
                <a:ea typeface="Hiragino Sans"/>
              </a:rPr>
              <a:t>です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799920" y="5380560"/>
            <a:ext cx="86761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学習では</a:t>
            </a:r>
            <a:r>
              <a:rPr lang="ja-JP" sz="1800" b="0" u="none" strike="noStrike">
                <a:solidFill>
                  <a:srgbClr val="59636E"/>
                </a:solidFill>
                <a:effectLst/>
                <a:uFillTx/>
                <a:latin typeface="Hiragino Sans"/>
                <a:ea typeface="Hiragino Sans"/>
              </a:rPr>
              <a:t>、文章の途中までを見せ、実際の次の言葉を当てるように学ぶ。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590400" y="5994000"/>
            <a:ext cx="7300476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説明用に言葉で区切った例。実際はトークン単位で予測し、生成を繰り返す。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1" name=""/>
          <p:cNvSpPr/>
          <p:nvPr/>
        </p:nvSpPr>
        <p:spPr>
          <a:xfrm>
            <a:off x="4743360" y="3647880"/>
            <a:ext cx="5639040" cy="28800"/>
          </a:xfrm>
          <a:custGeom>
            <a:avLst/>
            <a:gdLst/>
            <a:ahLst/>
            <a:rect l="0" t="0" r="r" b="b"/>
            <a:pathLst>
              <a:path w="15664" h="80">
                <a:moveTo>
                  <a:pt x="0" y="0"/>
                </a:moveTo>
                <a:lnTo>
                  <a:pt x="15664" y="0"/>
                </a:lnTo>
                <a:lnTo>
                  <a:pt x="1566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CF7D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2" name=""/>
          <p:cNvSpPr/>
          <p:nvPr/>
        </p:nvSpPr>
        <p:spPr>
          <a:xfrm>
            <a:off x="10353600" y="3152520"/>
            <a:ext cx="28800" cy="524160"/>
          </a:xfrm>
          <a:custGeom>
            <a:avLst/>
            <a:gdLst/>
            <a:ahLst/>
            <a:rect l="0" t="0" r="r" b="b"/>
            <a:pathLst>
              <a:path w="80" h="1456">
                <a:moveTo>
                  <a:pt x="0" y="0"/>
                </a:moveTo>
                <a:lnTo>
                  <a:pt x="80" y="0"/>
                </a:lnTo>
                <a:lnTo>
                  <a:pt x="80" y="1456"/>
                </a:lnTo>
                <a:lnTo>
                  <a:pt x="0" y="1456"/>
                </a:lnTo>
                <a:lnTo>
                  <a:pt x="0" y="0"/>
                </a:lnTo>
                <a:close/>
              </a:path>
            </a:pathLst>
          </a:custGeom>
          <a:solidFill>
            <a:srgbClr val="CF7D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3" name=""/>
          <p:cNvSpPr/>
          <p:nvPr/>
        </p:nvSpPr>
        <p:spPr>
          <a:xfrm>
            <a:off x="5067000" y="3295440"/>
            <a:ext cx="3772440" cy="314640"/>
          </a:xfrm>
          <a:custGeom>
            <a:avLst/>
            <a:gdLst/>
            <a:ahLst/>
            <a:rect l="0" t="0" r="r" b="b"/>
            <a:pathLst>
              <a:path w="10479" h="874">
                <a:moveTo>
                  <a:pt x="0" y="0"/>
                </a:moveTo>
                <a:lnTo>
                  <a:pt x="10479" y="0"/>
                </a:lnTo>
                <a:lnTo>
                  <a:pt x="1047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285840" y="239760"/>
            <a:ext cx="1813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4.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モデルと評価方法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5067360" y="3339720"/>
            <a:ext cx="432257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A75A15"/>
                </a:solidFill>
                <a:effectLst/>
                <a:uFillTx/>
                <a:latin typeface="Hiragino Sans"/>
                <a:ea typeface="Hiragino Sans"/>
              </a:rPr>
              <a:t>出力した「好き」を、次の入力の末尾へ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4572000" y="3555720"/>
            <a:ext cx="39537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700" b="0" u="none" strike="noStrike">
                <a:solidFill>
                  <a:srgbClr val="CF7D31"/>
                </a:solidFill>
                <a:effectLst/>
                <a:uFillTx/>
                <a:latin typeface="Hiragino Sans"/>
                <a:ea typeface="Hiragino Sans"/>
              </a:rPr>
              <a:t>↓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1" name=""/>
          <p:cNvSpPr/>
          <p:nvPr/>
        </p:nvSpPr>
        <p:spPr>
          <a:xfrm>
            <a:off x="599760" y="1819080"/>
            <a:ext cx="3096000" cy="495720"/>
          </a:xfrm>
          <a:custGeom>
            <a:avLst/>
            <a:gdLst/>
            <a:ahLst/>
            <a:rect l="0" t="0" r="r" b="b"/>
            <a:pathLst>
              <a:path w="8600" h="1377">
                <a:moveTo>
                  <a:pt x="0" y="0"/>
                </a:moveTo>
                <a:lnTo>
                  <a:pt x="8600" y="0"/>
                </a:lnTo>
                <a:lnTo>
                  <a:pt x="860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2" name=""/>
          <p:cNvSpPr/>
          <p:nvPr/>
        </p:nvSpPr>
        <p:spPr>
          <a:xfrm>
            <a:off x="3695400" y="1819080"/>
            <a:ext cx="5820120" cy="495720"/>
          </a:xfrm>
          <a:custGeom>
            <a:avLst/>
            <a:gdLst/>
            <a:ahLst/>
            <a:rect l="0" t="0" r="r" b="b"/>
            <a:pathLst>
              <a:path w="16167" h="1377">
                <a:moveTo>
                  <a:pt x="0" y="0"/>
                </a:moveTo>
                <a:lnTo>
                  <a:pt x="16167" y="0"/>
                </a:lnTo>
                <a:lnTo>
                  <a:pt x="1616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3" name=""/>
          <p:cNvSpPr/>
          <p:nvPr/>
        </p:nvSpPr>
        <p:spPr>
          <a:xfrm>
            <a:off x="9515160" y="1819080"/>
            <a:ext cx="2086560" cy="495720"/>
          </a:xfrm>
          <a:custGeom>
            <a:avLst/>
            <a:gdLst/>
            <a:ahLst/>
            <a:rect l="0" t="0" r="r" b="b"/>
            <a:pathLst>
              <a:path w="5796" h="1377">
                <a:moveTo>
                  <a:pt x="0" y="0"/>
                </a:moveTo>
                <a:lnTo>
                  <a:pt x="5796" y="0"/>
                </a:lnTo>
                <a:lnTo>
                  <a:pt x="57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4" name=""/>
          <p:cNvSpPr/>
          <p:nvPr/>
        </p:nvSpPr>
        <p:spPr>
          <a:xfrm>
            <a:off x="599760" y="1819080"/>
            <a:ext cx="3096000" cy="495720"/>
          </a:xfrm>
          <a:custGeom>
            <a:avLst/>
            <a:gdLst/>
            <a:ahLst/>
            <a:rect l="0" t="0" r="r" b="b"/>
            <a:pathLst>
              <a:path w="8600" h="1377">
                <a:moveTo>
                  <a:pt x="0" y="0"/>
                </a:moveTo>
                <a:lnTo>
                  <a:pt x="8600" y="0"/>
                </a:lnTo>
                <a:lnTo>
                  <a:pt x="860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5" name=""/>
          <p:cNvSpPr/>
          <p:nvPr/>
        </p:nvSpPr>
        <p:spPr>
          <a:xfrm>
            <a:off x="3695400" y="1819080"/>
            <a:ext cx="5820120" cy="495720"/>
          </a:xfrm>
          <a:custGeom>
            <a:avLst/>
            <a:gdLst/>
            <a:ahLst/>
            <a:rect l="0" t="0" r="r" b="b"/>
            <a:pathLst>
              <a:path w="16167" h="1377">
                <a:moveTo>
                  <a:pt x="0" y="0"/>
                </a:moveTo>
                <a:lnTo>
                  <a:pt x="16167" y="0"/>
                </a:lnTo>
                <a:lnTo>
                  <a:pt x="1616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6" name=""/>
          <p:cNvSpPr/>
          <p:nvPr/>
        </p:nvSpPr>
        <p:spPr>
          <a:xfrm>
            <a:off x="9515160" y="1819080"/>
            <a:ext cx="2086560" cy="495720"/>
          </a:xfrm>
          <a:custGeom>
            <a:avLst/>
            <a:gdLst/>
            <a:ahLst/>
            <a:rect l="0" t="0" r="r" b="b"/>
            <a:pathLst>
              <a:path w="5796" h="1377">
                <a:moveTo>
                  <a:pt x="0" y="0"/>
                </a:moveTo>
                <a:lnTo>
                  <a:pt x="5796" y="0"/>
                </a:lnTo>
                <a:lnTo>
                  <a:pt x="57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7" name=""/>
          <p:cNvSpPr/>
          <p:nvPr/>
        </p:nvSpPr>
        <p:spPr>
          <a:xfrm>
            <a:off x="599760" y="2314440"/>
            <a:ext cx="3096000" cy="495720"/>
          </a:xfrm>
          <a:custGeom>
            <a:avLst/>
            <a:gdLst/>
            <a:ahLst/>
            <a:rect l="0" t="0" r="r" b="b"/>
            <a:pathLst>
              <a:path w="8600" h="1377">
                <a:moveTo>
                  <a:pt x="0" y="0"/>
                </a:moveTo>
                <a:lnTo>
                  <a:pt x="8600" y="0"/>
                </a:lnTo>
                <a:lnTo>
                  <a:pt x="860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8" name=""/>
          <p:cNvSpPr/>
          <p:nvPr/>
        </p:nvSpPr>
        <p:spPr>
          <a:xfrm>
            <a:off x="3695400" y="2314440"/>
            <a:ext cx="5820120" cy="495720"/>
          </a:xfrm>
          <a:custGeom>
            <a:avLst/>
            <a:gdLst/>
            <a:ahLst/>
            <a:rect l="0" t="0" r="r" b="b"/>
            <a:pathLst>
              <a:path w="16167" h="1377">
                <a:moveTo>
                  <a:pt x="0" y="0"/>
                </a:moveTo>
                <a:lnTo>
                  <a:pt x="16167" y="0"/>
                </a:lnTo>
                <a:lnTo>
                  <a:pt x="1616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39" name=""/>
          <p:cNvSpPr/>
          <p:nvPr/>
        </p:nvSpPr>
        <p:spPr>
          <a:xfrm>
            <a:off x="9515160" y="2314440"/>
            <a:ext cx="2086560" cy="495720"/>
          </a:xfrm>
          <a:custGeom>
            <a:avLst/>
            <a:gdLst/>
            <a:ahLst/>
            <a:rect l="0" t="0" r="r" b="b"/>
            <a:pathLst>
              <a:path w="5796" h="1377">
                <a:moveTo>
                  <a:pt x="0" y="0"/>
                </a:moveTo>
                <a:lnTo>
                  <a:pt x="5796" y="0"/>
                </a:lnTo>
                <a:lnTo>
                  <a:pt x="57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0" name=""/>
          <p:cNvSpPr/>
          <p:nvPr/>
        </p:nvSpPr>
        <p:spPr>
          <a:xfrm>
            <a:off x="599760" y="2809800"/>
            <a:ext cx="3096000" cy="495720"/>
          </a:xfrm>
          <a:custGeom>
            <a:avLst/>
            <a:gdLst/>
            <a:ahLst/>
            <a:rect l="0" t="0" r="r" b="b"/>
            <a:pathLst>
              <a:path w="8600" h="1377">
                <a:moveTo>
                  <a:pt x="0" y="0"/>
                </a:moveTo>
                <a:lnTo>
                  <a:pt x="8600" y="0"/>
                </a:lnTo>
                <a:lnTo>
                  <a:pt x="860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1" name=""/>
          <p:cNvSpPr/>
          <p:nvPr/>
        </p:nvSpPr>
        <p:spPr>
          <a:xfrm>
            <a:off x="3695400" y="2809800"/>
            <a:ext cx="5820120" cy="495720"/>
          </a:xfrm>
          <a:custGeom>
            <a:avLst/>
            <a:gdLst/>
            <a:ahLst/>
            <a:rect l="0" t="0" r="r" b="b"/>
            <a:pathLst>
              <a:path w="16167" h="1377">
                <a:moveTo>
                  <a:pt x="0" y="0"/>
                </a:moveTo>
                <a:lnTo>
                  <a:pt x="16167" y="0"/>
                </a:lnTo>
                <a:lnTo>
                  <a:pt x="1616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2" name=""/>
          <p:cNvSpPr/>
          <p:nvPr/>
        </p:nvSpPr>
        <p:spPr>
          <a:xfrm>
            <a:off x="9515160" y="2809800"/>
            <a:ext cx="2086560" cy="495720"/>
          </a:xfrm>
          <a:custGeom>
            <a:avLst/>
            <a:gdLst/>
            <a:ahLst/>
            <a:rect l="0" t="0" r="r" b="b"/>
            <a:pathLst>
              <a:path w="5796" h="1377">
                <a:moveTo>
                  <a:pt x="0" y="0"/>
                </a:moveTo>
                <a:lnTo>
                  <a:pt x="5796" y="0"/>
                </a:lnTo>
                <a:lnTo>
                  <a:pt x="57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3" name=""/>
          <p:cNvSpPr/>
          <p:nvPr/>
        </p:nvSpPr>
        <p:spPr>
          <a:xfrm>
            <a:off x="599760" y="3305160"/>
            <a:ext cx="3096000" cy="495360"/>
          </a:xfrm>
          <a:custGeom>
            <a:avLst/>
            <a:gdLst/>
            <a:ahLst/>
            <a:rect l="0" t="0" r="r" b="b"/>
            <a:pathLst>
              <a:path w="8600" h="1376">
                <a:moveTo>
                  <a:pt x="0" y="0"/>
                </a:moveTo>
                <a:lnTo>
                  <a:pt x="8600" y="0"/>
                </a:lnTo>
                <a:lnTo>
                  <a:pt x="860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4" name=""/>
          <p:cNvSpPr/>
          <p:nvPr/>
        </p:nvSpPr>
        <p:spPr>
          <a:xfrm>
            <a:off x="3695400" y="3305160"/>
            <a:ext cx="5820120" cy="495360"/>
          </a:xfrm>
          <a:custGeom>
            <a:avLst/>
            <a:gdLst/>
            <a:ahLst/>
            <a:rect l="0" t="0" r="r" b="b"/>
            <a:pathLst>
              <a:path w="16167" h="1376">
                <a:moveTo>
                  <a:pt x="0" y="0"/>
                </a:moveTo>
                <a:lnTo>
                  <a:pt x="16167" y="0"/>
                </a:lnTo>
                <a:lnTo>
                  <a:pt x="1616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5" name=""/>
          <p:cNvSpPr/>
          <p:nvPr/>
        </p:nvSpPr>
        <p:spPr>
          <a:xfrm>
            <a:off x="9515160" y="3305160"/>
            <a:ext cx="2086560" cy="495360"/>
          </a:xfrm>
          <a:custGeom>
            <a:avLst/>
            <a:gdLst/>
            <a:ahLst/>
            <a:rect l="0" t="0" r="r" b="b"/>
            <a:pathLst>
              <a:path w="5796" h="1376">
                <a:moveTo>
                  <a:pt x="0" y="0"/>
                </a:moveTo>
                <a:lnTo>
                  <a:pt x="5796" y="0"/>
                </a:lnTo>
                <a:lnTo>
                  <a:pt x="5796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6" name=""/>
          <p:cNvSpPr/>
          <p:nvPr/>
        </p:nvSpPr>
        <p:spPr>
          <a:xfrm>
            <a:off x="599760" y="3800160"/>
            <a:ext cx="3096000" cy="495720"/>
          </a:xfrm>
          <a:custGeom>
            <a:avLst/>
            <a:gdLst/>
            <a:ahLst/>
            <a:rect l="0" t="0" r="r" b="b"/>
            <a:pathLst>
              <a:path w="8600" h="1377">
                <a:moveTo>
                  <a:pt x="0" y="0"/>
                </a:moveTo>
                <a:lnTo>
                  <a:pt x="8600" y="0"/>
                </a:lnTo>
                <a:lnTo>
                  <a:pt x="860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7" name=""/>
          <p:cNvSpPr/>
          <p:nvPr/>
        </p:nvSpPr>
        <p:spPr>
          <a:xfrm>
            <a:off x="3695400" y="3800160"/>
            <a:ext cx="5820120" cy="495720"/>
          </a:xfrm>
          <a:custGeom>
            <a:avLst/>
            <a:gdLst/>
            <a:ahLst/>
            <a:rect l="0" t="0" r="r" b="b"/>
            <a:pathLst>
              <a:path w="16167" h="1377">
                <a:moveTo>
                  <a:pt x="0" y="0"/>
                </a:moveTo>
                <a:lnTo>
                  <a:pt x="16167" y="0"/>
                </a:lnTo>
                <a:lnTo>
                  <a:pt x="1616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8" name=""/>
          <p:cNvSpPr/>
          <p:nvPr/>
        </p:nvSpPr>
        <p:spPr>
          <a:xfrm>
            <a:off x="9515160" y="3800160"/>
            <a:ext cx="2086560" cy="495720"/>
          </a:xfrm>
          <a:custGeom>
            <a:avLst/>
            <a:gdLst/>
            <a:ahLst/>
            <a:rect l="0" t="0" r="r" b="b"/>
            <a:pathLst>
              <a:path w="5796" h="1377">
                <a:moveTo>
                  <a:pt x="0" y="0"/>
                </a:moveTo>
                <a:lnTo>
                  <a:pt x="5796" y="0"/>
                </a:lnTo>
                <a:lnTo>
                  <a:pt x="57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49" name=""/>
          <p:cNvSpPr/>
          <p:nvPr/>
        </p:nvSpPr>
        <p:spPr>
          <a:xfrm>
            <a:off x="599760" y="4295520"/>
            <a:ext cx="3096000" cy="495720"/>
          </a:xfrm>
          <a:custGeom>
            <a:avLst/>
            <a:gdLst/>
            <a:ahLst/>
            <a:rect l="0" t="0" r="r" b="b"/>
            <a:pathLst>
              <a:path w="8600" h="1377">
                <a:moveTo>
                  <a:pt x="0" y="0"/>
                </a:moveTo>
                <a:lnTo>
                  <a:pt x="8600" y="0"/>
                </a:lnTo>
                <a:lnTo>
                  <a:pt x="860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0" name=""/>
          <p:cNvSpPr/>
          <p:nvPr/>
        </p:nvSpPr>
        <p:spPr>
          <a:xfrm>
            <a:off x="3695400" y="4295520"/>
            <a:ext cx="5820120" cy="495720"/>
          </a:xfrm>
          <a:custGeom>
            <a:avLst/>
            <a:gdLst/>
            <a:ahLst/>
            <a:rect l="0" t="0" r="r" b="b"/>
            <a:pathLst>
              <a:path w="16167" h="1377">
                <a:moveTo>
                  <a:pt x="0" y="0"/>
                </a:moveTo>
                <a:lnTo>
                  <a:pt x="16167" y="0"/>
                </a:lnTo>
                <a:lnTo>
                  <a:pt x="1616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1" name=""/>
          <p:cNvSpPr/>
          <p:nvPr/>
        </p:nvSpPr>
        <p:spPr>
          <a:xfrm>
            <a:off x="9515160" y="4295520"/>
            <a:ext cx="2086560" cy="495720"/>
          </a:xfrm>
          <a:custGeom>
            <a:avLst/>
            <a:gdLst/>
            <a:ahLst/>
            <a:rect l="0" t="0" r="r" b="b"/>
            <a:pathLst>
              <a:path w="5796" h="1377">
                <a:moveTo>
                  <a:pt x="0" y="0"/>
                </a:moveTo>
                <a:lnTo>
                  <a:pt x="5796" y="0"/>
                </a:lnTo>
                <a:lnTo>
                  <a:pt x="57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2" name=""/>
          <p:cNvSpPr/>
          <p:nvPr/>
        </p:nvSpPr>
        <p:spPr>
          <a:xfrm>
            <a:off x="590400" y="18097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3" name=""/>
          <p:cNvSpPr/>
          <p:nvPr/>
        </p:nvSpPr>
        <p:spPr>
          <a:xfrm>
            <a:off x="590400" y="180972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4" name=""/>
          <p:cNvSpPr/>
          <p:nvPr/>
        </p:nvSpPr>
        <p:spPr>
          <a:xfrm>
            <a:off x="3695400" y="18097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5" name=""/>
          <p:cNvSpPr/>
          <p:nvPr/>
        </p:nvSpPr>
        <p:spPr>
          <a:xfrm>
            <a:off x="3705120" y="1809720"/>
            <a:ext cx="5810400" cy="9720"/>
          </a:xfrm>
          <a:custGeom>
            <a:avLst/>
            <a:gdLst/>
            <a:ahLst/>
            <a:rect l="0" t="0" r="r" b="b"/>
            <a:pathLst>
              <a:path w="16140" h="27">
                <a:moveTo>
                  <a:pt x="0" y="0"/>
                </a:moveTo>
                <a:lnTo>
                  <a:pt x="16140" y="0"/>
                </a:lnTo>
                <a:lnTo>
                  <a:pt x="16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6" name=""/>
          <p:cNvSpPr/>
          <p:nvPr/>
        </p:nvSpPr>
        <p:spPr>
          <a:xfrm>
            <a:off x="9505800" y="180972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7" name=""/>
          <p:cNvSpPr/>
          <p:nvPr/>
        </p:nvSpPr>
        <p:spPr>
          <a:xfrm>
            <a:off x="9515160" y="1809720"/>
            <a:ext cx="2086560" cy="9720"/>
          </a:xfrm>
          <a:custGeom>
            <a:avLst/>
            <a:gdLst/>
            <a:ahLst/>
            <a:rect l="0" t="0" r="r" b="b"/>
            <a:pathLst>
              <a:path w="5796" h="27">
                <a:moveTo>
                  <a:pt x="0" y="0"/>
                </a:moveTo>
                <a:lnTo>
                  <a:pt x="5796" y="0"/>
                </a:lnTo>
                <a:lnTo>
                  <a:pt x="5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8" name=""/>
          <p:cNvSpPr/>
          <p:nvPr/>
        </p:nvSpPr>
        <p:spPr>
          <a:xfrm>
            <a:off x="11591640" y="180972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59" name=""/>
          <p:cNvSpPr/>
          <p:nvPr/>
        </p:nvSpPr>
        <p:spPr>
          <a:xfrm>
            <a:off x="590400" y="2304720"/>
            <a:ext cx="3115080" cy="10080"/>
          </a:xfrm>
          <a:custGeom>
            <a:avLst/>
            <a:gdLst/>
            <a:ahLst/>
            <a:rect l="0" t="0" r="r" b="b"/>
            <a:pathLst>
              <a:path w="8653" h="28">
                <a:moveTo>
                  <a:pt x="0" y="0"/>
                </a:moveTo>
                <a:lnTo>
                  <a:pt x="8653" y="0"/>
                </a:lnTo>
                <a:lnTo>
                  <a:pt x="8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0" name=""/>
          <p:cNvSpPr/>
          <p:nvPr/>
        </p:nvSpPr>
        <p:spPr>
          <a:xfrm>
            <a:off x="3705120" y="2304720"/>
            <a:ext cx="5810400" cy="10080"/>
          </a:xfrm>
          <a:custGeom>
            <a:avLst/>
            <a:gdLst/>
            <a:ahLst/>
            <a:rect l="0" t="0" r="r" b="b"/>
            <a:pathLst>
              <a:path w="16140" h="28">
                <a:moveTo>
                  <a:pt x="0" y="0"/>
                </a:moveTo>
                <a:lnTo>
                  <a:pt x="16140" y="0"/>
                </a:lnTo>
                <a:lnTo>
                  <a:pt x="16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1" name=""/>
          <p:cNvSpPr/>
          <p:nvPr/>
        </p:nvSpPr>
        <p:spPr>
          <a:xfrm>
            <a:off x="9515160" y="2304720"/>
            <a:ext cx="2086560" cy="10080"/>
          </a:xfrm>
          <a:custGeom>
            <a:avLst/>
            <a:gdLst/>
            <a:ahLst/>
            <a:rect l="0" t="0" r="r" b="b"/>
            <a:pathLst>
              <a:path w="5796" h="28">
                <a:moveTo>
                  <a:pt x="0" y="0"/>
                </a:moveTo>
                <a:lnTo>
                  <a:pt x="5796" y="0"/>
                </a:lnTo>
                <a:lnTo>
                  <a:pt x="5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2" name=""/>
          <p:cNvSpPr/>
          <p:nvPr/>
        </p:nvSpPr>
        <p:spPr>
          <a:xfrm>
            <a:off x="590400" y="23144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3" name=""/>
          <p:cNvSpPr/>
          <p:nvPr/>
        </p:nvSpPr>
        <p:spPr>
          <a:xfrm>
            <a:off x="3695400" y="23144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4" name=""/>
          <p:cNvSpPr/>
          <p:nvPr/>
        </p:nvSpPr>
        <p:spPr>
          <a:xfrm>
            <a:off x="9505800" y="23144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5" name=""/>
          <p:cNvSpPr/>
          <p:nvPr/>
        </p:nvSpPr>
        <p:spPr>
          <a:xfrm>
            <a:off x="11591640" y="23144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6" name=""/>
          <p:cNvSpPr/>
          <p:nvPr/>
        </p:nvSpPr>
        <p:spPr>
          <a:xfrm>
            <a:off x="590400" y="280980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7" name=""/>
          <p:cNvSpPr/>
          <p:nvPr/>
        </p:nvSpPr>
        <p:spPr>
          <a:xfrm>
            <a:off x="590400" y="2800080"/>
            <a:ext cx="3115080" cy="10080"/>
          </a:xfrm>
          <a:custGeom>
            <a:avLst/>
            <a:gdLst/>
            <a:ahLst/>
            <a:rect l="0" t="0" r="r" b="b"/>
            <a:pathLst>
              <a:path w="8653" h="28">
                <a:moveTo>
                  <a:pt x="0" y="0"/>
                </a:moveTo>
                <a:lnTo>
                  <a:pt x="8653" y="0"/>
                </a:lnTo>
                <a:lnTo>
                  <a:pt x="8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8" name=""/>
          <p:cNvSpPr/>
          <p:nvPr/>
        </p:nvSpPr>
        <p:spPr>
          <a:xfrm>
            <a:off x="3695400" y="280980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69" name=""/>
          <p:cNvSpPr/>
          <p:nvPr/>
        </p:nvSpPr>
        <p:spPr>
          <a:xfrm>
            <a:off x="3705120" y="2800080"/>
            <a:ext cx="5810400" cy="10080"/>
          </a:xfrm>
          <a:custGeom>
            <a:avLst/>
            <a:gdLst/>
            <a:ahLst/>
            <a:rect l="0" t="0" r="r" b="b"/>
            <a:pathLst>
              <a:path w="16140" h="28">
                <a:moveTo>
                  <a:pt x="0" y="0"/>
                </a:moveTo>
                <a:lnTo>
                  <a:pt x="16140" y="0"/>
                </a:lnTo>
                <a:lnTo>
                  <a:pt x="16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0" name=""/>
          <p:cNvSpPr/>
          <p:nvPr/>
        </p:nvSpPr>
        <p:spPr>
          <a:xfrm>
            <a:off x="9505800" y="280980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1" name=""/>
          <p:cNvSpPr/>
          <p:nvPr/>
        </p:nvSpPr>
        <p:spPr>
          <a:xfrm>
            <a:off x="9515160" y="2800080"/>
            <a:ext cx="2086560" cy="10080"/>
          </a:xfrm>
          <a:custGeom>
            <a:avLst/>
            <a:gdLst/>
            <a:ahLst/>
            <a:rect l="0" t="0" r="r" b="b"/>
            <a:pathLst>
              <a:path w="5796" h="28">
                <a:moveTo>
                  <a:pt x="0" y="0"/>
                </a:moveTo>
                <a:lnTo>
                  <a:pt x="5796" y="0"/>
                </a:lnTo>
                <a:lnTo>
                  <a:pt x="5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2" name=""/>
          <p:cNvSpPr/>
          <p:nvPr/>
        </p:nvSpPr>
        <p:spPr>
          <a:xfrm>
            <a:off x="11591640" y="280980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3" name=""/>
          <p:cNvSpPr/>
          <p:nvPr/>
        </p:nvSpPr>
        <p:spPr>
          <a:xfrm>
            <a:off x="590400" y="330516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4" name=""/>
          <p:cNvSpPr/>
          <p:nvPr/>
        </p:nvSpPr>
        <p:spPr>
          <a:xfrm>
            <a:off x="590400" y="3295440"/>
            <a:ext cx="3115080" cy="10080"/>
          </a:xfrm>
          <a:custGeom>
            <a:avLst/>
            <a:gdLst/>
            <a:ahLst/>
            <a:rect l="0" t="0" r="r" b="b"/>
            <a:pathLst>
              <a:path w="8653" h="28">
                <a:moveTo>
                  <a:pt x="0" y="0"/>
                </a:moveTo>
                <a:lnTo>
                  <a:pt x="8653" y="0"/>
                </a:lnTo>
                <a:lnTo>
                  <a:pt x="8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5" name=""/>
          <p:cNvSpPr/>
          <p:nvPr/>
        </p:nvSpPr>
        <p:spPr>
          <a:xfrm>
            <a:off x="3695400" y="330516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6" name=""/>
          <p:cNvSpPr/>
          <p:nvPr/>
        </p:nvSpPr>
        <p:spPr>
          <a:xfrm>
            <a:off x="3705120" y="3295440"/>
            <a:ext cx="5810400" cy="10080"/>
          </a:xfrm>
          <a:custGeom>
            <a:avLst/>
            <a:gdLst/>
            <a:ahLst/>
            <a:rect l="0" t="0" r="r" b="b"/>
            <a:pathLst>
              <a:path w="16140" h="28">
                <a:moveTo>
                  <a:pt x="0" y="0"/>
                </a:moveTo>
                <a:lnTo>
                  <a:pt x="16140" y="0"/>
                </a:lnTo>
                <a:lnTo>
                  <a:pt x="16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7" name=""/>
          <p:cNvSpPr/>
          <p:nvPr/>
        </p:nvSpPr>
        <p:spPr>
          <a:xfrm>
            <a:off x="9505800" y="330516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8" name=""/>
          <p:cNvSpPr/>
          <p:nvPr/>
        </p:nvSpPr>
        <p:spPr>
          <a:xfrm>
            <a:off x="9515160" y="3295440"/>
            <a:ext cx="2086560" cy="10080"/>
          </a:xfrm>
          <a:custGeom>
            <a:avLst/>
            <a:gdLst/>
            <a:ahLst/>
            <a:rect l="0" t="0" r="r" b="b"/>
            <a:pathLst>
              <a:path w="5796" h="28">
                <a:moveTo>
                  <a:pt x="0" y="0"/>
                </a:moveTo>
                <a:lnTo>
                  <a:pt x="5796" y="0"/>
                </a:lnTo>
                <a:lnTo>
                  <a:pt x="5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79" name=""/>
          <p:cNvSpPr/>
          <p:nvPr/>
        </p:nvSpPr>
        <p:spPr>
          <a:xfrm>
            <a:off x="11591640" y="330516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0" name=""/>
          <p:cNvSpPr/>
          <p:nvPr/>
        </p:nvSpPr>
        <p:spPr>
          <a:xfrm>
            <a:off x="590400" y="380016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1" name=""/>
          <p:cNvSpPr/>
          <p:nvPr/>
        </p:nvSpPr>
        <p:spPr>
          <a:xfrm>
            <a:off x="590400" y="379080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2" name=""/>
          <p:cNvSpPr/>
          <p:nvPr/>
        </p:nvSpPr>
        <p:spPr>
          <a:xfrm>
            <a:off x="3695400" y="380016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3" name=""/>
          <p:cNvSpPr/>
          <p:nvPr/>
        </p:nvSpPr>
        <p:spPr>
          <a:xfrm>
            <a:off x="3705120" y="3790800"/>
            <a:ext cx="5810400" cy="9720"/>
          </a:xfrm>
          <a:custGeom>
            <a:avLst/>
            <a:gdLst/>
            <a:ahLst/>
            <a:rect l="0" t="0" r="r" b="b"/>
            <a:pathLst>
              <a:path w="16140" h="27">
                <a:moveTo>
                  <a:pt x="0" y="0"/>
                </a:moveTo>
                <a:lnTo>
                  <a:pt x="16140" y="0"/>
                </a:lnTo>
                <a:lnTo>
                  <a:pt x="16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4" name=""/>
          <p:cNvSpPr/>
          <p:nvPr/>
        </p:nvSpPr>
        <p:spPr>
          <a:xfrm>
            <a:off x="9505800" y="380016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5" name=""/>
          <p:cNvSpPr/>
          <p:nvPr/>
        </p:nvSpPr>
        <p:spPr>
          <a:xfrm>
            <a:off x="9515160" y="3790800"/>
            <a:ext cx="2086560" cy="9720"/>
          </a:xfrm>
          <a:custGeom>
            <a:avLst/>
            <a:gdLst/>
            <a:ahLst/>
            <a:rect l="0" t="0" r="r" b="b"/>
            <a:pathLst>
              <a:path w="5796" h="27">
                <a:moveTo>
                  <a:pt x="0" y="0"/>
                </a:moveTo>
                <a:lnTo>
                  <a:pt x="5796" y="0"/>
                </a:lnTo>
                <a:lnTo>
                  <a:pt x="5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6" name=""/>
          <p:cNvSpPr/>
          <p:nvPr/>
        </p:nvSpPr>
        <p:spPr>
          <a:xfrm>
            <a:off x="11591640" y="380016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7" name=""/>
          <p:cNvSpPr/>
          <p:nvPr/>
        </p:nvSpPr>
        <p:spPr>
          <a:xfrm>
            <a:off x="590400" y="42955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8" name=""/>
          <p:cNvSpPr/>
          <p:nvPr/>
        </p:nvSpPr>
        <p:spPr>
          <a:xfrm>
            <a:off x="590400" y="428616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89" name=""/>
          <p:cNvSpPr/>
          <p:nvPr/>
        </p:nvSpPr>
        <p:spPr>
          <a:xfrm>
            <a:off x="3695400" y="42955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0" name=""/>
          <p:cNvSpPr/>
          <p:nvPr/>
        </p:nvSpPr>
        <p:spPr>
          <a:xfrm>
            <a:off x="3705120" y="4286160"/>
            <a:ext cx="5810400" cy="9720"/>
          </a:xfrm>
          <a:custGeom>
            <a:avLst/>
            <a:gdLst/>
            <a:ahLst/>
            <a:rect l="0" t="0" r="r" b="b"/>
            <a:pathLst>
              <a:path w="16140" h="27">
                <a:moveTo>
                  <a:pt x="0" y="0"/>
                </a:moveTo>
                <a:lnTo>
                  <a:pt x="16140" y="0"/>
                </a:lnTo>
                <a:lnTo>
                  <a:pt x="16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1" name=""/>
          <p:cNvSpPr/>
          <p:nvPr/>
        </p:nvSpPr>
        <p:spPr>
          <a:xfrm>
            <a:off x="9505800" y="42955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2" name=""/>
          <p:cNvSpPr/>
          <p:nvPr/>
        </p:nvSpPr>
        <p:spPr>
          <a:xfrm>
            <a:off x="9515160" y="4286160"/>
            <a:ext cx="2086560" cy="9720"/>
          </a:xfrm>
          <a:custGeom>
            <a:avLst/>
            <a:gdLst/>
            <a:ahLst/>
            <a:rect l="0" t="0" r="r" b="b"/>
            <a:pathLst>
              <a:path w="5796" h="27">
                <a:moveTo>
                  <a:pt x="0" y="0"/>
                </a:moveTo>
                <a:lnTo>
                  <a:pt x="5796" y="0"/>
                </a:lnTo>
                <a:lnTo>
                  <a:pt x="5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3" name=""/>
          <p:cNvSpPr/>
          <p:nvPr/>
        </p:nvSpPr>
        <p:spPr>
          <a:xfrm>
            <a:off x="11591640" y="42955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4" name=""/>
          <p:cNvSpPr/>
          <p:nvPr/>
        </p:nvSpPr>
        <p:spPr>
          <a:xfrm>
            <a:off x="590400" y="478152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5" name=""/>
          <p:cNvSpPr/>
          <p:nvPr/>
        </p:nvSpPr>
        <p:spPr>
          <a:xfrm>
            <a:off x="3705120" y="4781520"/>
            <a:ext cx="5810400" cy="9720"/>
          </a:xfrm>
          <a:custGeom>
            <a:avLst/>
            <a:gdLst/>
            <a:ahLst/>
            <a:rect l="0" t="0" r="r" b="b"/>
            <a:pathLst>
              <a:path w="16140" h="27">
                <a:moveTo>
                  <a:pt x="0" y="0"/>
                </a:moveTo>
                <a:lnTo>
                  <a:pt x="16140" y="0"/>
                </a:lnTo>
                <a:lnTo>
                  <a:pt x="16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6" name=""/>
          <p:cNvSpPr/>
          <p:nvPr/>
        </p:nvSpPr>
        <p:spPr>
          <a:xfrm>
            <a:off x="9515160" y="4781520"/>
            <a:ext cx="2086560" cy="9720"/>
          </a:xfrm>
          <a:custGeom>
            <a:avLst/>
            <a:gdLst/>
            <a:ahLst/>
            <a:rect l="0" t="0" r="r" b="b"/>
            <a:pathLst>
              <a:path w="5796" h="27">
                <a:moveTo>
                  <a:pt x="0" y="0"/>
                </a:moveTo>
                <a:lnTo>
                  <a:pt x="5796" y="0"/>
                </a:lnTo>
                <a:lnTo>
                  <a:pt x="5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590400" y="1053000"/>
            <a:ext cx="7477254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五つのテストで、生成コードを実行する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714240" y="194904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テスト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3815640" y="1949040"/>
            <a:ext cx="144154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確かめること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0429920" y="1949040"/>
            <a:ext cx="120142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指示の件数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714240" y="2444400"/>
            <a:ext cx="4810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通常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3815640" y="2444400"/>
            <a:ext cx="336250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未学習の操作の並びを扱えるか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0737360" y="2444400"/>
            <a:ext cx="84911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24,040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714240" y="293976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組合せ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3815640" y="2939760"/>
            <a:ext cx="38423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訓練から隔離した操作対を組めるか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0738080" y="2939760"/>
            <a:ext cx="84828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13,400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714240" y="3435120"/>
            <a:ext cx="19217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日本語の言い換え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3815640" y="3435120"/>
            <a:ext cx="343785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未学習の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30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表現を理解できるか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1202120" y="3435120"/>
            <a:ext cx="31629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714240" y="3930480"/>
            <a:ext cx="16816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同じ操作の反復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3815640" y="3930480"/>
            <a:ext cx="367797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同じ操作を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回・</a:t>
            </a:r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回実行できるか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0738080" y="3930480"/>
            <a:ext cx="84828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23,040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714240" y="442584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境界値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3815640" y="4425840"/>
            <a:ext cx="336250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空リストなどでも正しく動くか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0737360" y="4425840"/>
            <a:ext cx="84911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24,040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90400" y="5038560"/>
            <a:ext cx="746897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指示につきコードを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候補生成し、全検査を通ったら合格。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90400" y="5572080"/>
            <a:ext cx="738286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通常と境界値では同じ指示を使い、検査する入力を変える。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11705400" y="6466680"/>
            <a:ext cx="231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590400" y="717480"/>
            <a:ext cx="5873004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1M</a:t>
            </a:r>
            <a:r>
              <a:rPr lang="ja-JP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3 epoch</a:t>
            </a:r>
            <a:r>
              <a:rPr lang="ja-JP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までの損失の推移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723" name=""/>
          <p:cNvPicPr/>
          <p:nvPr/>
        </p:nvPicPr>
        <p:blipFill>
          <a:blip r:embed="rId1"/>
          <a:stretch/>
        </p:blipFill>
        <p:spPr>
          <a:xfrm>
            <a:off x="2828880" y="1790640"/>
            <a:ext cx="653364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"/>
          <p:cNvSpPr txBox="1"/>
          <p:nvPr/>
        </p:nvSpPr>
        <p:spPr>
          <a:xfrm>
            <a:off x="590400" y="1378800"/>
            <a:ext cx="9315828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 epoch</a:t>
            </a:r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の学習。訓練損失は</a:t>
            </a:r>
            <a:r>
              <a:rPr lang="en-US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20 step</a:t>
            </a:r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ごと、検証損失は各</a:t>
            </a:r>
            <a:r>
              <a:rPr lang="en-US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epoch</a:t>
            </a:r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終了時の実測値。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590400" y="5579280"/>
            <a:ext cx="83255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val loss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 epoch 0.8737 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／ 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2 epoch 0.4691 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／ 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3 epoch 0.4364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590400" y="5994000"/>
            <a:ext cx="6080418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20 step</a:t>
            </a:r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ごとの</a:t>
            </a:r>
            <a:r>
              <a:rPr lang="en-US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validation</a:t>
            </a:r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は未記録。図は保存済みの</a:t>
            </a:r>
            <a:r>
              <a:rPr lang="en-US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点を表示。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85840" y="239760"/>
            <a:ext cx="1616256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5.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学習結果と課題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590400" y="717480"/>
            <a:ext cx="3021372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：損失の推移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733" name=""/>
          <p:cNvPicPr/>
          <p:nvPr/>
        </p:nvPicPr>
        <p:blipFill>
          <a:blip r:embed="rId1"/>
          <a:stretch/>
        </p:blipFill>
        <p:spPr>
          <a:xfrm>
            <a:off x="2324160" y="1790640"/>
            <a:ext cx="754344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"/>
          <p:cNvSpPr txBox="1"/>
          <p:nvPr/>
        </p:nvSpPr>
        <p:spPr>
          <a:xfrm>
            <a:off x="590400" y="1378800"/>
            <a:ext cx="7331112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の学習。訓練損失と、検証データで測った損失を示す。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590400" y="5579280"/>
            <a:ext cx="3755394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学習終了時の 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val loss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0.4855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590400" y="5994000"/>
            <a:ext cx="5688774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val loss</a:t>
            </a:r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は終了時の</a:t>
            </a:r>
            <a:r>
              <a:rPr lang="en-US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点。途中の検証値は保存されていない。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85840" y="239760"/>
            <a:ext cx="1616256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5.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学習結果と課題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590400" y="717480"/>
            <a:ext cx="329337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27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：損失の推移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743" name=""/>
          <p:cNvPicPr/>
          <p:nvPr/>
        </p:nvPicPr>
        <p:blipFill>
          <a:blip r:embed="rId1"/>
          <a:stretch/>
        </p:blipFill>
        <p:spPr>
          <a:xfrm>
            <a:off x="2324160" y="1790640"/>
            <a:ext cx="754344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"/>
          <p:cNvSpPr txBox="1"/>
          <p:nvPr/>
        </p:nvSpPr>
        <p:spPr>
          <a:xfrm>
            <a:off x="590400" y="1378800"/>
            <a:ext cx="7331112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の学習。訓練損失と、検証データで測った損失を示す。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590400" y="5579280"/>
            <a:ext cx="3755394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学習終了時の 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val loss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0.4106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590400" y="5994000"/>
            <a:ext cx="5688774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val loss</a:t>
            </a:r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は終了時の</a:t>
            </a:r>
            <a:r>
              <a:rPr lang="en-US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点。途中の検証値は保存されていない。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285840" y="239760"/>
            <a:ext cx="1616256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5.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学習結果と課題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2" name=""/>
          <p:cNvSpPr/>
          <p:nvPr/>
        </p:nvSpPr>
        <p:spPr>
          <a:xfrm>
            <a:off x="599760" y="2590560"/>
            <a:ext cx="3067560" cy="495720"/>
          </a:xfrm>
          <a:custGeom>
            <a:avLst/>
            <a:gdLst/>
            <a:ahLst/>
            <a:rect l="0" t="0" r="r" b="b"/>
            <a:pathLst>
              <a:path w="8521" h="1377">
                <a:moveTo>
                  <a:pt x="0" y="0"/>
                </a:moveTo>
                <a:lnTo>
                  <a:pt x="8521" y="0"/>
                </a:lnTo>
                <a:lnTo>
                  <a:pt x="852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3" name=""/>
          <p:cNvSpPr/>
          <p:nvPr/>
        </p:nvSpPr>
        <p:spPr>
          <a:xfrm>
            <a:off x="3666960" y="2590560"/>
            <a:ext cx="4258080" cy="495720"/>
          </a:xfrm>
          <a:custGeom>
            <a:avLst/>
            <a:gdLst/>
            <a:ahLst/>
            <a:rect l="0" t="0" r="r" b="b"/>
            <a:pathLst>
              <a:path w="11828" h="1377">
                <a:moveTo>
                  <a:pt x="0" y="0"/>
                </a:moveTo>
                <a:lnTo>
                  <a:pt x="11828" y="0"/>
                </a:lnTo>
                <a:lnTo>
                  <a:pt x="118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4" name=""/>
          <p:cNvSpPr/>
          <p:nvPr/>
        </p:nvSpPr>
        <p:spPr>
          <a:xfrm>
            <a:off x="7924680" y="2590560"/>
            <a:ext cx="3677040" cy="495720"/>
          </a:xfrm>
          <a:custGeom>
            <a:avLst/>
            <a:gdLst/>
            <a:ahLst/>
            <a:rect l="0" t="0" r="r" b="b"/>
            <a:pathLst>
              <a:path w="10214" h="1377">
                <a:moveTo>
                  <a:pt x="0" y="0"/>
                </a:moveTo>
                <a:lnTo>
                  <a:pt x="10214" y="0"/>
                </a:lnTo>
                <a:lnTo>
                  <a:pt x="1021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5" name=""/>
          <p:cNvSpPr/>
          <p:nvPr/>
        </p:nvSpPr>
        <p:spPr>
          <a:xfrm>
            <a:off x="599760" y="2590560"/>
            <a:ext cx="3067560" cy="495720"/>
          </a:xfrm>
          <a:custGeom>
            <a:avLst/>
            <a:gdLst/>
            <a:ahLst/>
            <a:rect l="0" t="0" r="r" b="b"/>
            <a:pathLst>
              <a:path w="8521" h="1377">
                <a:moveTo>
                  <a:pt x="0" y="0"/>
                </a:moveTo>
                <a:lnTo>
                  <a:pt x="8521" y="0"/>
                </a:lnTo>
                <a:lnTo>
                  <a:pt x="852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6" name=""/>
          <p:cNvSpPr/>
          <p:nvPr/>
        </p:nvSpPr>
        <p:spPr>
          <a:xfrm>
            <a:off x="3666960" y="2590560"/>
            <a:ext cx="4258080" cy="495720"/>
          </a:xfrm>
          <a:custGeom>
            <a:avLst/>
            <a:gdLst/>
            <a:ahLst/>
            <a:rect l="0" t="0" r="r" b="b"/>
            <a:pathLst>
              <a:path w="11828" h="1377">
                <a:moveTo>
                  <a:pt x="0" y="0"/>
                </a:moveTo>
                <a:lnTo>
                  <a:pt x="11828" y="0"/>
                </a:lnTo>
                <a:lnTo>
                  <a:pt x="118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7" name=""/>
          <p:cNvSpPr/>
          <p:nvPr/>
        </p:nvSpPr>
        <p:spPr>
          <a:xfrm>
            <a:off x="7924680" y="2590560"/>
            <a:ext cx="3677040" cy="495720"/>
          </a:xfrm>
          <a:custGeom>
            <a:avLst/>
            <a:gdLst/>
            <a:ahLst/>
            <a:rect l="0" t="0" r="r" b="b"/>
            <a:pathLst>
              <a:path w="10214" h="1377">
                <a:moveTo>
                  <a:pt x="0" y="0"/>
                </a:moveTo>
                <a:lnTo>
                  <a:pt x="10214" y="0"/>
                </a:lnTo>
                <a:lnTo>
                  <a:pt x="1021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8" name=""/>
          <p:cNvSpPr/>
          <p:nvPr/>
        </p:nvSpPr>
        <p:spPr>
          <a:xfrm>
            <a:off x="599760" y="3085920"/>
            <a:ext cx="3067560" cy="495720"/>
          </a:xfrm>
          <a:custGeom>
            <a:avLst/>
            <a:gdLst/>
            <a:ahLst/>
            <a:rect l="0" t="0" r="r" b="b"/>
            <a:pathLst>
              <a:path w="8521" h="1377">
                <a:moveTo>
                  <a:pt x="0" y="0"/>
                </a:moveTo>
                <a:lnTo>
                  <a:pt x="8521" y="0"/>
                </a:lnTo>
                <a:lnTo>
                  <a:pt x="852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59" name=""/>
          <p:cNvSpPr/>
          <p:nvPr/>
        </p:nvSpPr>
        <p:spPr>
          <a:xfrm>
            <a:off x="3666960" y="3085920"/>
            <a:ext cx="4258080" cy="495720"/>
          </a:xfrm>
          <a:custGeom>
            <a:avLst/>
            <a:gdLst/>
            <a:ahLst/>
            <a:rect l="0" t="0" r="r" b="b"/>
            <a:pathLst>
              <a:path w="11828" h="1377">
                <a:moveTo>
                  <a:pt x="0" y="0"/>
                </a:moveTo>
                <a:lnTo>
                  <a:pt x="11828" y="0"/>
                </a:lnTo>
                <a:lnTo>
                  <a:pt x="118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0" name=""/>
          <p:cNvSpPr/>
          <p:nvPr/>
        </p:nvSpPr>
        <p:spPr>
          <a:xfrm>
            <a:off x="7924680" y="3085920"/>
            <a:ext cx="3677040" cy="495720"/>
          </a:xfrm>
          <a:custGeom>
            <a:avLst/>
            <a:gdLst/>
            <a:ahLst/>
            <a:rect l="0" t="0" r="r" b="b"/>
            <a:pathLst>
              <a:path w="10214" h="1377">
                <a:moveTo>
                  <a:pt x="0" y="0"/>
                </a:moveTo>
                <a:lnTo>
                  <a:pt x="10214" y="0"/>
                </a:lnTo>
                <a:lnTo>
                  <a:pt x="1021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1" name=""/>
          <p:cNvSpPr/>
          <p:nvPr/>
        </p:nvSpPr>
        <p:spPr>
          <a:xfrm>
            <a:off x="599760" y="3581280"/>
            <a:ext cx="3067560" cy="495720"/>
          </a:xfrm>
          <a:custGeom>
            <a:avLst/>
            <a:gdLst/>
            <a:ahLst/>
            <a:rect l="0" t="0" r="r" b="b"/>
            <a:pathLst>
              <a:path w="8521" h="1377">
                <a:moveTo>
                  <a:pt x="0" y="0"/>
                </a:moveTo>
                <a:lnTo>
                  <a:pt x="8521" y="0"/>
                </a:lnTo>
                <a:lnTo>
                  <a:pt x="852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2" name=""/>
          <p:cNvSpPr/>
          <p:nvPr/>
        </p:nvSpPr>
        <p:spPr>
          <a:xfrm>
            <a:off x="3666960" y="3581280"/>
            <a:ext cx="4258080" cy="495720"/>
          </a:xfrm>
          <a:custGeom>
            <a:avLst/>
            <a:gdLst/>
            <a:ahLst/>
            <a:rect l="0" t="0" r="r" b="b"/>
            <a:pathLst>
              <a:path w="11828" h="1377">
                <a:moveTo>
                  <a:pt x="0" y="0"/>
                </a:moveTo>
                <a:lnTo>
                  <a:pt x="11828" y="0"/>
                </a:lnTo>
                <a:lnTo>
                  <a:pt x="118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3" name=""/>
          <p:cNvSpPr/>
          <p:nvPr/>
        </p:nvSpPr>
        <p:spPr>
          <a:xfrm>
            <a:off x="7924680" y="3581280"/>
            <a:ext cx="3677040" cy="495720"/>
          </a:xfrm>
          <a:custGeom>
            <a:avLst/>
            <a:gdLst/>
            <a:ahLst/>
            <a:rect l="0" t="0" r="r" b="b"/>
            <a:pathLst>
              <a:path w="10214" h="1377">
                <a:moveTo>
                  <a:pt x="0" y="0"/>
                </a:moveTo>
                <a:lnTo>
                  <a:pt x="10214" y="0"/>
                </a:lnTo>
                <a:lnTo>
                  <a:pt x="1021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4" name=""/>
          <p:cNvSpPr/>
          <p:nvPr/>
        </p:nvSpPr>
        <p:spPr>
          <a:xfrm>
            <a:off x="599760" y="4076640"/>
            <a:ext cx="3067560" cy="495360"/>
          </a:xfrm>
          <a:custGeom>
            <a:avLst/>
            <a:gdLst/>
            <a:ahLst/>
            <a:rect l="0" t="0" r="r" b="b"/>
            <a:pathLst>
              <a:path w="8521" h="1376">
                <a:moveTo>
                  <a:pt x="0" y="0"/>
                </a:moveTo>
                <a:lnTo>
                  <a:pt x="8521" y="0"/>
                </a:lnTo>
                <a:lnTo>
                  <a:pt x="8521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5" name=""/>
          <p:cNvSpPr/>
          <p:nvPr/>
        </p:nvSpPr>
        <p:spPr>
          <a:xfrm>
            <a:off x="3666960" y="4076640"/>
            <a:ext cx="4258080" cy="495360"/>
          </a:xfrm>
          <a:custGeom>
            <a:avLst/>
            <a:gdLst/>
            <a:ahLst/>
            <a:rect l="0" t="0" r="r" b="b"/>
            <a:pathLst>
              <a:path w="11828" h="1376">
                <a:moveTo>
                  <a:pt x="0" y="0"/>
                </a:moveTo>
                <a:lnTo>
                  <a:pt x="11828" y="0"/>
                </a:lnTo>
                <a:lnTo>
                  <a:pt x="118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6" name=""/>
          <p:cNvSpPr/>
          <p:nvPr/>
        </p:nvSpPr>
        <p:spPr>
          <a:xfrm>
            <a:off x="7924680" y="4076640"/>
            <a:ext cx="3677040" cy="495360"/>
          </a:xfrm>
          <a:custGeom>
            <a:avLst/>
            <a:gdLst/>
            <a:ahLst/>
            <a:rect l="0" t="0" r="r" b="b"/>
            <a:pathLst>
              <a:path w="10214" h="1376">
                <a:moveTo>
                  <a:pt x="0" y="0"/>
                </a:moveTo>
                <a:lnTo>
                  <a:pt x="10214" y="0"/>
                </a:lnTo>
                <a:lnTo>
                  <a:pt x="10214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7" name=""/>
          <p:cNvSpPr/>
          <p:nvPr/>
        </p:nvSpPr>
        <p:spPr>
          <a:xfrm>
            <a:off x="590400" y="25812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8" name=""/>
          <p:cNvSpPr/>
          <p:nvPr/>
        </p:nvSpPr>
        <p:spPr>
          <a:xfrm>
            <a:off x="590400" y="258120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69" name=""/>
          <p:cNvSpPr/>
          <p:nvPr/>
        </p:nvSpPr>
        <p:spPr>
          <a:xfrm>
            <a:off x="3657240" y="25812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0" name=""/>
          <p:cNvSpPr/>
          <p:nvPr/>
        </p:nvSpPr>
        <p:spPr>
          <a:xfrm>
            <a:off x="3666960" y="2581200"/>
            <a:ext cx="4258080" cy="9720"/>
          </a:xfrm>
          <a:custGeom>
            <a:avLst/>
            <a:gdLst/>
            <a:ah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1" name=""/>
          <p:cNvSpPr/>
          <p:nvPr/>
        </p:nvSpPr>
        <p:spPr>
          <a:xfrm>
            <a:off x="7914960" y="25812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2" name=""/>
          <p:cNvSpPr/>
          <p:nvPr/>
        </p:nvSpPr>
        <p:spPr>
          <a:xfrm>
            <a:off x="7924680" y="258120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3" name=""/>
          <p:cNvSpPr/>
          <p:nvPr/>
        </p:nvSpPr>
        <p:spPr>
          <a:xfrm>
            <a:off x="11591640" y="25812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4" name=""/>
          <p:cNvSpPr/>
          <p:nvPr/>
        </p:nvSpPr>
        <p:spPr>
          <a:xfrm>
            <a:off x="590400" y="307656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5" name=""/>
          <p:cNvSpPr/>
          <p:nvPr/>
        </p:nvSpPr>
        <p:spPr>
          <a:xfrm>
            <a:off x="3666960" y="3076560"/>
            <a:ext cx="4258080" cy="9720"/>
          </a:xfrm>
          <a:custGeom>
            <a:avLst/>
            <a:gdLst/>
            <a:ah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6" name=""/>
          <p:cNvSpPr/>
          <p:nvPr/>
        </p:nvSpPr>
        <p:spPr>
          <a:xfrm>
            <a:off x="7924680" y="307656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7" name=""/>
          <p:cNvSpPr/>
          <p:nvPr/>
        </p:nvSpPr>
        <p:spPr>
          <a:xfrm>
            <a:off x="590400" y="30859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8" name=""/>
          <p:cNvSpPr/>
          <p:nvPr/>
        </p:nvSpPr>
        <p:spPr>
          <a:xfrm>
            <a:off x="3657240" y="30859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79" name=""/>
          <p:cNvSpPr/>
          <p:nvPr/>
        </p:nvSpPr>
        <p:spPr>
          <a:xfrm>
            <a:off x="7914960" y="30859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0" name=""/>
          <p:cNvSpPr/>
          <p:nvPr/>
        </p:nvSpPr>
        <p:spPr>
          <a:xfrm>
            <a:off x="11591640" y="30859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1" name=""/>
          <p:cNvSpPr/>
          <p:nvPr/>
        </p:nvSpPr>
        <p:spPr>
          <a:xfrm>
            <a:off x="590400" y="35812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2" name=""/>
          <p:cNvSpPr/>
          <p:nvPr/>
        </p:nvSpPr>
        <p:spPr>
          <a:xfrm>
            <a:off x="590400" y="3571560"/>
            <a:ext cx="3076920" cy="10080"/>
          </a:xfrm>
          <a:custGeom>
            <a:avLst/>
            <a:gdLst/>
            <a:ahLst/>
            <a:rect l="0" t="0" r="r" b="b"/>
            <a:pathLst>
              <a:path w="8547" h="28">
                <a:moveTo>
                  <a:pt x="0" y="0"/>
                </a:moveTo>
                <a:lnTo>
                  <a:pt x="8547" y="0"/>
                </a:lnTo>
                <a:lnTo>
                  <a:pt x="8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3" name=""/>
          <p:cNvSpPr/>
          <p:nvPr/>
        </p:nvSpPr>
        <p:spPr>
          <a:xfrm>
            <a:off x="3657240" y="35812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4" name=""/>
          <p:cNvSpPr/>
          <p:nvPr/>
        </p:nvSpPr>
        <p:spPr>
          <a:xfrm>
            <a:off x="3666960" y="3571560"/>
            <a:ext cx="4258080" cy="10080"/>
          </a:xfrm>
          <a:custGeom>
            <a:avLst/>
            <a:gdLst/>
            <a:ah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5" name=""/>
          <p:cNvSpPr/>
          <p:nvPr/>
        </p:nvSpPr>
        <p:spPr>
          <a:xfrm>
            <a:off x="7914960" y="35812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6" name=""/>
          <p:cNvSpPr/>
          <p:nvPr/>
        </p:nvSpPr>
        <p:spPr>
          <a:xfrm>
            <a:off x="7924680" y="357156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7" name=""/>
          <p:cNvSpPr/>
          <p:nvPr/>
        </p:nvSpPr>
        <p:spPr>
          <a:xfrm>
            <a:off x="11591640" y="35812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8" name=""/>
          <p:cNvSpPr/>
          <p:nvPr/>
        </p:nvSpPr>
        <p:spPr>
          <a:xfrm>
            <a:off x="590400" y="40766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89" name=""/>
          <p:cNvSpPr/>
          <p:nvPr/>
        </p:nvSpPr>
        <p:spPr>
          <a:xfrm>
            <a:off x="590400" y="4066920"/>
            <a:ext cx="3076920" cy="10080"/>
          </a:xfrm>
          <a:custGeom>
            <a:avLst/>
            <a:gdLst/>
            <a:ahLst/>
            <a:rect l="0" t="0" r="r" b="b"/>
            <a:pathLst>
              <a:path w="8547" h="28">
                <a:moveTo>
                  <a:pt x="0" y="0"/>
                </a:moveTo>
                <a:lnTo>
                  <a:pt x="8547" y="0"/>
                </a:lnTo>
                <a:lnTo>
                  <a:pt x="8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0" name=""/>
          <p:cNvSpPr/>
          <p:nvPr/>
        </p:nvSpPr>
        <p:spPr>
          <a:xfrm>
            <a:off x="3657240" y="40766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1" name=""/>
          <p:cNvSpPr/>
          <p:nvPr/>
        </p:nvSpPr>
        <p:spPr>
          <a:xfrm>
            <a:off x="3666960" y="4066920"/>
            <a:ext cx="4258080" cy="10080"/>
          </a:xfrm>
          <a:custGeom>
            <a:avLst/>
            <a:gdLst/>
            <a:ah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2" name=""/>
          <p:cNvSpPr/>
          <p:nvPr/>
        </p:nvSpPr>
        <p:spPr>
          <a:xfrm>
            <a:off x="7914960" y="40766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3" name=""/>
          <p:cNvSpPr/>
          <p:nvPr/>
        </p:nvSpPr>
        <p:spPr>
          <a:xfrm>
            <a:off x="7924680" y="406692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4" name=""/>
          <p:cNvSpPr/>
          <p:nvPr/>
        </p:nvSpPr>
        <p:spPr>
          <a:xfrm>
            <a:off x="11591640" y="40766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5" name=""/>
          <p:cNvSpPr/>
          <p:nvPr/>
        </p:nvSpPr>
        <p:spPr>
          <a:xfrm>
            <a:off x="590400" y="456228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6" name=""/>
          <p:cNvSpPr/>
          <p:nvPr/>
        </p:nvSpPr>
        <p:spPr>
          <a:xfrm>
            <a:off x="3666960" y="4562280"/>
            <a:ext cx="4258080" cy="9720"/>
          </a:xfrm>
          <a:custGeom>
            <a:avLst/>
            <a:gdLst/>
            <a:ah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7" name=""/>
          <p:cNvSpPr/>
          <p:nvPr/>
        </p:nvSpPr>
        <p:spPr>
          <a:xfrm>
            <a:off x="7924680" y="456228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590400" y="1272240"/>
            <a:ext cx="757330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の結果：モデル規模による違い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590400" y="2095560"/>
            <a:ext cx="643397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五つのテストを合計した参考値。分⺟は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84,550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714240" y="27208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7175880" y="27208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合格数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10848960" y="27208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合格率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714240" y="3215880"/>
            <a:ext cx="3854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6993000" y="3215880"/>
            <a:ext cx="930672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1,467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10829160" y="3215880"/>
            <a:ext cx="74354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1.74%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714240" y="3711240"/>
            <a:ext cx="3854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856200" y="3711240"/>
            <a:ext cx="108716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81,557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0691640" y="3711240"/>
            <a:ext cx="90127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96.46%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714240" y="4206600"/>
            <a:ext cx="5431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6855480" y="4206600"/>
            <a:ext cx="108840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84,180</a:t>
            </a:r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10692360" y="4206600"/>
            <a:ext cx="90045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99.56%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590400" y="4819680"/>
            <a:ext cx="711169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今回の条件では、</a:t>
            </a:r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と</a:t>
            </a:r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は高い全体合格率を示した。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590400" y="5353200"/>
            <a:ext cx="765610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ただし、件数の少ない言い換えテストは全体値に表れにくい。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8" name=""/>
          <p:cNvSpPr/>
          <p:nvPr/>
        </p:nvSpPr>
        <p:spPr>
          <a:xfrm>
            <a:off x="599760" y="2352600"/>
            <a:ext cx="4267800" cy="495720"/>
          </a:xfrm>
          <a:custGeom>
            <a:avLst/>
            <a:gdLst/>
            <a:ahLst/>
            <a:rect l="0" t="0" r="r" b="b"/>
            <a:pathLst>
              <a:path w="11855" h="1377">
                <a:moveTo>
                  <a:pt x="0" y="0"/>
                </a:moveTo>
                <a:lnTo>
                  <a:pt x="11855" y="0"/>
                </a:lnTo>
                <a:lnTo>
                  <a:pt x="1185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19" name=""/>
          <p:cNvSpPr/>
          <p:nvPr/>
        </p:nvSpPr>
        <p:spPr>
          <a:xfrm>
            <a:off x="4867200" y="2352600"/>
            <a:ext cx="4362840" cy="495720"/>
          </a:xfrm>
          <a:custGeom>
            <a:avLst/>
            <a:gdLst/>
            <a:ahLst/>
            <a:rect l="0" t="0" r="r" b="b"/>
            <a:pathLst>
              <a:path w="12119" h="1377">
                <a:moveTo>
                  <a:pt x="0" y="0"/>
                </a:moveTo>
                <a:lnTo>
                  <a:pt x="12119" y="0"/>
                </a:lnTo>
                <a:lnTo>
                  <a:pt x="1211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0" name=""/>
          <p:cNvSpPr/>
          <p:nvPr/>
        </p:nvSpPr>
        <p:spPr>
          <a:xfrm>
            <a:off x="9229680" y="2352600"/>
            <a:ext cx="2372040" cy="495720"/>
          </a:xfrm>
          <a:custGeom>
            <a:avLst/>
            <a:gdLst/>
            <a:ahLst/>
            <a:rect l="0" t="0" r="r" b="b"/>
            <a:pathLst>
              <a:path w="6589" h="1377">
                <a:moveTo>
                  <a:pt x="0" y="0"/>
                </a:moveTo>
                <a:lnTo>
                  <a:pt x="6589" y="0"/>
                </a:lnTo>
                <a:lnTo>
                  <a:pt x="658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1" name=""/>
          <p:cNvSpPr/>
          <p:nvPr/>
        </p:nvSpPr>
        <p:spPr>
          <a:xfrm>
            <a:off x="599760" y="2352600"/>
            <a:ext cx="4267800" cy="495720"/>
          </a:xfrm>
          <a:custGeom>
            <a:avLst/>
            <a:gdLst/>
            <a:ahLst/>
            <a:rect l="0" t="0" r="r" b="b"/>
            <a:pathLst>
              <a:path w="11855" h="1377">
                <a:moveTo>
                  <a:pt x="0" y="0"/>
                </a:moveTo>
                <a:lnTo>
                  <a:pt x="11855" y="0"/>
                </a:lnTo>
                <a:lnTo>
                  <a:pt x="1185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2" name=""/>
          <p:cNvSpPr/>
          <p:nvPr/>
        </p:nvSpPr>
        <p:spPr>
          <a:xfrm>
            <a:off x="4867200" y="2352600"/>
            <a:ext cx="4362840" cy="495720"/>
          </a:xfrm>
          <a:custGeom>
            <a:avLst/>
            <a:gdLst/>
            <a:ahLst/>
            <a:rect l="0" t="0" r="r" b="b"/>
            <a:pathLst>
              <a:path w="12119" h="1377">
                <a:moveTo>
                  <a:pt x="0" y="0"/>
                </a:moveTo>
                <a:lnTo>
                  <a:pt x="12119" y="0"/>
                </a:lnTo>
                <a:lnTo>
                  <a:pt x="1211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3" name=""/>
          <p:cNvSpPr/>
          <p:nvPr/>
        </p:nvSpPr>
        <p:spPr>
          <a:xfrm>
            <a:off x="9229680" y="2352600"/>
            <a:ext cx="2372040" cy="495720"/>
          </a:xfrm>
          <a:custGeom>
            <a:avLst/>
            <a:gdLst/>
            <a:ahLst/>
            <a:rect l="0" t="0" r="r" b="b"/>
            <a:pathLst>
              <a:path w="6589" h="1377">
                <a:moveTo>
                  <a:pt x="0" y="0"/>
                </a:moveTo>
                <a:lnTo>
                  <a:pt x="6589" y="0"/>
                </a:lnTo>
                <a:lnTo>
                  <a:pt x="658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4" name=""/>
          <p:cNvSpPr/>
          <p:nvPr/>
        </p:nvSpPr>
        <p:spPr>
          <a:xfrm>
            <a:off x="599760" y="2847960"/>
            <a:ext cx="4267800" cy="495360"/>
          </a:xfrm>
          <a:custGeom>
            <a:avLst/>
            <a:gdLst/>
            <a:ahLst/>
            <a:rect l="0" t="0" r="r" b="b"/>
            <a:pathLst>
              <a:path w="11855" h="1376">
                <a:moveTo>
                  <a:pt x="0" y="0"/>
                </a:moveTo>
                <a:lnTo>
                  <a:pt x="11855" y="0"/>
                </a:lnTo>
                <a:lnTo>
                  <a:pt x="11855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5" name=""/>
          <p:cNvSpPr/>
          <p:nvPr/>
        </p:nvSpPr>
        <p:spPr>
          <a:xfrm>
            <a:off x="4867200" y="2847960"/>
            <a:ext cx="4362840" cy="495360"/>
          </a:xfrm>
          <a:custGeom>
            <a:avLst/>
            <a:gdLst/>
            <a:ahLst/>
            <a:rect l="0" t="0" r="r" b="b"/>
            <a:pathLst>
              <a:path w="12119" h="1376">
                <a:moveTo>
                  <a:pt x="0" y="0"/>
                </a:moveTo>
                <a:lnTo>
                  <a:pt x="12119" y="0"/>
                </a:lnTo>
                <a:lnTo>
                  <a:pt x="12119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6" name=""/>
          <p:cNvSpPr/>
          <p:nvPr/>
        </p:nvSpPr>
        <p:spPr>
          <a:xfrm>
            <a:off x="9229680" y="2847960"/>
            <a:ext cx="2372040" cy="495360"/>
          </a:xfrm>
          <a:custGeom>
            <a:avLst/>
            <a:gdLst/>
            <a:ahLst/>
            <a:rect l="0" t="0" r="r" b="b"/>
            <a:pathLst>
              <a:path w="6589" h="1376">
                <a:moveTo>
                  <a:pt x="0" y="0"/>
                </a:moveTo>
                <a:lnTo>
                  <a:pt x="6589" y="0"/>
                </a:lnTo>
                <a:lnTo>
                  <a:pt x="6589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7" name=""/>
          <p:cNvSpPr/>
          <p:nvPr/>
        </p:nvSpPr>
        <p:spPr>
          <a:xfrm>
            <a:off x="599760" y="3342960"/>
            <a:ext cx="4267800" cy="495720"/>
          </a:xfrm>
          <a:custGeom>
            <a:avLst/>
            <a:gdLst/>
            <a:ahLst/>
            <a:rect l="0" t="0" r="r" b="b"/>
            <a:pathLst>
              <a:path w="11855" h="1377">
                <a:moveTo>
                  <a:pt x="0" y="0"/>
                </a:moveTo>
                <a:lnTo>
                  <a:pt x="11855" y="0"/>
                </a:lnTo>
                <a:lnTo>
                  <a:pt x="1185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8" name=""/>
          <p:cNvSpPr/>
          <p:nvPr/>
        </p:nvSpPr>
        <p:spPr>
          <a:xfrm>
            <a:off x="4867200" y="3342960"/>
            <a:ext cx="4362840" cy="495720"/>
          </a:xfrm>
          <a:custGeom>
            <a:avLst/>
            <a:gdLst/>
            <a:ahLst/>
            <a:rect l="0" t="0" r="r" b="b"/>
            <a:pathLst>
              <a:path w="12119" h="1377">
                <a:moveTo>
                  <a:pt x="0" y="0"/>
                </a:moveTo>
                <a:lnTo>
                  <a:pt x="12119" y="0"/>
                </a:lnTo>
                <a:lnTo>
                  <a:pt x="1211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29" name=""/>
          <p:cNvSpPr/>
          <p:nvPr/>
        </p:nvSpPr>
        <p:spPr>
          <a:xfrm>
            <a:off x="9229680" y="3342960"/>
            <a:ext cx="2372040" cy="495720"/>
          </a:xfrm>
          <a:custGeom>
            <a:avLst/>
            <a:gdLst/>
            <a:ahLst/>
            <a:rect l="0" t="0" r="r" b="b"/>
            <a:pathLst>
              <a:path w="6589" h="1377">
                <a:moveTo>
                  <a:pt x="0" y="0"/>
                </a:moveTo>
                <a:lnTo>
                  <a:pt x="6589" y="0"/>
                </a:lnTo>
                <a:lnTo>
                  <a:pt x="658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0" name=""/>
          <p:cNvSpPr/>
          <p:nvPr/>
        </p:nvSpPr>
        <p:spPr>
          <a:xfrm>
            <a:off x="599760" y="3838320"/>
            <a:ext cx="4267800" cy="495720"/>
          </a:xfrm>
          <a:custGeom>
            <a:avLst/>
            <a:gdLst/>
            <a:ahLst/>
            <a:rect l="0" t="0" r="r" b="b"/>
            <a:pathLst>
              <a:path w="11855" h="1377">
                <a:moveTo>
                  <a:pt x="0" y="0"/>
                </a:moveTo>
                <a:lnTo>
                  <a:pt x="11855" y="0"/>
                </a:lnTo>
                <a:lnTo>
                  <a:pt x="1185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1" name=""/>
          <p:cNvSpPr/>
          <p:nvPr/>
        </p:nvSpPr>
        <p:spPr>
          <a:xfrm>
            <a:off x="4867200" y="3838320"/>
            <a:ext cx="4362840" cy="495720"/>
          </a:xfrm>
          <a:custGeom>
            <a:avLst/>
            <a:gdLst/>
            <a:ahLst/>
            <a:rect l="0" t="0" r="r" b="b"/>
            <a:pathLst>
              <a:path w="12119" h="1377">
                <a:moveTo>
                  <a:pt x="0" y="0"/>
                </a:moveTo>
                <a:lnTo>
                  <a:pt x="12119" y="0"/>
                </a:lnTo>
                <a:lnTo>
                  <a:pt x="1211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2" name=""/>
          <p:cNvSpPr/>
          <p:nvPr/>
        </p:nvSpPr>
        <p:spPr>
          <a:xfrm>
            <a:off x="9229680" y="3838320"/>
            <a:ext cx="2372040" cy="495720"/>
          </a:xfrm>
          <a:custGeom>
            <a:avLst/>
            <a:gdLst/>
            <a:ahLst/>
            <a:rect l="0" t="0" r="r" b="b"/>
            <a:pathLst>
              <a:path w="6589" h="1377">
                <a:moveTo>
                  <a:pt x="0" y="0"/>
                </a:moveTo>
                <a:lnTo>
                  <a:pt x="6589" y="0"/>
                </a:lnTo>
                <a:lnTo>
                  <a:pt x="658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3" name=""/>
          <p:cNvSpPr/>
          <p:nvPr/>
        </p:nvSpPr>
        <p:spPr>
          <a:xfrm>
            <a:off x="599760" y="4333680"/>
            <a:ext cx="4267800" cy="495720"/>
          </a:xfrm>
          <a:custGeom>
            <a:avLst/>
            <a:gdLst/>
            <a:ahLst/>
            <a:rect l="0" t="0" r="r" b="b"/>
            <a:pathLst>
              <a:path w="11855" h="1377">
                <a:moveTo>
                  <a:pt x="0" y="0"/>
                </a:moveTo>
                <a:lnTo>
                  <a:pt x="11855" y="0"/>
                </a:lnTo>
                <a:lnTo>
                  <a:pt x="1185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4" name=""/>
          <p:cNvSpPr/>
          <p:nvPr/>
        </p:nvSpPr>
        <p:spPr>
          <a:xfrm>
            <a:off x="4867200" y="4333680"/>
            <a:ext cx="4362840" cy="495720"/>
          </a:xfrm>
          <a:custGeom>
            <a:avLst/>
            <a:gdLst/>
            <a:ahLst/>
            <a:rect l="0" t="0" r="r" b="b"/>
            <a:pathLst>
              <a:path w="12119" h="1377">
                <a:moveTo>
                  <a:pt x="0" y="0"/>
                </a:moveTo>
                <a:lnTo>
                  <a:pt x="12119" y="0"/>
                </a:lnTo>
                <a:lnTo>
                  <a:pt x="1211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5" name=""/>
          <p:cNvSpPr/>
          <p:nvPr/>
        </p:nvSpPr>
        <p:spPr>
          <a:xfrm>
            <a:off x="9229680" y="4333680"/>
            <a:ext cx="2372040" cy="495720"/>
          </a:xfrm>
          <a:custGeom>
            <a:avLst/>
            <a:gdLst/>
            <a:ahLst/>
            <a:rect l="0" t="0" r="r" b="b"/>
            <a:pathLst>
              <a:path w="6589" h="1377">
                <a:moveTo>
                  <a:pt x="0" y="0"/>
                </a:moveTo>
                <a:lnTo>
                  <a:pt x="6589" y="0"/>
                </a:lnTo>
                <a:lnTo>
                  <a:pt x="658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6" name=""/>
          <p:cNvSpPr/>
          <p:nvPr/>
        </p:nvSpPr>
        <p:spPr>
          <a:xfrm>
            <a:off x="599760" y="4829040"/>
            <a:ext cx="4267800" cy="495720"/>
          </a:xfrm>
          <a:custGeom>
            <a:avLst/>
            <a:gdLst/>
            <a:ahLst/>
            <a:rect l="0" t="0" r="r" b="b"/>
            <a:pathLst>
              <a:path w="11855" h="1377">
                <a:moveTo>
                  <a:pt x="0" y="0"/>
                </a:moveTo>
                <a:lnTo>
                  <a:pt x="11855" y="0"/>
                </a:lnTo>
                <a:lnTo>
                  <a:pt x="1185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7" name=""/>
          <p:cNvSpPr/>
          <p:nvPr/>
        </p:nvSpPr>
        <p:spPr>
          <a:xfrm>
            <a:off x="4867200" y="4829040"/>
            <a:ext cx="4362840" cy="495720"/>
          </a:xfrm>
          <a:custGeom>
            <a:avLst/>
            <a:gdLst/>
            <a:ahLst/>
            <a:rect l="0" t="0" r="r" b="b"/>
            <a:pathLst>
              <a:path w="12119" h="1377">
                <a:moveTo>
                  <a:pt x="0" y="0"/>
                </a:moveTo>
                <a:lnTo>
                  <a:pt x="12119" y="0"/>
                </a:lnTo>
                <a:lnTo>
                  <a:pt x="1211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8" name=""/>
          <p:cNvSpPr/>
          <p:nvPr/>
        </p:nvSpPr>
        <p:spPr>
          <a:xfrm>
            <a:off x="9229680" y="4829040"/>
            <a:ext cx="2372040" cy="495720"/>
          </a:xfrm>
          <a:custGeom>
            <a:avLst/>
            <a:gdLst/>
            <a:ahLst/>
            <a:rect l="0" t="0" r="r" b="b"/>
            <a:pathLst>
              <a:path w="6589" h="1377">
                <a:moveTo>
                  <a:pt x="0" y="0"/>
                </a:moveTo>
                <a:lnTo>
                  <a:pt x="6589" y="0"/>
                </a:lnTo>
                <a:lnTo>
                  <a:pt x="658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39" name=""/>
          <p:cNvSpPr/>
          <p:nvPr/>
        </p:nvSpPr>
        <p:spPr>
          <a:xfrm>
            <a:off x="590400" y="23526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0" name=""/>
          <p:cNvSpPr/>
          <p:nvPr/>
        </p:nvSpPr>
        <p:spPr>
          <a:xfrm>
            <a:off x="590400" y="2352600"/>
            <a:ext cx="4277160" cy="9720"/>
          </a:xfrm>
          <a:custGeom>
            <a:avLst/>
            <a:gdLst/>
            <a:ahLst/>
            <a:rect l="0" t="0" r="r" b="b"/>
            <a:pathLst>
              <a:path w="11881" h="27">
                <a:moveTo>
                  <a:pt x="0" y="0"/>
                </a:moveTo>
                <a:lnTo>
                  <a:pt x="11881" y="0"/>
                </a:lnTo>
                <a:lnTo>
                  <a:pt x="118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1" name=""/>
          <p:cNvSpPr/>
          <p:nvPr/>
        </p:nvSpPr>
        <p:spPr>
          <a:xfrm>
            <a:off x="4857480" y="23526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2" name=""/>
          <p:cNvSpPr/>
          <p:nvPr/>
        </p:nvSpPr>
        <p:spPr>
          <a:xfrm>
            <a:off x="4867200" y="235260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3" name=""/>
          <p:cNvSpPr/>
          <p:nvPr/>
        </p:nvSpPr>
        <p:spPr>
          <a:xfrm>
            <a:off x="9219960" y="23526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4" name=""/>
          <p:cNvSpPr/>
          <p:nvPr/>
        </p:nvSpPr>
        <p:spPr>
          <a:xfrm>
            <a:off x="9229680" y="235260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5" name=""/>
          <p:cNvSpPr/>
          <p:nvPr/>
        </p:nvSpPr>
        <p:spPr>
          <a:xfrm>
            <a:off x="11591640" y="23526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6" name=""/>
          <p:cNvSpPr/>
          <p:nvPr/>
        </p:nvSpPr>
        <p:spPr>
          <a:xfrm>
            <a:off x="590400" y="2847960"/>
            <a:ext cx="4277160" cy="9720"/>
          </a:xfrm>
          <a:custGeom>
            <a:avLst/>
            <a:gdLst/>
            <a:ahLst/>
            <a:rect l="0" t="0" r="r" b="b"/>
            <a:pathLst>
              <a:path w="11881" h="27">
                <a:moveTo>
                  <a:pt x="0" y="0"/>
                </a:moveTo>
                <a:lnTo>
                  <a:pt x="11881" y="0"/>
                </a:lnTo>
                <a:lnTo>
                  <a:pt x="118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7" name=""/>
          <p:cNvSpPr/>
          <p:nvPr/>
        </p:nvSpPr>
        <p:spPr>
          <a:xfrm>
            <a:off x="4867200" y="284796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8" name=""/>
          <p:cNvSpPr/>
          <p:nvPr/>
        </p:nvSpPr>
        <p:spPr>
          <a:xfrm>
            <a:off x="9229680" y="284796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49" name=""/>
          <p:cNvSpPr/>
          <p:nvPr/>
        </p:nvSpPr>
        <p:spPr>
          <a:xfrm>
            <a:off x="590400" y="28573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0" name=""/>
          <p:cNvSpPr/>
          <p:nvPr/>
        </p:nvSpPr>
        <p:spPr>
          <a:xfrm>
            <a:off x="4857480" y="28573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1" name=""/>
          <p:cNvSpPr/>
          <p:nvPr/>
        </p:nvSpPr>
        <p:spPr>
          <a:xfrm>
            <a:off x="9219960" y="28573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2" name=""/>
          <p:cNvSpPr/>
          <p:nvPr/>
        </p:nvSpPr>
        <p:spPr>
          <a:xfrm>
            <a:off x="11591640" y="28573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3" name=""/>
          <p:cNvSpPr/>
          <p:nvPr/>
        </p:nvSpPr>
        <p:spPr>
          <a:xfrm>
            <a:off x="590400" y="33526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4" name=""/>
          <p:cNvSpPr/>
          <p:nvPr/>
        </p:nvSpPr>
        <p:spPr>
          <a:xfrm>
            <a:off x="590400" y="3342960"/>
            <a:ext cx="4277160" cy="10080"/>
          </a:xfrm>
          <a:custGeom>
            <a:avLst/>
            <a:gdLst/>
            <a:ahLst/>
            <a:rect l="0" t="0" r="r" b="b"/>
            <a:pathLst>
              <a:path w="11881" h="28">
                <a:moveTo>
                  <a:pt x="0" y="0"/>
                </a:moveTo>
                <a:lnTo>
                  <a:pt x="11881" y="0"/>
                </a:lnTo>
                <a:lnTo>
                  <a:pt x="118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5" name=""/>
          <p:cNvSpPr/>
          <p:nvPr/>
        </p:nvSpPr>
        <p:spPr>
          <a:xfrm>
            <a:off x="4857480" y="33526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6" name=""/>
          <p:cNvSpPr/>
          <p:nvPr/>
        </p:nvSpPr>
        <p:spPr>
          <a:xfrm>
            <a:off x="4867200" y="334296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7" name=""/>
          <p:cNvSpPr/>
          <p:nvPr/>
        </p:nvSpPr>
        <p:spPr>
          <a:xfrm>
            <a:off x="9219960" y="33526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8" name=""/>
          <p:cNvSpPr/>
          <p:nvPr/>
        </p:nvSpPr>
        <p:spPr>
          <a:xfrm>
            <a:off x="9229680" y="3342960"/>
            <a:ext cx="2372040" cy="10080"/>
          </a:xfrm>
          <a:custGeom>
            <a:avLst/>
            <a:gdLst/>
            <a:ahLst/>
            <a:rect l="0" t="0" r="r" b="b"/>
            <a:pathLst>
              <a:path w="6589" h="28">
                <a:moveTo>
                  <a:pt x="0" y="0"/>
                </a:moveTo>
                <a:lnTo>
                  <a:pt x="6589" y="0"/>
                </a:lnTo>
                <a:lnTo>
                  <a:pt x="65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59" name=""/>
          <p:cNvSpPr/>
          <p:nvPr/>
        </p:nvSpPr>
        <p:spPr>
          <a:xfrm>
            <a:off x="11591640" y="33526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0" name=""/>
          <p:cNvSpPr/>
          <p:nvPr/>
        </p:nvSpPr>
        <p:spPr>
          <a:xfrm>
            <a:off x="590400" y="38480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1" name=""/>
          <p:cNvSpPr/>
          <p:nvPr/>
        </p:nvSpPr>
        <p:spPr>
          <a:xfrm>
            <a:off x="590400" y="3838320"/>
            <a:ext cx="4277160" cy="10080"/>
          </a:xfrm>
          <a:custGeom>
            <a:avLst/>
            <a:gdLst/>
            <a:ahLst/>
            <a:rect l="0" t="0" r="r" b="b"/>
            <a:pathLst>
              <a:path w="11881" h="28">
                <a:moveTo>
                  <a:pt x="0" y="0"/>
                </a:moveTo>
                <a:lnTo>
                  <a:pt x="11881" y="0"/>
                </a:lnTo>
                <a:lnTo>
                  <a:pt x="118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2" name=""/>
          <p:cNvSpPr/>
          <p:nvPr/>
        </p:nvSpPr>
        <p:spPr>
          <a:xfrm>
            <a:off x="4857480" y="38480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3" name=""/>
          <p:cNvSpPr/>
          <p:nvPr/>
        </p:nvSpPr>
        <p:spPr>
          <a:xfrm>
            <a:off x="4867200" y="3838320"/>
            <a:ext cx="4362840" cy="10080"/>
          </a:xfrm>
          <a:custGeom>
            <a:avLst/>
            <a:gdLst/>
            <a:ahLst/>
            <a:rect l="0" t="0" r="r" b="b"/>
            <a:pathLst>
              <a:path w="12119" h="28">
                <a:moveTo>
                  <a:pt x="0" y="0"/>
                </a:moveTo>
                <a:lnTo>
                  <a:pt x="12119" y="0"/>
                </a:lnTo>
                <a:lnTo>
                  <a:pt x="121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4" name=""/>
          <p:cNvSpPr/>
          <p:nvPr/>
        </p:nvSpPr>
        <p:spPr>
          <a:xfrm>
            <a:off x="9219960" y="38480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5" name=""/>
          <p:cNvSpPr/>
          <p:nvPr/>
        </p:nvSpPr>
        <p:spPr>
          <a:xfrm>
            <a:off x="9229680" y="3838320"/>
            <a:ext cx="2372040" cy="10080"/>
          </a:xfrm>
          <a:custGeom>
            <a:avLst/>
            <a:gdLst/>
            <a:ahLst/>
            <a:rect l="0" t="0" r="r" b="b"/>
            <a:pathLst>
              <a:path w="6589" h="28">
                <a:moveTo>
                  <a:pt x="0" y="0"/>
                </a:moveTo>
                <a:lnTo>
                  <a:pt x="6589" y="0"/>
                </a:lnTo>
                <a:lnTo>
                  <a:pt x="65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6" name=""/>
          <p:cNvSpPr/>
          <p:nvPr/>
        </p:nvSpPr>
        <p:spPr>
          <a:xfrm>
            <a:off x="11591640" y="38480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7" name=""/>
          <p:cNvSpPr/>
          <p:nvPr/>
        </p:nvSpPr>
        <p:spPr>
          <a:xfrm>
            <a:off x="590400" y="434304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8" name=""/>
          <p:cNvSpPr/>
          <p:nvPr/>
        </p:nvSpPr>
        <p:spPr>
          <a:xfrm>
            <a:off x="590400" y="4333680"/>
            <a:ext cx="4277160" cy="9720"/>
          </a:xfrm>
          <a:custGeom>
            <a:avLst/>
            <a:gdLst/>
            <a:ahLst/>
            <a:rect l="0" t="0" r="r" b="b"/>
            <a:pathLst>
              <a:path w="11881" h="27">
                <a:moveTo>
                  <a:pt x="0" y="0"/>
                </a:moveTo>
                <a:lnTo>
                  <a:pt x="11881" y="0"/>
                </a:lnTo>
                <a:lnTo>
                  <a:pt x="118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69" name=""/>
          <p:cNvSpPr/>
          <p:nvPr/>
        </p:nvSpPr>
        <p:spPr>
          <a:xfrm>
            <a:off x="4857480" y="43430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0" name=""/>
          <p:cNvSpPr/>
          <p:nvPr/>
        </p:nvSpPr>
        <p:spPr>
          <a:xfrm>
            <a:off x="4867200" y="433368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1" name=""/>
          <p:cNvSpPr/>
          <p:nvPr/>
        </p:nvSpPr>
        <p:spPr>
          <a:xfrm>
            <a:off x="9219960" y="43430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2" name=""/>
          <p:cNvSpPr/>
          <p:nvPr/>
        </p:nvSpPr>
        <p:spPr>
          <a:xfrm>
            <a:off x="9229680" y="433368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3" name=""/>
          <p:cNvSpPr/>
          <p:nvPr/>
        </p:nvSpPr>
        <p:spPr>
          <a:xfrm>
            <a:off x="11591640" y="434304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4" name=""/>
          <p:cNvSpPr/>
          <p:nvPr/>
        </p:nvSpPr>
        <p:spPr>
          <a:xfrm>
            <a:off x="590400" y="483840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5" name=""/>
          <p:cNvSpPr/>
          <p:nvPr/>
        </p:nvSpPr>
        <p:spPr>
          <a:xfrm>
            <a:off x="590400" y="4829040"/>
            <a:ext cx="4277160" cy="9720"/>
          </a:xfrm>
          <a:custGeom>
            <a:avLst/>
            <a:gdLst/>
            <a:ahLst/>
            <a:rect l="0" t="0" r="r" b="b"/>
            <a:pathLst>
              <a:path w="11881" h="27">
                <a:moveTo>
                  <a:pt x="0" y="0"/>
                </a:moveTo>
                <a:lnTo>
                  <a:pt x="11881" y="0"/>
                </a:lnTo>
                <a:lnTo>
                  <a:pt x="118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6" name=""/>
          <p:cNvSpPr/>
          <p:nvPr/>
        </p:nvSpPr>
        <p:spPr>
          <a:xfrm>
            <a:off x="4857480" y="483840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7" name=""/>
          <p:cNvSpPr/>
          <p:nvPr/>
        </p:nvSpPr>
        <p:spPr>
          <a:xfrm>
            <a:off x="4867200" y="482904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8" name=""/>
          <p:cNvSpPr/>
          <p:nvPr/>
        </p:nvSpPr>
        <p:spPr>
          <a:xfrm>
            <a:off x="9219960" y="483840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79" name=""/>
          <p:cNvSpPr/>
          <p:nvPr/>
        </p:nvSpPr>
        <p:spPr>
          <a:xfrm>
            <a:off x="9229680" y="482904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0" name=""/>
          <p:cNvSpPr/>
          <p:nvPr/>
        </p:nvSpPr>
        <p:spPr>
          <a:xfrm>
            <a:off x="11591640" y="483840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1" name=""/>
          <p:cNvSpPr/>
          <p:nvPr/>
        </p:nvSpPr>
        <p:spPr>
          <a:xfrm>
            <a:off x="590400" y="5324400"/>
            <a:ext cx="4277160" cy="9720"/>
          </a:xfrm>
          <a:custGeom>
            <a:avLst/>
            <a:gdLst/>
            <a:ahLst/>
            <a:rect l="0" t="0" r="r" b="b"/>
            <a:pathLst>
              <a:path w="11881" h="27">
                <a:moveTo>
                  <a:pt x="0" y="0"/>
                </a:moveTo>
                <a:lnTo>
                  <a:pt x="11881" y="0"/>
                </a:lnTo>
                <a:lnTo>
                  <a:pt x="118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2" name=""/>
          <p:cNvSpPr/>
          <p:nvPr/>
        </p:nvSpPr>
        <p:spPr>
          <a:xfrm>
            <a:off x="4867200" y="5324400"/>
            <a:ext cx="4362840" cy="9720"/>
          </a:xfrm>
          <a:custGeom>
            <a:avLst/>
            <a:gdLst/>
            <a:ahLst/>
            <a:rect l="0" t="0" r="r" b="b"/>
            <a:pathLst>
              <a:path w="12119" h="27">
                <a:moveTo>
                  <a:pt x="0" y="0"/>
                </a:moveTo>
                <a:lnTo>
                  <a:pt x="12119" y="0"/>
                </a:lnTo>
                <a:lnTo>
                  <a:pt x="1211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3" name=""/>
          <p:cNvSpPr/>
          <p:nvPr/>
        </p:nvSpPr>
        <p:spPr>
          <a:xfrm>
            <a:off x="9229680" y="5324400"/>
            <a:ext cx="2372040" cy="9720"/>
          </a:xfrm>
          <a:custGeom>
            <a:avLst/>
            <a:gdLst/>
            <a:ahLst/>
            <a:rect l="0" t="0" r="r" b="b"/>
            <a:pathLst>
              <a:path w="6589" h="27">
                <a:moveTo>
                  <a:pt x="0" y="0"/>
                </a:moveTo>
                <a:lnTo>
                  <a:pt x="6589" y="0"/>
                </a:lnTo>
                <a:lnTo>
                  <a:pt x="65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590400" y="1043640"/>
            <a:ext cx="706201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全体が高精度でも、言い換えには弱い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590400" y="1857240"/>
            <a:ext cx="500526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モデル・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のテスト別結果。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714240" y="24922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テスト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8480160" y="24922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合格数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10848960" y="24922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合格率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714240" y="2987280"/>
            <a:ext cx="4810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通常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7390080" y="2987280"/>
            <a:ext cx="197022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24,003 / 24,040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10692360" y="2987280"/>
            <a:ext cx="90045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99.85%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714240" y="348264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組合せ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7391520" y="3482640"/>
            <a:ext cx="196815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13,188 / 13,400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10691640" y="3482640"/>
            <a:ext cx="90127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98.42%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714240" y="3978000"/>
            <a:ext cx="19217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日本語の言い換え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8285760" y="3978000"/>
            <a:ext cx="943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15 / 30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10653480" y="3978000"/>
            <a:ext cx="94474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50.00%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714240" y="4473360"/>
            <a:ext cx="16816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同じ操作の反復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7391520" y="4473360"/>
            <a:ext cx="196815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22,971 / 23,040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10692360" y="4473360"/>
            <a:ext cx="90045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99.70%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714240" y="496872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境界値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7390080" y="4968720"/>
            <a:ext cx="197022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24,003 / 24,040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0692360" y="4968720"/>
            <a:ext cx="90045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99.85%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590400" y="5581800"/>
            <a:ext cx="736423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全体の</a:t>
            </a:r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99.56%</a:t>
            </a:r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だけでは、日本語表現への弱さが見えない。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09" name=""/>
          <p:cNvSpPr/>
          <p:nvPr/>
        </p:nvSpPr>
        <p:spPr>
          <a:xfrm>
            <a:off x="599760" y="3428640"/>
            <a:ext cx="5829840" cy="467280"/>
          </a:xfrm>
          <a:custGeom>
            <a:avLst/>
            <a:gdLst/>
            <a:ahLst/>
            <a:rect l="0" t="0" r="r" b="b"/>
            <a:pathLst>
              <a:path w="16194" h="1298">
                <a:moveTo>
                  <a:pt x="0" y="0"/>
                </a:moveTo>
                <a:lnTo>
                  <a:pt x="16194" y="0"/>
                </a:lnTo>
                <a:lnTo>
                  <a:pt x="1619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0" name=""/>
          <p:cNvSpPr/>
          <p:nvPr/>
        </p:nvSpPr>
        <p:spPr>
          <a:xfrm>
            <a:off x="6429240" y="3428640"/>
            <a:ext cx="1619640" cy="467280"/>
          </a:xfrm>
          <a:custGeom>
            <a:avLst/>
            <a:gdLst/>
            <a:ahLst/>
            <a:rect l="0" t="0" r="r" b="b"/>
            <a:pathLst>
              <a:path w="4499" h="1298">
                <a:moveTo>
                  <a:pt x="0" y="0"/>
                </a:moveTo>
                <a:lnTo>
                  <a:pt x="4499" y="0"/>
                </a:lnTo>
                <a:lnTo>
                  <a:pt x="4499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1" name=""/>
          <p:cNvSpPr/>
          <p:nvPr/>
        </p:nvSpPr>
        <p:spPr>
          <a:xfrm>
            <a:off x="8048520" y="3428640"/>
            <a:ext cx="3553200" cy="467280"/>
          </a:xfrm>
          <a:custGeom>
            <a:avLst/>
            <a:gdLst/>
            <a:ahLst/>
            <a:rect l="0" t="0" r="r" b="b"/>
            <a:pathLst>
              <a:path w="9870" h="1298">
                <a:moveTo>
                  <a:pt x="0" y="0"/>
                </a:moveTo>
                <a:lnTo>
                  <a:pt x="9870" y="0"/>
                </a:lnTo>
                <a:lnTo>
                  <a:pt x="987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2" name=""/>
          <p:cNvSpPr/>
          <p:nvPr/>
        </p:nvSpPr>
        <p:spPr>
          <a:xfrm>
            <a:off x="599760" y="3428640"/>
            <a:ext cx="5829840" cy="467280"/>
          </a:xfrm>
          <a:custGeom>
            <a:avLst/>
            <a:gdLst/>
            <a:ahLst/>
            <a:rect l="0" t="0" r="r" b="b"/>
            <a:pathLst>
              <a:path w="16194" h="1298">
                <a:moveTo>
                  <a:pt x="0" y="0"/>
                </a:moveTo>
                <a:lnTo>
                  <a:pt x="16194" y="0"/>
                </a:lnTo>
                <a:lnTo>
                  <a:pt x="1619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3" name=""/>
          <p:cNvSpPr/>
          <p:nvPr/>
        </p:nvSpPr>
        <p:spPr>
          <a:xfrm>
            <a:off x="6429240" y="3428640"/>
            <a:ext cx="1619640" cy="467280"/>
          </a:xfrm>
          <a:custGeom>
            <a:avLst/>
            <a:gdLst/>
            <a:ahLst/>
            <a:rect l="0" t="0" r="r" b="b"/>
            <a:pathLst>
              <a:path w="4499" h="1298">
                <a:moveTo>
                  <a:pt x="0" y="0"/>
                </a:moveTo>
                <a:lnTo>
                  <a:pt x="4499" y="0"/>
                </a:lnTo>
                <a:lnTo>
                  <a:pt x="4499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4" name=""/>
          <p:cNvSpPr/>
          <p:nvPr/>
        </p:nvSpPr>
        <p:spPr>
          <a:xfrm>
            <a:off x="8048520" y="3428640"/>
            <a:ext cx="3553200" cy="467280"/>
          </a:xfrm>
          <a:custGeom>
            <a:avLst/>
            <a:gdLst/>
            <a:ahLst/>
            <a:rect l="0" t="0" r="r" b="b"/>
            <a:pathLst>
              <a:path w="9870" h="1298">
                <a:moveTo>
                  <a:pt x="0" y="0"/>
                </a:moveTo>
                <a:lnTo>
                  <a:pt x="9870" y="0"/>
                </a:lnTo>
                <a:lnTo>
                  <a:pt x="987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5" name=""/>
          <p:cNvSpPr/>
          <p:nvPr/>
        </p:nvSpPr>
        <p:spPr>
          <a:xfrm>
            <a:off x="599760" y="3895560"/>
            <a:ext cx="5829840" cy="466920"/>
          </a:xfrm>
          <a:custGeom>
            <a:avLst/>
            <a:gdLst/>
            <a:ahLst/>
            <a:rect l="0" t="0" r="r" b="b"/>
            <a:pathLst>
              <a:path w="16194" h="1297">
                <a:moveTo>
                  <a:pt x="0" y="0"/>
                </a:moveTo>
                <a:lnTo>
                  <a:pt x="16194" y="0"/>
                </a:lnTo>
                <a:lnTo>
                  <a:pt x="1619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6" name=""/>
          <p:cNvSpPr/>
          <p:nvPr/>
        </p:nvSpPr>
        <p:spPr>
          <a:xfrm>
            <a:off x="6429240" y="3895560"/>
            <a:ext cx="1619640" cy="466920"/>
          </a:xfrm>
          <a:custGeom>
            <a:avLst/>
            <a:gdLst/>
            <a:ahLst/>
            <a:rect l="0" t="0" r="r" b="b"/>
            <a:pathLst>
              <a:path w="4499" h="1297">
                <a:moveTo>
                  <a:pt x="0" y="0"/>
                </a:moveTo>
                <a:lnTo>
                  <a:pt x="4499" y="0"/>
                </a:lnTo>
                <a:lnTo>
                  <a:pt x="4499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7" name=""/>
          <p:cNvSpPr/>
          <p:nvPr/>
        </p:nvSpPr>
        <p:spPr>
          <a:xfrm>
            <a:off x="8048520" y="3895560"/>
            <a:ext cx="3553200" cy="466920"/>
          </a:xfrm>
          <a:custGeom>
            <a:avLst/>
            <a:gdLst/>
            <a:ahLst/>
            <a:rect l="0" t="0" r="r" b="b"/>
            <a:pathLst>
              <a:path w="9870" h="1297">
                <a:moveTo>
                  <a:pt x="0" y="0"/>
                </a:moveTo>
                <a:lnTo>
                  <a:pt x="9870" y="0"/>
                </a:lnTo>
                <a:lnTo>
                  <a:pt x="987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8" name=""/>
          <p:cNvSpPr/>
          <p:nvPr/>
        </p:nvSpPr>
        <p:spPr>
          <a:xfrm>
            <a:off x="590400" y="34286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19" name=""/>
          <p:cNvSpPr/>
          <p:nvPr/>
        </p:nvSpPr>
        <p:spPr>
          <a:xfrm>
            <a:off x="590400" y="3428640"/>
            <a:ext cx="5839200" cy="10080"/>
          </a:xfrm>
          <a:custGeom>
            <a:avLst/>
            <a:gdLst/>
            <a:ahLst/>
            <a:rect l="0" t="0" r="r" b="b"/>
            <a:pathLst>
              <a:path w="16220" h="28">
                <a:moveTo>
                  <a:pt x="0" y="0"/>
                </a:moveTo>
                <a:lnTo>
                  <a:pt x="16220" y="0"/>
                </a:lnTo>
                <a:lnTo>
                  <a:pt x="162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0" name=""/>
          <p:cNvSpPr/>
          <p:nvPr/>
        </p:nvSpPr>
        <p:spPr>
          <a:xfrm>
            <a:off x="6419520" y="34286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1" name=""/>
          <p:cNvSpPr/>
          <p:nvPr/>
        </p:nvSpPr>
        <p:spPr>
          <a:xfrm>
            <a:off x="6429240" y="3428640"/>
            <a:ext cx="1619640" cy="10080"/>
          </a:xfrm>
          <a:custGeom>
            <a:avLst/>
            <a:gdLst/>
            <a:ahLst/>
            <a:rect l="0" t="0" r="r" b="b"/>
            <a:pathLst>
              <a:path w="4499" h="28">
                <a:moveTo>
                  <a:pt x="0" y="0"/>
                </a:moveTo>
                <a:lnTo>
                  <a:pt x="4499" y="0"/>
                </a:lnTo>
                <a:lnTo>
                  <a:pt x="44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2" name=""/>
          <p:cNvSpPr/>
          <p:nvPr/>
        </p:nvSpPr>
        <p:spPr>
          <a:xfrm>
            <a:off x="8038800" y="34286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3" name=""/>
          <p:cNvSpPr/>
          <p:nvPr/>
        </p:nvSpPr>
        <p:spPr>
          <a:xfrm>
            <a:off x="8048520" y="3428640"/>
            <a:ext cx="3553200" cy="10080"/>
          </a:xfrm>
          <a:custGeom>
            <a:avLst/>
            <a:gdLst/>
            <a:ahLst/>
            <a:rect l="0" t="0" r="r" b="b"/>
            <a:pathLst>
              <a:path w="9870" h="28">
                <a:moveTo>
                  <a:pt x="0" y="0"/>
                </a:moveTo>
                <a:lnTo>
                  <a:pt x="9870" y="0"/>
                </a:lnTo>
                <a:lnTo>
                  <a:pt x="9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4" name=""/>
          <p:cNvSpPr/>
          <p:nvPr/>
        </p:nvSpPr>
        <p:spPr>
          <a:xfrm>
            <a:off x="11591640" y="34286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5" name=""/>
          <p:cNvSpPr/>
          <p:nvPr/>
        </p:nvSpPr>
        <p:spPr>
          <a:xfrm>
            <a:off x="590400" y="3895560"/>
            <a:ext cx="5839200" cy="9720"/>
          </a:xfrm>
          <a:custGeom>
            <a:avLst/>
            <a:gdLst/>
            <a:ahLst/>
            <a:rect l="0" t="0" r="r" b="b"/>
            <a:pathLst>
              <a:path w="16220" h="27">
                <a:moveTo>
                  <a:pt x="0" y="0"/>
                </a:moveTo>
                <a:lnTo>
                  <a:pt x="16220" y="0"/>
                </a:lnTo>
                <a:lnTo>
                  <a:pt x="162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6" name=""/>
          <p:cNvSpPr/>
          <p:nvPr/>
        </p:nvSpPr>
        <p:spPr>
          <a:xfrm>
            <a:off x="6429240" y="3895560"/>
            <a:ext cx="1619640" cy="9720"/>
          </a:xfrm>
          <a:custGeom>
            <a:avLst/>
            <a:gdLst/>
            <a:ahLst/>
            <a:rect l="0" t="0" r="r" b="b"/>
            <a:pathLst>
              <a:path w="4499" h="27">
                <a:moveTo>
                  <a:pt x="0" y="0"/>
                </a:moveTo>
                <a:lnTo>
                  <a:pt x="4499" y="0"/>
                </a:lnTo>
                <a:lnTo>
                  <a:pt x="44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7" name=""/>
          <p:cNvSpPr/>
          <p:nvPr/>
        </p:nvSpPr>
        <p:spPr>
          <a:xfrm>
            <a:off x="8048520" y="3895560"/>
            <a:ext cx="3553200" cy="9720"/>
          </a:xfrm>
          <a:custGeom>
            <a:avLst/>
            <a:gdLst/>
            <a:ahLst/>
            <a:rect l="0" t="0" r="r" b="b"/>
            <a:pathLst>
              <a:path w="9870" h="27">
                <a:moveTo>
                  <a:pt x="0" y="0"/>
                </a:moveTo>
                <a:lnTo>
                  <a:pt x="9870" y="0"/>
                </a:lnTo>
                <a:lnTo>
                  <a:pt x="9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8" name=""/>
          <p:cNvSpPr/>
          <p:nvPr/>
        </p:nvSpPr>
        <p:spPr>
          <a:xfrm>
            <a:off x="590400" y="39049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29" name=""/>
          <p:cNvSpPr/>
          <p:nvPr/>
        </p:nvSpPr>
        <p:spPr>
          <a:xfrm>
            <a:off x="6419520" y="39049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0" name=""/>
          <p:cNvSpPr/>
          <p:nvPr/>
        </p:nvSpPr>
        <p:spPr>
          <a:xfrm>
            <a:off x="8038800" y="39049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1" name=""/>
          <p:cNvSpPr/>
          <p:nvPr/>
        </p:nvSpPr>
        <p:spPr>
          <a:xfrm>
            <a:off x="11591640" y="39049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2" name=""/>
          <p:cNvSpPr/>
          <p:nvPr/>
        </p:nvSpPr>
        <p:spPr>
          <a:xfrm>
            <a:off x="590400" y="4362120"/>
            <a:ext cx="5839200" cy="10080"/>
          </a:xfrm>
          <a:custGeom>
            <a:avLst/>
            <a:gdLst/>
            <a:ahLst/>
            <a:rect l="0" t="0" r="r" b="b"/>
            <a:pathLst>
              <a:path w="16220" h="28">
                <a:moveTo>
                  <a:pt x="0" y="0"/>
                </a:moveTo>
                <a:lnTo>
                  <a:pt x="16220" y="0"/>
                </a:lnTo>
                <a:lnTo>
                  <a:pt x="162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3" name=""/>
          <p:cNvSpPr/>
          <p:nvPr/>
        </p:nvSpPr>
        <p:spPr>
          <a:xfrm>
            <a:off x="6429240" y="4362120"/>
            <a:ext cx="1619640" cy="10080"/>
          </a:xfrm>
          <a:custGeom>
            <a:avLst/>
            <a:gdLst/>
            <a:ahLst/>
            <a:rect l="0" t="0" r="r" b="b"/>
            <a:pathLst>
              <a:path w="4499" h="28">
                <a:moveTo>
                  <a:pt x="0" y="0"/>
                </a:moveTo>
                <a:lnTo>
                  <a:pt x="4499" y="0"/>
                </a:lnTo>
                <a:lnTo>
                  <a:pt x="44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4" name=""/>
          <p:cNvSpPr/>
          <p:nvPr/>
        </p:nvSpPr>
        <p:spPr>
          <a:xfrm>
            <a:off x="8048520" y="4362120"/>
            <a:ext cx="3553200" cy="10080"/>
          </a:xfrm>
          <a:custGeom>
            <a:avLst/>
            <a:gdLst/>
            <a:ahLst/>
            <a:rect l="0" t="0" r="r" b="b"/>
            <a:pathLst>
              <a:path w="9870" h="28">
                <a:moveTo>
                  <a:pt x="0" y="0"/>
                </a:moveTo>
                <a:lnTo>
                  <a:pt x="9870" y="0"/>
                </a:lnTo>
                <a:lnTo>
                  <a:pt x="9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590400" y="1586520"/>
            <a:ext cx="830815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先行研究：日本語の書き方で正解率が変わる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590400" y="2409840"/>
            <a:ext cx="983664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Gan and Mori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（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2023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）は、意味や指示が近い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種類のプロンプトを比較した。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590400" y="2933640"/>
            <a:ext cx="656272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プロンプト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は、モデルに渡す指示文や質問文のこと。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723960" y="3551760"/>
            <a:ext cx="157816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日本語の課題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6554880" y="3551760"/>
            <a:ext cx="7894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8176680" y="3551760"/>
            <a:ext cx="157816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正解率の範囲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723960" y="4018320"/>
            <a:ext cx="362581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文の意味関係を分類する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JNLI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6554880" y="4018320"/>
            <a:ext cx="8114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GPT-4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8176680" y="4018320"/>
            <a:ext cx="2091114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25.44</a:t>
            </a:r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〜</a:t>
            </a:r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49.21%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590400" y="4619520"/>
            <a:ext cx="820299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意味が近くても、書き方によって性能が大きく変わる場合がある。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590400" y="5126040"/>
            <a:ext cx="4172292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3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出典：</a:t>
            </a:r>
            <a:r>
              <a:rPr lang="en-US" sz="1350" b="0" u="none" strike="noStrike">
                <a:solidFill>
                  <a:srgbClr val="2877AA"/>
                </a:solidFill>
                <a:effectLst/>
                <a:uFillTx/>
                <a:latin typeface="Hiragino Sans"/>
                <a:ea typeface="Hiragino Sans"/>
              </a:rPr>
              <a:t>Gan and Mori, PACLIC 2023, Table 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0" name=""/>
          <p:cNvSpPr/>
          <p:nvPr/>
        </p:nvSpPr>
        <p:spPr>
          <a:xfrm>
            <a:off x="599760" y="2666880"/>
            <a:ext cx="4839120" cy="466920"/>
          </a:xfrm>
          <a:custGeom>
            <a:avLst/>
            <a:gdLst/>
            <a:ahLst/>
            <a:rect l="0" t="0" r="r" b="b"/>
            <a:pathLst>
              <a:path w="13442" h="1297">
                <a:moveTo>
                  <a:pt x="0" y="0"/>
                </a:moveTo>
                <a:lnTo>
                  <a:pt x="13442" y="0"/>
                </a:lnTo>
                <a:lnTo>
                  <a:pt x="1344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1" name=""/>
          <p:cNvSpPr/>
          <p:nvPr/>
        </p:nvSpPr>
        <p:spPr>
          <a:xfrm>
            <a:off x="5438520" y="2666880"/>
            <a:ext cx="6163200" cy="466920"/>
          </a:xfrm>
          <a:custGeom>
            <a:avLst/>
            <a:gdLst/>
            <a:ahLst/>
            <a:rect l="0" t="0" r="r" b="b"/>
            <a:pathLst>
              <a:path w="17120" h="1297">
                <a:moveTo>
                  <a:pt x="0" y="0"/>
                </a:moveTo>
                <a:lnTo>
                  <a:pt x="17120" y="0"/>
                </a:lnTo>
                <a:lnTo>
                  <a:pt x="1712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2" name=""/>
          <p:cNvSpPr/>
          <p:nvPr/>
        </p:nvSpPr>
        <p:spPr>
          <a:xfrm>
            <a:off x="599760" y="2666880"/>
            <a:ext cx="4839120" cy="466920"/>
          </a:xfrm>
          <a:custGeom>
            <a:avLst/>
            <a:gdLst/>
            <a:ahLst/>
            <a:rect l="0" t="0" r="r" b="b"/>
            <a:pathLst>
              <a:path w="13442" h="1297">
                <a:moveTo>
                  <a:pt x="0" y="0"/>
                </a:moveTo>
                <a:lnTo>
                  <a:pt x="13442" y="0"/>
                </a:lnTo>
                <a:lnTo>
                  <a:pt x="1344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3" name=""/>
          <p:cNvSpPr/>
          <p:nvPr/>
        </p:nvSpPr>
        <p:spPr>
          <a:xfrm>
            <a:off x="5438520" y="2666880"/>
            <a:ext cx="6163200" cy="466920"/>
          </a:xfrm>
          <a:custGeom>
            <a:avLst/>
            <a:gdLst/>
            <a:ahLst/>
            <a:rect l="0" t="0" r="r" b="b"/>
            <a:pathLst>
              <a:path w="17120" h="1297">
                <a:moveTo>
                  <a:pt x="0" y="0"/>
                </a:moveTo>
                <a:lnTo>
                  <a:pt x="17120" y="0"/>
                </a:lnTo>
                <a:lnTo>
                  <a:pt x="1712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4" name=""/>
          <p:cNvSpPr/>
          <p:nvPr/>
        </p:nvSpPr>
        <p:spPr>
          <a:xfrm>
            <a:off x="599760" y="3133440"/>
            <a:ext cx="4839120" cy="467280"/>
          </a:xfrm>
          <a:custGeom>
            <a:avLst/>
            <a:gdLst/>
            <a:ahLst/>
            <a:rect l="0" t="0" r="r" b="b"/>
            <a:pathLst>
              <a:path w="13442" h="1298">
                <a:moveTo>
                  <a:pt x="0" y="0"/>
                </a:moveTo>
                <a:lnTo>
                  <a:pt x="13442" y="0"/>
                </a:lnTo>
                <a:lnTo>
                  <a:pt x="1344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5" name=""/>
          <p:cNvSpPr/>
          <p:nvPr/>
        </p:nvSpPr>
        <p:spPr>
          <a:xfrm>
            <a:off x="5438520" y="3133440"/>
            <a:ext cx="6163200" cy="467280"/>
          </a:xfrm>
          <a:custGeom>
            <a:avLst/>
            <a:gdLst/>
            <a:ahLst/>
            <a:rect l="0" t="0" r="r" b="b"/>
            <a:pathLst>
              <a:path w="17120" h="1298">
                <a:moveTo>
                  <a:pt x="0" y="0"/>
                </a:moveTo>
                <a:lnTo>
                  <a:pt x="17120" y="0"/>
                </a:lnTo>
                <a:lnTo>
                  <a:pt x="1712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6" name=""/>
          <p:cNvSpPr/>
          <p:nvPr/>
        </p:nvSpPr>
        <p:spPr>
          <a:xfrm>
            <a:off x="599760" y="3600360"/>
            <a:ext cx="4839120" cy="466920"/>
          </a:xfrm>
          <a:custGeom>
            <a:avLst/>
            <a:gdLst/>
            <a:ahLst/>
            <a:rect l="0" t="0" r="r" b="b"/>
            <a:pathLst>
              <a:path w="13442" h="1297">
                <a:moveTo>
                  <a:pt x="0" y="0"/>
                </a:moveTo>
                <a:lnTo>
                  <a:pt x="13442" y="0"/>
                </a:lnTo>
                <a:lnTo>
                  <a:pt x="1344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7" name=""/>
          <p:cNvSpPr/>
          <p:nvPr/>
        </p:nvSpPr>
        <p:spPr>
          <a:xfrm>
            <a:off x="5438520" y="3600360"/>
            <a:ext cx="6163200" cy="466920"/>
          </a:xfrm>
          <a:custGeom>
            <a:avLst/>
            <a:gdLst/>
            <a:ahLst/>
            <a:rect l="0" t="0" r="r" b="b"/>
            <a:pathLst>
              <a:path w="17120" h="1297">
                <a:moveTo>
                  <a:pt x="0" y="0"/>
                </a:moveTo>
                <a:lnTo>
                  <a:pt x="17120" y="0"/>
                </a:lnTo>
                <a:lnTo>
                  <a:pt x="1712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8" name=""/>
          <p:cNvSpPr/>
          <p:nvPr/>
        </p:nvSpPr>
        <p:spPr>
          <a:xfrm>
            <a:off x="590400" y="26668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59" name=""/>
          <p:cNvSpPr/>
          <p:nvPr/>
        </p:nvSpPr>
        <p:spPr>
          <a:xfrm>
            <a:off x="590400" y="2666880"/>
            <a:ext cx="4858200" cy="9720"/>
          </a:xfrm>
          <a:custGeom>
            <a:avLst/>
            <a:gdLst/>
            <a:ahLst/>
            <a:rect l="0" t="0" r="r" b="b"/>
            <a:pathLst>
              <a:path w="13495" h="27">
                <a:moveTo>
                  <a:pt x="0" y="0"/>
                </a:moveTo>
                <a:lnTo>
                  <a:pt x="13495" y="0"/>
                </a:lnTo>
                <a:lnTo>
                  <a:pt x="134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0" name=""/>
          <p:cNvSpPr/>
          <p:nvPr/>
        </p:nvSpPr>
        <p:spPr>
          <a:xfrm>
            <a:off x="5438520" y="2666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1" name=""/>
          <p:cNvSpPr/>
          <p:nvPr/>
        </p:nvSpPr>
        <p:spPr>
          <a:xfrm>
            <a:off x="5448240" y="2666880"/>
            <a:ext cx="6153480" cy="9720"/>
          </a:xfrm>
          <a:custGeom>
            <a:avLst/>
            <a:gdLst/>
            <a:ahLst/>
            <a:rect l="0" t="0" r="r" b="b"/>
            <a:pathLst>
              <a:path w="17093" h="27">
                <a:moveTo>
                  <a:pt x="0" y="0"/>
                </a:moveTo>
                <a:lnTo>
                  <a:pt x="17093" y="0"/>
                </a:lnTo>
                <a:lnTo>
                  <a:pt x="170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2" name=""/>
          <p:cNvSpPr/>
          <p:nvPr/>
        </p:nvSpPr>
        <p:spPr>
          <a:xfrm>
            <a:off x="11591640" y="2666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3" name=""/>
          <p:cNvSpPr/>
          <p:nvPr/>
        </p:nvSpPr>
        <p:spPr>
          <a:xfrm>
            <a:off x="590400" y="3133440"/>
            <a:ext cx="4858200" cy="10080"/>
          </a:xfrm>
          <a:custGeom>
            <a:avLst/>
            <a:gdLst/>
            <a:ahLst/>
            <a:rect l="0" t="0" r="r" b="b"/>
            <a:pathLst>
              <a:path w="13495" h="28">
                <a:moveTo>
                  <a:pt x="0" y="0"/>
                </a:moveTo>
                <a:lnTo>
                  <a:pt x="13495" y="0"/>
                </a:lnTo>
                <a:lnTo>
                  <a:pt x="134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4" name=""/>
          <p:cNvSpPr/>
          <p:nvPr/>
        </p:nvSpPr>
        <p:spPr>
          <a:xfrm>
            <a:off x="5448240" y="3133440"/>
            <a:ext cx="6153480" cy="10080"/>
          </a:xfrm>
          <a:custGeom>
            <a:avLst/>
            <a:gdLst/>
            <a:ahLst/>
            <a:rect l="0" t="0" r="r" b="b"/>
            <a:pathLst>
              <a:path w="17093" h="28">
                <a:moveTo>
                  <a:pt x="0" y="0"/>
                </a:moveTo>
                <a:lnTo>
                  <a:pt x="17093" y="0"/>
                </a:lnTo>
                <a:lnTo>
                  <a:pt x="170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5" name=""/>
          <p:cNvSpPr/>
          <p:nvPr/>
        </p:nvSpPr>
        <p:spPr>
          <a:xfrm>
            <a:off x="590400" y="314316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6" name=""/>
          <p:cNvSpPr/>
          <p:nvPr/>
        </p:nvSpPr>
        <p:spPr>
          <a:xfrm>
            <a:off x="5438520" y="31431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7" name=""/>
          <p:cNvSpPr/>
          <p:nvPr/>
        </p:nvSpPr>
        <p:spPr>
          <a:xfrm>
            <a:off x="11591640" y="31431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8" name=""/>
          <p:cNvSpPr/>
          <p:nvPr/>
        </p:nvSpPr>
        <p:spPr>
          <a:xfrm>
            <a:off x="590400" y="36097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69" name=""/>
          <p:cNvSpPr/>
          <p:nvPr/>
        </p:nvSpPr>
        <p:spPr>
          <a:xfrm>
            <a:off x="590400" y="3600360"/>
            <a:ext cx="4858200" cy="9720"/>
          </a:xfrm>
          <a:custGeom>
            <a:avLst/>
            <a:gdLst/>
            <a:ahLst/>
            <a:rect l="0" t="0" r="r" b="b"/>
            <a:pathLst>
              <a:path w="13495" h="27">
                <a:moveTo>
                  <a:pt x="0" y="0"/>
                </a:moveTo>
                <a:lnTo>
                  <a:pt x="13495" y="0"/>
                </a:lnTo>
                <a:lnTo>
                  <a:pt x="134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0" name=""/>
          <p:cNvSpPr/>
          <p:nvPr/>
        </p:nvSpPr>
        <p:spPr>
          <a:xfrm>
            <a:off x="543852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1" name=""/>
          <p:cNvSpPr/>
          <p:nvPr/>
        </p:nvSpPr>
        <p:spPr>
          <a:xfrm>
            <a:off x="5448240" y="3600360"/>
            <a:ext cx="6153480" cy="9720"/>
          </a:xfrm>
          <a:custGeom>
            <a:avLst/>
            <a:gdLst/>
            <a:ahLst/>
            <a:rect l="0" t="0" r="r" b="b"/>
            <a:pathLst>
              <a:path w="17093" h="27">
                <a:moveTo>
                  <a:pt x="0" y="0"/>
                </a:moveTo>
                <a:lnTo>
                  <a:pt x="17093" y="0"/>
                </a:lnTo>
                <a:lnTo>
                  <a:pt x="170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2" name=""/>
          <p:cNvSpPr/>
          <p:nvPr/>
        </p:nvSpPr>
        <p:spPr>
          <a:xfrm>
            <a:off x="1159164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3" name=""/>
          <p:cNvSpPr/>
          <p:nvPr/>
        </p:nvSpPr>
        <p:spPr>
          <a:xfrm>
            <a:off x="590400" y="4066920"/>
            <a:ext cx="4858200" cy="10080"/>
          </a:xfrm>
          <a:custGeom>
            <a:avLst/>
            <a:gdLst/>
            <a:ahLst/>
            <a:rect l="0" t="0" r="r" b="b"/>
            <a:pathLst>
              <a:path w="13495" h="28">
                <a:moveTo>
                  <a:pt x="0" y="0"/>
                </a:moveTo>
                <a:lnTo>
                  <a:pt x="13495" y="0"/>
                </a:lnTo>
                <a:lnTo>
                  <a:pt x="134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4" name=""/>
          <p:cNvSpPr/>
          <p:nvPr/>
        </p:nvSpPr>
        <p:spPr>
          <a:xfrm>
            <a:off x="5448240" y="4066920"/>
            <a:ext cx="6153480" cy="10080"/>
          </a:xfrm>
          <a:custGeom>
            <a:avLst/>
            <a:gdLst/>
            <a:ahLst/>
            <a:rect l="0" t="0" r="r" b="b"/>
            <a:pathLst>
              <a:path w="17093" h="28">
                <a:moveTo>
                  <a:pt x="0" y="0"/>
                </a:moveTo>
                <a:lnTo>
                  <a:pt x="17093" y="0"/>
                </a:lnTo>
                <a:lnTo>
                  <a:pt x="170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590400" y="1348200"/>
            <a:ext cx="789291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先行研究：言い換えで回答の傾向も変わる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590400" y="2171520"/>
            <a:ext cx="1020675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Takayama et al.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（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2026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）は、日本語を含む「はい／いいえ」の質問を評価した。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723960" y="2789640"/>
            <a:ext cx="157816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表現の変え方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5571000" y="2789640"/>
            <a:ext cx="18410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日本語での観察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723960" y="3256560"/>
            <a:ext cx="368128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同意を求める「〜ですよね？」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5571000" y="3256560"/>
            <a:ext cx="39441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道徳判断で「はい」が増える傾向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723960" y="3723120"/>
            <a:ext cx="236683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反対語への置き換え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5571000" y="3723120"/>
            <a:ext cx="473284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答えの反転を考慮しても、一貫性が低下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590400" y="4324320"/>
            <a:ext cx="601583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同じ判断を求めても、表現によって答えが動く。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590400" y="4848120"/>
            <a:ext cx="710920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モデルの評価には、複数の言い回しを含める必要がある。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590400" y="5364000"/>
            <a:ext cx="416525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3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出典：</a:t>
            </a:r>
            <a:r>
              <a:rPr lang="en-US" sz="1350" b="0" u="none" strike="noStrike">
                <a:solidFill>
                  <a:srgbClr val="2877AA"/>
                </a:solidFill>
                <a:effectLst/>
                <a:uFillTx/>
                <a:latin typeface="Hiragino Sans"/>
                <a:ea typeface="Hiragino Sans"/>
              </a:rPr>
              <a:t>Takayama et al., LREC 2026, Table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0" name=""/>
          <p:cNvSpPr/>
          <p:nvPr/>
        </p:nvSpPr>
        <p:spPr>
          <a:xfrm>
            <a:off x="599760" y="2571480"/>
            <a:ext cx="1229040" cy="467280"/>
          </a:xfrm>
          <a:custGeom>
            <a:avLst/>
            <a:gdLst/>
            <a:ahLst/>
            <a:rect l="0" t="0" r="r" b="b"/>
            <a:pathLst>
              <a:path w="3414" h="1298">
                <a:moveTo>
                  <a:pt x="0" y="0"/>
                </a:moveTo>
                <a:lnTo>
                  <a:pt x="3414" y="0"/>
                </a:lnTo>
                <a:lnTo>
                  <a:pt x="341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1" name=""/>
          <p:cNvSpPr/>
          <p:nvPr/>
        </p:nvSpPr>
        <p:spPr>
          <a:xfrm>
            <a:off x="1828440" y="2571480"/>
            <a:ext cx="9773280" cy="467280"/>
          </a:xfrm>
          <a:custGeom>
            <a:avLst/>
            <a:gdLst/>
            <a:ahLst/>
            <a:rect l="0" t="0" r="r" b="b"/>
            <a:pathLst>
              <a:path w="27148" h="1298">
                <a:moveTo>
                  <a:pt x="0" y="0"/>
                </a:moveTo>
                <a:lnTo>
                  <a:pt x="27148" y="0"/>
                </a:lnTo>
                <a:lnTo>
                  <a:pt x="2714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2" name=""/>
          <p:cNvSpPr/>
          <p:nvPr/>
        </p:nvSpPr>
        <p:spPr>
          <a:xfrm>
            <a:off x="599760" y="2571480"/>
            <a:ext cx="1229040" cy="467280"/>
          </a:xfrm>
          <a:custGeom>
            <a:avLst/>
            <a:gdLst/>
            <a:ahLst/>
            <a:rect l="0" t="0" r="r" b="b"/>
            <a:pathLst>
              <a:path w="3414" h="1298">
                <a:moveTo>
                  <a:pt x="0" y="0"/>
                </a:moveTo>
                <a:lnTo>
                  <a:pt x="3414" y="0"/>
                </a:lnTo>
                <a:lnTo>
                  <a:pt x="341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3" name=""/>
          <p:cNvSpPr/>
          <p:nvPr/>
        </p:nvSpPr>
        <p:spPr>
          <a:xfrm>
            <a:off x="1828440" y="2571480"/>
            <a:ext cx="9773280" cy="467280"/>
          </a:xfrm>
          <a:custGeom>
            <a:avLst/>
            <a:gdLst/>
            <a:ahLst/>
            <a:rect l="0" t="0" r="r" b="b"/>
            <a:pathLst>
              <a:path w="27148" h="1298">
                <a:moveTo>
                  <a:pt x="0" y="0"/>
                </a:moveTo>
                <a:lnTo>
                  <a:pt x="27148" y="0"/>
                </a:lnTo>
                <a:lnTo>
                  <a:pt x="2714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4" name=""/>
          <p:cNvSpPr/>
          <p:nvPr/>
        </p:nvSpPr>
        <p:spPr>
          <a:xfrm>
            <a:off x="599760" y="3038400"/>
            <a:ext cx="1229040" cy="466920"/>
          </a:xfrm>
          <a:custGeom>
            <a:avLst/>
            <a:gdLst/>
            <a:ahLst/>
            <a:rect l="0" t="0" r="r" b="b"/>
            <a:pathLst>
              <a:path w="3414" h="1297">
                <a:moveTo>
                  <a:pt x="0" y="0"/>
                </a:moveTo>
                <a:lnTo>
                  <a:pt x="3414" y="0"/>
                </a:lnTo>
                <a:lnTo>
                  <a:pt x="341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5" name=""/>
          <p:cNvSpPr/>
          <p:nvPr/>
        </p:nvSpPr>
        <p:spPr>
          <a:xfrm>
            <a:off x="1828440" y="3038400"/>
            <a:ext cx="9773280" cy="466920"/>
          </a:xfrm>
          <a:custGeom>
            <a:avLst/>
            <a:gdLst/>
            <a:ahLst/>
            <a:rect l="0" t="0" r="r" b="b"/>
            <a:pathLst>
              <a:path w="27148" h="1297">
                <a:moveTo>
                  <a:pt x="0" y="0"/>
                </a:moveTo>
                <a:lnTo>
                  <a:pt x="27148" y="0"/>
                </a:lnTo>
                <a:lnTo>
                  <a:pt x="2714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6" name=""/>
          <p:cNvSpPr/>
          <p:nvPr/>
        </p:nvSpPr>
        <p:spPr>
          <a:xfrm>
            <a:off x="599760" y="3504960"/>
            <a:ext cx="1229040" cy="467280"/>
          </a:xfrm>
          <a:custGeom>
            <a:avLst/>
            <a:gdLst/>
            <a:ahLst/>
            <a:rect l="0" t="0" r="r" b="b"/>
            <a:pathLst>
              <a:path w="3414" h="1298">
                <a:moveTo>
                  <a:pt x="0" y="0"/>
                </a:moveTo>
                <a:lnTo>
                  <a:pt x="3414" y="0"/>
                </a:lnTo>
                <a:lnTo>
                  <a:pt x="341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7" name=""/>
          <p:cNvSpPr/>
          <p:nvPr/>
        </p:nvSpPr>
        <p:spPr>
          <a:xfrm>
            <a:off x="1828440" y="3504960"/>
            <a:ext cx="9773280" cy="467280"/>
          </a:xfrm>
          <a:custGeom>
            <a:avLst/>
            <a:gdLst/>
            <a:ahLst/>
            <a:rect l="0" t="0" r="r" b="b"/>
            <a:pathLst>
              <a:path w="27148" h="1298">
                <a:moveTo>
                  <a:pt x="0" y="0"/>
                </a:moveTo>
                <a:lnTo>
                  <a:pt x="27148" y="0"/>
                </a:lnTo>
                <a:lnTo>
                  <a:pt x="2714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8" name=""/>
          <p:cNvSpPr/>
          <p:nvPr/>
        </p:nvSpPr>
        <p:spPr>
          <a:xfrm>
            <a:off x="590400" y="25714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999" name=""/>
          <p:cNvSpPr/>
          <p:nvPr/>
        </p:nvSpPr>
        <p:spPr>
          <a:xfrm>
            <a:off x="590400" y="2571480"/>
            <a:ext cx="1238400" cy="10080"/>
          </a:xfrm>
          <a:custGeom>
            <a:avLst/>
            <a:gdLst/>
            <a:ah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0" name=""/>
          <p:cNvSpPr/>
          <p:nvPr/>
        </p:nvSpPr>
        <p:spPr>
          <a:xfrm>
            <a:off x="1819080" y="25714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1" name=""/>
          <p:cNvSpPr/>
          <p:nvPr/>
        </p:nvSpPr>
        <p:spPr>
          <a:xfrm>
            <a:off x="1828440" y="2571480"/>
            <a:ext cx="9773280" cy="10080"/>
          </a:xfrm>
          <a:custGeom>
            <a:avLst/>
            <a:gdLst/>
            <a:ahLst/>
            <a:rect l="0" t="0" r="r" b="b"/>
            <a:pathLst>
              <a:path w="27148" h="28">
                <a:moveTo>
                  <a:pt x="0" y="0"/>
                </a:moveTo>
                <a:lnTo>
                  <a:pt x="27148" y="0"/>
                </a:lnTo>
                <a:lnTo>
                  <a:pt x="271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2" name=""/>
          <p:cNvSpPr/>
          <p:nvPr/>
        </p:nvSpPr>
        <p:spPr>
          <a:xfrm>
            <a:off x="11591640" y="25714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3" name=""/>
          <p:cNvSpPr/>
          <p:nvPr/>
        </p:nvSpPr>
        <p:spPr>
          <a:xfrm>
            <a:off x="590400" y="303840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4" name=""/>
          <p:cNvSpPr/>
          <p:nvPr/>
        </p:nvSpPr>
        <p:spPr>
          <a:xfrm>
            <a:off x="1828440" y="3038400"/>
            <a:ext cx="9773280" cy="9720"/>
          </a:xfrm>
          <a:custGeom>
            <a:avLst/>
            <a:gdLst/>
            <a:ahLst/>
            <a:rect l="0" t="0" r="r" b="b"/>
            <a:pathLst>
              <a:path w="27148" h="27">
                <a:moveTo>
                  <a:pt x="0" y="0"/>
                </a:moveTo>
                <a:lnTo>
                  <a:pt x="27148" y="0"/>
                </a:lnTo>
                <a:lnTo>
                  <a:pt x="271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5" name=""/>
          <p:cNvSpPr/>
          <p:nvPr/>
        </p:nvSpPr>
        <p:spPr>
          <a:xfrm>
            <a:off x="590400" y="30477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6" name=""/>
          <p:cNvSpPr/>
          <p:nvPr/>
        </p:nvSpPr>
        <p:spPr>
          <a:xfrm>
            <a:off x="1819080" y="30477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7" name=""/>
          <p:cNvSpPr/>
          <p:nvPr/>
        </p:nvSpPr>
        <p:spPr>
          <a:xfrm>
            <a:off x="11591640" y="304776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8" name=""/>
          <p:cNvSpPr/>
          <p:nvPr/>
        </p:nvSpPr>
        <p:spPr>
          <a:xfrm>
            <a:off x="590400" y="3514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09" name=""/>
          <p:cNvSpPr/>
          <p:nvPr/>
        </p:nvSpPr>
        <p:spPr>
          <a:xfrm>
            <a:off x="590400" y="3504960"/>
            <a:ext cx="1238400" cy="10440"/>
          </a:xfrm>
          <a:custGeom>
            <a:avLst/>
            <a:gdLst/>
            <a:ahLst/>
            <a:rect l="0" t="0" r="r" b="b"/>
            <a:pathLst>
              <a:path w="3440" h="29">
                <a:moveTo>
                  <a:pt x="0" y="0"/>
                </a:moveTo>
                <a:lnTo>
                  <a:pt x="3440" y="0"/>
                </a:lnTo>
                <a:lnTo>
                  <a:pt x="344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0" name=""/>
          <p:cNvSpPr/>
          <p:nvPr/>
        </p:nvSpPr>
        <p:spPr>
          <a:xfrm>
            <a:off x="1819080" y="35146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1" name=""/>
          <p:cNvSpPr/>
          <p:nvPr/>
        </p:nvSpPr>
        <p:spPr>
          <a:xfrm>
            <a:off x="1828440" y="3504960"/>
            <a:ext cx="9773280" cy="10440"/>
          </a:xfrm>
          <a:custGeom>
            <a:avLst/>
            <a:gdLst/>
            <a:ahLst/>
            <a:rect l="0" t="0" r="r" b="b"/>
            <a:pathLst>
              <a:path w="27148" h="29">
                <a:moveTo>
                  <a:pt x="0" y="0"/>
                </a:moveTo>
                <a:lnTo>
                  <a:pt x="27148" y="0"/>
                </a:lnTo>
                <a:lnTo>
                  <a:pt x="2714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2" name=""/>
          <p:cNvSpPr/>
          <p:nvPr/>
        </p:nvSpPr>
        <p:spPr>
          <a:xfrm>
            <a:off x="11591640" y="351468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3" name=""/>
          <p:cNvSpPr/>
          <p:nvPr/>
        </p:nvSpPr>
        <p:spPr>
          <a:xfrm>
            <a:off x="590400" y="397188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4" name=""/>
          <p:cNvSpPr/>
          <p:nvPr/>
        </p:nvSpPr>
        <p:spPr>
          <a:xfrm>
            <a:off x="1828440" y="3971880"/>
            <a:ext cx="9773280" cy="9720"/>
          </a:xfrm>
          <a:custGeom>
            <a:avLst/>
            <a:gdLst/>
            <a:ahLst/>
            <a:rect l="0" t="0" r="r" b="b"/>
            <a:pathLst>
              <a:path w="27148" h="27">
                <a:moveTo>
                  <a:pt x="0" y="0"/>
                </a:moveTo>
                <a:lnTo>
                  <a:pt x="27148" y="0"/>
                </a:lnTo>
                <a:lnTo>
                  <a:pt x="271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590400" y="1805400"/>
            <a:ext cx="789291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今回は、指示の冒頭だけを変えて比較する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723960" y="2694600"/>
            <a:ext cx="52660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条件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1954080" y="2694600"/>
            <a:ext cx="210394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モデルに渡す指示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723960" y="3161160"/>
            <a:ext cx="7894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変更前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1954080" y="3161160"/>
            <a:ext cx="758158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整数リスト</a:t>
            </a:r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から偶数だけを残す</a:t>
            </a:r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solve</a:t>
            </a:r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関数を書いてください。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723960" y="3627720"/>
            <a:ext cx="7894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変更後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1954080" y="3627720"/>
            <a:ext cx="837025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整数リスト</a:t>
            </a:r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に対して、偶数だけを残す</a:t>
            </a:r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solve</a:t>
            </a:r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関数を書いてください。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590400" y="4231440"/>
            <a:ext cx="8406684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後半の操作の指示をそろえ、冒頭だけが異なる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を比較。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590400" y="4783680"/>
            <a:ext cx="888651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同じモデルを使い、追加学習せず、同じ入力でコードを検査する。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8" name=""/>
          <p:cNvSpPr/>
          <p:nvPr/>
        </p:nvSpPr>
        <p:spPr>
          <a:xfrm>
            <a:off x="599760" y="2838240"/>
            <a:ext cx="3582000" cy="486000"/>
          </a:xfrm>
          <a:custGeom>
            <a:avLst/>
            <a:gdLst/>
            <a:ahLst/>
            <a:rect l="0" t="0" r="r" b="b"/>
            <a:pathLst>
              <a:path w="9950" h="1350">
                <a:moveTo>
                  <a:pt x="0" y="0"/>
                </a:moveTo>
                <a:lnTo>
                  <a:pt x="9950" y="0"/>
                </a:lnTo>
                <a:lnTo>
                  <a:pt x="9950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29" name=""/>
          <p:cNvSpPr/>
          <p:nvPr/>
        </p:nvSpPr>
        <p:spPr>
          <a:xfrm>
            <a:off x="4181400" y="2838240"/>
            <a:ext cx="4658040" cy="486000"/>
          </a:xfrm>
          <a:custGeom>
            <a:avLst/>
            <a:gdLst/>
            <a:ahLst/>
            <a:rect l="0" t="0" r="r" b="b"/>
            <a:pathLst>
              <a:path w="12939" h="1350">
                <a:moveTo>
                  <a:pt x="0" y="0"/>
                </a:moveTo>
                <a:lnTo>
                  <a:pt x="12939" y="0"/>
                </a:lnTo>
                <a:lnTo>
                  <a:pt x="1293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0" name=""/>
          <p:cNvSpPr/>
          <p:nvPr/>
        </p:nvSpPr>
        <p:spPr>
          <a:xfrm>
            <a:off x="8839080" y="2838240"/>
            <a:ext cx="2762640" cy="486000"/>
          </a:xfrm>
          <a:custGeom>
            <a:avLst/>
            <a:gdLst/>
            <a:ahLst/>
            <a:rect l="0" t="0" r="r" b="b"/>
            <a:pathLst>
              <a:path w="7674" h="1350">
                <a:moveTo>
                  <a:pt x="0" y="0"/>
                </a:moveTo>
                <a:lnTo>
                  <a:pt x="7674" y="0"/>
                </a:lnTo>
                <a:lnTo>
                  <a:pt x="767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1" name=""/>
          <p:cNvSpPr/>
          <p:nvPr/>
        </p:nvSpPr>
        <p:spPr>
          <a:xfrm>
            <a:off x="599760" y="2838240"/>
            <a:ext cx="3582000" cy="486000"/>
          </a:xfrm>
          <a:custGeom>
            <a:avLst/>
            <a:gdLst/>
            <a:ahLst/>
            <a:rect l="0" t="0" r="r" b="b"/>
            <a:pathLst>
              <a:path w="9950" h="1350">
                <a:moveTo>
                  <a:pt x="0" y="0"/>
                </a:moveTo>
                <a:lnTo>
                  <a:pt x="9950" y="0"/>
                </a:lnTo>
                <a:lnTo>
                  <a:pt x="9950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2" name=""/>
          <p:cNvSpPr/>
          <p:nvPr/>
        </p:nvSpPr>
        <p:spPr>
          <a:xfrm>
            <a:off x="4181400" y="2838240"/>
            <a:ext cx="4658040" cy="486000"/>
          </a:xfrm>
          <a:custGeom>
            <a:avLst/>
            <a:gdLst/>
            <a:ahLst/>
            <a:rect l="0" t="0" r="r" b="b"/>
            <a:pathLst>
              <a:path w="12939" h="1350">
                <a:moveTo>
                  <a:pt x="0" y="0"/>
                </a:moveTo>
                <a:lnTo>
                  <a:pt x="12939" y="0"/>
                </a:lnTo>
                <a:lnTo>
                  <a:pt x="12939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3" name=""/>
          <p:cNvSpPr/>
          <p:nvPr/>
        </p:nvSpPr>
        <p:spPr>
          <a:xfrm>
            <a:off x="8839080" y="2838240"/>
            <a:ext cx="2762640" cy="486000"/>
          </a:xfrm>
          <a:custGeom>
            <a:avLst/>
            <a:gdLst/>
            <a:ahLst/>
            <a:rect l="0" t="0" r="r" b="b"/>
            <a:pathLst>
              <a:path w="7674" h="1350">
                <a:moveTo>
                  <a:pt x="0" y="0"/>
                </a:moveTo>
                <a:lnTo>
                  <a:pt x="7674" y="0"/>
                </a:lnTo>
                <a:lnTo>
                  <a:pt x="767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4" name=""/>
          <p:cNvSpPr/>
          <p:nvPr/>
        </p:nvSpPr>
        <p:spPr>
          <a:xfrm>
            <a:off x="599760" y="3323880"/>
            <a:ext cx="3582000" cy="476640"/>
          </a:xfrm>
          <a:custGeom>
            <a:avLst/>
            <a:gdLst/>
            <a:ahLst/>
            <a:rect l="0" t="0" r="r" b="b"/>
            <a:pathLst>
              <a:path w="9950" h="1324">
                <a:moveTo>
                  <a:pt x="0" y="0"/>
                </a:moveTo>
                <a:lnTo>
                  <a:pt x="9950" y="0"/>
                </a:lnTo>
                <a:lnTo>
                  <a:pt x="9950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5" name=""/>
          <p:cNvSpPr/>
          <p:nvPr/>
        </p:nvSpPr>
        <p:spPr>
          <a:xfrm>
            <a:off x="4181400" y="3323880"/>
            <a:ext cx="4658040" cy="476640"/>
          </a:xfrm>
          <a:custGeom>
            <a:avLst/>
            <a:gdLst/>
            <a:ahLst/>
            <a:rect l="0" t="0" r="r" b="b"/>
            <a:pathLst>
              <a:path w="12939" h="1324">
                <a:moveTo>
                  <a:pt x="0" y="0"/>
                </a:moveTo>
                <a:lnTo>
                  <a:pt x="12939" y="0"/>
                </a:lnTo>
                <a:lnTo>
                  <a:pt x="12939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6" name=""/>
          <p:cNvSpPr/>
          <p:nvPr/>
        </p:nvSpPr>
        <p:spPr>
          <a:xfrm>
            <a:off x="8839080" y="3323880"/>
            <a:ext cx="2762640" cy="476640"/>
          </a:xfrm>
          <a:custGeom>
            <a:avLst/>
            <a:gdLst/>
            <a:ahLst/>
            <a:rect l="0" t="0" r="r" b="b"/>
            <a:pathLst>
              <a:path w="7674" h="1324">
                <a:moveTo>
                  <a:pt x="0" y="0"/>
                </a:moveTo>
                <a:lnTo>
                  <a:pt x="7674" y="0"/>
                </a:lnTo>
                <a:lnTo>
                  <a:pt x="767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7" name=""/>
          <p:cNvSpPr/>
          <p:nvPr/>
        </p:nvSpPr>
        <p:spPr>
          <a:xfrm>
            <a:off x="599760" y="3800160"/>
            <a:ext cx="3582000" cy="486360"/>
          </a:xfrm>
          <a:custGeom>
            <a:avLst/>
            <a:gdLst/>
            <a:ahLst/>
            <a:rect l="0" t="0" r="r" b="b"/>
            <a:pathLst>
              <a:path w="9950" h="1351">
                <a:moveTo>
                  <a:pt x="0" y="0"/>
                </a:moveTo>
                <a:lnTo>
                  <a:pt x="9950" y="0"/>
                </a:lnTo>
                <a:lnTo>
                  <a:pt x="9950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8" name=""/>
          <p:cNvSpPr/>
          <p:nvPr/>
        </p:nvSpPr>
        <p:spPr>
          <a:xfrm>
            <a:off x="4181400" y="3800160"/>
            <a:ext cx="4658040" cy="486360"/>
          </a:xfrm>
          <a:custGeom>
            <a:avLst/>
            <a:gdLst/>
            <a:ahLst/>
            <a:rect l="0" t="0" r="r" b="b"/>
            <a:pathLst>
              <a:path w="12939" h="1351">
                <a:moveTo>
                  <a:pt x="0" y="0"/>
                </a:moveTo>
                <a:lnTo>
                  <a:pt x="12939" y="0"/>
                </a:lnTo>
                <a:lnTo>
                  <a:pt x="12939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39" name=""/>
          <p:cNvSpPr/>
          <p:nvPr/>
        </p:nvSpPr>
        <p:spPr>
          <a:xfrm>
            <a:off x="8839080" y="3800160"/>
            <a:ext cx="2762640" cy="486360"/>
          </a:xfrm>
          <a:custGeom>
            <a:avLst/>
            <a:gdLst/>
            <a:ahLst/>
            <a:rect l="0" t="0" r="r" b="b"/>
            <a:pathLst>
              <a:path w="7674" h="1351">
                <a:moveTo>
                  <a:pt x="0" y="0"/>
                </a:moveTo>
                <a:lnTo>
                  <a:pt x="7674" y="0"/>
                </a:lnTo>
                <a:lnTo>
                  <a:pt x="767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0" name=""/>
          <p:cNvSpPr/>
          <p:nvPr/>
        </p:nvSpPr>
        <p:spPr>
          <a:xfrm>
            <a:off x="590400" y="28382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1" name=""/>
          <p:cNvSpPr/>
          <p:nvPr/>
        </p:nvSpPr>
        <p:spPr>
          <a:xfrm>
            <a:off x="590400" y="2838240"/>
            <a:ext cx="3591360" cy="10080"/>
          </a:xfrm>
          <a:custGeom>
            <a:avLst/>
            <a:gdLst/>
            <a:ahLst/>
            <a:rect l="0" t="0" r="r" b="b"/>
            <a:pathLst>
              <a:path w="9976" h="28">
                <a:moveTo>
                  <a:pt x="0" y="0"/>
                </a:moveTo>
                <a:lnTo>
                  <a:pt x="9976" y="0"/>
                </a:lnTo>
                <a:lnTo>
                  <a:pt x="9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2" name=""/>
          <p:cNvSpPr/>
          <p:nvPr/>
        </p:nvSpPr>
        <p:spPr>
          <a:xfrm>
            <a:off x="4171680" y="28382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3" name=""/>
          <p:cNvSpPr/>
          <p:nvPr/>
        </p:nvSpPr>
        <p:spPr>
          <a:xfrm>
            <a:off x="4181400" y="2838240"/>
            <a:ext cx="4667400" cy="10080"/>
          </a:xfrm>
          <a:custGeom>
            <a:avLst/>
            <a:gdLst/>
            <a:ahLst/>
            <a:rect l="0" t="0" r="r" b="b"/>
            <a:pathLst>
              <a:path w="12965" h="28">
                <a:moveTo>
                  <a:pt x="0" y="0"/>
                </a:moveTo>
                <a:lnTo>
                  <a:pt x="12965" y="0"/>
                </a:lnTo>
                <a:lnTo>
                  <a:pt x="1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4" name=""/>
          <p:cNvSpPr/>
          <p:nvPr/>
        </p:nvSpPr>
        <p:spPr>
          <a:xfrm>
            <a:off x="8839080" y="283824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5" name=""/>
          <p:cNvSpPr/>
          <p:nvPr/>
        </p:nvSpPr>
        <p:spPr>
          <a:xfrm>
            <a:off x="8848440" y="283824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6" name=""/>
          <p:cNvSpPr/>
          <p:nvPr/>
        </p:nvSpPr>
        <p:spPr>
          <a:xfrm>
            <a:off x="11591640" y="283824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7" name=""/>
          <p:cNvSpPr/>
          <p:nvPr/>
        </p:nvSpPr>
        <p:spPr>
          <a:xfrm>
            <a:off x="590400" y="3314520"/>
            <a:ext cx="3591360" cy="9720"/>
          </a:xfrm>
          <a:custGeom>
            <a:avLst/>
            <a:gdLst/>
            <a:ahLst/>
            <a:rect l="0" t="0" r="r" b="b"/>
            <a:pathLst>
              <a:path w="9976" h="27">
                <a:moveTo>
                  <a:pt x="0" y="0"/>
                </a:moveTo>
                <a:lnTo>
                  <a:pt x="9976" y="0"/>
                </a:lnTo>
                <a:lnTo>
                  <a:pt x="99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8" name=""/>
          <p:cNvSpPr/>
          <p:nvPr/>
        </p:nvSpPr>
        <p:spPr>
          <a:xfrm>
            <a:off x="4181400" y="3314520"/>
            <a:ext cx="4667400" cy="9720"/>
          </a:xfrm>
          <a:custGeom>
            <a:avLst/>
            <a:gdLst/>
            <a:ahLst/>
            <a:rect l="0" t="0" r="r" b="b"/>
            <a:pathLst>
              <a:path w="12965" h="27">
                <a:moveTo>
                  <a:pt x="0" y="0"/>
                </a:moveTo>
                <a:lnTo>
                  <a:pt x="12965" y="0"/>
                </a:lnTo>
                <a:lnTo>
                  <a:pt x="129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49" name=""/>
          <p:cNvSpPr/>
          <p:nvPr/>
        </p:nvSpPr>
        <p:spPr>
          <a:xfrm>
            <a:off x="8848440" y="3314520"/>
            <a:ext cx="2753280" cy="9720"/>
          </a:xfrm>
          <a:custGeom>
            <a:avLst/>
            <a:gdLst/>
            <a:ahLst/>
            <a:rect l="0" t="0" r="r" b="b"/>
            <a:pathLst>
              <a:path w="7648" h="27">
                <a:moveTo>
                  <a:pt x="0" y="0"/>
                </a:moveTo>
                <a:lnTo>
                  <a:pt x="7648" y="0"/>
                </a:lnTo>
                <a:lnTo>
                  <a:pt x="76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0" name=""/>
          <p:cNvSpPr/>
          <p:nvPr/>
        </p:nvSpPr>
        <p:spPr>
          <a:xfrm>
            <a:off x="590400" y="33238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1" name=""/>
          <p:cNvSpPr/>
          <p:nvPr/>
        </p:nvSpPr>
        <p:spPr>
          <a:xfrm>
            <a:off x="4171680" y="33238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2" name=""/>
          <p:cNvSpPr/>
          <p:nvPr/>
        </p:nvSpPr>
        <p:spPr>
          <a:xfrm>
            <a:off x="8839080" y="3323880"/>
            <a:ext cx="9720" cy="486360"/>
          </a:xfrm>
          <a:custGeom>
            <a:avLst/>
            <a:gdLst/>
            <a:ahLst/>
            <a:rect l="0" t="0" r="r" b="b"/>
            <a:pathLst>
              <a:path w="27" h="1351">
                <a:moveTo>
                  <a:pt x="0" y="0"/>
                </a:moveTo>
                <a:lnTo>
                  <a:pt x="27" y="0"/>
                </a:lnTo>
                <a:lnTo>
                  <a:pt x="27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3" name=""/>
          <p:cNvSpPr/>
          <p:nvPr/>
        </p:nvSpPr>
        <p:spPr>
          <a:xfrm>
            <a:off x="11591640" y="3323880"/>
            <a:ext cx="10080" cy="486360"/>
          </a:xfrm>
          <a:custGeom>
            <a:avLst/>
            <a:gdLst/>
            <a:ahLst/>
            <a:rect l="0" t="0" r="r" b="b"/>
            <a:pathLst>
              <a:path w="28" h="1351">
                <a:moveTo>
                  <a:pt x="0" y="0"/>
                </a:moveTo>
                <a:lnTo>
                  <a:pt x="28" y="0"/>
                </a:lnTo>
                <a:lnTo>
                  <a:pt x="2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4" name=""/>
          <p:cNvSpPr/>
          <p:nvPr/>
        </p:nvSpPr>
        <p:spPr>
          <a:xfrm>
            <a:off x="590400" y="38098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5" name=""/>
          <p:cNvSpPr/>
          <p:nvPr/>
        </p:nvSpPr>
        <p:spPr>
          <a:xfrm>
            <a:off x="590400" y="3800160"/>
            <a:ext cx="3591360" cy="10080"/>
          </a:xfrm>
          <a:custGeom>
            <a:avLst/>
            <a:gdLst/>
            <a:ahLst/>
            <a:rect l="0" t="0" r="r" b="b"/>
            <a:pathLst>
              <a:path w="9976" h="28">
                <a:moveTo>
                  <a:pt x="0" y="0"/>
                </a:moveTo>
                <a:lnTo>
                  <a:pt x="9976" y="0"/>
                </a:lnTo>
                <a:lnTo>
                  <a:pt x="9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6" name=""/>
          <p:cNvSpPr/>
          <p:nvPr/>
        </p:nvSpPr>
        <p:spPr>
          <a:xfrm>
            <a:off x="4171680" y="3809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7" name=""/>
          <p:cNvSpPr/>
          <p:nvPr/>
        </p:nvSpPr>
        <p:spPr>
          <a:xfrm>
            <a:off x="4181400" y="3800160"/>
            <a:ext cx="4667400" cy="10080"/>
          </a:xfrm>
          <a:custGeom>
            <a:avLst/>
            <a:gdLst/>
            <a:ahLst/>
            <a:rect l="0" t="0" r="r" b="b"/>
            <a:pathLst>
              <a:path w="12965" h="28">
                <a:moveTo>
                  <a:pt x="0" y="0"/>
                </a:moveTo>
                <a:lnTo>
                  <a:pt x="12965" y="0"/>
                </a:lnTo>
                <a:lnTo>
                  <a:pt x="1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8" name=""/>
          <p:cNvSpPr/>
          <p:nvPr/>
        </p:nvSpPr>
        <p:spPr>
          <a:xfrm>
            <a:off x="8839080" y="380988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59" name=""/>
          <p:cNvSpPr/>
          <p:nvPr/>
        </p:nvSpPr>
        <p:spPr>
          <a:xfrm>
            <a:off x="8848440" y="380016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0" name=""/>
          <p:cNvSpPr/>
          <p:nvPr/>
        </p:nvSpPr>
        <p:spPr>
          <a:xfrm>
            <a:off x="11591640" y="380988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1" name=""/>
          <p:cNvSpPr/>
          <p:nvPr/>
        </p:nvSpPr>
        <p:spPr>
          <a:xfrm>
            <a:off x="590400" y="4276440"/>
            <a:ext cx="3591360" cy="10080"/>
          </a:xfrm>
          <a:custGeom>
            <a:avLst/>
            <a:gdLst/>
            <a:ahLst/>
            <a:rect l="0" t="0" r="r" b="b"/>
            <a:pathLst>
              <a:path w="9976" h="28">
                <a:moveTo>
                  <a:pt x="0" y="0"/>
                </a:moveTo>
                <a:lnTo>
                  <a:pt x="9976" y="0"/>
                </a:lnTo>
                <a:lnTo>
                  <a:pt x="99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2" name=""/>
          <p:cNvSpPr/>
          <p:nvPr/>
        </p:nvSpPr>
        <p:spPr>
          <a:xfrm>
            <a:off x="4181400" y="4276440"/>
            <a:ext cx="4667400" cy="10080"/>
          </a:xfrm>
          <a:custGeom>
            <a:avLst/>
            <a:gdLst/>
            <a:ahLst/>
            <a:rect l="0" t="0" r="r" b="b"/>
            <a:pathLst>
              <a:path w="12965" h="28">
                <a:moveTo>
                  <a:pt x="0" y="0"/>
                </a:moveTo>
                <a:lnTo>
                  <a:pt x="12965" y="0"/>
                </a:lnTo>
                <a:lnTo>
                  <a:pt x="1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3" name=""/>
          <p:cNvSpPr/>
          <p:nvPr/>
        </p:nvSpPr>
        <p:spPr>
          <a:xfrm>
            <a:off x="8848440" y="427644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590400" y="1500840"/>
            <a:ext cx="819637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モデルでは、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12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件の合格が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件に減った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590400" y="2316960"/>
            <a:ext cx="6004656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・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。比較した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操作の合格数。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723960" y="2962440"/>
            <a:ext cx="136785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指示の冒頭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4307400" y="2962440"/>
            <a:ext cx="191475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合格数を表す図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8968680" y="2962440"/>
            <a:ext cx="191475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合格数・合格率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723960" y="3438360"/>
            <a:ext cx="220827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整数リスト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から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4307400" y="3438360"/>
            <a:ext cx="382867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■■■■■■■■■■■■□□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8968680" y="3438360"/>
            <a:ext cx="223394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12 / 14</a:t>
            </a:r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・</a:t>
            </a:r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85.7%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723960" y="3924360"/>
            <a:ext cx="302841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整数リスト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に対して、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4307400" y="3924360"/>
            <a:ext cx="382867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■□□□□□□□□□□□□□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8968680" y="3924360"/>
            <a:ext cx="185679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 / 14</a:t>
            </a:r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・</a:t>
            </a:r>
            <a:r>
              <a:rPr lang="en-US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7.1%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590400" y="4536360"/>
            <a:ext cx="779479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■は合格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件、□は不合格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件。左から合格数を並べた図。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590400" y="5098320"/>
            <a:ext cx="7998066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冒頭を変えただけで、ほとんど正しく生成できなくなった。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1" name=""/>
          <p:cNvSpPr/>
          <p:nvPr/>
        </p:nvSpPr>
        <p:spPr>
          <a:xfrm>
            <a:off x="599760" y="2904840"/>
            <a:ext cx="1800720" cy="467280"/>
          </a:xfrm>
          <a:custGeom>
            <a:avLst/>
            <a:gdLst/>
            <a:ahLst/>
            <a:rect l="0" t="0" r="r" b="b"/>
            <a:pathLst>
              <a:path w="5002" h="1298">
                <a:moveTo>
                  <a:pt x="0" y="0"/>
                </a:moveTo>
                <a:lnTo>
                  <a:pt x="5002" y="0"/>
                </a:lnTo>
                <a:lnTo>
                  <a:pt x="500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2" name=""/>
          <p:cNvSpPr/>
          <p:nvPr/>
        </p:nvSpPr>
        <p:spPr>
          <a:xfrm>
            <a:off x="2400120" y="2904840"/>
            <a:ext cx="3667320" cy="467280"/>
          </a:xfrm>
          <a:custGeom>
            <a:avLst/>
            <a:gdLst/>
            <a:ahLst/>
            <a:rect l="0" t="0" r="r" b="b"/>
            <a:pathLst>
              <a:path w="10187" h="1298">
                <a:moveTo>
                  <a:pt x="0" y="0"/>
                </a:moveTo>
                <a:lnTo>
                  <a:pt x="10187" y="0"/>
                </a:lnTo>
                <a:lnTo>
                  <a:pt x="1018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3" name=""/>
          <p:cNvSpPr/>
          <p:nvPr/>
        </p:nvSpPr>
        <p:spPr>
          <a:xfrm>
            <a:off x="6067080" y="2904840"/>
            <a:ext cx="5534640" cy="467280"/>
          </a:xfrm>
          <a:custGeom>
            <a:avLst/>
            <a:gdLst/>
            <a:ahLst/>
            <a:rect l="0" t="0" r="r" b="b"/>
            <a:pathLst>
              <a:path w="15374" h="1298">
                <a:moveTo>
                  <a:pt x="0" y="0"/>
                </a:moveTo>
                <a:lnTo>
                  <a:pt x="15374" y="0"/>
                </a:lnTo>
                <a:lnTo>
                  <a:pt x="1537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4" name=""/>
          <p:cNvSpPr/>
          <p:nvPr/>
        </p:nvSpPr>
        <p:spPr>
          <a:xfrm>
            <a:off x="599760" y="2904840"/>
            <a:ext cx="1800720" cy="467280"/>
          </a:xfrm>
          <a:custGeom>
            <a:avLst/>
            <a:gdLst/>
            <a:ahLst/>
            <a:rect l="0" t="0" r="r" b="b"/>
            <a:pathLst>
              <a:path w="5002" h="1298">
                <a:moveTo>
                  <a:pt x="0" y="0"/>
                </a:moveTo>
                <a:lnTo>
                  <a:pt x="5002" y="0"/>
                </a:lnTo>
                <a:lnTo>
                  <a:pt x="500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5" name=""/>
          <p:cNvSpPr/>
          <p:nvPr/>
        </p:nvSpPr>
        <p:spPr>
          <a:xfrm>
            <a:off x="2400120" y="2904840"/>
            <a:ext cx="3667320" cy="467280"/>
          </a:xfrm>
          <a:custGeom>
            <a:avLst/>
            <a:gdLst/>
            <a:ahLst/>
            <a:rect l="0" t="0" r="r" b="b"/>
            <a:pathLst>
              <a:path w="10187" h="1298">
                <a:moveTo>
                  <a:pt x="0" y="0"/>
                </a:moveTo>
                <a:lnTo>
                  <a:pt x="10187" y="0"/>
                </a:lnTo>
                <a:lnTo>
                  <a:pt x="1018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6" name=""/>
          <p:cNvSpPr/>
          <p:nvPr/>
        </p:nvSpPr>
        <p:spPr>
          <a:xfrm>
            <a:off x="6067080" y="2904840"/>
            <a:ext cx="5534640" cy="467280"/>
          </a:xfrm>
          <a:custGeom>
            <a:avLst/>
            <a:gdLst/>
            <a:ahLst/>
            <a:rect l="0" t="0" r="r" b="b"/>
            <a:pathLst>
              <a:path w="15374" h="1298">
                <a:moveTo>
                  <a:pt x="0" y="0"/>
                </a:moveTo>
                <a:lnTo>
                  <a:pt x="15374" y="0"/>
                </a:lnTo>
                <a:lnTo>
                  <a:pt x="1537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7" name=""/>
          <p:cNvSpPr/>
          <p:nvPr/>
        </p:nvSpPr>
        <p:spPr>
          <a:xfrm>
            <a:off x="599760" y="3371760"/>
            <a:ext cx="1800720" cy="466920"/>
          </a:xfrm>
          <a:custGeom>
            <a:avLst/>
            <a:gdLst/>
            <a:ahLst/>
            <a:rect l="0" t="0" r="r" b="b"/>
            <a:pathLst>
              <a:path w="5002" h="1297">
                <a:moveTo>
                  <a:pt x="0" y="0"/>
                </a:moveTo>
                <a:lnTo>
                  <a:pt x="5002" y="0"/>
                </a:lnTo>
                <a:lnTo>
                  <a:pt x="500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8" name=""/>
          <p:cNvSpPr/>
          <p:nvPr/>
        </p:nvSpPr>
        <p:spPr>
          <a:xfrm>
            <a:off x="2400120" y="3371760"/>
            <a:ext cx="3667320" cy="466920"/>
          </a:xfrm>
          <a:custGeom>
            <a:avLst/>
            <a:gdLst/>
            <a:ahLst/>
            <a:rect l="0" t="0" r="r" b="b"/>
            <a:pathLst>
              <a:path w="10187" h="1297">
                <a:moveTo>
                  <a:pt x="0" y="0"/>
                </a:moveTo>
                <a:lnTo>
                  <a:pt x="10187" y="0"/>
                </a:lnTo>
                <a:lnTo>
                  <a:pt x="1018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89" name=""/>
          <p:cNvSpPr/>
          <p:nvPr/>
        </p:nvSpPr>
        <p:spPr>
          <a:xfrm>
            <a:off x="6067080" y="3371760"/>
            <a:ext cx="5534640" cy="466920"/>
          </a:xfrm>
          <a:custGeom>
            <a:avLst/>
            <a:gdLst/>
            <a:ahLst/>
            <a:rect l="0" t="0" r="r" b="b"/>
            <a:pathLst>
              <a:path w="15374" h="1297">
                <a:moveTo>
                  <a:pt x="0" y="0"/>
                </a:moveTo>
                <a:lnTo>
                  <a:pt x="15374" y="0"/>
                </a:lnTo>
                <a:lnTo>
                  <a:pt x="1537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0" name=""/>
          <p:cNvSpPr/>
          <p:nvPr/>
        </p:nvSpPr>
        <p:spPr>
          <a:xfrm>
            <a:off x="599760" y="3838320"/>
            <a:ext cx="1800720" cy="467280"/>
          </a:xfrm>
          <a:custGeom>
            <a:avLst/>
            <a:gdLst/>
            <a:ahLst/>
            <a:rect l="0" t="0" r="r" b="b"/>
            <a:pathLst>
              <a:path w="5002" h="1298">
                <a:moveTo>
                  <a:pt x="0" y="0"/>
                </a:moveTo>
                <a:lnTo>
                  <a:pt x="5002" y="0"/>
                </a:lnTo>
                <a:lnTo>
                  <a:pt x="500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1" name=""/>
          <p:cNvSpPr/>
          <p:nvPr/>
        </p:nvSpPr>
        <p:spPr>
          <a:xfrm>
            <a:off x="2400120" y="3838320"/>
            <a:ext cx="3667320" cy="467280"/>
          </a:xfrm>
          <a:custGeom>
            <a:avLst/>
            <a:gdLst/>
            <a:ahLst/>
            <a:rect l="0" t="0" r="r" b="b"/>
            <a:pathLst>
              <a:path w="10187" h="1298">
                <a:moveTo>
                  <a:pt x="0" y="0"/>
                </a:moveTo>
                <a:lnTo>
                  <a:pt x="10187" y="0"/>
                </a:lnTo>
                <a:lnTo>
                  <a:pt x="1018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2" name=""/>
          <p:cNvSpPr/>
          <p:nvPr/>
        </p:nvSpPr>
        <p:spPr>
          <a:xfrm>
            <a:off x="6067080" y="3838320"/>
            <a:ext cx="5534640" cy="467280"/>
          </a:xfrm>
          <a:custGeom>
            <a:avLst/>
            <a:gdLst/>
            <a:ahLst/>
            <a:rect l="0" t="0" r="r" b="b"/>
            <a:pathLst>
              <a:path w="15374" h="1298">
                <a:moveTo>
                  <a:pt x="0" y="0"/>
                </a:moveTo>
                <a:lnTo>
                  <a:pt x="15374" y="0"/>
                </a:lnTo>
                <a:lnTo>
                  <a:pt x="1537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3" name=""/>
          <p:cNvSpPr/>
          <p:nvPr/>
        </p:nvSpPr>
        <p:spPr>
          <a:xfrm>
            <a:off x="599760" y="4305240"/>
            <a:ext cx="1800720" cy="466920"/>
          </a:xfrm>
          <a:custGeom>
            <a:avLst/>
            <a:gdLst/>
            <a:ahLst/>
            <a:rect l="0" t="0" r="r" b="b"/>
            <a:pathLst>
              <a:path w="5002" h="1297">
                <a:moveTo>
                  <a:pt x="0" y="0"/>
                </a:moveTo>
                <a:lnTo>
                  <a:pt x="5002" y="0"/>
                </a:lnTo>
                <a:lnTo>
                  <a:pt x="500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4" name=""/>
          <p:cNvSpPr/>
          <p:nvPr/>
        </p:nvSpPr>
        <p:spPr>
          <a:xfrm>
            <a:off x="2400120" y="4305240"/>
            <a:ext cx="3667320" cy="466920"/>
          </a:xfrm>
          <a:custGeom>
            <a:avLst/>
            <a:gdLst/>
            <a:ahLst/>
            <a:rect l="0" t="0" r="r" b="b"/>
            <a:pathLst>
              <a:path w="10187" h="1297">
                <a:moveTo>
                  <a:pt x="0" y="0"/>
                </a:moveTo>
                <a:lnTo>
                  <a:pt x="10187" y="0"/>
                </a:lnTo>
                <a:lnTo>
                  <a:pt x="1018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5" name=""/>
          <p:cNvSpPr/>
          <p:nvPr/>
        </p:nvSpPr>
        <p:spPr>
          <a:xfrm>
            <a:off x="6067080" y="4305240"/>
            <a:ext cx="5534640" cy="466920"/>
          </a:xfrm>
          <a:custGeom>
            <a:avLst/>
            <a:gdLst/>
            <a:ahLst/>
            <a:rect l="0" t="0" r="r" b="b"/>
            <a:pathLst>
              <a:path w="15374" h="1297">
                <a:moveTo>
                  <a:pt x="0" y="0"/>
                </a:moveTo>
                <a:lnTo>
                  <a:pt x="15374" y="0"/>
                </a:lnTo>
                <a:lnTo>
                  <a:pt x="1537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6" name=""/>
          <p:cNvSpPr/>
          <p:nvPr/>
        </p:nvSpPr>
        <p:spPr>
          <a:xfrm>
            <a:off x="590400" y="29048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7" name=""/>
          <p:cNvSpPr/>
          <p:nvPr/>
        </p:nvSpPr>
        <p:spPr>
          <a:xfrm>
            <a:off x="590400" y="290484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8" name=""/>
          <p:cNvSpPr/>
          <p:nvPr/>
        </p:nvSpPr>
        <p:spPr>
          <a:xfrm>
            <a:off x="2390760" y="29048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099" name=""/>
          <p:cNvSpPr/>
          <p:nvPr/>
        </p:nvSpPr>
        <p:spPr>
          <a:xfrm>
            <a:off x="2400120" y="290484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0" name=""/>
          <p:cNvSpPr/>
          <p:nvPr/>
        </p:nvSpPr>
        <p:spPr>
          <a:xfrm>
            <a:off x="6067080" y="29048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1" name=""/>
          <p:cNvSpPr/>
          <p:nvPr/>
        </p:nvSpPr>
        <p:spPr>
          <a:xfrm>
            <a:off x="6076800" y="2904840"/>
            <a:ext cx="5524920" cy="10080"/>
          </a:xfrm>
          <a:custGeom>
            <a:avLst/>
            <a:gdLst/>
            <a:ahLst/>
            <a:rect l="0" t="0" r="r" b="b"/>
            <a:pathLst>
              <a:path w="15347" h="28">
                <a:moveTo>
                  <a:pt x="0" y="0"/>
                </a:moveTo>
                <a:lnTo>
                  <a:pt x="15347" y="0"/>
                </a:lnTo>
                <a:lnTo>
                  <a:pt x="153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2" name=""/>
          <p:cNvSpPr/>
          <p:nvPr/>
        </p:nvSpPr>
        <p:spPr>
          <a:xfrm>
            <a:off x="11591640" y="29048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3" name=""/>
          <p:cNvSpPr/>
          <p:nvPr/>
        </p:nvSpPr>
        <p:spPr>
          <a:xfrm>
            <a:off x="590400" y="33717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4" name=""/>
          <p:cNvSpPr/>
          <p:nvPr/>
        </p:nvSpPr>
        <p:spPr>
          <a:xfrm>
            <a:off x="2400120" y="337176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5" name=""/>
          <p:cNvSpPr/>
          <p:nvPr/>
        </p:nvSpPr>
        <p:spPr>
          <a:xfrm>
            <a:off x="6076800" y="3371760"/>
            <a:ext cx="5524920" cy="9720"/>
          </a:xfrm>
          <a:custGeom>
            <a:avLst/>
            <a:gdLst/>
            <a:ahLst/>
            <a:rect l="0" t="0" r="r" b="b"/>
            <a:pathLst>
              <a:path w="15347" h="27">
                <a:moveTo>
                  <a:pt x="0" y="0"/>
                </a:moveTo>
                <a:lnTo>
                  <a:pt x="15347" y="0"/>
                </a:lnTo>
                <a:lnTo>
                  <a:pt x="153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6" name=""/>
          <p:cNvSpPr/>
          <p:nvPr/>
        </p:nvSpPr>
        <p:spPr>
          <a:xfrm>
            <a:off x="590400" y="33811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7" name=""/>
          <p:cNvSpPr/>
          <p:nvPr/>
        </p:nvSpPr>
        <p:spPr>
          <a:xfrm>
            <a:off x="2390760" y="33811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8" name=""/>
          <p:cNvSpPr/>
          <p:nvPr/>
        </p:nvSpPr>
        <p:spPr>
          <a:xfrm>
            <a:off x="6067080" y="33811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09" name=""/>
          <p:cNvSpPr/>
          <p:nvPr/>
        </p:nvSpPr>
        <p:spPr>
          <a:xfrm>
            <a:off x="11591640" y="33811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0" name=""/>
          <p:cNvSpPr/>
          <p:nvPr/>
        </p:nvSpPr>
        <p:spPr>
          <a:xfrm>
            <a:off x="590400" y="38480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1" name=""/>
          <p:cNvSpPr/>
          <p:nvPr/>
        </p:nvSpPr>
        <p:spPr>
          <a:xfrm>
            <a:off x="590400" y="383832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2" name=""/>
          <p:cNvSpPr/>
          <p:nvPr/>
        </p:nvSpPr>
        <p:spPr>
          <a:xfrm>
            <a:off x="2390760" y="38480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3" name=""/>
          <p:cNvSpPr/>
          <p:nvPr/>
        </p:nvSpPr>
        <p:spPr>
          <a:xfrm>
            <a:off x="2400120" y="383832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4" name=""/>
          <p:cNvSpPr/>
          <p:nvPr/>
        </p:nvSpPr>
        <p:spPr>
          <a:xfrm>
            <a:off x="6067080" y="38480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5" name=""/>
          <p:cNvSpPr/>
          <p:nvPr/>
        </p:nvSpPr>
        <p:spPr>
          <a:xfrm>
            <a:off x="6076800" y="3838320"/>
            <a:ext cx="5524920" cy="10080"/>
          </a:xfrm>
          <a:custGeom>
            <a:avLst/>
            <a:gdLst/>
            <a:ahLst/>
            <a:rect l="0" t="0" r="r" b="b"/>
            <a:pathLst>
              <a:path w="15347" h="28">
                <a:moveTo>
                  <a:pt x="0" y="0"/>
                </a:moveTo>
                <a:lnTo>
                  <a:pt x="15347" y="0"/>
                </a:lnTo>
                <a:lnTo>
                  <a:pt x="153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6" name=""/>
          <p:cNvSpPr/>
          <p:nvPr/>
        </p:nvSpPr>
        <p:spPr>
          <a:xfrm>
            <a:off x="11591640" y="38480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7" name=""/>
          <p:cNvSpPr/>
          <p:nvPr/>
        </p:nvSpPr>
        <p:spPr>
          <a:xfrm>
            <a:off x="590400" y="431460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8" name=""/>
          <p:cNvSpPr/>
          <p:nvPr/>
        </p:nvSpPr>
        <p:spPr>
          <a:xfrm>
            <a:off x="590400" y="430524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19" name=""/>
          <p:cNvSpPr/>
          <p:nvPr/>
        </p:nvSpPr>
        <p:spPr>
          <a:xfrm>
            <a:off x="2390760" y="431460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0" name=""/>
          <p:cNvSpPr/>
          <p:nvPr/>
        </p:nvSpPr>
        <p:spPr>
          <a:xfrm>
            <a:off x="2400120" y="430524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1" name=""/>
          <p:cNvSpPr/>
          <p:nvPr/>
        </p:nvSpPr>
        <p:spPr>
          <a:xfrm>
            <a:off x="6067080" y="431460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2" name=""/>
          <p:cNvSpPr/>
          <p:nvPr/>
        </p:nvSpPr>
        <p:spPr>
          <a:xfrm>
            <a:off x="6076800" y="4305240"/>
            <a:ext cx="5524920" cy="9720"/>
          </a:xfrm>
          <a:custGeom>
            <a:avLst/>
            <a:gdLst/>
            <a:ahLst/>
            <a:rect l="0" t="0" r="r" b="b"/>
            <a:pathLst>
              <a:path w="15347" h="27">
                <a:moveTo>
                  <a:pt x="0" y="0"/>
                </a:moveTo>
                <a:lnTo>
                  <a:pt x="15347" y="0"/>
                </a:lnTo>
                <a:lnTo>
                  <a:pt x="153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3" name=""/>
          <p:cNvSpPr/>
          <p:nvPr/>
        </p:nvSpPr>
        <p:spPr>
          <a:xfrm>
            <a:off x="11591640" y="431460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4" name=""/>
          <p:cNvSpPr/>
          <p:nvPr/>
        </p:nvSpPr>
        <p:spPr>
          <a:xfrm>
            <a:off x="590400" y="477180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5" name=""/>
          <p:cNvSpPr/>
          <p:nvPr/>
        </p:nvSpPr>
        <p:spPr>
          <a:xfrm>
            <a:off x="2400120" y="477180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6" name=""/>
          <p:cNvSpPr/>
          <p:nvPr/>
        </p:nvSpPr>
        <p:spPr>
          <a:xfrm>
            <a:off x="6076800" y="4771800"/>
            <a:ext cx="5524920" cy="10080"/>
          </a:xfrm>
          <a:custGeom>
            <a:avLst/>
            <a:gdLst/>
            <a:ahLst/>
            <a:rect l="0" t="0" r="r" b="b"/>
            <a:pathLst>
              <a:path w="15347" h="28">
                <a:moveTo>
                  <a:pt x="0" y="0"/>
                </a:moveTo>
                <a:lnTo>
                  <a:pt x="15347" y="0"/>
                </a:lnTo>
                <a:lnTo>
                  <a:pt x="153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590400" y="1567440"/>
            <a:ext cx="789291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失敗例：偶数を残す指示を別の処理にした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590400" y="2383560"/>
            <a:ext cx="1141110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変更後の指示：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整数リスト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に対して、偶数だけを残す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solve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関数を書いてください。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2528280" y="3027960"/>
            <a:ext cx="210394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指示どおりの処理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6197040" y="3027960"/>
            <a:ext cx="262972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変更後に生成した処理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723960" y="3494520"/>
            <a:ext cx="52660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2528280" y="3494520"/>
            <a:ext cx="18410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偶数だけを残す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6197040" y="3494520"/>
            <a:ext cx="38323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順序を反転し、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以上の値を残す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4" name=""/>
          <p:cNvSpPr/>
          <p:nvPr/>
        </p:nvSpPr>
        <p:spPr>
          <a:xfrm>
            <a:off x="2523960" y="3933720"/>
            <a:ext cx="1133640" cy="314640"/>
          </a:xfrm>
          <a:custGeom>
            <a:avLst/>
            <a:gdLst/>
            <a:ahLst/>
            <a:rect l="0" t="0" r="r" b="b"/>
            <a:pathLst>
              <a:path w="3149" h="874">
                <a:moveTo>
                  <a:pt x="0" y="71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991" y="0"/>
                </a:lnTo>
                <a:cubicBezTo>
                  <a:pt x="3001" y="0"/>
                  <a:pt x="3011" y="1"/>
                  <a:pt x="3022" y="3"/>
                </a:cubicBezTo>
                <a:cubicBezTo>
                  <a:pt x="3032" y="5"/>
                  <a:pt x="3042" y="8"/>
                  <a:pt x="3052" y="12"/>
                </a:cubicBezTo>
                <a:cubicBezTo>
                  <a:pt x="3061" y="16"/>
                  <a:pt x="3070" y="21"/>
                  <a:pt x="3079" y="27"/>
                </a:cubicBezTo>
                <a:cubicBezTo>
                  <a:pt x="3088" y="32"/>
                  <a:pt x="3096" y="39"/>
                  <a:pt x="3103" y="46"/>
                </a:cubicBezTo>
                <a:cubicBezTo>
                  <a:pt x="3110" y="54"/>
                  <a:pt x="3117" y="62"/>
                  <a:pt x="3123" y="70"/>
                </a:cubicBezTo>
                <a:cubicBezTo>
                  <a:pt x="3129" y="79"/>
                  <a:pt x="3133" y="88"/>
                  <a:pt x="3137" y="98"/>
                </a:cubicBezTo>
                <a:cubicBezTo>
                  <a:pt x="3141" y="107"/>
                  <a:pt x="3144" y="117"/>
                  <a:pt x="3146" y="128"/>
                </a:cubicBezTo>
                <a:cubicBezTo>
                  <a:pt x="3148" y="138"/>
                  <a:pt x="3149" y="148"/>
                  <a:pt x="3149" y="159"/>
                </a:cubicBezTo>
                <a:lnTo>
                  <a:pt x="3149" y="714"/>
                </a:lnTo>
                <a:cubicBezTo>
                  <a:pt x="3149" y="725"/>
                  <a:pt x="3148" y="735"/>
                  <a:pt x="3146" y="745"/>
                </a:cubicBezTo>
                <a:cubicBezTo>
                  <a:pt x="3144" y="755"/>
                  <a:pt x="3141" y="765"/>
                  <a:pt x="3137" y="775"/>
                </a:cubicBezTo>
                <a:cubicBezTo>
                  <a:pt x="3133" y="785"/>
                  <a:pt x="3129" y="794"/>
                  <a:pt x="3123" y="802"/>
                </a:cubicBezTo>
                <a:cubicBezTo>
                  <a:pt x="3117" y="811"/>
                  <a:pt x="3110" y="819"/>
                  <a:pt x="3103" y="826"/>
                </a:cubicBezTo>
                <a:cubicBezTo>
                  <a:pt x="3096" y="834"/>
                  <a:pt x="3088" y="840"/>
                  <a:pt x="3079" y="846"/>
                </a:cubicBezTo>
                <a:cubicBezTo>
                  <a:pt x="3070" y="852"/>
                  <a:pt x="3061" y="857"/>
                  <a:pt x="3051" y="862"/>
                </a:cubicBezTo>
                <a:cubicBezTo>
                  <a:pt x="3042" y="866"/>
                  <a:pt x="3032" y="869"/>
                  <a:pt x="3022" y="871"/>
                </a:cubicBezTo>
                <a:cubicBezTo>
                  <a:pt x="3011" y="873"/>
                  <a:pt x="3001" y="874"/>
                  <a:pt x="2991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8" y="857"/>
                  <a:pt x="79" y="852"/>
                  <a:pt x="71" y="846"/>
                </a:cubicBezTo>
                <a:cubicBezTo>
                  <a:pt x="62" y="840"/>
                  <a:pt x="54" y="834"/>
                  <a:pt x="46" y="826"/>
                </a:cubicBezTo>
                <a:cubicBezTo>
                  <a:pt x="39" y="819"/>
                  <a:pt x="33" y="811"/>
                  <a:pt x="27" y="802"/>
                </a:cubicBezTo>
                <a:cubicBezTo>
                  <a:pt x="21" y="794"/>
                  <a:pt x="16" y="785"/>
                  <a:pt x="12" y="775"/>
                </a:cubicBezTo>
                <a:cubicBezTo>
                  <a:pt x="8" y="765"/>
                  <a:pt x="5" y="755"/>
                  <a:pt x="3" y="745"/>
                </a:cubicBezTo>
                <a:cubicBezTo>
                  <a:pt x="1" y="735"/>
                  <a:pt x="0" y="725"/>
                  <a:pt x="0" y="714"/>
                </a:cubicBezTo>
                <a:close/>
              </a:path>
            </a:pathLst>
          </a:custGeom>
          <a:solidFill>
            <a:srgbClr val="EEF3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723960" y="3961080"/>
            <a:ext cx="105238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検査入力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2608560" y="3978000"/>
            <a:ext cx="1114902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0" u="none" strike="noStrike">
                <a:solidFill>
                  <a:srgbClr val="17212B"/>
                </a:solidFill>
                <a:effectLst/>
                <a:uFillTx/>
                <a:latin typeface="Menlo"/>
                <a:ea typeface="Menlo"/>
              </a:rPr>
              <a:t>xs = [0]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7" name=""/>
          <p:cNvSpPr/>
          <p:nvPr/>
        </p:nvSpPr>
        <p:spPr>
          <a:xfrm>
            <a:off x="3885840" y="3933720"/>
            <a:ext cx="772200" cy="314640"/>
          </a:xfrm>
          <a:custGeom>
            <a:avLst/>
            <a:gdLst/>
            <a:ahLst/>
            <a:rect l="0" t="0" r="r" b="b"/>
            <a:pathLst>
              <a:path w="2145" h="874">
                <a:moveTo>
                  <a:pt x="0" y="714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986" y="0"/>
                </a:lnTo>
                <a:cubicBezTo>
                  <a:pt x="1996" y="0"/>
                  <a:pt x="2007" y="1"/>
                  <a:pt x="2017" y="3"/>
                </a:cubicBezTo>
                <a:cubicBezTo>
                  <a:pt x="2027" y="5"/>
                  <a:pt x="2037" y="8"/>
                  <a:pt x="2047" y="12"/>
                </a:cubicBezTo>
                <a:cubicBezTo>
                  <a:pt x="2056" y="16"/>
                  <a:pt x="2065" y="21"/>
                  <a:pt x="2074" y="27"/>
                </a:cubicBezTo>
                <a:cubicBezTo>
                  <a:pt x="2083" y="32"/>
                  <a:pt x="2091" y="39"/>
                  <a:pt x="2098" y="46"/>
                </a:cubicBezTo>
                <a:cubicBezTo>
                  <a:pt x="2105" y="54"/>
                  <a:pt x="2112" y="62"/>
                  <a:pt x="2118" y="70"/>
                </a:cubicBezTo>
                <a:cubicBezTo>
                  <a:pt x="2124" y="79"/>
                  <a:pt x="2129" y="88"/>
                  <a:pt x="2133" y="98"/>
                </a:cubicBezTo>
                <a:cubicBezTo>
                  <a:pt x="2137" y="107"/>
                  <a:pt x="2140" y="117"/>
                  <a:pt x="2142" y="128"/>
                </a:cubicBezTo>
                <a:cubicBezTo>
                  <a:pt x="2144" y="138"/>
                  <a:pt x="2145" y="148"/>
                  <a:pt x="2145" y="159"/>
                </a:cubicBezTo>
                <a:lnTo>
                  <a:pt x="2145" y="714"/>
                </a:lnTo>
                <a:cubicBezTo>
                  <a:pt x="2145" y="725"/>
                  <a:pt x="2144" y="735"/>
                  <a:pt x="2142" y="745"/>
                </a:cubicBezTo>
                <a:cubicBezTo>
                  <a:pt x="2140" y="755"/>
                  <a:pt x="2137" y="765"/>
                  <a:pt x="2133" y="775"/>
                </a:cubicBezTo>
                <a:cubicBezTo>
                  <a:pt x="2129" y="785"/>
                  <a:pt x="2124" y="794"/>
                  <a:pt x="2118" y="802"/>
                </a:cubicBezTo>
                <a:cubicBezTo>
                  <a:pt x="2112" y="811"/>
                  <a:pt x="2105" y="819"/>
                  <a:pt x="2098" y="826"/>
                </a:cubicBezTo>
                <a:cubicBezTo>
                  <a:pt x="2091" y="834"/>
                  <a:pt x="2083" y="840"/>
                  <a:pt x="2074" y="846"/>
                </a:cubicBezTo>
                <a:cubicBezTo>
                  <a:pt x="2065" y="852"/>
                  <a:pt x="2056" y="857"/>
                  <a:pt x="2047" y="862"/>
                </a:cubicBezTo>
                <a:cubicBezTo>
                  <a:pt x="2037" y="866"/>
                  <a:pt x="2027" y="869"/>
                  <a:pt x="2017" y="871"/>
                </a:cubicBezTo>
                <a:cubicBezTo>
                  <a:pt x="2007" y="873"/>
                  <a:pt x="1996" y="874"/>
                  <a:pt x="1986" y="874"/>
                </a:cubicBezTo>
                <a:lnTo>
                  <a:pt x="159" y="874"/>
                </a:lnTo>
                <a:cubicBezTo>
                  <a:pt x="149" y="874"/>
                  <a:pt x="139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9" y="857"/>
                  <a:pt x="80" y="852"/>
                  <a:pt x="71" y="846"/>
                </a:cubicBezTo>
                <a:cubicBezTo>
                  <a:pt x="62" y="840"/>
                  <a:pt x="54" y="834"/>
                  <a:pt x="47" y="826"/>
                </a:cubicBezTo>
                <a:cubicBezTo>
                  <a:pt x="40" y="819"/>
                  <a:pt x="33" y="811"/>
                  <a:pt x="27" y="802"/>
                </a:cubicBezTo>
                <a:cubicBezTo>
                  <a:pt x="21" y="794"/>
                  <a:pt x="17" y="785"/>
                  <a:pt x="13" y="775"/>
                </a:cubicBezTo>
                <a:cubicBezTo>
                  <a:pt x="9" y="765"/>
                  <a:pt x="6" y="755"/>
                  <a:pt x="4" y="745"/>
                </a:cubicBezTo>
                <a:cubicBezTo>
                  <a:pt x="2" y="735"/>
                  <a:pt x="0" y="725"/>
                  <a:pt x="0" y="714"/>
                </a:cubicBezTo>
                <a:close/>
              </a:path>
            </a:pathLst>
          </a:custGeom>
          <a:solidFill>
            <a:srgbClr val="EEF3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3657960" y="3961080"/>
            <a:ext cx="26371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3966840" y="3978000"/>
            <a:ext cx="697176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0" u="none" strike="noStrike">
                <a:solidFill>
                  <a:srgbClr val="17212B"/>
                </a:solidFill>
                <a:effectLst/>
                <a:uFillTx/>
                <a:latin typeface="Menlo"/>
                <a:ea typeface="Menlo"/>
              </a:rPr>
              <a:t>k = 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6197040" y="3961080"/>
            <a:ext cx="105238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同じ入力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1" name=""/>
          <p:cNvSpPr/>
          <p:nvPr/>
        </p:nvSpPr>
        <p:spPr>
          <a:xfrm>
            <a:off x="2523960" y="4400280"/>
            <a:ext cx="524160" cy="314640"/>
          </a:xfrm>
          <a:custGeom>
            <a:avLst/>
            <a:gdLst/>
            <a:ahLst/>
            <a:rect l="0" t="0" r="r" b="b"/>
            <a:pathLst>
              <a:path w="1456" h="874">
                <a:moveTo>
                  <a:pt x="0" y="71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97" y="0"/>
                </a:lnTo>
                <a:cubicBezTo>
                  <a:pt x="1308" y="0"/>
                  <a:pt x="1318" y="1"/>
                  <a:pt x="1328" y="3"/>
                </a:cubicBezTo>
                <a:cubicBezTo>
                  <a:pt x="1339" y="5"/>
                  <a:pt x="1349" y="8"/>
                  <a:pt x="1358" y="12"/>
                </a:cubicBezTo>
                <a:cubicBezTo>
                  <a:pt x="1368" y="16"/>
                  <a:pt x="1377" y="21"/>
                  <a:pt x="1386" y="27"/>
                </a:cubicBezTo>
                <a:cubicBezTo>
                  <a:pt x="1394" y="33"/>
                  <a:pt x="1402" y="39"/>
                  <a:pt x="1410" y="47"/>
                </a:cubicBezTo>
                <a:cubicBezTo>
                  <a:pt x="1417" y="54"/>
                  <a:pt x="1424" y="62"/>
                  <a:pt x="1429" y="71"/>
                </a:cubicBezTo>
                <a:cubicBezTo>
                  <a:pt x="1435" y="79"/>
                  <a:pt x="1440" y="89"/>
                  <a:pt x="1444" y="98"/>
                </a:cubicBezTo>
                <a:cubicBezTo>
                  <a:pt x="1448" y="108"/>
                  <a:pt x="1451" y="118"/>
                  <a:pt x="1453" y="128"/>
                </a:cubicBezTo>
                <a:cubicBezTo>
                  <a:pt x="1455" y="138"/>
                  <a:pt x="1456" y="149"/>
                  <a:pt x="1456" y="159"/>
                </a:cubicBezTo>
                <a:lnTo>
                  <a:pt x="1456" y="716"/>
                </a:lnTo>
                <a:cubicBezTo>
                  <a:pt x="1456" y="726"/>
                  <a:pt x="1455" y="736"/>
                  <a:pt x="1453" y="747"/>
                </a:cubicBezTo>
                <a:cubicBezTo>
                  <a:pt x="1451" y="757"/>
                  <a:pt x="1448" y="767"/>
                  <a:pt x="1444" y="776"/>
                </a:cubicBezTo>
                <a:cubicBezTo>
                  <a:pt x="1440" y="786"/>
                  <a:pt x="1435" y="795"/>
                  <a:pt x="1429" y="804"/>
                </a:cubicBezTo>
                <a:cubicBezTo>
                  <a:pt x="1424" y="812"/>
                  <a:pt x="1417" y="821"/>
                  <a:pt x="1410" y="828"/>
                </a:cubicBezTo>
                <a:cubicBezTo>
                  <a:pt x="1402" y="835"/>
                  <a:pt x="1394" y="842"/>
                  <a:pt x="1386" y="848"/>
                </a:cubicBezTo>
                <a:cubicBezTo>
                  <a:pt x="1377" y="853"/>
                  <a:pt x="1368" y="858"/>
                  <a:pt x="1358" y="862"/>
                </a:cubicBezTo>
                <a:cubicBezTo>
                  <a:pt x="1349" y="866"/>
                  <a:pt x="1339" y="869"/>
                  <a:pt x="1328" y="871"/>
                </a:cubicBezTo>
                <a:cubicBezTo>
                  <a:pt x="1318" y="873"/>
                  <a:pt x="1308" y="874"/>
                  <a:pt x="1297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8" y="858"/>
                  <a:pt x="79" y="853"/>
                  <a:pt x="71" y="848"/>
                </a:cubicBezTo>
                <a:cubicBezTo>
                  <a:pt x="62" y="842"/>
                  <a:pt x="54" y="835"/>
                  <a:pt x="46" y="828"/>
                </a:cubicBezTo>
                <a:cubicBezTo>
                  <a:pt x="39" y="821"/>
                  <a:pt x="33" y="812"/>
                  <a:pt x="27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7"/>
                  <a:pt x="5" y="757"/>
                  <a:pt x="3" y="747"/>
                </a:cubicBezTo>
                <a:cubicBezTo>
                  <a:pt x="1" y="736"/>
                  <a:pt x="0" y="726"/>
                  <a:pt x="0" y="716"/>
                </a:cubicBezTo>
                <a:close/>
              </a:path>
            </a:pathLst>
          </a:custGeom>
          <a:solidFill>
            <a:srgbClr val="EEF3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723960" y="4428000"/>
            <a:ext cx="52660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出力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3" name=""/>
          <p:cNvSpPr/>
          <p:nvPr/>
        </p:nvSpPr>
        <p:spPr>
          <a:xfrm>
            <a:off x="6200640" y="4400280"/>
            <a:ext cx="400320" cy="314640"/>
          </a:xfrm>
          <a:custGeom>
            <a:avLst/>
            <a:gdLst/>
            <a:ahLst/>
            <a:rect l="0" t="0" r="r" b="b"/>
            <a:pathLst>
              <a:path w="1112" h="874">
                <a:moveTo>
                  <a:pt x="0" y="71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52" y="0"/>
                </a:lnTo>
                <a:cubicBezTo>
                  <a:pt x="963" y="0"/>
                  <a:pt x="973" y="1"/>
                  <a:pt x="983" y="3"/>
                </a:cubicBezTo>
                <a:cubicBezTo>
                  <a:pt x="994" y="5"/>
                  <a:pt x="1003" y="8"/>
                  <a:pt x="1013" y="12"/>
                </a:cubicBezTo>
                <a:cubicBezTo>
                  <a:pt x="1023" y="16"/>
                  <a:pt x="1032" y="21"/>
                  <a:pt x="1041" y="27"/>
                </a:cubicBezTo>
                <a:cubicBezTo>
                  <a:pt x="1049" y="33"/>
                  <a:pt x="1057" y="39"/>
                  <a:pt x="1065" y="47"/>
                </a:cubicBezTo>
                <a:cubicBezTo>
                  <a:pt x="1072" y="54"/>
                  <a:pt x="1079" y="62"/>
                  <a:pt x="1084" y="71"/>
                </a:cubicBezTo>
                <a:cubicBezTo>
                  <a:pt x="1090" y="79"/>
                  <a:pt x="1095" y="89"/>
                  <a:pt x="1099" y="98"/>
                </a:cubicBezTo>
                <a:cubicBezTo>
                  <a:pt x="1103" y="108"/>
                  <a:pt x="1106" y="118"/>
                  <a:pt x="1109" y="128"/>
                </a:cubicBezTo>
                <a:cubicBezTo>
                  <a:pt x="1111" y="138"/>
                  <a:pt x="1112" y="149"/>
                  <a:pt x="1112" y="159"/>
                </a:cubicBezTo>
                <a:lnTo>
                  <a:pt x="1112" y="716"/>
                </a:lnTo>
                <a:cubicBezTo>
                  <a:pt x="1112" y="726"/>
                  <a:pt x="1111" y="736"/>
                  <a:pt x="1109" y="747"/>
                </a:cubicBezTo>
                <a:cubicBezTo>
                  <a:pt x="1106" y="757"/>
                  <a:pt x="1103" y="767"/>
                  <a:pt x="1099" y="776"/>
                </a:cubicBezTo>
                <a:cubicBezTo>
                  <a:pt x="1095" y="786"/>
                  <a:pt x="1090" y="795"/>
                  <a:pt x="1084" y="804"/>
                </a:cubicBezTo>
                <a:cubicBezTo>
                  <a:pt x="1079" y="812"/>
                  <a:pt x="1072" y="821"/>
                  <a:pt x="1065" y="828"/>
                </a:cubicBezTo>
                <a:cubicBezTo>
                  <a:pt x="1057" y="835"/>
                  <a:pt x="1049" y="842"/>
                  <a:pt x="1041" y="848"/>
                </a:cubicBezTo>
                <a:cubicBezTo>
                  <a:pt x="1032" y="853"/>
                  <a:pt x="1023" y="858"/>
                  <a:pt x="1013" y="862"/>
                </a:cubicBezTo>
                <a:cubicBezTo>
                  <a:pt x="1003" y="866"/>
                  <a:pt x="994" y="869"/>
                  <a:pt x="983" y="871"/>
                </a:cubicBezTo>
                <a:cubicBezTo>
                  <a:pt x="973" y="873"/>
                  <a:pt x="963" y="874"/>
                  <a:pt x="952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7" y="869"/>
                  <a:pt x="108" y="866"/>
                  <a:pt x="98" y="862"/>
                </a:cubicBezTo>
                <a:cubicBezTo>
                  <a:pt x="88" y="858"/>
                  <a:pt x="79" y="853"/>
                  <a:pt x="70" y="848"/>
                </a:cubicBezTo>
                <a:cubicBezTo>
                  <a:pt x="62" y="842"/>
                  <a:pt x="54" y="835"/>
                  <a:pt x="46" y="828"/>
                </a:cubicBezTo>
                <a:cubicBezTo>
                  <a:pt x="39" y="821"/>
                  <a:pt x="32" y="812"/>
                  <a:pt x="27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7"/>
                  <a:pt x="5" y="757"/>
                  <a:pt x="3" y="747"/>
                </a:cubicBezTo>
                <a:cubicBezTo>
                  <a:pt x="1" y="736"/>
                  <a:pt x="0" y="726"/>
                  <a:pt x="0" y="716"/>
                </a:cubicBezTo>
                <a:close/>
              </a:path>
            </a:pathLst>
          </a:custGeom>
          <a:solidFill>
            <a:srgbClr val="EEF3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2608560" y="4444560"/>
            <a:ext cx="418554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1" u="none" strike="noStrike">
                <a:solidFill>
                  <a:srgbClr val="245F8B"/>
                </a:solidFill>
                <a:effectLst/>
                <a:uFillTx/>
                <a:latin typeface="Menlo"/>
                <a:ea typeface="Menlo"/>
              </a:rPr>
              <a:t>[0]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6277320" y="4444560"/>
            <a:ext cx="27945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80" b="1" u="none" strike="noStrike">
                <a:solidFill>
                  <a:srgbClr val="245F8B"/>
                </a:solidFill>
                <a:effectLst/>
                <a:uFillTx/>
                <a:latin typeface="Menlo"/>
                <a:ea typeface="Menlo"/>
              </a:rPr>
              <a:t>[]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590400" y="5031360"/>
            <a:ext cx="6220764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構文は正しかったが、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処理の意味が変わった。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11705400" y="6466680"/>
            <a:ext cx="231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1" name=""/>
          <p:cNvSpPr/>
          <p:nvPr/>
        </p:nvSpPr>
        <p:spPr>
          <a:xfrm>
            <a:off x="599760" y="3143160"/>
            <a:ext cx="2353320" cy="466920"/>
          </a:xfrm>
          <a:custGeom>
            <a:avLst/>
            <a:gdLst/>
            <a:ahLst/>
            <a:rect l="0" t="0" r="r" b="b"/>
            <a:pathLst>
              <a:path w="6537" h="1297">
                <a:moveTo>
                  <a:pt x="0" y="0"/>
                </a:moveTo>
                <a:lnTo>
                  <a:pt x="6537" y="0"/>
                </a:lnTo>
                <a:lnTo>
                  <a:pt x="653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2" name=""/>
          <p:cNvSpPr/>
          <p:nvPr/>
        </p:nvSpPr>
        <p:spPr>
          <a:xfrm>
            <a:off x="2952720" y="3143160"/>
            <a:ext cx="3629160" cy="466920"/>
          </a:xfrm>
          <a:custGeom>
            <a:avLst/>
            <a:gdLst/>
            <a:ahLst/>
            <a:rect l="0" t="0" r="r" b="b"/>
            <a:pathLst>
              <a:path w="10081" h="1297">
                <a:moveTo>
                  <a:pt x="0" y="0"/>
                </a:moveTo>
                <a:lnTo>
                  <a:pt x="10081" y="0"/>
                </a:lnTo>
                <a:lnTo>
                  <a:pt x="10081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3" name=""/>
          <p:cNvSpPr/>
          <p:nvPr/>
        </p:nvSpPr>
        <p:spPr>
          <a:xfrm>
            <a:off x="6581520" y="3143160"/>
            <a:ext cx="5020200" cy="466920"/>
          </a:xfrm>
          <a:custGeom>
            <a:avLst/>
            <a:gdLst/>
            <a:ahLst/>
            <a:rect l="0" t="0" r="r" b="b"/>
            <a:pathLst>
              <a:path w="13945" h="1297">
                <a:moveTo>
                  <a:pt x="0" y="0"/>
                </a:moveTo>
                <a:lnTo>
                  <a:pt x="13945" y="0"/>
                </a:lnTo>
                <a:lnTo>
                  <a:pt x="1394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4" name=""/>
          <p:cNvSpPr/>
          <p:nvPr/>
        </p:nvSpPr>
        <p:spPr>
          <a:xfrm>
            <a:off x="599760" y="3143160"/>
            <a:ext cx="2353320" cy="466920"/>
          </a:xfrm>
          <a:custGeom>
            <a:avLst/>
            <a:gdLst/>
            <a:ahLst/>
            <a:rect l="0" t="0" r="r" b="b"/>
            <a:pathLst>
              <a:path w="6537" h="1297">
                <a:moveTo>
                  <a:pt x="0" y="0"/>
                </a:moveTo>
                <a:lnTo>
                  <a:pt x="6537" y="0"/>
                </a:lnTo>
                <a:lnTo>
                  <a:pt x="653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5" name=""/>
          <p:cNvSpPr/>
          <p:nvPr/>
        </p:nvSpPr>
        <p:spPr>
          <a:xfrm>
            <a:off x="2952720" y="3143160"/>
            <a:ext cx="3629160" cy="466920"/>
          </a:xfrm>
          <a:custGeom>
            <a:avLst/>
            <a:gdLst/>
            <a:ahLst/>
            <a:rect l="0" t="0" r="r" b="b"/>
            <a:pathLst>
              <a:path w="10081" h="1297">
                <a:moveTo>
                  <a:pt x="0" y="0"/>
                </a:moveTo>
                <a:lnTo>
                  <a:pt x="10081" y="0"/>
                </a:lnTo>
                <a:lnTo>
                  <a:pt x="10081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6" name=""/>
          <p:cNvSpPr/>
          <p:nvPr/>
        </p:nvSpPr>
        <p:spPr>
          <a:xfrm>
            <a:off x="6581520" y="3143160"/>
            <a:ext cx="5020200" cy="466920"/>
          </a:xfrm>
          <a:custGeom>
            <a:avLst/>
            <a:gdLst/>
            <a:ahLst/>
            <a:rect l="0" t="0" r="r" b="b"/>
            <a:pathLst>
              <a:path w="13945" h="1297">
                <a:moveTo>
                  <a:pt x="0" y="0"/>
                </a:moveTo>
                <a:lnTo>
                  <a:pt x="13945" y="0"/>
                </a:lnTo>
                <a:lnTo>
                  <a:pt x="1394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7" name=""/>
          <p:cNvSpPr/>
          <p:nvPr/>
        </p:nvSpPr>
        <p:spPr>
          <a:xfrm>
            <a:off x="599760" y="3609720"/>
            <a:ext cx="2353320" cy="467280"/>
          </a:xfrm>
          <a:custGeom>
            <a:avLst/>
            <a:gdLst/>
            <a:ahLst/>
            <a:rect l="0" t="0" r="r" b="b"/>
            <a:pathLst>
              <a:path w="6537" h="1298">
                <a:moveTo>
                  <a:pt x="0" y="0"/>
                </a:moveTo>
                <a:lnTo>
                  <a:pt x="6537" y="0"/>
                </a:lnTo>
                <a:lnTo>
                  <a:pt x="653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8" name=""/>
          <p:cNvSpPr/>
          <p:nvPr/>
        </p:nvSpPr>
        <p:spPr>
          <a:xfrm>
            <a:off x="2952720" y="3609720"/>
            <a:ext cx="3629160" cy="467280"/>
          </a:xfrm>
          <a:custGeom>
            <a:avLst/>
            <a:gdLst/>
            <a:ahLst/>
            <a:rect l="0" t="0" r="r" b="b"/>
            <a:pathLst>
              <a:path w="10081" h="1298">
                <a:moveTo>
                  <a:pt x="0" y="0"/>
                </a:moveTo>
                <a:lnTo>
                  <a:pt x="10081" y="0"/>
                </a:lnTo>
                <a:lnTo>
                  <a:pt x="10081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59" name=""/>
          <p:cNvSpPr/>
          <p:nvPr/>
        </p:nvSpPr>
        <p:spPr>
          <a:xfrm>
            <a:off x="6581520" y="3609720"/>
            <a:ext cx="5020200" cy="467280"/>
          </a:xfrm>
          <a:custGeom>
            <a:avLst/>
            <a:gdLst/>
            <a:ahLst/>
            <a:rect l="0" t="0" r="r" b="b"/>
            <a:pathLst>
              <a:path w="13945" h="1298">
                <a:moveTo>
                  <a:pt x="0" y="0"/>
                </a:moveTo>
                <a:lnTo>
                  <a:pt x="13945" y="0"/>
                </a:lnTo>
                <a:lnTo>
                  <a:pt x="13945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0" name=""/>
          <p:cNvSpPr/>
          <p:nvPr/>
        </p:nvSpPr>
        <p:spPr>
          <a:xfrm>
            <a:off x="599760" y="4076640"/>
            <a:ext cx="2353320" cy="466920"/>
          </a:xfrm>
          <a:custGeom>
            <a:avLst/>
            <a:gdLst/>
            <a:ahLst/>
            <a:rect l="0" t="0" r="r" b="b"/>
            <a:pathLst>
              <a:path w="6537" h="1297">
                <a:moveTo>
                  <a:pt x="0" y="0"/>
                </a:moveTo>
                <a:lnTo>
                  <a:pt x="6537" y="0"/>
                </a:lnTo>
                <a:lnTo>
                  <a:pt x="653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1" name=""/>
          <p:cNvSpPr/>
          <p:nvPr/>
        </p:nvSpPr>
        <p:spPr>
          <a:xfrm>
            <a:off x="2952720" y="4076640"/>
            <a:ext cx="3629160" cy="466920"/>
          </a:xfrm>
          <a:custGeom>
            <a:avLst/>
            <a:gdLst/>
            <a:ahLst/>
            <a:rect l="0" t="0" r="r" b="b"/>
            <a:pathLst>
              <a:path w="10081" h="1297">
                <a:moveTo>
                  <a:pt x="0" y="0"/>
                </a:moveTo>
                <a:lnTo>
                  <a:pt x="10081" y="0"/>
                </a:lnTo>
                <a:lnTo>
                  <a:pt x="10081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2" name=""/>
          <p:cNvSpPr/>
          <p:nvPr/>
        </p:nvSpPr>
        <p:spPr>
          <a:xfrm>
            <a:off x="6581520" y="4076640"/>
            <a:ext cx="5020200" cy="466920"/>
          </a:xfrm>
          <a:custGeom>
            <a:avLst/>
            <a:gdLst/>
            <a:ahLst/>
            <a:rect l="0" t="0" r="r" b="b"/>
            <a:pathLst>
              <a:path w="13945" h="1297">
                <a:moveTo>
                  <a:pt x="0" y="0"/>
                </a:moveTo>
                <a:lnTo>
                  <a:pt x="13945" y="0"/>
                </a:lnTo>
                <a:lnTo>
                  <a:pt x="13945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3" name=""/>
          <p:cNvSpPr/>
          <p:nvPr/>
        </p:nvSpPr>
        <p:spPr>
          <a:xfrm>
            <a:off x="590400" y="31334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4" name=""/>
          <p:cNvSpPr/>
          <p:nvPr/>
        </p:nvSpPr>
        <p:spPr>
          <a:xfrm>
            <a:off x="590400" y="3133440"/>
            <a:ext cx="2362680" cy="10080"/>
          </a:xfrm>
          <a:custGeom>
            <a:avLst/>
            <a:gdLst/>
            <a:ahLst/>
            <a:rect l="0" t="0" r="r" b="b"/>
            <a:pathLst>
              <a:path w="6563" h="28">
                <a:moveTo>
                  <a:pt x="0" y="0"/>
                </a:moveTo>
                <a:lnTo>
                  <a:pt x="6563" y="0"/>
                </a:lnTo>
                <a:lnTo>
                  <a:pt x="6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5" name=""/>
          <p:cNvSpPr/>
          <p:nvPr/>
        </p:nvSpPr>
        <p:spPr>
          <a:xfrm>
            <a:off x="2943000" y="31334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6" name=""/>
          <p:cNvSpPr/>
          <p:nvPr/>
        </p:nvSpPr>
        <p:spPr>
          <a:xfrm>
            <a:off x="2952720" y="3133440"/>
            <a:ext cx="3629160" cy="10080"/>
          </a:xfrm>
          <a:custGeom>
            <a:avLst/>
            <a:gdLst/>
            <a:ahLst/>
            <a:rect l="0" t="0" r="r" b="b"/>
            <a:pathLst>
              <a:path w="10081" h="28">
                <a:moveTo>
                  <a:pt x="0" y="0"/>
                </a:moveTo>
                <a:lnTo>
                  <a:pt x="10081" y="0"/>
                </a:lnTo>
                <a:lnTo>
                  <a:pt x="10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7" name=""/>
          <p:cNvSpPr/>
          <p:nvPr/>
        </p:nvSpPr>
        <p:spPr>
          <a:xfrm>
            <a:off x="6572160" y="31334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8" name=""/>
          <p:cNvSpPr/>
          <p:nvPr/>
        </p:nvSpPr>
        <p:spPr>
          <a:xfrm>
            <a:off x="6581520" y="3133440"/>
            <a:ext cx="5020200" cy="10080"/>
          </a:xfrm>
          <a:custGeom>
            <a:avLst/>
            <a:gdLst/>
            <a:ahLst/>
            <a:rect l="0" t="0" r="r" b="b"/>
            <a:pathLst>
              <a:path w="13945" h="28">
                <a:moveTo>
                  <a:pt x="0" y="0"/>
                </a:moveTo>
                <a:lnTo>
                  <a:pt x="13945" y="0"/>
                </a:lnTo>
                <a:lnTo>
                  <a:pt x="139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69" name=""/>
          <p:cNvSpPr/>
          <p:nvPr/>
        </p:nvSpPr>
        <p:spPr>
          <a:xfrm>
            <a:off x="11591640" y="31334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0" name=""/>
          <p:cNvSpPr/>
          <p:nvPr/>
        </p:nvSpPr>
        <p:spPr>
          <a:xfrm>
            <a:off x="590400" y="360036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1" name=""/>
          <p:cNvSpPr/>
          <p:nvPr/>
        </p:nvSpPr>
        <p:spPr>
          <a:xfrm>
            <a:off x="2952720" y="3600360"/>
            <a:ext cx="3629160" cy="9720"/>
          </a:xfrm>
          <a:custGeom>
            <a:avLst/>
            <a:gdLst/>
            <a:ahLst/>
            <a:rect l="0" t="0" r="r" b="b"/>
            <a:pathLst>
              <a:path w="10081" h="27">
                <a:moveTo>
                  <a:pt x="0" y="0"/>
                </a:moveTo>
                <a:lnTo>
                  <a:pt x="10081" y="0"/>
                </a:lnTo>
                <a:lnTo>
                  <a:pt x="10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2" name=""/>
          <p:cNvSpPr/>
          <p:nvPr/>
        </p:nvSpPr>
        <p:spPr>
          <a:xfrm>
            <a:off x="6581520" y="3600360"/>
            <a:ext cx="5020200" cy="9720"/>
          </a:xfrm>
          <a:custGeom>
            <a:avLst/>
            <a:gdLst/>
            <a:ahLst/>
            <a:rect l="0" t="0" r="r" b="b"/>
            <a:pathLst>
              <a:path w="13945" h="27">
                <a:moveTo>
                  <a:pt x="0" y="0"/>
                </a:moveTo>
                <a:lnTo>
                  <a:pt x="13945" y="0"/>
                </a:lnTo>
                <a:lnTo>
                  <a:pt x="139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3" name=""/>
          <p:cNvSpPr/>
          <p:nvPr/>
        </p:nvSpPr>
        <p:spPr>
          <a:xfrm>
            <a:off x="590400" y="36097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4" name=""/>
          <p:cNvSpPr/>
          <p:nvPr/>
        </p:nvSpPr>
        <p:spPr>
          <a:xfrm>
            <a:off x="294300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5" name=""/>
          <p:cNvSpPr/>
          <p:nvPr/>
        </p:nvSpPr>
        <p:spPr>
          <a:xfrm>
            <a:off x="6572160" y="360972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6" name=""/>
          <p:cNvSpPr/>
          <p:nvPr/>
        </p:nvSpPr>
        <p:spPr>
          <a:xfrm>
            <a:off x="11591640" y="360972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7" name=""/>
          <p:cNvSpPr/>
          <p:nvPr/>
        </p:nvSpPr>
        <p:spPr>
          <a:xfrm>
            <a:off x="590400" y="40766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8" name=""/>
          <p:cNvSpPr/>
          <p:nvPr/>
        </p:nvSpPr>
        <p:spPr>
          <a:xfrm>
            <a:off x="590400" y="4066920"/>
            <a:ext cx="2362680" cy="10080"/>
          </a:xfrm>
          <a:custGeom>
            <a:avLst/>
            <a:gdLst/>
            <a:ahLst/>
            <a:rect l="0" t="0" r="r" b="b"/>
            <a:pathLst>
              <a:path w="6563" h="28">
                <a:moveTo>
                  <a:pt x="0" y="0"/>
                </a:moveTo>
                <a:lnTo>
                  <a:pt x="6563" y="0"/>
                </a:lnTo>
                <a:lnTo>
                  <a:pt x="6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79" name=""/>
          <p:cNvSpPr/>
          <p:nvPr/>
        </p:nvSpPr>
        <p:spPr>
          <a:xfrm>
            <a:off x="2943000" y="40766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0" name=""/>
          <p:cNvSpPr/>
          <p:nvPr/>
        </p:nvSpPr>
        <p:spPr>
          <a:xfrm>
            <a:off x="2952720" y="4066920"/>
            <a:ext cx="3629160" cy="10080"/>
          </a:xfrm>
          <a:custGeom>
            <a:avLst/>
            <a:gdLst/>
            <a:ahLst/>
            <a:rect l="0" t="0" r="r" b="b"/>
            <a:pathLst>
              <a:path w="10081" h="28">
                <a:moveTo>
                  <a:pt x="0" y="0"/>
                </a:moveTo>
                <a:lnTo>
                  <a:pt x="10081" y="0"/>
                </a:lnTo>
                <a:lnTo>
                  <a:pt x="10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1" name=""/>
          <p:cNvSpPr/>
          <p:nvPr/>
        </p:nvSpPr>
        <p:spPr>
          <a:xfrm>
            <a:off x="6572160" y="40766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2" name=""/>
          <p:cNvSpPr/>
          <p:nvPr/>
        </p:nvSpPr>
        <p:spPr>
          <a:xfrm>
            <a:off x="6581520" y="4066920"/>
            <a:ext cx="5020200" cy="10080"/>
          </a:xfrm>
          <a:custGeom>
            <a:avLst/>
            <a:gdLst/>
            <a:ahLst/>
            <a:rect l="0" t="0" r="r" b="b"/>
            <a:pathLst>
              <a:path w="13945" h="28">
                <a:moveTo>
                  <a:pt x="0" y="0"/>
                </a:moveTo>
                <a:lnTo>
                  <a:pt x="13945" y="0"/>
                </a:lnTo>
                <a:lnTo>
                  <a:pt x="139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3" name=""/>
          <p:cNvSpPr/>
          <p:nvPr/>
        </p:nvSpPr>
        <p:spPr>
          <a:xfrm>
            <a:off x="11591640" y="40766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4" name=""/>
          <p:cNvSpPr/>
          <p:nvPr/>
        </p:nvSpPr>
        <p:spPr>
          <a:xfrm>
            <a:off x="590400" y="453384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5" name=""/>
          <p:cNvSpPr/>
          <p:nvPr/>
        </p:nvSpPr>
        <p:spPr>
          <a:xfrm>
            <a:off x="2952720" y="4533840"/>
            <a:ext cx="3629160" cy="9720"/>
          </a:xfrm>
          <a:custGeom>
            <a:avLst/>
            <a:gdLst/>
            <a:ahLst/>
            <a:rect l="0" t="0" r="r" b="b"/>
            <a:pathLst>
              <a:path w="10081" h="27">
                <a:moveTo>
                  <a:pt x="0" y="0"/>
                </a:moveTo>
                <a:lnTo>
                  <a:pt x="10081" y="0"/>
                </a:lnTo>
                <a:lnTo>
                  <a:pt x="10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6" name=""/>
          <p:cNvSpPr/>
          <p:nvPr/>
        </p:nvSpPr>
        <p:spPr>
          <a:xfrm>
            <a:off x="6581520" y="4533840"/>
            <a:ext cx="5020200" cy="9720"/>
          </a:xfrm>
          <a:custGeom>
            <a:avLst/>
            <a:gdLst/>
            <a:ahLst/>
            <a:rect l="0" t="0" r="r" b="b"/>
            <a:pathLst>
              <a:path w="13945" h="27">
                <a:moveTo>
                  <a:pt x="0" y="0"/>
                </a:moveTo>
                <a:lnTo>
                  <a:pt x="13945" y="0"/>
                </a:lnTo>
                <a:lnTo>
                  <a:pt x="139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590400" y="1796040"/>
            <a:ext cx="706201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表現への強さは、モデルによって違う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590400" y="2621520"/>
            <a:ext cx="721684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すべて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。冒頭だけを変えた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操作の合格数。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723960" y="3256560"/>
            <a:ext cx="7894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5273280" y="3256560"/>
            <a:ext cx="135585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「</a:t>
            </a:r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から」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9741240" y="3256560"/>
            <a:ext cx="2144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「</a:t>
            </a:r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に対して、」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723960" y="3723120"/>
            <a:ext cx="42186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5553720" y="3723120"/>
            <a:ext cx="1033344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12 / 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10728000" y="3723120"/>
            <a:ext cx="8515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 / 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723960" y="4189680"/>
            <a:ext cx="594504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5589360" y="4189680"/>
            <a:ext cx="9923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12 / 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10605960" y="4189680"/>
            <a:ext cx="99235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12 / 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590400" y="4793400"/>
            <a:ext cx="879253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では合格数を保った。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 すべてが同様に崩れるわけではない。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3" name=""/>
          <p:cNvSpPr/>
          <p:nvPr/>
        </p:nvSpPr>
        <p:spPr>
          <a:xfrm>
            <a:off x="599760" y="2628720"/>
            <a:ext cx="8744400" cy="466920"/>
          </a:xfrm>
          <a:custGeom>
            <a:avLst/>
            <a:gdLst/>
            <a:ahLst/>
            <a:rect l="0" t="0" r="r" b="b"/>
            <a:pathLst>
              <a:path w="24290" h="1297">
                <a:moveTo>
                  <a:pt x="0" y="0"/>
                </a:moveTo>
                <a:lnTo>
                  <a:pt x="24290" y="0"/>
                </a:lnTo>
                <a:lnTo>
                  <a:pt x="2429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4" name=""/>
          <p:cNvSpPr/>
          <p:nvPr/>
        </p:nvSpPr>
        <p:spPr>
          <a:xfrm>
            <a:off x="9343800" y="2628720"/>
            <a:ext cx="2257920" cy="466920"/>
          </a:xfrm>
          <a:custGeom>
            <a:avLst/>
            <a:gdLst/>
            <a:ahLst/>
            <a:rect l="0" t="0" r="r" b="b"/>
            <a:pathLst>
              <a:path w="6272" h="1297">
                <a:moveTo>
                  <a:pt x="0" y="0"/>
                </a:moveTo>
                <a:lnTo>
                  <a:pt x="6272" y="0"/>
                </a:lnTo>
                <a:lnTo>
                  <a:pt x="627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5" name=""/>
          <p:cNvSpPr/>
          <p:nvPr/>
        </p:nvSpPr>
        <p:spPr>
          <a:xfrm>
            <a:off x="599760" y="2628720"/>
            <a:ext cx="8744400" cy="466920"/>
          </a:xfrm>
          <a:custGeom>
            <a:avLst/>
            <a:gdLst/>
            <a:ahLst/>
            <a:rect l="0" t="0" r="r" b="b"/>
            <a:pathLst>
              <a:path w="24290" h="1297">
                <a:moveTo>
                  <a:pt x="0" y="0"/>
                </a:moveTo>
                <a:lnTo>
                  <a:pt x="24290" y="0"/>
                </a:lnTo>
                <a:lnTo>
                  <a:pt x="2429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6" name=""/>
          <p:cNvSpPr/>
          <p:nvPr/>
        </p:nvSpPr>
        <p:spPr>
          <a:xfrm>
            <a:off x="9343800" y="2628720"/>
            <a:ext cx="2257920" cy="466920"/>
          </a:xfrm>
          <a:custGeom>
            <a:avLst/>
            <a:gdLst/>
            <a:ahLst/>
            <a:rect l="0" t="0" r="r" b="b"/>
            <a:pathLst>
              <a:path w="6272" h="1297">
                <a:moveTo>
                  <a:pt x="0" y="0"/>
                </a:moveTo>
                <a:lnTo>
                  <a:pt x="6272" y="0"/>
                </a:lnTo>
                <a:lnTo>
                  <a:pt x="627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7" name=""/>
          <p:cNvSpPr/>
          <p:nvPr/>
        </p:nvSpPr>
        <p:spPr>
          <a:xfrm>
            <a:off x="599760" y="3095280"/>
            <a:ext cx="8744400" cy="467280"/>
          </a:xfrm>
          <a:custGeom>
            <a:avLst/>
            <a:gdLst/>
            <a:ahLst/>
            <a:rect l="0" t="0" r="r" b="b"/>
            <a:pathLst>
              <a:path w="24290" h="1298">
                <a:moveTo>
                  <a:pt x="0" y="0"/>
                </a:moveTo>
                <a:lnTo>
                  <a:pt x="24290" y="0"/>
                </a:lnTo>
                <a:lnTo>
                  <a:pt x="2429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8" name=""/>
          <p:cNvSpPr/>
          <p:nvPr/>
        </p:nvSpPr>
        <p:spPr>
          <a:xfrm>
            <a:off x="9343800" y="3095280"/>
            <a:ext cx="2257920" cy="467280"/>
          </a:xfrm>
          <a:custGeom>
            <a:avLst/>
            <a:gdLst/>
            <a:ahLst/>
            <a:rect l="0" t="0" r="r" b="b"/>
            <a:pathLst>
              <a:path w="6272" h="1298">
                <a:moveTo>
                  <a:pt x="0" y="0"/>
                </a:moveTo>
                <a:lnTo>
                  <a:pt x="6272" y="0"/>
                </a:lnTo>
                <a:lnTo>
                  <a:pt x="627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09" name=""/>
          <p:cNvSpPr/>
          <p:nvPr/>
        </p:nvSpPr>
        <p:spPr>
          <a:xfrm>
            <a:off x="599760" y="3562200"/>
            <a:ext cx="8744400" cy="466920"/>
          </a:xfrm>
          <a:custGeom>
            <a:avLst/>
            <a:gdLst/>
            <a:ahLst/>
            <a:rect l="0" t="0" r="r" b="b"/>
            <a:pathLst>
              <a:path w="24290" h="1297">
                <a:moveTo>
                  <a:pt x="0" y="0"/>
                </a:moveTo>
                <a:lnTo>
                  <a:pt x="24290" y="0"/>
                </a:lnTo>
                <a:lnTo>
                  <a:pt x="24290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0" name=""/>
          <p:cNvSpPr/>
          <p:nvPr/>
        </p:nvSpPr>
        <p:spPr>
          <a:xfrm>
            <a:off x="9343800" y="3562200"/>
            <a:ext cx="2257920" cy="466920"/>
          </a:xfrm>
          <a:custGeom>
            <a:avLst/>
            <a:gdLst/>
            <a:ahLst/>
            <a:rect l="0" t="0" r="r" b="b"/>
            <a:pathLst>
              <a:path w="6272" h="1297">
                <a:moveTo>
                  <a:pt x="0" y="0"/>
                </a:moveTo>
                <a:lnTo>
                  <a:pt x="6272" y="0"/>
                </a:lnTo>
                <a:lnTo>
                  <a:pt x="627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1" name=""/>
          <p:cNvSpPr/>
          <p:nvPr/>
        </p:nvSpPr>
        <p:spPr>
          <a:xfrm>
            <a:off x="599760" y="4028760"/>
            <a:ext cx="8744400" cy="467280"/>
          </a:xfrm>
          <a:custGeom>
            <a:avLst/>
            <a:gdLst/>
            <a:ahLst/>
            <a:rect l="0" t="0" r="r" b="b"/>
            <a:pathLst>
              <a:path w="24290" h="1298">
                <a:moveTo>
                  <a:pt x="0" y="0"/>
                </a:moveTo>
                <a:lnTo>
                  <a:pt x="24290" y="0"/>
                </a:lnTo>
                <a:lnTo>
                  <a:pt x="2429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2" name=""/>
          <p:cNvSpPr/>
          <p:nvPr/>
        </p:nvSpPr>
        <p:spPr>
          <a:xfrm>
            <a:off x="9343800" y="4028760"/>
            <a:ext cx="2257920" cy="467280"/>
          </a:xfrm>
          <a:custGeom>
            <a:avLst/>
            <a:gdLst/>
            <a:ahLst/>
            <a:rect l="0" t="0" r="r" b="b"/>
            <a:pathLst>
              <a:path w="6272" h="1298">
                <a:moveTo>
                  <a:pt x="0" y="0"/>
                </a:moveTo>
                <a:lnTo>
                  <a:pt x="6272" y="0"/>
                </a:lnTo>
                <a:lnTo>
                  <a:pt x="6272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3" name=""/>
          <p:cNvSpPr/>
          <p:nvPr/>
        </p:nvSpPr>
        <p:spPr>
          <a:xfrm>
            <a:off x="590400" y="26287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4" name=""/>
          <p:cNvSpPr/>
          <p:nvPr/>
        </p:nvSpPr>
        <p:spPr>
          <a:xfrm>
            <a:off x="590400" y="2628720"/>
            <a:ext cx="8753760" cy="9720"/>
          </a:xfrm>
          <a:custGeom>
            <a:avLst/>
            <a:gdLst/>
            <a:ahLst/>
            <a:rect l="0" t="0" r="r" b="b"/>
            <a:pathLst>
              <a:path w="24316" h="27">
                <a:moveTo>
                  <a:pt x="0" y="0"/>
                </a:moveTo>
                <a:lnTo>
                  <a:pt x="24316" y="0"/>
                </a:lnTo>
                <a:lnTo>
                  <a:pt x="243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5" name=""/>
          <p:cNvSpPr/>
          <p:nvPr/>
        </p:nvSpPr>
        <p:spPr>
          <a:xfrm>
            <a:off x="9334440" y="26287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6" name=""/>
          <p:cNvSpPr/>
          <p:nvPr/>
        </p:nvSpPr>
        <p:spPr>
          <a:xfrm>
            <a:off x="9343800" y="2628720"/>
            <a:ext cx="2257920" cy="9720"/>
          </a:xfrm>
          <a:custGeom>
            <a:avLst/>
            <a:gdLst/>
            <a:ah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7" name=""/>
          <p:cNvSpPr/>
          <p:nvPr/>
        </p:nvSpPr>
        <p:spPr>
          <a:xfrm>
            <a:off x="11591640" y="262872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8" name=""/>
          <p:cNvSpPr/>
          <p:nvPr/>
        </p:nvSpPr>
        <p:spPr>
          <a:xfrm>
            <a:off x="590400" y="3095280"/>
            <a:ext cx="8753760" cy="10080"/>
          </a:xfrm>
          <a:custGeom>
            <a:avLst/>
            <a:gdLst/>
            <a:ahLst/>
            <a:rect l="0" t="0" r="r" b="b"/>
            <a:pathLst>
              <a:path w="24316" h="28">
                <a:moveTo>
                  <a:pt x="0" y="0"/>
                </a:moveTo>
                <a:lnTo>
                  <a:pt x="24316" y="0"/>
                </a:lnTo>
                <a:lnTo>
                  <a:pt x="243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19" name=""/>
          <p:cNvSpPr/>
          <p:nvPr/>
        </p:nvSpPr>
        <p:spPr>
          <a:xfrm>
            <a:off x="9343800" y="3095280"/>
            <a:ext cx="2257920" cy="10080"/>
          </a:xfrm>
          <a:custGeom>
            <a:avLst/>
            <a:gdLst/>
            <a:ah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0" name=""/>
          <p:cNvSpPr/>
          <p:nvPr/>
        </p:nvSpPr>
        <p:spPr>
          <a:xfrm>
            <a:off x="590400" y="310500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1" name=""/>
          <p:cNvSpPr/>
          <p:nvPr/>
        </p:nvSpPr>
        <p:spPr>
          <a:xfrm>
            <a:off x="9334440" y="310500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2" name=""/>
          <p:cNvSpPr/>
          <p:nvPr/>
        </p:nvSpPr>
        <p:spPr>
          <a:xfrm>
            <a:off x="11591640" y="310500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3" name=""/>
          <p:cNvSpPr/>
          <p:nvPr/>
        </p:nvSpPr>
        <p:spPr>
          <a:xfrm>
            <a:off x="590400" y="35715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4" name=""/>
          <p:cNvSpPr/>
          <p:nvPr/>
        </p:nvSpPr>
        <p:spPr>
          <a:xfrm>
            <a:off x="590400" y="3562200"/>
            <a:ext cx="8753760" cy="9720"/>
          </a:xfrm>
          <a:custGeom>
            <a:avLst/>
            <a:gdLst/>
            <a:ahLst/>
            <a:rect l="0" t="0" r="r" b="b"/>
            <a:pathLst>
              <a:path w="24316" h="27">
                <a:moveTo>
                  <a:pt x="0" y="0"/>
                </a:moveTo>
                <a:lnTo>
                  <a:pt x="24316" y="0"/>
                </a:lnTo>
                <a:lnTo>
                  <a:pt x="243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5" name=""/>
          <p:cNvSpPr/>
          <p:nvPr/>
        </p:nvSpPr>
        <p:spPr>
          <a:xfrm>
            <a:off x="9334440" y="357156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6" name=""/>
          <p:cNvSpPr/>
          <p:nvPr/>
        </p:nvSpPr>
        <p:spPr>
          <a:xfrm>
            <a:off x="9343800" y="3562200"/>
            <a:ext cx="2257920" cy="9720"/>
          </a:xfrm>
          <a:custGeom>
            <a:avLst/>
            <a:gdLst/>
            <a:ah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7" name=""/>
          <p:cNvSpPr/>
          <p:nvPr/>
        </p:nvSpPr>
        <p:spPr>
          <a:xfrm>
            <a:off x="11591640" y="357156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8" name=""/>
          <p:cNvSpPr/>
          <p:nvPr/>
        </p:nvSpPr>
        <p:spPr>
          <a:xfrm>
            <a:off x="590400" y="40384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29" name=""/>
          <p:cNvSpPr/>
          <p:nvPr/>
        </p:nvSpPr>
        <p:spPr>
          <a:xfrm>
            <a:off x="590400" y="4028760"/>
            <a:ext cx="8753760" cy="10080"/>
          </a:xfrm>
          <a:custGeom>
            <a:avLst/>
            <a:gdLst/>
            <a:ahLst/>
            <a:rect l="0" t="0" r="r" b="b"/>
            <a:pathLst>
              <a:path w="24316" h="28">
                <a:moveTo>
                  <a:pt x="0" y="0"/>
                </a:moveTo>
                <a:lnTo>
                  <a:pt x="24316" y="0"/>
                </a:lnTo>
                <a:lnTo>
                  <a:pt x="243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0" name=""/>
          <p:cNvSpPr/>
          <p:nvPr/>
        </p:nvSpPr>
        <p:spPr>
          <a:xfrm>
            <a:off x="9334440" y="40384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1" name=""/>
          <p:cNvSpPr/>
          <p:nvPr/>
        </p:nvSpPr>
        <p:spPr>
          <a:xfrm>
            <a:off x="9343800" y="4028760"/>
            <a:ext cx="2257920" cy="10080"/>
          </a:xfrm>
          <a:custGeom>
            <a:avLst/>
            <a:gdLst/>
            <a:ah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2" name=""/>
          <p:cNvSpPr/>
          <p:nvPr/>
        </p:nvSpPr>
        <p:spPr>
          <a:xfrm>
            <a:off x="11591640" y="403848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3" name=""/>
          <p:cNvSpPr/>
          <p:nvPr/>
        </p:nvSpPr>
        <p:spPr>
          <a:xfrm>
            <a:off x="590400" y="4495680"/>
            <a:ext cx="8753760" cy="9720"/>
          </a:xfrm>
          <a:custGeom>
            <a:avLst/>
            <a:gdLst/>
            <a:ahLst/>
            <a:rect l="0" t="0" r="r" b="b"/>
            <a:pathLst>
              <a:path w="24316" h="27">
                <a:moveTo>
                  <a:pt x="0" y="0"/>
                </a:moveTo>
                <a:lnTo>
                  <a:pt x="24316" y="0"/>
                </a:lnTo>
                <a:lnTo>
                  <a:pt x="243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4" name=""/>
          <p:cNvSpPr/>
          <p:nvPr/>
        </p:nvSpPr>
        <p:spPr>
          <a:xfrm>
            <a:off x="9343800" y="4495680"/>
            <a:ext cx="2257920" cy="9720"/>
          </a:xfrm>
          <a:custGeom>
            <a:avLst/>
            <a:gdLst/>
            <a:ah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590400" y="1281600"/>
            <a:ext cx="830815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学習データの文型との結び付きが考えられる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590400" y="2107440"/>
            <a:ext cx="870642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訓練データで「整数リスト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xs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に対して、」と始まる指示は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84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723960" y="2751480"/>
            <a:ext cx="289261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その文型で学習した処理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11010960" y="2751480"/>
            <a:ext cx="52660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件数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723960" y="321840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11310480" y="3218400"/>
            <a:ext cx="26247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723960" y="368496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11317680" y="3684960"/>
            <a:ext cx="26247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723960" y="4151880"/>
            <a:ext cx="69924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11167560" y="4151880"/>
            <a:ext cx="346104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83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5" name=""/>
          <p:cNvSpPr txBox="1"/>
          <p:nvPr/>
        </p:nvSpPr>
        <p:spPr>
          <a:xfrm>
            <a:off x="590400" y="4755240"/>
            <a:ext cx="7998066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この文型を、複数の操作と結び付けて覚えた可能性がある。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590400" y="5307840"/>
            <a:ext cx="651718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原因の確定には、教材を変えた追加比較が必要。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1" name=""/>
          <p:cNvSpPr/>
          <p:nvPr/>
        </p:nvSpPr>
        <p:spPr>
          <a:xfrm>
            <a:off x="599760" y="2590560"/>
            <a:ext cx="4410720" cy="495720"/>
          </a:xfrm>
          <a:custGeom>
            <a:avLst/>
            <a:gdLst/>
            <a:ahLst/>
            <a:rect l="0" t="0" r="r" b="b"/>
            <a:pathLst>
              <a:path w="12252" h="1377">
                <a:moveTo>
                  <a:pt x="0" y="0"/>
                </a:moveTo>
                <a:lnTo>
                  <a:pt x="12252" y="0"/>
                </a:lnTo>
                <a:lnTo>
                  <a:pt x="1225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2" name=""/>
          <p:cNvSpPr/>
          <p:nvPr/>
        </p:nvSpPr>
        <p:spPr>
          <a:xfrm>
            <a:off x="5010120" y="2590560"/>
            <a:ext cx="6591600" cy="495720"/>
          </a:xfrm>
          <a:custGeom>
            <a:avLst/>
            <a:gdLst/>
            <a:ahLst/>
            <a:rect l="0" t="0" r="r" b="b"/>
            <a:pathLst>
              <a:path w="18310" h="1377">
                <a:moveTo>
                  <a:pt x="0" y="0"/>
                </a:moveTo>
                <a:lnTo>
                  <a:pt x="18310" y="0"/>
                </a:lnTo>
                <a:lnTo>
                  <a:pt x="183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3" name=""/>
          <p:cNvSpPr/>
          <p:nvPr/>
        </p:nvSpPr>
        <p:spPr>
          <a:xfrm>
            <a:off x="599760" y="2590560"/>
            <a:ext cx="4410720" cy="495720"/>
          </a:xfrm>
          <a:custGeom>
            <a:avLst/>
            <a:gdLst/>
            <a:ahLst/>
            <a:rect l="0" t="0" r="r" b="b"/>
            <a:pathLst>
              <a:path w="12252" h="1377">
                <a:moveTo>
                  <a:pt x="0" y="0"/>
                </a:moveTo>
                <a:lnTo>
                  <a:pt x="12252" y="0"/>
                </a:lnTo>
                <a:lnTo>
                  <a:pt x="1225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4" name=""/>
          <p:cNvSpPr/>
          <p:nvPr/>
        </p:nvSpPr>
        <p:spPr>
          <a:xfrm>
            <a:off x="5010120" y="2590560"/>
            <a:ext cx="6591600" cy="495720"/>
          </a:xfrm>
          <a:custGeom>
            <a:avLst/>
            <a:gdLst/>
            <a:ahLst/>
            <a:rect l="0" t="0" r="r" b="b"/>
            <a:pathLst>
              <a:path w="18310" h="1377">
                <a:moveTo>
                  <a:pt x="0" y="0"/>
                </a:moveTo>
                <a:lnTo>
                  <a:pt x="18310" y="0"/>
                </a:lnTo>
                <a:lnTo>
                  <a:pt x="183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5" name=""/>
          <p:cNvSpPr/>
          <p:nvPr/>
        </p:nvSpPr>
        <p:spPr>
          <a:xfrm>
            <a:off x="599760" y="3085920"/>
            <a:ext cx="4410720" cy="495720"/>
          </a:xfrm>
          <a:custGeom>
            <a:avLst/>
            <a:gdLst/>
            <a:ahLst/>
            <a:rect l="0" t="0" r="r" b="b"/>
            <a:pathLst>
              <a:path w="12252" h="1377">
                <a:moveTo>
                  <a:pt x="0" y="0"/>
                </a:moveTo>
                <a:lnTo>
                  <a:pt x="12252" y="0"/>
                </a:lnTo>
                <a:lnTo>
                  <a:pt x="1225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6" name=""/>
          <p:cNvSpPr/>
          <p:nvPr/>
        </p:nvSpPr>
        <p:spPr>
          <a:xfrm>
            <a:off x="5010120" y="3085920"/>
            <a:ext cx="6591600" cy="495720"/>
          </a:xfrm>
          <a:custGeom>
            <a:avLst/>
            <a:gdLst/>
            <a:ahLst/>
            <a:rect l="0" t="0" r="r" b="b"/>
            <a:pathLst>
              <a:path w="18310" h="1377">
                <a:moveTo>
                  <a:pt x="0" y="0"/>
                </a:moveTo>
                <a:lnTo>
                  <a:pt x="18310" y="0"/>
                </a:lnTo>
                <a:lnTo>
                  <a:pt x="183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7" name=""/>
          <p:cNvSpPr/>
          <p:nvPr/>
        </p:nvSpPr>
        <p:spPr>
          <a:xfrm>
            <a:off x="599760" y="3581280"/>
            <a:ext cx="4410720" cy="495720"/>
          </a:xfrm>
          <a:custGeom>
            <a:avLst/>
            <a:gdLst/>
            <a:ahLst/>
            <a:rect l="0" t="0" r="r" b="b"/>
            <a:pathLst>
              <a:path w="12252" h="1377">
                <a:moveTo>
                  <a:pt x="0" y="0"/>
                </a:moveTo>
                <a:lnTo>
                  <a:pt x="12252" y="0"/>
                </a:lnTo>
                <a:lnTo>
                  <a:pt x="1225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8" name=""/>
          <p:cNvSpPr/>
          <p:nvPr/>
        </p:nvSpPr>
        <p:spPr>
          <a:xfrm>
            <a:off x="5010120" y="3581280"/>
            <a:ext cx="6591600" cy="495720"/>
          </a:xfrm>
          <a:custGeom>
            <a:avLst/>
            <a:gdLst/>
            <a:ahLst/>
            <a:rect l="0" t="0" r="r" b="b"/>
            <a:pathLst>
              <a:path w="18310" h="1377">
                <a:moveTo>
                  <a:pt x="0" y="0"/>
                </a:moveTo>
                <a:lnTo>
                  <a:pt x="18310" y="0"/>
                </a:lnTo>
                <a:lnTo>
                  <a:pt x="183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59" name=""/>
          <p:cNvSpPr/>
          <p:nvPr/>
        </p:nvSpPr>
        <p:spPr>
          <a:xfrm>
            <a:off x="599760" y="4076640"/>
            <a:ext cx="4410720" cy="495360"/>
          </a:xfrm>
          <a:custGeom>
            <a:avLst/>
            <a:gdLst/>
            <a:ahLst/>
            <a:rect l="0" t="0" r="r" b="b"/>
            <a:pathLst>
              <a:path w="12252" h="1376">
                <a:moveTo>
                  <a:pt x="0" y="0"/>
                </a:moveTo>
                <a:lnTo>
                  <a:pt x="12252" y="0"/>
                </a:lnTo>
                <a:lnTo>
                  <a:pt x="12252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0" name=""/>
          <p:cNvSpPr/>
          <p:nvPr/>
        </p:nvSpPr>
        <p:spPr>
          <a:xfrm>
            <a:off x="5010120" y="4076640"/>
            <a:ext cx="6591600" cy="495360"/>
          </a:xfrm>
          <a:custGeom>
            <a:avLst/>
            <a:gdLst/>
            <a:ahLst/>
            <a:rect l="0" t="0" r="r" b="b"/>
            <a:pathLst>
              <a:path w="18310" h="1376">
                <a:moveTo>
                  <a:pt x="0" y="0"/>
                </a:moveTo>
                <a:lnTo>
                  <a:pt x="18310" y="0"/>
                </a:lnTo>
                <a:lnTo>
                  <a:pt x="1831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1" name=""/>
          <p:cNvSpPr/>
          <p:nvPr/>
        </p:nvSpPr>
        <p:spPr>
          <a:xfrm>
            <a:off x="590400" y="25812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2" name=""/>
          <p:cNvSpPr/>
          <p:nvPr/>
        </p:nvSpPr>
        <p:spPr>
          <a:xfrm>
            <a:off x="590400" y="2581200"/>
            <a:ext cx="4420080" cy="9720"/>
          </a:xfrm>
          <a:custGeom>
            <a:avLst/>
            <a:gdLst/>
            <a:ahLst/>
            <a:rect l="0" t="0" r="r" b="b"/>
            <a:pathLst>
              <a:path w="12278" h="27">
                <a:moveTo>
                  <a:pt x="0" y="0"/>
                </a:moveTo>
                <a:lnTo>
                  <a:pt x="12278" y="0"/>
                </a:lnTo>
                <a:lnTo>
                  <a:pt x="12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3" name=""/>
          <p:cNvSpPr/>
          <p:nvPr/>
        </p:nvSpPr>
        <p:spPr>
          <a:xfrm>
            <a:off x="5000400" y="25812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4" name=""/>
          <p:cNvSpPr/>
          <p:nvPr/>
        </p:nvSpPr>
        <p:spPr>
          <a:xfrm>
            <a:off x="5010120" y="2581200"/>
            <a:ext cx="6591600" cy="9720"/>
          </a:xfrm>
          <a:custGeom>
            <a:avLst/>
            <a:gdLst/>
            <a:ahLst/>
            <a:rect l="0" t="0" r="r" b="b"/>
            <a:pathLst>
              <a:path w="18310" h="27">
                <a:moveTo>
                  <a:pt x="0" y="0"/>
                </a:moveTo>
                <a:lnTo>
                  <a:pt x="18310" y="0"/>
                </a:lnTo>
                <a:lnTo>
                  <a:pt x="183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5" name=""/>
          <p:cNvSpPr/>
          <p:nvPr/>
        </p:nvSpPr>
        <p:spPr>
          <a:xfrm>
            <a:off x="11591640" y="25812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6" name=""/>
          <p:cNvSpPr/>
          <p:nvPr/>
        </p:nvSpPr>
        <p:spPr>
          <a:xfrm>
            <a:off x="590400" y="3076560"/>
            <a:ext cx="4420080" cy="9720"/>
          </a:xfrm>
          <a:custGeom>
            <a:avLst/>
            <a:gdLst/>
            <a:ahLst/>
            <a:rect l="0" t="0" r="r" b="b"/>
            <a:pathLst>
              <a:path w="12278" h="27">
                <a:moveTo>
                  <a:pt x="0" y="0"/>
                </a:moveTo>
                <a:lnTo>
                  <a:pt x="12278" y="0"/>
                </a:lnTo>
                <a:lnTo>
                  <a:pt x="12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7" name=""/>
          <p:cNvSpPr/>
          <p:nvPr/>
        </p:nvSpPr>
        <p:spPr>
          <a:xfrm>
            <a:off x="5010120" y="3076560"/>
            <a:ext cx="6591600" cy="9720"/>
          </a:xfrm>
          <a:custGeom>
            <a:avLst/>
            <a:gdLst/>
            <a:ahLst/>
            <a:rect l="0" t="0" r="r" b="b"/>
            <a:pathLst>
              <a:path w="18310" h="27">
                <a:moveTo>
                  <a:pt x="0" y="0"/>
                </a:moveTo>
                <a:lnTo>
                  <a:pt x="18310" y="0"/>
                </a:lnTo>
                <a:lnTo>
                  <a:pt x="183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8" name=""/>
          <p:cNvSpPr/>
          <p:nvPr/>
        </p:nvSpPr>
        <p:spPr>
          <a:xfrm>
            <a:off x="590400" y="30859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69" name=""/>
          <p:cNvSpPr/>
          <p:nvPr/>
        </p:nvSpPr>
        <p:spPr>
          <a:xfrm>
            <a:off x="5000400" y="30859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0" name=""/>
          <p:cNvSpPr/>
          <p:nvPr/>
        </p:nvSpPr>
        <p:spPr>
          <a:xfrm>
            <a:off x="11591640" y="30859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1" name=""/>
          <p:cNvSpPr/>
          <p:nvPr/>
        </p:nvSpPr>
        <p:spPr>
          <a:xfrm>
            <a:off x="590400" y="35812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2" name=""/>
          <p:cNvSpPr/>
          <p:nvPr/>
        </p:nvSpPr>
        <p:spPr>
          <a:xfrm>
            <a:off x="590400" y="3571560"/>
            <a:ext cx="4420080" cy="10080"/>
          </a:xfrm>
          <a:custGeom>
            <a:avLst/>
            <a:gdLst/>
            <a:ahLst/>
            <a:rect l="0" t="0" r="r" b="b"/>
            <a:pathLst>
              <a:path w="12278" h="28">
                <a:moveTo>
                  <a:pt x="0" y="0"/>
                </a:moveTo>
                <a:lnTo>
                  <a:pt x="12278" y="0"/>
                </a:lnTo>
                <a:lnTo>
                  <a:pt x="122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3" name=""/>
          <p:cNvSpPr/>
          <p:nvPr/>
        </p:nvSpPr>
        <p:spPr>
          <a:xfrm>
            <a:off x="5000400" y="35812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4" name=""/>
          <p:cNvSpPr/>
          <p:nvPr/>
        </p:nvSpPr>
        <p:spPr>
          <a:xfrm>
            <a:off x="5010120" y="3571560"/>
            <a:ext cx="6591600" cy="10080"/>
          </a:xfrm>
          <a:custGeom>
            <a:avLst/>
            <a:gdLst/>
            <a:ahLst/>
            <a:rect l="0" t="0" r="r" b="b"/>
            <a:pathLst>
              <a:path w="18310" h="28">
                <a:moveTo>
                  <a:pt x="0" y="0"/>
                </a:moveTo>
                <a:lnTo>
                  <a:pt x="18310" y="0"/>
                </a:lnTo>
                <a:lnTo>
                  <a:pt x="183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5" name=""/>
          <p:cNvSpPr/>
          <p:nvPr/>
        </p:nvSpPr>
        <p:spPr>
          <a:xfrm>
            <a:off x="11591640" y="35812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6" name=""/>
          <p:cNvSpPr/>
          <p:nvPr/>
        </p:nvSpPr>
        <p:spPr>
          <a:xfrm>
            <a:off x="590400" y="40766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7" name=""/>
          <p:cNvSpPr/>
          <p:nvPr/>
        </p:nvSpPr>
        <p:spPr>
          <a:xfrm>
            <a:off x="590400" y="4066920"/>
            <a:ext cx="4420080" cy="10080"/>
          </a:xfrm>
          <a:custGeom>
            <a:avLst/>
            <a:gdLst/>
            <a:ahLst/>
            <a:rect l="0" t="0" r="r" b="b"/>
            <a:pathLst>
              <a:path w="12278" h="28">
                <a:moveTo>
                  <a:pt x="0" y="0"/>
                </a:moveTo>
                <a:lnTo>
                  <a:pt x="12278" y="0"/>
                </a:lnTo>
                <a:lnTo>
                  <a:pt x="122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8" name=""/>
          <p:cNvSpPr/>
          <p:nvPr/>
        </p:nvSpPr>
        <p:spPr>
          <a:xfrm>
            <a:off x="5000400" y="40766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79" name=""/>
          <p:cNvSpPr/>
          <p:nvPr/>
        </p:nvSpPr>
        <p:spPr>
          <a:xfrm>
            <a:off x="5010120" y="4066920"/>
            <a:ext cx="6591600" cy="10080"/>
          </a:xfrm>
          <a:custGeom>
            <a:avLst/>
            <a:gdLst/>
            <a:ahLst/>
            <a:rect l="0" t="0" r="r" b="b"/>
            <a:pathLst>
              <a:path w="18310" h="28">
                <a:moveTo>
                  <a:pt x="0" y="0"/>
                </a:moveTo>
                <a:lnTo>
                  <a:pt x="18310" y="0"/>
                </a:lnTo>
                <a:lnTo>
                  <a:pt x="183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0" name=""/>
          <p:cNvSpPr/>
          <p:nvPr/>
        </p:nvSpPr>
        <p:spPr>
          <a:xfrm>
            <a:off x="11591640" y="40766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1" name=""/>
          <p:cNvSpPr/>
          <p:nvPr/>
        </p:nvSpPr>
        <p:spPr>
          <a:xfrm>
            <a:off x="590400" y="4562280"/>
            <a:ext cx="4420080" cy="9720"/>
          </a:xfrm>
          <a:custGeom>
            <a:avLst/>
            <a:gdLst/>
            <a:ahLst/>
            <a:rect l="0" t="0" r="r" b="b"/>
            <a:pathLst>
              <a:path w="12278" h="27">
                <a:moveTo>
                  <a:pt x="0" y="0"/>
                </a:moveTo>
                <a:lnTo>
                  <a:pt x="12278" y="0"/>
                </a:lnTo>
                <a:lnTo>
                  <a:pt x="12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2" name=""/>
          <p:cNvSpPr/>
          <p:nvPr/>
        </p:nvSpPr>
        <p:spPr>
          <a:xfrm>
            <a:off x="5010120" y="4562280"/>
            <a:ext cx="6591600" cy="9720"/>
          </a:xfrm>
          <a:custGeom>
            <a:avLst/>
            <a:gdLst/>
            <a:ahLst/>
            <a:rect l="0" t="0" r="r" b="b"/>
            <a:pathLst>
              <a:path w="18310" h="27">
                <a:moveTo>
                  <a:pt x="0" y="0"/>
                </a:moveTo>
                <a:lnTo>
                  <a:pt x="18310" y="0"/>
                </a:lnTo>
                <a:lnTo>
                  <a:pt x="183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590400" y="1272240"/>
            <a:ext cx="581587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モデルが情報を読み取る仕組み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590400" y="2095560"/>
            <a:ext cx="1039015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アテンション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は、次のコードを作るときに、どこから情報を読むかを決める仕組み。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714240" y="2720880"/>
            <a:ext cx="16816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参照できる情報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5125680" y="2720880"/>
            <a:ext cx="4810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内容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714240" y="3215880"/>
            <a:ext cx="144154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日本語の指示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5125680" y="3215880"/>
            <a:ext cx="38423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「偶数」「残す」など、求める処理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714240" y="3711240"/>
            <a:ext cx="240202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すでに生成したコード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5125680" y="3711240"/>
            <a:ext cx="28822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変数名、構文、処理の続き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714240" y="4206600"/>
            <a:ext cx="144154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開始の印など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5125680" y="4206600"/>
            <a:ext cx="240202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入力の始まりや区切り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590400" y="4819680"/>
            <a:ext cx="765610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参照割合だけでは、その情報が必要だったかは確定できない。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590400" y="5353200"/>
            <a:ext cx="710920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情報の受け渡しを止めて、生成結果が変わるかを調べる。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590400" y="786240"/>
            <a:ext cx="4985388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アテンションの図の読み方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3143160" y="1482480"/>
            <a:ext cx="216190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入力の指示・区切り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6915240" y="1482480"/>
            <a:ext cx="16816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生成済みコード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1619280" y="3007440"/>
            <a:ext cx="505494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生成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1619280" y="3350520"/>
            <a:ext cx="1010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ステップ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1304" name=""/>
          <p:cNvPicPr/>
          <p:nvPr/>
        </p:nvPicPr>
        <p:blipFill>
          <a:blip r:embed="rId1"/>
          <a:stretch/>
        </p:blipFill>
        <p:spPr>
          <a:xfrm>
            <a:off x="3143160" y="1828800"/>
            <a:ext cx="5238360" cy="32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5" name=""/>
          <p:cNvSpPr txBox="1"/>
          <p:nvPr/>
        </p:nvSpPr>
        <p:spPr>
          <a:xfrm>
            <a:off x="1619280" y="3683880"/>
            <a:ext cx="253368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↓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8715240" y="3007440"/>
            <a:ext cx="12627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薄い：弱い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8715240" y="3683880"/>
            <a:ext cx="12627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濃い：強い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4572000" y="5256720"/>
            <a:ext cx="350575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横：参照するトークン位置 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590400" y="5848200"/>
            <a:ext cx="700239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濃い位置ほど強く参照。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・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エポックの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L8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・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H5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の例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590400" y="203760"/>
            <a:ext cx="246123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5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6. </a:t>
            </a:r>
            <a:r>
              <a:rPr lang="ja-JP" sz="15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アテンションの可視化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11705760" y="645732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590400" y="725760"/>
            <a:ext cx="4484862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1M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attention 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の可視化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1316" name=""/>
          <p:cNvPicPr/>
          <p:nvPr/>
        </p:nvPicPr>
        <p:blipFill>
          <a:blip r:embed="rId1"/>
          <a:stretch/>
        </p:blipFill>
        <p:spPr>
          <a:xfrm>
            <a:off x="2600280" y="1781280"/>
            <a:ext cx="699084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7" name=""/>
          <p:cNvSpPr txBox="1"/>
          <p:nvPr/>
        </p:nvSpPr>
        <p:spPr>
          <a:xfrm>
            <a:off x="590400" y="1378800"/>
            <a:ext cx="5552982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同じ指示：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各要素を絶対値にして、降順に並べる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590400" y="5569920"/>
            <a:ext cx="82386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生成結果：未定義の 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result 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を参照し、この指示では実行できなかった。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590400" y="5984280"/>
            <a:ext cx="6466266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色は各モデル内の相対的な強さ。モデル間で濃さを直接比較しない。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285840" y="239760"/>
            <a:ext cx="220496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6.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アテンションの可視化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29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590400" y="725760"/>
            <a:ext cx="664677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attention 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の可視化（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L1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〜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L3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1326" name=""/>
          <p:cNvPicPr/>
          <p:nvPr/>
        </p:nvPicPr>
        <p:blipFill>
          <a:blip r:embed="rId1"/>
          <a:stretch/>
        </p:blipFill>
        <p:spPr>
          <a:xfrm>
            <a:off x="2600280" y="1781280"/>
            <a:ext cx="699084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7" name=""/>
          <p:cNvSpPr txBox="1"/>
          <p:nvPr/>
        </p:nvSpPr>
        <p:spPr>
          <a:xfrm>
            <a:off x="590400" y="1378800"/>
            <a:ext cx="5552982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同じ指示：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各要素を絶対値にして、降順に並べる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590400" y="5569920"/>
            <a:ext cx="8738298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生成結果：絶対値の処理は生成したが、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加算が入り、降順の処理が抜けた。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590400" y="5984280"/>
            <a:ext cx="6466266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色は各モデル内の相対的な強さ。モデル間で濃さを直接比較しない。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285840" y="239760"/>
            <a:ext cx="220496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6.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アテンションの可視化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590400" y="725760"/>
            <a:ext cx="664677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attention 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の可視化（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L4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〜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L5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1336" name=""/>
          <p:cNvPicPr/>
          <p:nvPr/>
        </p:nvPicPr>
        <p:blipFill>
          <a:blip r:embed="rId1"/>
          <a:stretch/>
        </p:blipFill>
        <p:spPr>
          <a:xfrm>
            <a:off x="866880" y="1781280"/>
            <a:ext cx="1045800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7" name=""/>
          <p:cNvSpPr txBox="1"/>
          <p:nvPr/>
        </p:nvSpPr>
        <p:spPr>
          <a:xfrm>
            <a:off x="590400" y="1378800"/>
            <a:ext cx="5552982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同じ指示：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各要素を絶対値にして、降順に並べる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590400" y="5569920"/>
            <a:ext cx="8738298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生成結果：絶対値の処理は生成したが、</a:t>
            </a:r>
            <a:r>
              <a:rPr lang="en-US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k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加算が入り、降順の処理が抜けた。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590400" y="5984280"/>
            <a:ext cx="6466266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色は各モデル内の相対的な強さ。モデル間で濃さを直接比較しない。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285840" y="239760"/>
            <a:ext cx="220496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6.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アテンションの可視化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590400" y="725760"/>
            <a:ext cx="691173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attention 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の可視化（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L1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〜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L4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1346" name=""/>
          <p:cNvPicPr/>
          <p:nvPr/>
        </p:nvPicPr>
        <p:blipFill>
          <a:blip r:embed="rId1"/>
          <a:stretch/>
        </p:blipFill>
        <p:spPr>
          <a:xfrm>
            <a:off x="2124000" y="1781280"/>
            <a:ext cx="794340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7" name=""/>
          <p:cNvSpPr txBox="1"/>
          <p:nvPr/>
        </p:nvSpPr>
        <p:spPr>
          <a:xfrm>
            <a:off x="590400" y="1378800"/>
            <a:ext cx="5552982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同じ指示：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各要素を絶対値にして、降順に並べる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590400" y="5569920"/>
            <a:ext cx="6814854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生成結果：絶対値を取って降順に並べるコードを生成した。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590400" y="5984280"/>
            <a:ext cx="6466266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色は各モデル内の相対的な強さ。モデル間で濃さを直接比較しない。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285840" y="239760"/>
            <a:ext cx="220496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6.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アテンションの可視化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590400" y="725760"/>
            <a:ext cx="691173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：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attention 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の可視化（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L5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〜</a:t>
            </a:r>
            <a:r>
              <a:rPr lang="en-US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L8</a:t>
            </a:r>
            <a:r>
              <a:rPr lang="ja-JP" sz="26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）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pic>
        <p:nvPicPr>
          <p:cNvPr id="1356" name=""/>
          <p:cNvPicPr/>
          <p:nvPr/>
        </p:nvPicPr>
        <p:blipFill>
          <a:blip r:embed="rId1"/>
          <a:stretch/>
        </p:blipFill>
        <p:spPr>
          <a:xfrm>
            <a:off x="2124000" y="1781280"/>
            <a:ext cx="794340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7" name=""/>
          <p:cNvSpPr txBox="1"/>
          <p:nvPr/>
        </p:nvSpPr>
        <p:spPr>
          <a:xfrm>
            <a:off x="590400" y="1378800"/>
            <a:ext cx="5552982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同じ指示：</a:t>
            </a:r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各要素を絶対値にして、降順に並べる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590400" y="5569920"/>
            <a:ext cx="6814854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729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生成結果：絶対値を取って降順に並べるコードを生成した。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590400" y="5984280"/>
            <a:ext cx="6466266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430" b="0" u="none" strike="noStrike">
                <a:solidFill>
                  <a:srgbClr val="52606D"/>
                </a:solidFill>
                <a:effectLst/>
                <a:uFillTx/>
                <a:latin typeface="Hiragino Sans"/>
                <a:ea typeface="Hiragino Sans"/>
              </a:rPr>
              <a:t>色は各モデル内の相対的な強さ。モデル間で濃さを直接比較しない。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285840" y="239760"/>
            <a:ext cx="220496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6. </a:t>
            </a:r>
            <a:r>
              <a:rPr lang="ja-JP" sz="1350" b="0" u="none" strike="noStrike">
                <a:solidFill>
                  <a:srgbClr val="666666"/>
                </a:solidFill>
                <a:effectLst/>
                <a:uFillTx/>
                <a:latin typeface="Hiragino Sans"/>
                <a:ea typeface="Hiragino Sans"/>
              </a:rPr>
              <a:t>アテンションの可視化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5" name=""/>
          <p:cNvSpPr/>
          <p:nvPr/>
        </p:nvSpPr>
        <p:spPr>
          <a:xfrm>
            <a:off x="599760" y="2590560"/>
            <a:ext cx="2010240" cy="495720"/>
          </a:xfrm>
          <a:custGeom>
            <a:avLst/>
            <a:gdLst/>
            <a:ahLst/>
            <a:rect l="0" t="0" r="r" b="b"/>
            <a:pathLst>
              <a:path w="5584" h="1377">
                <a:moveTo>
                  <a:pt x="0" y="0"/>
                </a:moveTo>
                <a:lnTo>
                  <a:pt x="5584" y="0"/>
                </a:lnTo>
                <a:lnTo>
                  <a:pt x="558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6" name=""/>
          <p:cNvSpPr/>
          <p:nvPr/>
        </p:nvSpPr>
        <p:spPr>
          <a:xfrm>
            <a:off x="2609640" y="2590560"/>
            <a:ext cx="3019680" cy="495720"/>
          </a:xfrm>
          <a:custGeom>
            <a:avLst/>
            <a:gdLst/>
            <a:ahLst/>
            <a:rect l="0" t="0" r="r" b="b"/>
            <a:pathLst>
              <a:path w="8388" h="1377">
                <a:moveTo>
                  <a:pt x="0" y="0"/>
                </a:moveTo>
                <a:lnTo>
                  <a:pt x="8388" y="0"/>
                </a:lnTo>
                <a:lnTo>
                  <a:pt x="838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7" name=""/>
          <p:cNvSpPr/>
          <p:nvPr/>
        </p:nvSpPr>
        <p:spPr>
          <a:xfrm>
            <a:off x="5628960" y="2590560"/>
            <a:ext cx="5972760" cy="495720"/>
          </a:xfrm>
          <a:custGeom>
            <a:avLst/>
            <a:gdLst/>
            <a:ahLst/>
            <a:rect l="0" t="0" r="r" b="b"/>
            <a:pathLst>
              <a:path w="16591" h="1377">
                <a:moveTo>
                  <a:pt x="0" y="0"/>
                </a:moveTo>
                <a:lnTo>
                  <a:pt x="16591" y="0"/>
                </a:lnTo>
                <a:lnTo>
                  <a:pt x="1659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8" name=""/>
          <p:cNvSpPr/>
          <p:nvPr/>
        </p:nvSpPr>
        <p:spPr>
          <a:xfrm>
            <a:off x="599760" y="2590560"/>
            <a:ext cx="2010240" cy="495720"/>
          </a:xfrm>
          <a:custGeom>
            <a:avLst/>
            <a:gdLst/>
            <a:ahLst/>
            <a:rect l="0" t="0" r="r" b="b"/>
            <a:pathLst>
              <a:path w="5584" h="1377">
                <a:moveTo>
                  <a:pt x="0" y="0"/>
                </a:moveTo>
                <a:lnTo>
                  <a:pt x="5584" y="0"/>
                </a:lnTo>
                <a:lnTo>
                  <a:pt x="558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69" name=""/>
          <p:cNvSpPr/>
          <p:nvPr/>
        </p:nvSpPr>
        <p:spPr>
          <a:xfrm>
            <a:off x="2609640" y="2590560"/>
            <a:ext cx="3019680" cy="495720"/>
          </a:xfrm>
          <a:custGeom>
            <a:avLst/>
            <a:gdLst/>
            <a:ahLst/>
            <a:rect l="0" t="0" r="r" b="b"/>
            <a:pathLst>
              <a:path w="8388" h="1377">
                <a:moveTo>
                  <a:pt x="0" y="0"/>
                </a:moveTo>
                <a:lnTo>
                  <a:pt x="8388" y="0"/>
                </a:lnTo>
                <a:lnTo>
                  <a:pt x="838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0" name=""/>
          <p:cNvSpPr/>
          <p:nvPr/>
        </p:nvSpPr>
        <p:spPr>
          <a:xfrm>
            <a:off x="5628960" y="2590560"/>
            <a:ext cx="5972760" cy="495720"/>
          </a:xfrm>
          <a:custGeom>
            <a:avLst/>
            <a:gdLst/>
            <a:ahLst/>
            <a:rect l="0" t="0" r="r" b="b"/>
            <a:pathLst>
              <a:path w="16591" h="1377">
                <a:moveTo>
                  <a:pt x="0" y="0"/>
                </a:moveTo>
                <a:lnTo>
                  <a:pt x="16591" y="0"/>
                </a:lnTo>
                <a:lnTo>
                  <a:pt x="1659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1" name=""/>
          <p:cNvSpPr/>
          <p:nvPr/>
        </p:nvSpPr>
        <p:spPr>
          <a:xfrm>
            <a:off x="599760" y="3085920"/>
            <a:ext cx="2010240" cy="495720"/>
          </a:xfrm>
          <a:custGeom>
            <a:avLst/>
            <a:gdLst/>
            <a:ahLst/>
            <a:rect l="0" t="0" r="r" b="b"/>
            <a:pathLst>
              <a:path w="5584" h="1377">
                <a:moveTo>
                  <a:pt x="0" y="0"/>
                </a:moveTo>
                <a:lnTo>
                  <a:pt x="5584" y="0"/>
                </a:lnTo>
                <a:lnTo>
                  <a:pt x="558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2" name=""/>
          <p:cNvSpPr/>
          <p:nvPr/>
        </p:nvSpPr>
        <p:spPr>
          <a:xfrm>
            <a:off x="2609640" y="3085920"/>
            <a:ext cx="3019680" cy="495720"/>
          </a:xfrm>
          <a:custGeom>
            <a:avLst/>
            <a:gdLst/>
            <a:ahLst/>
            <a:rect l="0" t="0" r="r" b="b"/>
            <a:pathLst>
              <a:path w="8388" h="1377">
                <a:moveTo>
                  <a:pt x="0" y="0"/>
                </a:moveTo>
                <a:lnTo>
                  <a:pt x="8388" y="0"/>
                </a:lnTo>
                <a:lnTo>
                  <a:pt x="838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3" name=""/>
          <p:cNvSpPr/>
          <p:nvPr/>
        </p:nvSpPr>
        <p:spPr>
          <a:xfrm>
            <a:off x="5628960" y="3085920"/>
            <a:ext cx="5972760" cy="495720"/>
          </a:xfrm>
          <a:custGeom>
            <a:avLst/>
            <a:gdLst/>
            <a:ahLst/>
            <a:rect l="0" t="0" r="r" b="b"/>
            <a:pathLst>
              <a:path w="16591" h="1377">
                <a:moveTo>
                  <a:pt x="0" y="0"/>
                </a:moveTo>
                <a:lnTo>
                  <a:pt x="16591" y="0"/>
                </a:lnTo>
                <a:lnTo>
                  <a:pt x="1659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4" name=""/>
          <p:cNvSpPr/>
          <p:nvPr/>
        </p:nvSpPr>
        <p:spPr>
          <a:xfrm>
            <a:off x="599760" y="3581280"/>
            <a:ext cx="2010240" cy="495720"/>
          </a:xfrm>
          <a:custGeom>
            <a:avLst/>
            <a:gdLst/>
            <a:ahLst/>
            <a:rect l="0" t="0" r="r" b="b"/>
            <a:pathLst>
              <a:path w="5584" h="1377">
                <a:moveTo>
                  <a:pt x="0" y="0"/>
                </a:moveTo>
                <a:lnTo>
                  <a:pt x="5584" y="0"/>
                </a:lnTo>
                <a:lnTo>
                  <a:pt x="558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5" name=""/>
          <p:cNvSpPr/>
          <p:nvPr/>
        </p:nvSpPr>
        <p:spPr>
          <a:xfrm>
            <a:off x="2609640" y="3581280"/>
            <a:ext cx="3019680" cy="495720"/>
          </a:xfrm>
          <a:custGeom>
            <a:avLst/>
            <a:gdLst/>
            <a:ahLst/>
            <a:rect l="0" t="0" r="r" b="b"/>
            <a:pathLst>
              <a:path w="8388" h="1377">
                <a:moveTo>
                  <a:pt x="0" y="0"/>
                </a:moveTo>
                <a:lnTo>
                  <a:pt x="8388" y="0"/>
                </a:lnTo>
                <a:lnTo>
                  <a:pt x="838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6" name=""/>
          <p:cNvSpPr/>
          <p:nvPr/>
        </p:nvSpPr>
        <p:spPr>
          <a:xfrm>
            <a:off x="5628960" y="3581280"/>
            <a:ext cx="5972760" cy="495720"/>
          </a:xfrm>
          <a:custGeom>
            <a:avLst/>
            <a:gdLst/>
            <a:ahLst/>
            <a:rect l="0" t="0" r="r" b="b"/>
            <a:pathLst>
              <a:path w="16591" h="1377">
                <a:moveTo>
                  <a:pt x="0" y="0"/>
                </a:moveTo>
                <a:lnTo>
                  <a:pt x="16591" y="0"/>
                </a:lnTo>
                <a:lnTo>
                  <a:pt x="16591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7" name=""/>
          <p:cNvSpPr/>
          <p:nvPr/>
        </p:nvSpPr>
        <p:spPr>
          <a:xfrm>
            <a:off x="599760" y="4076640"/>
            <a:ext cx="2010240" cy="495360"/>
          </a:xfrm>
          <a:custGeom>
            <a:avLst/>
            <a:gdLst/>
            <a:ahLst/>
            <a:rect l="0" t="0" r="r" b="b"/>
            <a:pathLst>
              <a:path w="5584" h="1376">
                <a:moveTo>
                  <a:pt x="0" y="0"/>
                </a:moveTo>
                <a:lnTo>
                  <a:pt x="5584" y="0"/>
                </a:lnTo>
                <a:lnTo>
                  <a:pt x="5584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8" name=""/>
          <p:cNvSpPr/>
          <p:nvPr/>
        </p:nvSpPr>
        <p:spPr>
          <a:xfrm>
            <a:off x="2609640" y="4076640"/>
            <a:ext cx="3019680" cy="495360"/>
          </a:xfrm>
          <a:custGeom>
            <a:avLst/>
            <a:gdLst/>
            <a:ahLst/>
            <a:rect l="0" t="0" r="r" b="b"/>
            <a:pathLst>
              <a:path w="8388" h="1376">
                <a:moveTo>
                  <a:pt x="0" y="0"/>
                </a:moveTo>
                <a:lnTo>
                  <a:pt x="8388" y="0"/>
                </a:lnTo>
                <a:lnTo>
                  <a:pt x="838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79" name=""/>
          <p:cNvSpPr/>
          <p:nvPr/>
        </p:nvSpPr>
        <p:spPr>
          <a:xfrm>
            <a:off x="5628960" y="4076640"/>
            <a:ext cx="5972760" cy="495360"/>
          </a:xfrm>
          <a:custGeom>
            <a:avLst/>
            <a:gdLst/>
            <a:ahLst/>
            <a:rect l="0" t="0" r="r" b="b"/>
            <a:pathLst>
              <a:path w="16591" h="1376">
                <a:moveTo>
                  <a:pt x="0" y="0"/>
                </a:moveTo>
                <a:lnTo>
                  <a:pt x="16591" y="0"/>
                </a:lnTo>
                <a:lnTo>
                  <a:pt x="16591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0" name=""/>
          <p:cNvSpPr/>
          <p:nvPr/>
        </p:nvSpPr>
        <p:spPr>
          <a:xfrm>
            <a:off x="590400" y="25812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1" name=""/>
          <p:cNvSpPr/>
          <p:nvPr/>
        </p:nvSpPr>
        <p:spPr>
          <a:xfrm>
            <a:off x="590400" y="258120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2" name=""/>
          <p:cNvSpPr/>
          <p:nvPr/>
        </p:nvSpPr>
        <p:spPr>
          <a:xfrm>
            <a:off x="2600280" y="25812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3" name=""/>
          <p:cNvSpPr/>
          <p:nvPr/>
        </p:nvSpPr>
        <p:spPr>
          <a:xfrm>
            <a:off x="2609640" y="258120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4" name=""/>
          <p:cNvSpPr/>
          <p:nvPr/>
        </p:nvSpPr>
        <p:spPr>
          <a:xfrm>
            <a:off x="5619600" y="2581200"/>
            <a:ext cx="9720" cy="505080"/>
          </a:xfrm>
          <a:custGeom>
            <a:avLst/>
            <a:gdLst/>
            <a:ahLst/>
            <a:rect l="0" t="0" r="r" b="b"/>
            <a:pathLst>
              <a:path w="27" h="1403">
                <a:moveTo>
                  <a:pt x="0" y="0"/>
                </a:moveTo>
                <a:lnTo>
                  <a:pt x="27" y="0"/>
                </a:lnTo>
                <a:lnTo>
                  <a:pt x="2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5" name=""/>
          <p:cNvSpPr/>
          <p:nvPr/>
        </p:nvSpPr>
        <p:spPr>
          <a:xfrm>
            <a:off x="5628960" y="2581200"/>
            <a:ext cx="5972760" cy="9720"/>
          </a:xfrm>
          <a:custGeom>
            <a:avLst/>
            <a:gdLst/>
            <a:ahLst/>
            <a:rect l="0" t="0" r="r" b="b"/>
            <a:pathLst>
              <a:path w="16591" h="27">
                <a:moveTo>
                  <a:pt x="0" y="0"/>
                </a:moveTo>
                <a:lnTo>
                  <a:pt x="16591" y="0"/>
                </a:lnTo>
                <a:lnTo>
                  <a:pt x="165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6" name=""/>
          <p:cNvSpPr/>
          <p:nvPr/>
        </p:nvSpPr>
        <p:spPr>
          <a:xfrm>
            <a:off x="11591640" y="2581200"/>
            <a:ext cx="10080" cy="505080"/>
          </a:xfrm>
          <a:custGeom>
            <a:avLst/>
            <a:gdLst/>
            <a:ahLst/>
            <a:rect l="0" t="0" r="r" b="b"/>
            <a:pathLst>
              <a:path w="28" h="1403">
                <a:moveTo>
                  <a:pt x="0" y="0"/>
                </a:moveTo>
                <a:lnTo>
                  <a:pt x="28" y="0"/>
                </a:lnTo>
                <a:lnTo>
                  <a:pt x="2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7" name=""/>
          <p:cNvSpPr/>
          <p:nvPr/>
        </p:nvSpPr>
        <p:spPr>
          <a:xfrm>
            <a:off x="590400" y="307656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8" name=""/>
          <p:cNvSpPr/>
          <p:nvPr/>
        </p:nvSpPr>
        <p:spPr>
          <a:xfrm>
            <a:off x="2609640" y="307656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89" name=""/>
          <p:cNvSpPr/>
          <p:nvPr/>
        </p:nvSpPr>
        <p:spPr>
          <a:xfrm>
            <a:off x="5628960" y="3076560"/>
            <a:ext cx="5972760" cy="9720"/>
          </a:xfrm>
          <a:custGeom>
            <a:avLst/>
            <a:gdLst/>
            <a:ahLst/>
            <a:rect l="0" t="0" r="r" b="b"/>
            <a:pathLst>
              <a:path w="16591" h="27">
                <a:moveTo>
                  <a:pt x="0" y="0"/>
                </a:moveTo>
                <a:lnTo>
                  <a:pt x="16591" y="0"/>
                </a:lnTo>
                <a:lnTo>
                  <a:pt x="165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0" name=""/>
          <p:cNvSpPr/>
          <p:nvPr/>
        </p:nvSpPr>
        <p:spPr>
          <a:xfrm>
            <a:off x="590400" y="30859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1" name=""/>
          <p:cNvSpPr/>
          <p:nvPr/>
        </p:nvSpPr>
        <p:spPr>
          <a:xfrm>
            <a:off x="2600280" y="30859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2" name=""/>
          <p:cNvSpPr/>
          <p:nvPr/>
        </p:nvSpPr>
        <p:spPr>
          <a:xfrm>
            <a:off x="5619600" y="308592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3" name=""/>
          <p:cNvSpPr/>
          <p:nvPr/>
        </p:nvSpPr>
        <p:spPr>
          <a:xfrm>
            <a:off x="11591640" y="308592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4" name=""/>
          <p:cNvSpPr/>
          <p:nvPr/>
        </p:nvSpPr>
        <p:spPr>
          <a:xfrm>
            <a:off x="590400" y="35812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5" name=""/>
          <p:cNvSpPr/>
          <p:nvPr/>
        </p:nvSpPr>
        <p:spPr>
          <a:xfrm>
            <a:off x="590400" y="357156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6" name=""/>
          <p:cNvSpPr/>
          <p:nvPr/>
        </p:nvSpPr>
        <p:spPr>
          <a:xfrm>
            <a:off x="2600280" y="35812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7" name=""/>
          <p:cNvSpPr/>
          <p:nvPr/>
        </p:nvSpPr>
        <p:spPr>
          <a:xfrm>
            <a:off x="2609640" y="357156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8" name=""/>
          <p:cNvSpPr/>
          <p:nvPr/>
        </p:nvSpPr>
        <p:spPr>
          <a:xfrm>
            <a:off x="5619600" y="358128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399" name=""/>
          <p:cNvSpPr/>
          <p:nvPr/>
        </p:nvSpPr>
        <p:spPr>
          <a:xfrm>
            <a:off x="5628960" y="3571560"/>
            <a:ext cx="5972760" cy="10080"/>
          </a:xfrm>
          <a:custGeom>
            <a:avLst/>
            <a:gdLst/>
            <a:ahLst/>
            <a:rect l="0" t="0" r="r" b="b"/>
            <a:pathLst>
              <a:path w="16591" h="28">
                <a:moveTo>
                  <a:pt x="0" y="0"/>
                </a:moveTo>
                <a:lnTo>
                  <a:pt x="16591" y="0"/>
                </a:lnTo>
                <a:lnTo>
                  <a:pt x="165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0" name=""/>
          <p:cNvSpPr/>
          <p:nvPr/>
        </p:nvSpPr>
        <p:spPr>
          <a:xfrm>
            <a:off x="11591640" y="358128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1" name=""/>
          <p:cNvSpPr/>
          <p:nvPr/>
        </p:nvSpPr>
        <p:spPr>
          <a:xfrm>
            <a:off x="590400" y="40766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2" name=""/>
          <p:cNvSpPr/>
          <p:nvPr/>
        </p:nvSpPr>
        <p:spPr>
          <a:xfrm>
            <a:off x="590400" y="406692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3" name=""/>
          <p:cNvSpPr/>
          <p:nvPr/>
        </p:nvSpPr>
        <p:spPr>
          <a:xfrm>
            <a:off x="2600280" y="40766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4" name=""/>
          <p:cNvSpPr/>
          <p:nvPr/>
        </p:nvSpPr>
        <p:spPr>
          <a:xfrm>
            <a:off x="2609640" y="4066920"/>
            <a:ext cx="3019680" cy="10080"/>
          </a:xfrm>
          <a:custGeom>
            <a:avLst/>
            <a:gdLst/>
            <a:ah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5" name=""/>
          <p:cNvSpPr/>
          <p:nvPr/>
        </p:nvSpPr>
        <p:spPr>
          <a:xfrm>
            <a:off x="5619600" y="4076640"/>
            <a:ext cx="9720" cy="495360"/>
          </a:xfrm>
          <a:custGeom>
            <a:avLst/>
            <a:gdLst/>
            <a:ahLst/>
            <a:rect l="0" t="0" r="r" b="b"/>
            <a:pathLst>
              <a:path w="27" h="1376">
                <a:moveTo>
                  <a:pt x="0" y="0"/>
                </a:moveTo>
                <a:lnTo>
                  <a:pt x="27" y="0"/>
                </a:lnTo>
                <a:lnTo>
                  <a:pt x="2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6" name=""/>
          <p:cNvSpPr/>
          <p:nvPr/>
        </p:nvSpPr>
        <p:spPr>
          <a:xfrm>
            <a:off x="5628960" y="4066920"/>
            <a:ext cx="5972760" cy="10080"/>
          </a:xfrm>
          <a:custGeom>
            <a:avLst/>
            <a:gdLst/>
            <a:ahLst/>
            <a:rect l="0" t="0" r="r" b="b"/>
            <a:pathLst>
              <a:path w="16591" h="28">
                <a:moveTo>
                  <a:pt x="0" y="0"/>
                </a:moveTo>
                <a:lnTo>
                  <a:pt x="16591" y="0"/>
                </a:lnTo>
                <a:lnTo>
                  <a:pt x="165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7" name=""/>
          <p:cNvSpPr/>
          <p:nvPr/>
        </p:nvSpPr>
        <p:spPr>
          <a:xfrm>
            <a:off x="11591640" y="4076640"/>
            <a:ext cx="10080" cy="495360"/>
          </a:xfrm>
          <a:custGeom>
            <a:avLst/>
            <a:gdLst/>
            <a:ahLst/>
            <a:rect l="0" t="0" r="r" b="b"/>
            <a:pathLst>
              <a:path w="28" h="1376">
                <a:moveTo>
                  <a:pt x="0" y="0"/>
                </a:moveTo>
                <a:lnTo>
                  <a:pt x="28" y="0"/>
                </a:lnTo>
                <a:lnTo>
                  <a:pt x="2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8" name=""/>
          <p:cNvSpPr/>
          <p:nvPr/>
        </p:nvSpPr>
        <p:spPr>
          <a:xfrm>
            <a:off x="590400" y="456228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09" name=""/>
          <p:cNvSpPr/>
          <p:nvPr/>
        </p:nvSpPr>
        <p:spPr>
          <a:xfrm>
            <a:off x="2609640" y="4562280"/>
            <a:ext cx="3019680" cy="9720"/>
          </a:xfrm>
          <a:custGeom>
            <a:avLst/>
            <a:gdLst/>
            <a:ah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0" name=""/>
          <p:cNvSpPr/>
          <p:nvPr/>
        </p:nvSpPr>
        <p:spPr>
          <a:xfrm>
            <a:off x="5628960" y="4562280"/>
            <a:ext cx="5972760" cy="9720"/>
          </a:xfrm>
          <a:custGeom>
            <a:avLst/>
            <a:gdLst/>
            <a:ahLst/>
            <a:rect l="0" t="0" r="r" b="b"/>
            <a:pathLst>
              <a:path w="16591" h="27">
                <a:moveTo>
                  <a:pt x="0" y="0"/>
                </a:moveTo>
                <a:lnTo>
                  <a:pt x="16591" y="0"/>
                </a:lnTo>
                <a:lnTo>
                  <a:pt x="165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590400" y="1272240"/>
            <a:ext cx="7062012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指示の情報を止めると合格数が落ちる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590400" y="2095560"/>
            <a:ext cx="748139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モデル。学習時に準拠した文型で、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操作を診断。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714240" y="2720880"/>
            <a:ext cx="72118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モデル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4458240" y="2720880"/>
            <a:ext cx="120142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通常の生成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9172440" y="2720880"/>
            <a:ext cx="264214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指示の情報を止めた生成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714240" y="3215880"/>
            <a:ext cx="3854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4853160" y="3215880"/>
            <a:ext cx="74892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 / 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10799280" y="3215880"/>
            <a:ext cx="77790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0 / 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714240" y="3711240"/>
            <a:ext cx="385434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4715640" y="3711240"/>
            <a:ext cx="9066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22 / 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10799280" y="3711240"/>
            <a:ext cx="77790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0 / 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714240" y="4206600"/>
            <a:ext cx="543168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4715640" y="4206600"/>
            <a:ext cx="9066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22 / 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4" name=""/>
          <p:cNvSpPr txBox="1"/>
          <p:nvPr/>
        </p:nvSpPr>
        <p:spPr>
          <a:xfrm>
            <a:off x="10799280" y="4206600"/>
            <a:ext cx="777906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6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2 / 24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5" name=""/>
          <p:cNvSpPr txBox="1"/>
          <p:nvPr/>
        </p:nvSpPr>
        <p:spPr>
          <a:xfrm>
            <a:off x="590400" y="4819680"/>
            <a:ext cx="683596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指示から受け取る情報が、操作の選択に寄与している。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590400" y="5353200"/>
            <a:ext cx="773600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操作の内部診断。冒頭変更の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操作、固定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テストとは別。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11705400" y="6466680"/>
            <a:ext cx="231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1" name=""/>
          <p:cNvSpPr/>
          <p:nvPr/>
        </p:nvSpPr>
        <p:spPr>
          <a:xfrm>
            <a:off x="599760" y="2428560"/>
            <a:ext cx="3962880" cy="467280"/>
          </a:xfrm>
          <a:custGeom>
            <a:avLst/>
            <a:gdLst/>
            <a:ahLst/>
            <a:rect l="0" t="0" r="r" b="b"/>
            <a:pathLst>
              <a:path w="11008" h="1298">
                <a:moveTo>
                  <a:pt x="0" y="0"/>
                </a:moveTo>
                <a:lnTo>
                  <a:pt x="11008" y="0"/>
                </a:lnTo>
                <a:lnTo>
                  <a:pt x="1100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2" name=""/>
          <p:cNvSpPr/>
          <p:nvPr/>
        </p:nvSpPr>
        <p:spPr>
          <a:xfrm>
            <a:off x="4562280" y="2428560"/>
            <a:ext cx="7039440" cy="467280"/>
          </a:xfrm>
          <a:custGeom>
            <a:avLst/>
            <a:gdLst/>
            <a:ahLst/>
            <a:rect l="0" t="0" r="r" b="b"/>
            <a:pathLst>
              <a:path w="19554" h="1298">
                <a:moveTo>
                  <a:pt x="0" y="0"/>
                </a:moveTo>
                <a:lnTo>
                  <a:pt x="19554" y="0"/>
                </a:lnTo>
                <a:lnTo>
                  <a:pt x="1955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3" name=""/>
          <p:cNvSpPr/>
          <p:nvPr/>
        </p:nvSpPr>
        <p:spPr>
          <a:xfrm>
            <a:off x="599760" y="2428560"/>
            <a:ext cx="3962880" cy="467280"/>
          </a:xfrm>
          <a:custGeom>
            <a:avLst/>
            <a:gdLst/>
            <a:ahLst/>
            <a:rect l="0" t="0" r="r" b="b"/>
            <a:pathLst>
              <a:path w="11008" h="1298">
                <a:moveTo>
                  <a:pt x="0" y="0"/>
                </a:moveTo>
                <a:lnTo>
                  <a:pt x="11008" y="0"/>
                </a:lnTo>
                <a:lnTo>
                  <a:pt x="1100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4" name=""/>
          <p:cNvSpPr/>
          <p:nvPr/>
        </p:nvSpPr>
        <p:spPr>
          <a:xfrm>
            <a:off x="4562280" y="2428560"/>
            <a:ext cx="7039440" cy="467280"/>
          </a:xfrm>
          <a:custGeom>
            <a:avLst/>
            <a:gdLst/>
            <a:ahLst/>
            <a:rect l="0" t="0" r="r" b="b"/>
            <a:pathLst>
              <a:path w="19554" h="1298">
                <a:moveTo>
                  <a:pt x="0" y="0"/>
                </a:moveTo>
                <a:lnTo>
                  <a:pt x="19554" y="0"/>
                </a:lnTo>
                <a:lnTo>
                  <a:pt x="1955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5" name=""/>
          <p:cNvSpPr/>
          <p:nvPr/>
        </p:nvSpPr>
        <p:spPr>
          <a:xfrm>
            <a:off x="599760" y="2895480"/>
            <a:ext cx="3962880" cy="466920"/>
          </a:xfrm>
          <a:custGeom>
            <a:avLst/>
            <a:gdLst/>
            <a:ahLst/>
            <a:rect l="0" t="0" r="r" b="b"/>
            <a:pathLst>
              <a:path w="11008" h="1297">
                <a:moveTo>
                  <a:pt x="0" y="0"/>
                </a:moveTo>
                <a:lnTo>
                  <a:pt x="11008" y="0"/>
                </a:lnTo>
                <a:lnTo>
                  <a:pt x="1100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6" name=""/>
          <p:cNvSpPr/>
          <p:nvPr/>
        </p:nvSpPr>
        <p:spPr>
          <a:xfrm>
            <a:off x="4562280" y="2895480"/>
            <a:ext cx="7039440" cy="466920"/>
          </a:xfrm>
          <a:custGeom>
            <a:avLst/>
            <a:gdLst/>
            <a:ahLst/>
            <a:rect l="0" t="0" r="r" b="b"/>
            <a:pathLst>
              <a:path w="19554" h="1297">
                <a:moveTo>
                  <a:pt x="0" y="0"/>
                </a:moveTo>
                <a:lnTo>
                  <a:pt x="19554" y="0"/>
                </a:lnTo>
                <a:lnTo>
                  <a:pt x="1955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7" name=""/>
          <p:cNvSpPr/>
          <p:nvPr/>
        </p:nvSpPr>
        <p:spPr>
          <a:xfrm>
            <a:off x="599760" y="3362040"/>
            <a:ext cx="3962880" cy="467280"/>
          </a:xfrm>
          <a:custGeom>
            <a:avLst/>
            <a:gdLst/>
            <a:ahLst/>
            <a:rect l="0" t="0" r="r" b="b"/>
            <a:pathLst>
              <a:path w="11008" h="1298">
                <a:moveTo>
                  <a:pt x="0" y="0"/>
                </a:moveTo>
                <a:lnTo>
                  <a:pt x="11008" y="0"/>
                </a:lnTo>
                <a:lnTo>
                  <a:pt x="1100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8" name=""/>
          <p:cNvSpPr/>
          <p:nvPr/>
        </p:nvSpPr>
        <p:spPr>
          <a:xfrm>
            <a:off x="4562280" y="3362040"/>
            <a:ext cx="7039440" cy="467280"/>
          </a:xfrm>
          <a:custGeom>
            <a:avLst/>
            <a:gdLst/>
            <a:ahLst/>
            <a:rect l="0" t="0" r="r" b="b"/>
            <a:pathLst>
              <a:path w="19554" h="1298">
                <a:moveTo>
                  <a:pt x="0" y="0"/>
                </a:moveTo>
                <a:lnTo>
                  <a:pt x="19554" y="0"/>
                </a:lnTo>
                <a:lnTo>
                  <a:pt x="19554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39" name=""/>
          <p:cNvSpPr/>
          <p:nvPr/>
        </p:nvSpPr>
        <p:spPr>
          <a:xfrm>
            <a:off x="599760" y="3828960"/>
            <a:ext cx="3962880" cy="466920"/>
          </a:xfrm>
          <a:custGeom>
            <a:avLst/>
            <a:gdLst/>
            <a:ahLst/>
            <a:rect l="0" t="0" r="r" b="b"/>
            <a:pathLst>
              <a:path w="11008" h="1297">
                <a:moveTo>
                  <a:pt x="0" y="0"/>
                </a:moveTo>
                <a:lnTo>
                  <a:pt x="11008" y="0"/>
                </a:lnTo>
                <a:lnTo>
                  <a:pt x="1100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0" name=""/>
          <p:cNvSpPr/>
          <p:nvPr/>
        </p:nvSpPr>
        <p:spPr>
          <a:xfrm>
            <a:off x="4562280" y="3828960"/>
            <a:ext cx="7039440" cy="466920"/>
          </a:xfrm>
          <a:custGeom>
            <a:avLst/>
            <a:gdLst/>
            <a:ahLst/>
            <a:rect l="0" t="0" r="r" b="b"/>
            <a:pathLst>
              <a:path w="19554" h="1297">
                <a:moveTo>
                  <a:pt x="0" y="0"/>
                </a:moveTo>
                <a:lnTo>
                  <a:pt x="19554" y="0"/>
                </a:lnTo>
                <a:lnTo>
                  <a:pt x="19554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1" name=""/>
          <p:cNvSpPr/>
          <p:nvPr/>
        </p:nvSpPr>
        <p:spPr>
          <a:xfrm>
            <a:off x="590400" y="24192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2" name=""/>
          <p:cNvSpPr/>
          <p:nvPr/>
        </p:nvSpPr>
        <p:spPr>
          <a:xfrm>
            <a:off x="590400" y="241920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3" name=""/>
          <p:cNvSpPr/>
          <p:nvPr/>
        </p:nvSpPr>
        <p:spPr>
          <a:xfrm>
            <a:off x="4552920" y="241920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4" name=""/>
          <p:cNvSpPr/>
          <p:nvPr/>
        </p:nvSpPr>
        <p:spPr>
          <a:xfrm>
            <a:off x="4562280" y="2419200"/>
            <a:ext cx="7039440" cy="9720"/>
          </a:xfrm>
          <a:custGeom>
            <a:avLst/>
            <a:gdLst/>
            <a:ahLst/>
            <a:rect l="0" t="0" r="r" b="b"/>
            <a:pathLst>
              <a:path w="19554" h="27">
                <a:moveTo>
                  <a:pt x="0" y="0"/>
                </a:moveTo>
                <a:lnTo>
                  <a:pt x="19554" y="0"/>
                </a:lnTo>
                <a:lnTo>
                  <a:pt x="195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5" name=""/>
          <p:cNvSpPr/>
          <p:nvPr/>
        </p:nvSpPr>
        <p:spPr>
          <a:xfrm>
            <a:off x="11591640" y="241920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6" name=""/>
          <p:cNvSpPr/>
          <p:nvPr/>
        </p:nvSpPr>
        <p:spPr>
          <a:xfrm>
            <a:off x="590400" y="2885760"/>
            <a:ext cx="3972240" cy="10080"/>
          </a:xfrm>
          <a:custGeom>
            <a:avLst/>
            <a:gdLst/>
            <a:ah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7" name=""/>
          <p:cNvSpPr/>
          <p:nvPr/>
        </p:nvSpPr>
        <p:spPr>
          <a:xfrm>
            <a:off x="4562280" y="2885760"/>
            <a:ext cx="7039440" cy="10080"/>
          </a:xfrm>
          <a:custGeom>
            <a:avLst/>
            <a:gdLst/>
            <a:ahLst/>
            <a:rect l="0" t="0" r="r" b="b"/>
            <a:pathLst>
              <a:path w="19554" h="28">
                <a:moveTo>
                  <a:pt x="0" y="0"/>
                </a:moveTo>
                <a:lnTo>
                  <a:pt x="19554" y="0"/>
                </a:lnTo>
                <a:lnTo>
                  <a:pt x="195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8" name=""/>
          <p:cNvSpPr/>
          <p:nvPr/>
        </p:nvSpPr>
        <p:spPr>
          <a:xfrm>
            <a:off x="590400" y="28954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49" name=""/>
          <p:cNvSpPr/>
          <p:nvPr/>
        </p:nvSpPr>
        <p:spPr>
          <a:xfrm>
            <a:off x="4552920" y="289548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0" name=""/>
          <p:cNvSpPr/>
          <p:nvPr/>
        </p:nvSpPr>
        <p:spPr>
          <a:xfrm>
            <a:off x="11591640" y="289548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1" name=""/>
          <p:cNvSpPr/>
          <p:nvPr/>
        </p:nvSpPr>
        <p:spPr>
          <a:xfrm>
            <a:off x="590400" y="336204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2" name=""/>
          <p:cNvSpPr/>
          <p:nvPr/>
        </p:nvSpPr>
        <p:spPr>
          <a:xfrm>
            <a:off x="590400" y="335268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3" name=""/>
          <p:cNvSpPr/>
          <p:nvPr/>
        </p:nvSpPr>
        <p:spPr>
          <a:xfrm>
            <a:off x="4552920" y="3362040"/>
            <a:ext cx="9720" cy="467280"/>
          </a:xfrm>
          <a:custGeom>
            <a:avLst/>
            <a:gdLst/>
            <a:ahLst/>
            <a:rect l="0" t="0" r="r" b="b"/>
            <a:pathLst>
              <a:path w="27" h="1298">
                <a:moveTo>
                  <a:pt x="0" y="0"/>
                </a:moveTo>
                <a:lnTo>
                  <a:pt x="27" y="0"/>
                </a:lnTo>
                <a:lnTo>
                  <a:pt x="2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4" name=""/>
          <p:cNvSpPr/>
          <p:nvPr/>
        </p:nvSpPr>
        <p:spPr>
          <a:xfrm>
            <a:off x="4562280" y="3352680"/>
            <a:ext cx="7039440" cy="9720"/>
          </a:xfrm>
          <a:custGeom>
            <a:avLst/>
            <a:gdLst/>
            <a:ahLst/>
            <a:rect l="0" t="0" r="r" b="b"/>
            <a:pathLst>
              <a:path w="19554" h="27">
                <a:moveTo>
                  <a:pt x="0" y="0"/>
                </a:moveTo>
                <a:lnTo>
                  <a:pt x="19554" y="0"/>
                </a:lnTo>
                <a:lnTo>
                  <a:pt x="195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5" name=""/>
          <p:cNvSpPr/>
          <p:nvPr/>
        </p:nvSpPr>
        <p:spPr>
          <a:xfrm>
            <a:off x="11591640" y="3362040"/>
            <a:ext cx="10080" cy="467280"/>
          </a:xfrm>
          <a:custGeom>
            <a:avLst/>
            <a:gdLst/>
            <a:ahLst/>
            <a:rect l="0" t="0" r="r" b="b"/>
            <a:pathLst>
              <a:path w="28" h="1298">
                <a:moveTo>
                  <a:pt x="0" y="0"/>
                </a:moveTo>
                <a:lnTo>
                  <a:pt x="28" y="0"/>
                </a:lnTo>
                <a:lnTo>
                  <a:pt x="28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6" name=""/>
          <p:cNvSpPr/>
          <p:nvPr/>
        </p:nvSpPr>
        <p:spPr>
          <a:xfrm>
            <a:off x="590400" y="382896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7" name=""/>
          <p:cNvSpPr/>
          <p:nvPr/>
        </p:nvSpPr>
        <p:spPr>
          <a:xfrm>
            <a:off x="590400" y="3819240"/>
            <a:ext cx="3972240" cy="10080"/>
          </a:xfrm>
          <a:custGeom>
            <a:avLst/>
            <a:gdLst/>
            <a:ah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8" name=""/>
          <p:cNvSpPr/>
          <p:nvPr/>
        </p:nvSpPr>
        <p:spPr>
          <a:xfrm>
            <a:off x="4552920" y="382896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59" name=""/>
          <p:cNvSpPr/>
          <p:nvPr/>
        </p:nvSpPr>
        <p:spPr>
          <a:xfrm>
            <a:off x="4562280" y="3819240"/>
            <a:ext cx="7039440" cy="10080"/>
          </a:xfrm>
          <a:custGeom>
            <a:avLst/>
            <a:gdLst/>
            <a:ahLst/>
            <a:rect l="0" t="0" r="r" b="b"/>
            <a:pathLst>
              <a:path w="19554" h="28">
                <a:moveTo>
                  <a:pt x="0" y="0"/>
                </a:moveTo>
                <a:lnTo>
                  <a:pt x="19554" y="0"/>
                </a:lnTo>
                <a:lnTo>
                  <a:pt x="195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0" name=""/>
          <p:cNvSpPr/>
          <p:nvPr/>
        </p:nvSpPr>
        <p:spPr>
          <a:xfrm>
            <a:off x="11591640" y="382896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1" name=""/>
          <p:cNvSpPr/>
          <p:nvPr/>
        </p:nvSpPr>
        <p:spPr>
          <a:xfrm>
            <a:off x="590400" y="428616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2" name=""/>
          <p:cNvSpPr/>
          <p:nvPr/>
        </p:nvSpPr>
        <p:spPr>
          <a:xfrm>
            <a:off x="4562280" y="4286160"/>
            <a:ext cx="7039440" cy="9720"/>
          </a:xfrm>
          <a:custGeom>
            <a:avLst/>
            <a:gdLst/>
            <a:ahLst/>
            <a:rect l="0" t="0" r="r" b="b"/>
            <a:pathLst>
              <a:path w="19554" h="27">
                <a:moveTo>
                  <a:pt x="0" y="0"/>
                </a:moveTo>
                <a:lnTo>
                  <a:pt x="19554" y="0"/>
                </a:lnTo>
                <a:lnTo>
                  <a:pt x="195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590400" y="1662840"/>
            <a:ext cx="7477254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評価では、表現を変えた場合も確かめる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723960" y="2541960"/>
            <a:ext cx="131527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調べること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4686120" y="2541960"/>
            <a:ext cx="236683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今回、分かったこと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723960" y="3008880"/>
            <a:ext cx="236683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決めた文型での動作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4686120" y="3008880"/>
            <a:ext cx="4433112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・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は高い全体合格率を示した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723960" y="3475440"/>
            <a:ext cx="210394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未学習の言い換え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4686120" y="3475440"/>
            <a:ext cx="3388176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15M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でも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30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件中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15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件の合格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723960" y="3942360"/>
            <a:ext cx="210394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指示の冒頭の変更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4686120" y="3942360"/>
            <a:ext cx="3915198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5M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は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件中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12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件から</a:t>
            </a:r>
            <a:r>
              <a:rPr lang="en-US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</a:t>
            </a:r>
            <a:r>
              <a:rPr lang="ja-JP" sz="180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件へ低下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590400" y="4545720"/>
            <a:ext cx="1141110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一種類のプロンプトでの精度に加え、表現を変えても性能が保たれるかを評価する必要があ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590400" y="4936320"/>
            <a:ext cx="59326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8" name=""/>
          <p:cNvSpPr/>
          <p:nvPr/>
        </p:nvSpPr>
        <p:spPr>
          <a:xfrm>
            <a:off x="695160" y="30384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721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590400" y="2110320"/>
            <a:ext cx="3739248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この結果が示す範囲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0" name=""/>
          <p:cNvSpPr/>
          <p:nvPr/>
        </p:nvSpPr>
        <p:spPr>
          <a:xfrm>
            <a:off x="695160" y="3543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721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911880" y="2926440"/>
            <a:ext cx="710217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対象は、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24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操作を最大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3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つ組み合わせるコード生成。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2" name=""/>
          <p:cNvSpPr/>
          <p:nvPr/>
        </p:nvSpPr>
        <p:spPr>
          <a:xfrm>
            <a:off x="695160" y="40384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721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FFFFFF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911880" y="3431160"/>
            <a:ext cx="8092044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冒頭変更の比較は</a:t>
            </a:r>
            <a:r>
              <a:rPr lang="en-US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14</a:t>
            </a:r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操作。日本語能力全体の測定ではない。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911880" y="3926520"/>
            <a:ext cx="7998066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学習は一つの乱数設定。繰り返し実験のばらつきは未確認。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590400" y="4488480"/>
            <a:ext cx="888651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今後は文型の偏りを減らした教材で、表現への強さを再評価する。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0" name=""/>
          <p:cNvSpPr/>
          <p:nvPr/>
        </p:nvSpPr>
        <p:spPr>
          <a:xfrm>
            <a:off x="599760" y="3447720"/>
            <a:ext cx="5048640" cy="476640"/>
          </a:xfrm>
          <a:custGeom>
            <a:avLst/>
            <a:gdLst/>
            <a:ahLst/>
            <a:rect l="0" t="0" r="r" b="b"/>
            <a:pathLst>
              <a:path w="14024" h="1324">
                <a:moveTo>
                  <a:pt x="0" y="0"/>
                </a:moveTo>
                <a:lnTo>
                  <a:pt x="14024" y="0"/>
                </a:lnTo>
                <a:lnTo>
                  <a:pt x="1402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1" name=""/>
          <p:cNvSpPr/>
          <p:nvPr/>
        </p:nvSpPr>
        <p:spPr>
          <a:xfrm>
            <a:off x="5648040" y="3447720"/>
            <a:ext cx="5953680" cy="476640"/>
          </a:xfrm>
          <a:custGeom>
            <a:avLst/>
            <a:gdLst/>
            <a:ahLst/>
            <a:rect l="0" t="0" r="r" b="b"/>
            <a:pathLst>
              <a:path w="16538" h="1324">
                <a:moveTo>
                  <a:pt x="0" y="0"/>
                </a:moveTo>
                <a:lnTo>
                  <a:pt x="16538" y="0"/>
                </a:lnTo>
                <a:lnTo>
                  <a:pt x="1653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2" name=""/>
          <p:cNvSpPr/>
          <p:nvPr/>
        </p:nvSpPr>
        <p:spPr>
          <a:xfrm>
            <a:off x="599760" y="3447720"/>
            <a:ext cx="5048640" cy="476640"/>
          </a:xfrm>
          <a:custGeom>
            <a:avLst/>
            <a:gdLst/>
            <a:ahLst/>
            <a:rect l="0" t="0" r="r" b="b"/>
            <a:pathLst>
              <a:path w="14024" h="1324">
                <a:moveTo>
                  <a:pt x="0" y="0"/>
                </a:moveTo>
                <a:lnTo>
                  <a:pt x="14024" y="0"/>
                </a:lnTo>
                <a:lnTo>
                  <a:pt x="1402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3" name=""/>
          <p:cNvSpPr/>
          <p:nvPr/>
        </p:nvSpPr>
        <p:spPr>
          <a:xfrm>
            <a:off x="5648040" y="3447720"/>
            <a:ext cx="5953680" cy="476640"/>
          </a:xfrm>
          <a:custGeom>
            <a:avLst/>
            <a:gdLst/>
            <a:ahLst/>
            <a:rect l="0" t="0" r="r" b="b"/>
            <a:pathLst>
              <a:path w="16538" h="1324">
                <a:moveTo>
                  <a:pt x="0" y="0"/>
                </a:moveTo>
                <a:lnTo>
                  <a:pt x="16538" y="0"/>
                </a:lnTo>
                <a:lnTo>
                  <a:pt x="1653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4" name=""/>
          <p:cNvSpPr/>
          <p:nvPr/>
        </p:nvSpPr>
        <p:spPr>
          <a:xfrm>
            <a:off x="599760" y="3924000"/>
            <a:ext cx="5048640" cy="486360"/>
          </a:xfrm>
          <a:custGeom>
            <a:avLst/>
            <a:gdLst/>
            <a:ahLst/>
            <a:rect l="0" t="0" r="r" b="b"/>
            <a:pathLst>
              <a:path w="14024" h="1351">
                <a:moveTo>
                  <a:pt x="0" y="0"/>
                </a:moveTo>
                <a:lnTo>
                  <a:pt x="14024" y="0"/>
                </a:lnTo>
                <a:lnTo>
                  <a:pt x="1402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5" name=""/>
          <p:cNvSpPr/>
          <p:nvPr/>
        </p:nvSpPr>
        <p:spPr>
          <a:xfrm>
            <a:off x="5648040" y="3924000"/>
            <a:ext cx="5953680" cy="486360"/>
          </a:xfrm>
          <a:custGeom>
            <a:avLst/>
            <a:gdLst/>
            <a:ahLst/>
            <a:rect l="0" t="0" r="r" b="b"/>
            <a:pathLst>
              <a:path w="16538" h="1351">
                <a:moveTo>
                  <a:pt x="0" y="0"/>
                </a:moveTo>
                <a:lnTo>
                  <a:pt x="16538" y="0"/>
                </a:lnTo>
                <a:lnTo>
                  <a:pt x="16538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6" name=""/>
          <p:cNvSpPr/>
          <p:nvPr/>
        </p:nvSpPr>
        <p:spPr>
          <a:xfrm>
            <a:off x="599760" y="4410000"/>
            <a:ext cx="5048640" cy="476640"/>
          </a:xfrm>
          <a:custGeom>
            <a:avLst/>
            <a:gdLst/>
            <a:ahLst/>
            <a:rect l="0" t="0" r="r" b="b"/>
            <a:pathLst>
              <a:path w="14024" h="1324">
                <a:moveTo>
                  <a:pt x="0" y="0"/>
                </a:moveTo>
                <a:lnTo>
                  <a:pt x="14024" y="0"/>
                </a:lnTo>
                <a:lnTo>
                  <a:pt x="14024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7" name=""/>
          <p:cNvSpPr/>
          <p:nvPr/>
        </p:nvSpPr>
        <p:spPr>
          <a:xfrm>
            <a:off x="5648040" y="4410000"/>
            <a:ext cx="5953680" cy="476640"/>
          </a:xfrm>
          <a:custGeom>
            <a:avLst/>
            <a:gdLst/>
            <a:ahLst/>
            <a:rect l="0" t="0" r="r" b="b"/>
            <a:pathLst>
              <a:path w="16538" h="1324">
                <a:moveTo>
                  <a:pt x="0" y="0"/>
                </a:moveTo>
                <a:lnTo>
                  <a:pt x="16538" y="0"/>
                </a:lnTo>
                <a:lnTo>
                  <a:pt x="1653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8" name=""/>
          <p:cNvSpPr/>
          <p:nvPr/>
        </p:nvSpPr>
        <p:spPr>
          <a:xfrm>
            <a:off x="599760" y="4886280"/>
            <a:ext cx="5048640" cy="486000"/>
          </a:xfrm>
          <a:custGeom>
            <a:avLst/>
            <a:gdLst/>
            <a:ahLst/>
            <a:rect l="0" t="0" r="r" b="b"/>
            <a:pathLst>
              <a:path w="14024" h="1350">
                <a:moveTo>
                  <a:pt x="0" y="0"/>
                </a:moveTo>
                <a:lnTo>
                  <a:pt x="14024" y="0"/>
                </a:lnTo>
                <a:lnTo>
                  <a:pt x="14024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499" name=""/>
          <p:cNvSpPr/>
          <p:nvPr/>
        </p:nvSpPr>
        <p:spPr>
          <a:xfrm>
            <a:off x="5648040" y="4886280"/>
            <a:ext cx="5953680" cy="486000"/>
          </a:xfrm>
          <a:custGeom>
            <a:avLst/>
            <a:gdLst/>
            <a:ahLst/>
            <a:rect l="0" t="0" r="r" b="b"/>
            <a:pathLst>
              <a:path w="16538" h="1350">
                <a:moveTo>
                  <a:pt x="0" y="0"/>
                </a:moveTo>
                <a:lnTo>
                  <a:pt x="16538" y="0"/>
                </a:lnTo>
                <a:lnTo>
                  <a:pt x="1653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0" name=""/>
          <p:cNvSpPr/>
          <p:nvPr/>
        </p:nvSpPr>
        <p:spPr>
          <a:xfrm>
            <a:off x="590400" y="343836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1" name=""/>
          <p:cNvSpPr/>
          <p:nvPr/>
        </p:nvSpPr>
        <p:spPr>
          <a:xfrm>
            <a:off x="590400" y="3438360"/>
            <a:ext cx="5058000" cy="9720"/>
          </a:xfrm>
          <a:custGeom>
            <a:avLst/>
            <a:gdLst/>
            <a:ahLst/>
            <a:rect l="0" t="0" r="r" b="b"/>
            <a:pathLst>
              <a:path w="14050" h="27">
                <a:moveTo>
                  <a:pt x="0" y="0"/>
                </a:moveTo>
                <a:lnTo>
                  <a:pt x="14050" y="0"/>
                </a:lnTo>
                <a:lnTo>
                  <a:pt x="14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2" name=""/>
          <p:cNvSpPr/>
          <p:nvPr/>
        </p:nvSpPr>
        <p:spPr>
          <a:xfrm>
            <a:off x="5638680" y="3438360"/>
            <a:ext cx="9720" cy="495720"/>
          </a:xfrm>
          <a:custGeom>
            <a:avLst/>
            <a:gdLst/>
            <a:ahLst/>
            <a:rect l="0" t="0" r="r" b="b"/>
            <a:pathLst>
              <a:path w="27" h="1377">
                <a:moveTo>
                  <a:pt x="0" y="0"/>
                </a:moveTo>
                <a:lnTo>
                  <a:pt x="27" y="0"/>
                </a:lnTo>
                <a:lnTo>
                  <a:pt x="2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3" name=""/>
          <p:cNvSpPr/>
          <p:nvPr/>
        </p:nvSpPr>
        <p:spPr>
          <a:xfrm>
            <a:off x="5648040" y="3438360"/>
            <a:ext cx="5953680" cy="9720"/>
          </a:xfrm>
          <a:custGeom>
            <a:avLst/>
            <a:gdLst/>
            <a:ahLst/>
            <a:rect l="0" t="0" r="r" b="b"/>
            <a:pathLst>
              <a:path w="16538" h="27">
                <a:moveTo>
                  <a:pt x="0" y="0"/>
                </a:moveTo>
                <a:lnTo>
                  <a:pt x="16538" y="0"/>
                </a:lnTo>
                <a:lnTo>
                  <a:pt x="165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4" name=""/>
          <p:cNvSpPr/>
          <p:nvPr/>
        </p:nvSpPr>
        <p:spPr>
          <a:xfrm>
            <a:off x="11591640" y="3438360"/>
            <a:ext cx="10080" cy="495720"/>
          </a:xfrm>
          <a:custGeom>
            <a:avLst/>
            <a:gdLst/>
            <a:ahLst/>
            <a:rect l="0" t="0" r="r" b="b"/>
            <a:pathLst>
              <a:path w="28" h="1377">
                <a:moveTo>
                  <a:pt x="0" y="0"/>
                </a:moveTo>
                <a:lnTo>
                  <a:pt x="28" y="0"/>
                </a:lnTo>
                <a:lnTo>
                  <a:pt x="2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5" name=""/>
          <p:cNvSpPr/>
          <p:nvPr/>
        </p:nvSpPr>
        <p:spPr>
          <a:xfrm>
            <a:off x="590400" y="3924000"/>
            <a:ext cx="5058000" cy="10080"/>
          </a:xfrm>
          <a:custGeom>
            <a:avLst/>
            <a:gdLst/>
            <a:ahLst/>
            <a:rect l="0" t="0" r="r" b="b"/>
            <a:pathLst>
              <a:path w="14050" h="28">
                <a:moveTo>
                  <a:pt x="0" y="0"/>
                </a:moveTo>
                <a:lnTo>
                  <a:pt x="14050" y="0"/>
                </a:lnTo>
                <a:lnTo>
                  <a:pt x="14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6" name=""/>
          <p:cNvSpPr/>
          <p:nvPr/>
        </p:nvSpPr>
        <p:spPr>
          <a:xfrm>
            <a:off x="5648040" y="3924000"/>
            <a:ext cx="5953680" cy="10080"/>
          </a:xfrm>
          <a:custGeom>
            <a:avLst/>
            <a:gdLst/>
            <a:ahLst/>
            <a:rect l="0" t="0" r="r" b="b"/>
            <a:pathLst>
              <a:path w="16538" h="28">
                <a:moveTo>
                  <a:pt x="0" y="0"/>
                </a:moveTo>
                <a:lnTo>
                  <a:pt x="16538" y="0"/>
                </a:lnTo>
                <a:lnTo>
                  <a:pt x="165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7" name=""/>
          <p:cNvSpPr/>
          <p:nvPr/>
        </p:nvSpPr>
        <p:spPr>
          <a:xfrm>
            <a:off x="590400" y="39337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8" name=""/>
          <p:cNvSpPr/>
          <p:nvPr/>
        </p:nvSpPr>
        <p:spPr>
          <a:xfrm>
            <a:off x="5638680" y="393372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09" name=""/>
          <p:cNvSpPr/>
          <p:nvPr/>
        </p:nvSpPr>
        <p:spPr>
          <a:xfrm>
            <a:off x="11591640" y="393372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0" name=""/>
          <p:cNvSpPr/>
          <p:nvPr/>
        </p:nvSpPr>
        <p:spPr>
          <a:xfrm>
            <a:off x="590400" y="4410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1" name=""/>
          <p:cNvSpPr/>
          <p:nvPr/>
        </p:nvSpPr>
        <p:spPr>
          <a:xfrm>
            <a:off x="590400" y="4400280"/>
            <a:ext cx="5058000" cy="10080"/>
          </a:xfrm>
          <a:custGeom>
            <a:avLst/>
            <a:gdLst/>
            <a:ahLst/>
            <a:rect l="0" t="0" r="r" b="b"/>
            <a:pathLst>
              <a:path w="14050" h="28">
                <a:moveTo>
                  <a:pt x="0" y="0"/>
                </a:moveTo>
                <a:lnTo>
                  <a:pt x="14050" y="0"/>
                </a:lnTo>
                <a:lnTo>
                  <a:pt x="14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2" name=""/>
          <p:cNvSpPr/>
          <p:nvPr/>
        </p:nvSpPr>
        <p:spPr>
          <a:xfrm>
            <a:off x="5638680" y="4410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3" name=""/>
          <p:cNvSpPr/>
          <p:nvPr/>
        </p:nvSpPr>
        <p:spPr>
          <a:xfrm>
            <a:off x="5648040" y="4400280"/>
            <a:ext cx="5953680" cy="10080"/>
          </a:xfrm>
          <a:custGeom>
            <a:avLst/>
            <a:gdLst/>
            <a:ahLst/>
            <a:rect l="0" t="0" r="r" b="b"/>
            <a:pathLst>
              <a:path w="16538" h="28">
                <a:moveTo>
                  <a:pt x="0" y="0"/>
                </a:moveTo>
                <a:lnTo>
                  <a:pt x="16538" y="0"/>
                </a:lnTo>
                <a:lnTo>
                  <a:pt x="165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4" name=""/>
          <p:cNvSpPr/>
          <p:nvPr/>
        </p:nvSpPr>
        <p:spPr>
          <a:xfrm>
            <a:off x="11591640" y="44100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5" name=""/>
          <p:cNvSpPr/>
          <p:nvPr/>
        </p:nvSpPr>
        <p:spPr>
          <a:xfrm>
            <a:off x="590400" y="48956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6" name=""/>
          <p:cNvSpPr/>
          <p:nvPr/>
        </p:nvSpPr>
        <p:spPr>
          <a:xfrm>
            <a:off x="590400" y="4886280"/>
            <a:ext cx="5058000" cy="9720"/>
          </a:xfrm>
          <a:custGeom>
            <a:avLst/>
            <a:gdLst/>
            <a:ahLst/>
            <a:rect l="0" t="0" r="r" b="b"/>
            <a:pathLst>
              <a:path w="14050" h="27">
                <a:moveTo>
                  <a:pt x="0" y="0"/>
                </a:moveTo>
                <a:lnTo>
                  <a:pt x="14050" y="0"/>
                </a:lnTo>
                <a:lnTo>
                  <a:pt x="14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7" name=""/>
          <p:cNvSpPr/>
          <p:nvPr/>
        </p:nvSpPr>
        <p:spPr>
          <a:xfrm>
            <a:off x="5638680" y="48956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27" y="0"/>
                </a:lnTo>
                <a:lnTo>
                  <a:pt x="27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8" name=""/>
          <p:cNvSpPr/>
          <p:nvPr/>
        </p:nvSpPr>
        <p:spPr>
          <a:xfrm>
            <a:off x="5648040" y="4886280"/>
            <a:ext cx="5953680" cy="9720"/>
          </a:xfrm>
          <a:custGeom>
            <a:avLst/>
            <a:gdLst/>
            <a:ahLst/>
            <a:rect l="0" t="0" r="r" b="b"/>
            <a:pathLst>
              <a:path w="16538" h="27">
                <a:moveTo>
                  <a:pt x="0" y="0"/>
                </a:moveTo>
                <a:lnTo>
                  <a:pt x="16538" y="0"/>
                </a:lnTo>
                <a:lnTo>
                  <a:pt x="165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19" name=""/>
          <p:cNvSpPr/>
          <p:nvPr/>
        </p:nvSpPr>
        <p:spPr>
          <a:xfrm>
            <a:off x="11591640" y="48956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28" y="0"/>
                </a:lnTo>
                <a:lnTo>
                  <a:pt x="28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0" name=""/>
          <p:cNvSpPr/>
          <p:nvPr/>
        </p:nvSpPr>
        <p:spPr>
          <a:xfrm>
            <a:off x="590400" y="5362560"/>
            <a:ext cx="5058000" cy="9720"/>
          </a:xfrm>
          <a:custGeom>
            <a:avLst/>
            <a:gdLst/>
            <a:ahLst/>
            <a:rect l="0" t="0" r="r" b="b"/>
            <a:pathLst>
              <a:path w="14050" h="27">
                <a:moveTo>
                  <a:pt x="0" y="0"/>
                </a:moveTo>
                <a:lnTo>
                  <a:pt x="14050" y="0"/>
                </a:lnTo>
                <a:lnTo>
                  <a:pt x="14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1" name=""/>
          <p:cNvSpPr/>
          <p:nvPr/>
        </p:nvSpPr>
        <p:spPr>
          <a:xfrm>
            <a:off x="5648040" y="5362560"/>
            <a:ext cx="5953680" cy="9720"/>
          </a:xfrm>
          <a:custGeom>
            <a:avLst/>
            <a:gdLst/>
            <a:ahLst/>
            <a:rect l="0" t="0" r="r" b="b"/>
            <a:pathLst>
              <a:path w="16538" h="27">
                <a:moveTo>
                  <a:pt x="0" y="0"/>
                </a:moveTo>
                <a:lnTo>
                  <a:pt x="16538" y="0"/>
                </a:lnTo>
                <a:lnTo>
                  <a:pt x="165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/>
            <a:endParaRPr lang="en-US" sz="24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590400" y="1548360"/>
            <a:ext cx="3463524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まとめと</a:t>
            </a:r>
            <a:r>
              <a:rPr lang="en-US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Web</a:t>
            </a:r>
            <a:r>
              <a:rPr lang="ja-JP" sz="285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デモ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590400" y="2364480"/>
            <a:ext cx="895482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限定したコード生成は、小さなモデルでも</a:t>
            </a:r>
            <a:r>
              <a:rPr lang="en-US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1 epoch</a:t>
            </a:r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で学習できた。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590400" y="2926440"/>
            <a:ext cx="740563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202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表現を変えた場合の性能は、別に確かめる必要がある。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723960" y="3562200"/>
            <a:ext cx="1367856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デモの流れ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5775120" y="3562200"/>
            <a:ext cx="547722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1" u="none" strike="noStrike">
                <a:solidFill>
                  <a:srgbClr val="245F8B"/>
                </a:solidFill>
                <a:effectLst/>
                <a:uFillTx/>
                <a:latin typeface="Hiragino Sans"/>
                <a:ea typeface="Hiragino Sans"/>
              </a:rPr>
              <a:t>役割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723960" y="4048200"/>
            <a:ext cx="282596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① 自由な日本語を入力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5775120" y="4048200"/>
            <a:ext cx="2734884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作りたい処理を伝える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723960" y="4524480"/>
            <a:ext cx="364609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② 補助モデルで文型を整える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5775120" y="4524480"/>
            <a:ext cx="355501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対象の操作と表現にそろえる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723960" y="5010120"/>
            <a:ext cx="3372858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③ 指示を確認して生成する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5775120" y="5010120"/>
            <a:ext cx="4318020" cy="23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Boku-nano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が</a:t>
            </a:r>
            <a:r>
              <a:rPr lang="en-US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Python</a:t>
            </a:r>
            <a:r>
              <a:rPr lang="ja-JP" sz="1870" b="0" u="none" strike="noStrike">
                <a:solidFill>
                  <a:srgbClr val="17212B"/>
                </a:solidFill>
                <a:effectLst/>
                <a:uFillTx/>
                <a:latin typeface="Hiragino Sans"/>
                <a:ea typeface="Hiragino Sans"/>
              </a:rPr>
              <a:t>コードを作る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11705760" y="6466680"/>
            <a:ext cx="231012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/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Hiragino Sans"/>
                <a:ea typeface="Hiragino Sans"/>
              </a:rPr>
              <a:t>37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Hiragino Maru Gothic Pro W4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